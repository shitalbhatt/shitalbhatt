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901344e-938d-198a-eadb-2690d20d5a60}">
          <p14:sldIdLst>
            <p14:sldId id="256"/>
            <p14:sldId id="257"/>
          </p14:sldIdLst>
        </p14:section>
        <p14:section name="Unit 1 - Circuits and AC" id="{34fa33b9-4b56-8ba9-c540-807e5090e260}">
          <p14:sldIdLst>
            <p14:sldId id="258"/>
            <p14:sldId id="259"/>
            <p14:sldId id="260"/>
            <p14:sldId id="261"/>
            <p14:sldId id="262"/>
            <p14:sldId id="263"/>
            <p14:sldId id="264"/>
            <p14:sldId id="265"/>
            <p14:sldId id="266"/>
            <p14:sldId id="267"/>
            <p14:sldId id="268"/>
          </p14:sldIdLst>
        </p14:section>
        <p14:section name="Unit 2 - Transformers and Machines" id="{ac314774-f913-0731-fa68-6560a95b2677}">
          <p14:sldIdLst>
            <p14:sldId id="269"/>
            <p14:sldId id="270"/>
            <p14:sldId id="271"/>
            <p14:sldId id="272"/>
            <p14:sldId id="273"/>
            <p14:sldId id="274"/>
            <p14:sldId id="275"/>
            <p14:sldId id="276"/>
            <p14:sldId id="277"/>
            <p14:sldId id="278"/>
          </p14:sldIdLst>
        </p14:section>
        <p14:section name="Unit 3 - Diodes and Rectifiers" id="{99fa3066-85e6-25d2-7f82-c355ab3607ab}">
          <p14:sldIdLst>
            <p14:sldId id="279"/>
            <p14:sldId id="280"/>
            <p14:sldId id="281"/>
            <p14:sldId id="282"/>
            <p14:sldId id="283"/>
            <p14:sldId id="284"/>
            <p14:sldId id="285"/>
          </p14:sldIdLst>
        </p14:section>
        <p14:section name="Unit 4 - BJT and MOSFET" id="{8c21990a-ee9c-de66-0b5d-2c50b60976cd}">
          <p14:sldIdLst>
            <p14:sldId id="286"/>
            <p14:sldId id="287"/>
            <p14:sldId id="288"/>
            <p14:sldId id="289"/>
            <p14:sldId id="290"/>
            <p14:sldId id="291"/>
          </p14:sldIdLst>
        </p14:section>
        <p14:section name="Unit 5 - Operational Amplifiers" id="{d4a8f5a8-901d-89f3-fdc1-9180ab115dd3}">
          <p14:sldIdLst>
            <p14:sldId id="292"/>
            <p14:sldId id="293"/>
            <p14:sldId id="294"/>
            <p14:sldId id="295"/>
            <p14:sldId id="296"/>
            <p14:sldId id="297"/>
          </p14:sldIdLst>
        </p14:section>
        <p14:section name="Summary" id="{eb4da4e7-8454-71f4-c81c-61e35b8a33d7}">
          <p14:sldIdLst>
            <p14:sldId id="298"/>
            <p14:sldId id="29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and welcome. I am Doctor Mitesh Astik from the Department of Electrical and Electronics Engineering at N M A M Institute of Technology, Nitte. In this video we revise the whole of Basic Electrical and Electronics Engineering, course code E E E one oh three, covering all five units from your notes. Keep your notes beside you, and pause the video whenever you want to try a numerical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roadmap. Unit one covers circuit fundamentals and A C circuits. Unit two covers transformers and electrical machines, including D C motors and the three phase induction motor. Unit three is diodes and rectifiers, ending with the Zener regulator. Unit four is the bipolar junction transistor and the MOSFET. Unit five is operational amplifiers. Each unit has a short concept section followed by worked numericals, so you can connect theory with problem solving.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begin with Unit one: circuit fundamentals and A C circuits. First we solve D C networks using mesh and nodal analysis. Then we move to alternating quantities, their average and R M S values, phasors, and the behaviour of resistors, inductors and capacitors, finishing with impedance and power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Mesh analysis relies on Kirchhoff's voltage law. We give each closed loop its own circulating current, write one K V L equation per loop, and solve the equations together. In the example from your notes, a ten volt source with one ohm, an eighteen ohm shared resistor, and a two ohm resistor with a five volt source. The two equations give I one equals one point nine six four amps and I two equals one point five one eight amps. The eighteen ohm resistor carries the difference, about zero point four four six amps, and absorbs three point five nine watts. Remember, a negative current only tells you the direction is opposite to what you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Nodal analysis is the dual of mesh analysis and uses Kirchhoff's current law. Pick a reference node as zero volts, label the other nodes, and write K C L at each one. In the example, node one gives four V one minus two V two equals twenty, and node two gives two V one minus three point five V two equals minus twenty. Solving, V one is eleven volts and V two is twelve volts. A network with N nodes needs only N minus one equations, so nodal analysis is attractive when there are fewer nodes than meshes.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 is the rate of doing work, measured in watts, where one watt is one joule per second. Substituting Ohm's law into P equals V I gives the other two forms, I squared R and V squared over R. Energy is power multiplied by time. Electrical energy is measured in watt hours, and one watt hour equals three thousand six hundred joules. Example: a twenty four volt D C motor drawing thirty three point five amps takes eight hundred and four watts. A sixty watt bulb burning for a whole year consumes five hundred twenty five point six kilowatt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alternating voltage is generated by rotating a coil in a magnetic field. As the sides of the coil cut the flux, an E M F is induced that varies as the sine of the angle: e equals E m sine omega t, where omega equals two pi f. A few terms you must know: a cycle is one complete repetition, the time period T is its duration, and frequency f is one over T in hertz. The peak value is the maximum, peak to peak is twice that for a sine wave, and two waves of the same frequency that cross zero at different instants have a phase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of describing the size of an alternating quantity. The average value is the D C that moves the same charge. Over a full sine cycle it is zero, so we average over a half cycle and get two I m over pi, which is zero point six three seven times the peak. The R M S value is the D C that gives the same heating effect. Integrating i squared R over a half cycle gives I m over root two, zero point seven zero seven times the peak. The ratio of R M S to average is the form factor, one point one one, and the ratio of peak to R M S is the peak factor, one point four one four. For instance, a ten amp R M S current has a peak of fourteen point one four amps.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phasor is a convenient way to picture a sine wave. Imagine a line of length V m rotating anticlockwise with angular velocity omega. Its projection on the vertical axis at any instant is the instantaneous value, V m sine omega t. One full revolution is one cycle. Phasors of the same frequency can be added like vectors, which is exactly how we analyse series circuits. For example, from v equals one hundred forty one point four sine three seventy seven t, we read the peak as one hundred forty one point four volts and the frequency as three seventy seven over two pi, which is sixty hertz.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three basic elements in an A C circuit. In a pure resistor the current is in phase with the voltage and the average power is V times I. In a pure inductor the current lags the voltage by ninety degrees; the opposition is the inductive reactance X L equals two pi f L, and the average power is zero, because energy is just stored in the magnetic field and returned. In a pure capacitor the current leads the voltage by ninety degrees; the capacitive reactance X C is one over two pi f C, and again the average power is zero. A handy memory aid: in an inductor the current lags, in a capacitor the current leads.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series circuit the same current flows through every element, so we take the current as the reference phasor. The resistor voltage is in phase with it, the inductor voltage leads by ninety degrees and the capacitor voltage lags by ninety degrees. The supply voltage is the phasor sum, giving V equals I Z, where the impedance Z is the square root of R squared plus X squared. For R L, the current lags by angle phi; for R C, it leads. For the full R L C circuit, X is X L minus X C, and when they are equal the circuit behaves as a pure resistance, which is resonance.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 R L or R C circuit the instantaneous power has a constant part and a part that oscillates at twice the supply frequency with zero average. The useful, active power is V I cos phi, in watts. The power that shuttles to and fro in the reactive elements is V I sine phi, measured in V A R, and the product V I is the apparent power in volt amperes. The ratio of active to apparent power, cos phi, is the power factor. A low power factor forces the source to carry more current for the same useful power, which increases losses, so utilities prefer a power factor close to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quick numericals from your notes. First, a twenty ohm resistor on two thirty volts, fifty hertz: the current is eleven point five amps, the power two thousand six hundred forty five watts, and the current is in phase with voltage. Second, a pure inductor taking twenty amps from the same supply: the reactance is eleven point five ohms, the inductance zero point zero three six henry, the power is zero, and the current lags by ninety degrees. Third, a four hundred microfarad capacitor: the reactance is seven point nine five ohms, the current twenty eight point nine three amps R M S, and it leads the voltage by ninety degrees. Notice how we convert to peak values by multiplying with root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two is about transformers and electrical machines. We study the single phase transformer, then D C motors, and finally the three phase induction motor, which is the workhorse of industry.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transformer is a static device that receives power at one voltage and delivers it at another, at the same frequency. An alternating voltage on the primary creates an alternating flux in the laminated silicon steel core, which links the secondary and induces an E M F there by mutual induction. In an ideal transformer, V two over V one equals N two over N one, and I one over I two is the same ratio inverted, so the volt amperes balance. We need transformers because power is voltage times current while line loss goes as current squared. Raising the voltage for transmission cuts the current and the loss. The core can be core type, with windings around the limbs, or shell type, with the core surrounding the windings.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get the E M F equation, let the flux peak at phi m. The flux changes from plus phi m to minus phi m in half a cycle, one over two f seconds, so the average rate of change is four f phi m, and the average E M F per turn is four f phi m volts. Multiplying by the form factor one point one one gives R M S per turn, so E one equals four point four four f phi m N one, and E two equals four point four four f phi m N two. Losses are of two kinds: core loss, from hysteresis and eddy currents, which stays nearly constant, and copper loss, I squared R in the windings, which varies with load. Efficiency is output divided by output plus the losses.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solve this twenty five kilovolt ampere transformer. Using the E M F equation on the low voltage side, N two equals two hundred over four point four four times fifty times zero point zero four five, which is twenty turns. The primary turns follow from the voltage ratio, two thousand over two hundred times twenty, giving two hundred turns. For efficiency at full load and zero point eight power factor, the output is twenty five times zero point eight, twenty kilowatts. Adding copper loss zero point four and iron loss zero point three five kilowatts, the efficiency is twenty over twenty point seven five, ninety six point three eight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 C motor converts electrical energy into mechanical energy. When a current carrying conductor sits in a magnetic field, it experiences a force, with direction given by Fleming's left hand rule. The forces on the two sides of an armature coil give a turning moment. As the armature turns, its conductors cut flux and induce a back E M F, E b, which by Lenz's law opposes the applied voltage. So V equals E b plus I a R a. Multiplying by I a, input power equals E b I a, the mechanical power developed, plus I a squared R a, the armature copper loss. Back E M F is what automatically regulates the current drawn by a motor.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torque developed by the armature is T a equals zero point one five nine times phi Z I a times P over A newton metres. Part of it is lost to iron and friction, so the useful shaft torque is E b I a minus the iron and friction loss, divided by two pi N over sixty. D C motors are classified by how the field is connected. In a shunt motor the field is in parallel with the armature, so armature current is line current minus field current. In a series motor the field carries the armature current. A compound motor has both; if the series flux aids the shunt flux it is cumulative, if it opposes, differential.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shunt motor has an almost constant flux, so torque is proportional to armature current and speed falls only slightly with load; it is called a constant speed motor, used in lathes, pumps and fans. In the series motor, flux is proportional to the armature current, so torque goes as current squared, giving a very high starting torque, which suits cranes, hoists and traction. Its speed varies inversely with current, so at light load it can race dangerously high. Never start a series motor without a mechanical load. Cumulative compound motors give high torque with fairly steady speed, used in punches, elevators and rolling mills; differential compound motors suit wide speed variation.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numerical. A two twenty volt shunt motor takes ten kilowatts. The input current is ten thousand over two twenty, forty five point four five amps. The field current is two twenty over two thirty, point nine five six amps, so the armature current is forty four point four nine amps. Back E M F is two twenty minus forty four point four nine times point two eight, two hundred seven point five four volts. For speed control, N is V minus I a R a over K phi. We can reduce speed by adding resistance in the armature circuit, which is wasteful, or increase speed by weakening the field with a rheostat in the shunt field, which is efficient because the field current is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phase induction motor is the most widely used A C motor, accounting for about half of all electric power consumption. It has two main parts separated by a small air gap. The stator carries a balanced three phase winding in slots of laminated silicon steel. The rotor is either a squirrel cage, with bars short circuited by end rings, which is rugged but has low starting torque, or a wound slip ring rotor, whose winding is brought out to slip rings so external resistance can be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three phase supply is applied to the stator, the three fluxes, displaced by one hundred twenty degrees in space and time, add up to a resultant of constant magnitude, one point five phi m, that rotates at synchronous speed, N s equals one twenty f over P. This rotating field cuts the rotor conductors and induces currents there; by Lenz's law the rotor is dragged in the direction of the field. The rotor can never quite reach synchronous speed, because then there would be no relative motion and no induced E M F. The fractional difference is the slip: s equals N s minus N over N s. For example, a four pole, fifty hertz machine has a synchronous speed of fifteen hundred r p m, and at fourteen forty r p m the slip is four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three moves to electronics. We start with the PN junction diode, build rectifiers that convert A C to D C, and finish with the Zener diode, used for voltage regulation.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semiconductor diode is a P N junction: P type with holes as majority carriers, N type with electrons. At the junction a depletion region forms, with no free carriers and a barrier potential. When we forward bias it, with the positive terminal on the P side, the external voltage opposes the barrier, the depletion region narrows, and once the applied voltage exceeds about zero point seven volts for silicon, a large current flows from anode to cathode. In reverse bias the depletion region widens and only a tiny leakage current flows. So a diode acts like a one way valve for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diode current equation relates current to voltage: I equals I zero times e to the V over V T, minus one, where I zero is the reverse saturation current and V T is the thermal voltage, about twenty six millivolts at room temperature. The characteristic is exponential in forward bias, with a knee near zero point seven volts for silicon, and almost flat in reverse bias until breakdown. For circuit analysis we replace the diode with an equivalent circuit: after the knee voltage is overcome, the forward current flows through a small internal resistance r f. The right hand plot shows the Zener characteristic, which we study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rectifier converts A C to D C. The half wave rectifier uses one diode and passes only one half of the input, giving pulsating D C. The full wave rectifier uses two diodes with a centre tapped transformer; during the positive half cycle one diode conducts, and during the negative half the other, so both half cycles reach the load in the same direction. The bridge rectifier uses four diodes and no centre tap; in each half cycle two diodes conduct, and the load current always flows from top to bottom. The waveforms on the right show the input, the half wave output and the full wave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Comparing the two. For the half wave rectifier, the D C voltage is V m over pi, whereas for the full wave rectifier it is twice that. The R M S current is I m over two for half wave, and I m over root two for full wave. The ripple factor, a measure of how much A C is left in the output, is one point two one for half wave and zero point four eight two for full wave. The maximum rectification efficiency is forty point six percent against eighty one point two percent, and the full wave output ripples at twice the supply frequency, which makes filtering easier.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Zener diode is a heavily doped P N junction designed to work in the reverse breakdown region. In forward bias it behaves like a normal diode. In reverse bias it blocks until the reverse voltage reaches the Zener voltage V Z, then conducts heavily while the voltage across it stays almost constant. Two mechanisms cause this: the Zener effect, for breakdown below about five volts, where a very intense field pulls electrons out of covalent bonds, and avalanche breakdown above about eight volts, where accelerated carriers collide and multiply. A series resistor is always needed to limit the current. Applications include regulation, references and over voltage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regulate voltage, connect the Zener in reverse across the load, with a series resistor R s. Choose the Zener voltage equal to the load voltage. As long as the Zener remains in breakdown, the output stays at V Z. Line regulation means the output stays steady while the input varies; load regulation means it stays steady while the load resistance varies. Example from your notes: a five volt supply from a twelve volt source with a two watt Zener. The maximum Zener current is two over five, zero point four amps. The minimum series resistor is twelve minus five, over zero point four, seventeen point five ohms.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four covers transistors. First the bipolar junction transistor, with its currents, gains and use as a switch, and then the MOSFET and the CMOS inverter.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bipolar junction transistor has three differently doped regions and two P N junctions back to back, forming an N P N or P N P device. The emitter is heavily doped and emits carriers into the base. The base is thin and lightly doped, so few carriers recombine there. The collector is the widest region and collects the carriers. For normal amplifier action, the emitter base junction is forward biased, with V B E about zero point seven volts for silicon, and the collector base junction is reverse biased. Applications include amplification, oscillation and switching.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Applying Kirchhoff's current law to the transistor, the emitter current equals base current plus collector current. The ratio of collector current to emitter current is alpha, the common base current gain, between zero point nine five and zero point nine nine. The ratio of collector current to base current is beta, the common emitter current gain, typically twenty to five hundred, and beta equals alpha over one minus alpha. Example: base current zero point zero eight milliamp, emitter current nine point six milliamp. Collector current is nine point five two milliamps, alpha is zero point nine nine one seven, and beta is one hundred nineteen.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transistor can be connected in three ways, with one terminal common to input and output. The common base configuration has voltage gain but no current gain; common emitter has both current and voltage gain; and common collector has current gain but no voltage gain. As a switch, the transistor is driven between cut off and saturation. With V B B equal to zero there is no base current, the collector current is zero, and the transistor is off, like an open switch. With a positive base voltage, base current flows, the transistor saturates and acts like a closed switch. A square wave at the input can therefore blink an L E D, on for one second and off for one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enhancement mode M O S F E T is built on a p type substrate with two heavily doped n regions, the source and the drain. The gate is a metal contact separated from the channel by a thin silicon dioxide layer, so there is no direct electrical connection to the channel. With V G S below the threshold voltage there is no channel and the drain current is zero. When V G S exceeds the threshold, electrons are attracted under the oxide and form an n channel, and the drain current rises with V G S. As V D S increases the channel pinches off at the drain end and the current saturates, with V D S saturation equal to V G S minus V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very effective logic circuit is made by putting a p channel and an n channel enhancement M O S F E T on the same substrate. Their gates are tied together as the input, and their drains are tied together as the output. When the input is five volts, logic one, the N M O S has V G S of five volts and conducts, while the P M O S has zero V G S and is off, so the output is pulled to zero volts, logic zero. When the input is zero volts, the P M O S has minus five volts V G S and conducts, the N M O S is off, and the output is five volts. So the circuit is an inverter, a C M O S NOT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five is operational amplifiers, the most versatile building block in analog electronics. We study the ideal op amp, its characteristics, and the important circuits built with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operational amplifier is a high gain differential amplifier with two inputs and one output, powered from a positive and a negative supply. The output is A times the difference of the two inputs. Its popularity comes from negative feedback: the closed loop behaviour is set by external resistors, not by the transistors inside. An ideal op amp has infinite open loop gain, infinite input impedance, zero output impedance, infinite bandwidth, slew rate and C M R R. A practical device such as the seven forty one has a gain of ten to the five or six, input impedance of megohms to teraohms, output impedance of tens of ohms, about one megahertz bandwidth and a slew rate near half a volt per microsecond.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op amp can be operated in three modes. In single ended mode one input is grounded. In differential mode the two inputs are equal and opposite, and the output is the differential gain times the difference. In common mode the two inputs are identical and ideally the output is zero; in practice a small common mode gain remains. The common mode rejection ratio, differential gain divided by common mode gain, often quoted in decibels, tells us how well noise common to both inputs is rejected. The virtual ground idea follows from the huge gain: the input difference, output divided by gain, is only millivolts, so the two input terminals are at nearly the same potential, a virtual short, even though no current flows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inverting amplifier the signal goes to the inverting input through R one, the non inverting input is grounded, and R f feeds the output back. Because of the virtual ground, the current through R one is V i over R one, and since no current enters the op amp, the same current flows through R f, giving minus V o over R f. So the closed loop gain is minus R f over R one, depending only on the two resistors. The negative sign means the output is inverted. The input resistance is R one. Example: R one twenty kilohms, R f one hundred kilohms, one volt in gives minus five volts out, and the input current is zero point zero five milliamp.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non inverting amplifier the input goes to the plus terminal and a divider R one and R f sets the feedback. Since the two inputs are at the same potential, the voltage across R one equals V i, and the gain is one plus R f over R one, always greater than or equal to one and with no phase inversion. The summing amplifier is an extension of the inverting amplifier: several inputs feed the same virtual ground through their own resistors, the currents add, and the output is minus the weighted sum of the inputs. With equal input resistors R and R f equal to R over three, the output is the negative of the average of the three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feedback resistor with a capacitor and we get an integrator. The input current v i over R charges the capacitor, and the output is minus one over C R times the integral of the input. A square wave input gives a triangular, ramp output. Swap the positions of the resistor and capacitor and we get a differentiator, whose output is minus C R times the derivative of the input. A ramp input gives a square wave. These two circuits are the basis of analog computers and filters.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quickly recap the key results. Unit one: the R M S value is zero point seven zero seven times the peak, active power is V I cos phi, and impedance is the square root of R squared plus X squared. Unit two: the transformer E M F is four point four four f phi m N, the motor voltage equation is V equals E b plus I a R a, and synchronous speed is one twenty f over P. Unit three: the ripple factor is one point two one for half wave and zero point four eight two for full wave, and the Zener regulator needs a series resistor. Unit four: I E equals I B plus I C, beta equals alpha over one minus alpha, and a C M O S pair inverts its input. Unit five: the inverting gain is minus R f over R one, the non inverting gain is one plus R f over R one, and the input terminals form a virtual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brings us to the end of this revision of Basic Electrical and Electronics Engineering. Revisit the numericals in your unit notes, and try the exercise problems on your own before checking the answers. Thank you for watching, and all the best for your studies.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1F3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457200" y="4754880"/>
            <a:ext cx="6858000" cy="274320"/>
          </a:xfrm>
          <a:prstGeom prst="rect">
            <a:avLst/>
          </a:prstGeom>
          <a:noFill/>
          <a:ln/>
        </p:spPr>
        <p:txBody>
          <a:bodyPr wrap="square" lIns="0" tIns="0" rIns="0" bIns="0" rtlCol="0" anchor="ctr"/>
          <a:lstStyle/>
          <a:p>
            <a:pPr indent="0" marL="0">
              <a:buNone/>
            </a:pPr>
            <a:r>
              <a:rPr lang="en-US" sz="1000" dirty="0">
                <a:solidFill>
                  <a:srgbClr val="9FB3CC"/>
                </a:solidFill>
              </a:rPr>
              <a:t>EEE103 · Basic Electrical and Electronics Engineering · Dr. Mitesh Astik</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C"/>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00600"/>
            <a:ext cx="6858000" cy="228600"/>
          </a:xfrm>
          <a:prstGeom prst="rect">
            <a:avLst/>
          </a:prstGeom>
          <a:noFill/>
          <a:ln/>
        </p:spPr>
        <p:txBody>
          <a:bodyPr wrap="square" lIns="0" tIns="0" rIns="0" bIns="0" rtlCol="0" anchor="ctr"/>
          <a:lstStyle/>
          <a:p>
            <a:pPr indent="0" marL="0">
              <a:buNone/>
            </a:pPr>
            <a:r>
              <a:rPr lang="en-US" sz="1000" dirty="0">
                <a:solidFill>
                  <a:schemeClr val="accent4"/>
                </a:solidFill>
              </a:rPr>
              <a:t>EEE103 · Basic Electrical and Electronics Engineering · Dr. Mitesh Astik, NMAMIT Nitte</a:t>
            </a:r>
            <a:endParaRPr lang="en-US" sz="1000" dirty="0"/>
          </a:p>
        </p:txBody>
      </p:sp>
      <p:sp>
        <p:nvSpPr>
          <p:cNvPr id="3" name="Text 1"/>
          <p:cNvSpPr/>
          <p:nvPr>
            <p:ph idx="101" type="title" hasCustomPrompt="1"/>
          </p:nvPr>
        </p:nvSpPr>
        <p:spPr>
          <a:xfrm>
            <a:off x="1188720" y="274320"/>
            <a:ext cx="749808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4.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4.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4.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4.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4.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4.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Icon circle"/>
          <p:cNvSpPr/>
          <p:nvPr/>
        </p:nvSpPr>
        <p:spPr>
          <a:xfrm>
            <a:off x="6583680" y="822960"/>
            <a:ext cx="2011680" cy="2011680"/>
          </a:xfrm>
          <a:prstGeom prst="ellipse">
            <a:avLst/>
          </a:prstGeom>
          <a:solidFill>
            <a:schemeClr val="accent1"/>
          </a:solidFill>
          <a:ln/>
        </p:spPr>
      </p:sp>
      <p:pic>
        <p:nvPicPr>
          <p:cNvPr id="3" name="Image 0" descr="lightning bolt">    </p:cNvPr>
          <p:cNvPicPr>
            <a:picLocks noChangeAspect="1"/>
          </p:cNvPicPr>
          <p:nvPr/>
        </p:nvPicPr>
        <p:blipFill>
          <a:blip r:embed="rId1"/>
          <a:stretch>
            <a:fillRect/>
          </a:stretch>
        </p:blipFill>
        <p:spPr>
          <a:xfrm>
            <a:off x="7223760" y="1463040"/>
            <a:ext cx="731520" cy="731520"/>
          </a:xfrm>
          <a:prstGeom prst="rect">
            <a:avLst/>
          </a:prstGeom>
        </p:spPr>
      </p:pic>
      <p:sp>
        <p:nvSpPr>
          <p:cNvPr id="4" name="Text 1"/>
          <p:cNvSpPr txBox="1"/>
          <p:nvPr/>
        </p:nvSpPr>
        <p:spPr>
          <a:xfrm>
            <a:off x="640080" y="914400"/>
            <a:ext cx="5669280" cy="365760"/>
          </a:xfrm>
          <a:prstGeom prst="rect">
            <a:avLst/>
          </a:prstGeom>
          <a:noFill/>
          <a:ln/>
        </p:spPr>
        <p:txBody>
          <a:bodyPr wrap="square" lIns="0" tIns="0" rIns="0" bIns="0" rtlCol="0" anchor="ctr"/>
          <a:lstStyle/>
          <a:p>
            <a:pPr indent="0" marL="0">
              <a:buNone/>
            </a:pPr>
            <a:r>
              <a:rPr lang="en-US" sz="1600" b="1" spc="400" kern="0" dirty="0">
                <a:solidFill>
                  <a:schemeClr val="accent1"/>
                </a:solidFill>
              </a:rPr>
              <a:t>EEE103 · REVISION LECTURE</a:t>
            </a:r>
            <a:endParaRPr lang="en-US" sz="1600" dirty="0"/>
          </a:p>
        </p:txBody>
      </p:sp>
      <p:sp>
        <p:nvSpPr>
          <p:cNvPr id="5" name="Text 2"/>
          <p:cNvSpPr txBox="1"/>
          <p:nvPr/>
        </p:nvSpPr>
        <p:spPr>
          <a:xfrm>
            <a:off x="640080" y="1371600"/>
            <a:ext cx="5760720" cy="1463040"/>
          </a:xfrm>
          <a:prstGeom prst="rect">
            <a:avLst/>
          </a:prstGeom>
          <a:noFill/>
          <a:ln/>
        </p:spPr>
        <p:txBody>
          <a:bodyPr wrap="square" lIns="0" tIns="0" rIns="0" bIns="0" rtlCol="0" anchor="t"/>
          <a:lstStyle/>
          <a:p>
            <a:pPr indent="0" marL="0">
              <a:buNone/>
            </a:pPr>
            <a:r>
              <a:rPr lang="en-US" sz="3800" b="1" dirty="0">
                <a:solidFill>
                  <a:schemeClr val="bg1"/>
                </a:solidFill>
                <a:latin typeface="Cambria" pitchFamily="34" charset="0"/>
                <a:ea typeface="Cambria" pitchFamily="34" charset="-122"/>
                <a:cs typeface="Cambria" pitchFamily="34" charset="-120"/>
              </a:rPr>
              <a:t>Basic Electrical and Electronics Engineering</a:t>
            </a:r>
            <a:endParaRPr lang="en-US" sz="3800" dirty="0"/>
          </a:p>
        </p:txBody>
      </p:sp>
      <p:sp>
        <p:nvSpPr>
          <p:cNvPr id="6" name="Text 3"/>
          <p:cNvSpPr txBox="1"/>
          <p:nvPr/>
        </p:nvSpPr>
        <p:spPr>
          <a:xfrm>
            <a:off x="640080" y="2926080"/>
            <a:ext cx="5669280" cy="548640"/>
          </a:xfrm>
          <a:prstGeom prst="rect">
            <a:avLst/>
          </a:prstGeom>
          <a:noFill/>
          <a:ln/>
        </p:spPr>
        <p:txBody>
          <a:bodyPr wrap="square" lIns="0" tIns="0" rIns="0" bIns="0" rtlCol="0" anchor="ctr"/>
          <a:lstStyle/>
          <a:p>
            <a:pPr indent="0" marL="0">
              <a:buNone/>
            </a:pPr>
            <a:r>
              <a:rPr lang="en-US" sz="1600" dirty="0">
                <a:solidFill>
                  <a:srgbClr val="D5E0EE"/>
                </a:solidFill>
              </a:rPr>
              <a:t>Units 1 to 5: circuits, machines, semiconductors, transistors and op-amps</a:t>
            </a:r>
            <a:endParaRPr lang="en-US" sz="1600" dirty="0"/>
          </a:p>
        </p:txBody>
      </p:sp>
      <p:sp>
        <p:nvSpPr>
          <p:cNvPr id="7" name="Text 4"/>
          <p:cNvSpPr txBox="1"/>
          <p:nvPr/>
        </p:nvSpPr>
        <p:spPr>
          <a:xfrm>
            <a:off x="640080" y="3749040"/>
            <a:ext cx="7315200" cy="914400"/>
          </a:xfrm>
          <a:prstGeom prst="rect">
            <a:avLst/>
          </a:prstGeom>
          <a:noFill/>
          <a:ln/>
        </p:spPr>
        <p:txBody>
          <a:bodyPr wrap="square" lIns="0" tIns="0" rIns="0" bIns="0" rtlCol="0" anchor="t"/>
          <a:lstStyle/>
          <a:p>
            <a:pPr indent="0" marL="0">
              <a:buNone/>
            </a:pPr>
            <a:r>
              <a:rPr lang="en-US" sz="1500" b="1" dirty="0">
                <a:solidFill>
                  <a:schemeClr val="bg1"/>
                </a:solidFill>
              </a:rPr>
              <a:t>Instructor: Dr. Mitesh Astik</a:t>
            </a:r>
            <a:endParaRPr lang="en-US" sz="1500" dirty="0"/>
          </a:p>
          <a:p>
            <a:pPr indent="0" marL="0">
              <a:buNone/>
            </a:pPr>
            <a:r>
              <a:rPr lang="en-US" sz="1500" dirty="0">
                <a:solidFill>
                  <a:srgbClr val="D5E0EE"/>
                </a:solidFill>
              </a:rPr>
              <a:t>Department of Electrical and Electronics Engineering</a:t>
            </a:r>
            <a:endParaRPr lang="en-US" sz="1500" dirty="0"/>
          </a:p>
          <a:p>
            <a:pPr indent="0" marL="0">
              <a:buNone/>
            </a:pPr>
            <a:r>
              <a:rPr lang="en-US" sz="1500" dirty="0">
                <a:solidFill>
                  <a:srgbClr val="D5E0EE"/>
                </a:solidFill>
              </a:rPr>
              <a:t>NMAM Institute of Technology, Nitte · 2025-26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Course roadmap</a:t>
            </a:r>
            <a:endParaRPr lang="en-US" sz="2800" dirty="0"/>
          </a:p>
        </p:txBody>
      </p:sp>
      <p:sp>
        <p:nvSpPr>
          <p:cNvPr id="3" name="Unit badge"/>
          <p:cNvSpPr/>
          <p:nvPr/>
        </p:nvSpPr>
        <p:spPr>
          <a:xfrm>
            <a:off x="457200" y="365760"/>
            <a:ext cx="548640" cy="548640"/>
          </a:xfrm>
          <a:prstGeom prst="ellipse">
            <a:avLst/>
          </a:prstGeom>
          <a:solidFill>
            <a:schemeClr val="accent1"/>
          </a:solidFill>
          <a:ln/>
        </p:spPr>
      </p:sp>
      <p:pic>
        <p:nvPicPr>
          <p:cNvPr id="4" name="Image 0" descr="bolt">    </p:cNvPr>
          <p:cNvPicPr>
            <a:picLocks noChangeAspect="1"/>
          </p:cNvPicPr>
          <p:nvPr/>
        </p:nvPicPr>
        <p:blipFill>
          <a:blip r:embed="rId1"/>
          <a:stretch>
            <a:fillRect/>
          </a:stretch>
        </p:blipFill>
        <p:spPr>
          <a:xfrm>
            <a:off x="594360" y="502920"/>
            <a:ext cx="274320" cy="274320"/>
          </a:xfrm>
          <a:prstGeom prst="rect">
            <a:avLst/>
          </a:prstGeom>
        </p:spPr>
      </p:pic>
      <p:sp>
        <p:nvSpPr>
          <p:cNvPr id="5" name="Unit card"/>
          <p:cNvSpPr/>
          <p:nvPr/>
        </p:nvSpPr>
        <p:spPr>
          <a:xfrm>
            <a:off x="457200" y="1234440"/>
            <a:ext cx="1554480" cy="3200400"/>
          </a:xfrm>
          <a:prstGeom prst="roundRect">
            <a:avLst>
              <a:gd name="adj" fmla="val 5882"/>
            </a:avLst>
          </a:prstGeom>
          <a:solidFill>
            <a:schemeClr val="tx2"/>
          </a:solidFill>
          <a:ln/>
        </p:spPr>
      </p:sp>
      <p:sp>
        <p:nvSpPr>
          <p:cNvPr id="6" name="Icon circle"/>
          <p:cNvSpPr/>
          <p:nvPr/>
        </p:nvSpPr>
        <p:spPr>
          <a:xfrm>
            <a:off x="868680" y="1417320"/>
            <a:ext cx="731520" cy="731520"/>
          </a:xfrm>
          <a:prstGeom prst="ellipse">
            <a:avLst/>
          </a:prstGeom>
          <a:solidFill>
            <a:schemeClr val="accent1"/>
          </a:solidFill>
          <a:ln/>
        </p:spPr>
      </p:sp>
      <p:pic>
        <p:nvPicPr>
          <p:cNvPr id="7" name="Image 1" descr="unit icon">    </p:cNvPr>
          <p:cNvPicPr>
            <a:picLocks noChangeAspect="1"/>
          </p:cNvPicPr>
          <p:nvPr/>
        </p:nvPicPr>
        <p:blipFill>
          <a:blip r:embed="rId2"/>
          <a:stretch>
            <a:fillRect/>
          </a:stretch>
        </p:blipFill>
        <p:spPr>
          <a:xfrm>
            <a:off x="1051560" y="1600200"/>
            <a:ext cx="365760" cy="365760"/>
          </a:xfrm>
          <a:prstGeom prst="rect">
            <a:avLst/>
          </a:prstGeom>
        </p:spPr>
      </p:pic>
      <p:sp>
        <p:nvSpPr>
          <p:cNvPr id="8" name="Text 4"/>
          <p:cNvSpPr txBox="1"/>
          <p:nvPr/>
        </p:nvSpPr>
        <p:spPr>
          <a:xfrm>
            <a:off x="548640" y="2286000"/>
            <a:ext cx="1371600" cy="274320"/>
          </a:xfrm>
          <a:prstGeom prst="rect">
            <a:avLst/>
          </a:prstGeom>
          <a:noFill/>
          <a:ln/>
        </p:spPr>
        <p:txBody>
          <a:bodyPr wrap="square" lIns="0" tIns="0" rIns="0" bIns="0" rtlCol="0" anchor="ctr"/>
          <a:lstStyle/>
          <a:p>
            <a:pPr algn="ctr" indent="0" marL="0">
              <a:buNone/>
            </a:pPr>
            <a:r>
              <a:rPr lang="en-US" sz="1300" b="1" dirty="0">
                <a:solidFill>
                  <a:schemeClr val="accent1"/>
                </a:solidFill>
              </a:rPr>
              <a:t>UNIT 1</a:t>
            </a:r>
            <a:endParaRPr lang="en-US" sz="1300" dirty="0"/>
          </a:p>
        </p:txBody>
      </p:sp>
      <p:sp>
        <p:nvSpPr>
          <p:cNvPr id="9" name="Text 5"/>
          <p:cNvSpPr txBox="1"/>
          <p:nvPr/>
        </p:nvSpPr>
        <p:spPr>
          <a:xfrm>
            <a:off x="548640" y="2560320"/>
            <a:ext cx="1371600" cy="731520"/>
          </a:xfrm>
          <a:prstGeom prst="rect">
            <a:avLst/>
          </a:prstGeom>
          <a:noFill/>
          <a:ln/>
        </p:spPr>
        <p:txBody>
          <a:bodyPr wrap="square" lIns="0" tIns="0" rIns="0" bIns="0" rtlCol="0" anchor="t"/>
          <a:lstStyle/>
          <a:p>
            <a:pPr algn="ctr" indent="0" marL="0">
              <a:buNone/>
            </a:pPr>
            <a:r>
              <a:rPr lang="en-US" sz="1600" b="1" dirty="0">
                <a:solidFill>
                  <a:schemeClr val="bg1"/>
                </a:solidFill>
              </a:rPr>
              <a:t>Circuits and AC</a:t>
            </a:r>
            <a:endParaRPr lang="en-US" sz="1600" dirty="0"/>
          </a:p>
        </p:txBody>
      </p:sp>
      <p:sp>
        <p:nvSpPr>
          <p:cNvPr id="10" name="Text 6"/>
          <p:cNvSpPr txBox="1"/>
          <p:nvPr/>
        </p:nvSpPr>
        <p:spPr>
          <a:xfrm>
            <a:off x="548640" y="3337560"/>
            <a:ext cx="1371600" cy="1005840"/>
          </a:xfrm>
          <a:prstGeom prst="rect">
            <a:avLst/>
          </a:prstGeom>
          <a:noFill/>
          <a:ln/>
        </p:spPr>
        <p:txBody>
          <a:bodyPr wrap="square" lIns="0" tIns="0" rIns="0" bIns="0" rtlCol="0" anchor="t"/>
          <a:lstStyle/>
          <a:p>
            <a:pPr algn="ctr" indent="0" marL="0">
              <a:buNone/>
            </a:pPr>
            <a:r>
              <a:rPr lang="en-US" sz="1200" dirty="0">
                <a:solidFill>
                  <a:srgbClr val="D5E0EE"/>
                </a:solidFill>
              </a:rPr>
              <a:t>Mesh, nodal, RMS, phasors, R-L-C, power factor</a:t>
            </a:r>
            <a:endParaRPr lang="en-US" sz="1200" dirty="0"/>
          </a:p>
        </p:txBody>
      </p:sp>
      <p:sp>
        <p:nvSpPr>
          <p:cNvPr id="11" name="Unit card"/>
          <p:cNvSpPr/>
          <p:nvPr/>
        </p:nvSpPr>
        <p:spPr>
          <a:xfrm>
            <a:off x="2139696" y="1234440"/>
            <a:ext cx="1554480" cy="3200400"/>
          </a:xfrm>
          <a:prstGeom prst="roundRect">
            <a:avLst>
              <a:gd name="adj" fmla="val 5882"/>
            </a:avLst>
          </a:prstGeom>
          <a:solidFill>
            <a:schemeClr val="tx2"/>
          </a:solidFill>
          <a:ln/>
        </p:spPr>
      </p:sp>
      <p:sp>
        <p:nvSpPr>
          <p:cNvPr id="12" name="Icon circle"/>
          <p:cNvSpPr/>
          <p:nvPr/>
        </p:nvSpPr>
        <p:spPr>
          <a:xfrm>
            <a:off x="2551176" y="1417320"/>
            <a:ext cx="731520" cy="731520"/>
          </a:xfrm>
          <a:prstGeom prst="ellipse">
            <a:avLst/>
          </a:prstGeom>
          <a:solidFill>
            <a:schemeClr val="accent1"/>
          </a:solidFill>
          <a:ln/>
        </p:spPr>
      </p:sp>
      <p:pic>
        <p:nvPicPr>
          <p:cNvPr id="13" name="Image 2" descr="unit icon">    </p:cNvPr>
          <p:cNvPicPr>
            <a:picLocks noChangeAspect="1"/>
          </p:cNvPicPr>
          <p:nvPr/>
        </p:nvPicPr>
        <p:blipFill>
          <a:blip r:embed="rId3"/>
          <a:stretch>
            <a:fillRect/>
          </a:stretch>
        </p:blipFill>
        <p:spPr>
          <a:xfrm>
            <a:off x="2734056" y="1600200"/>
            <a:ext cx="365760" cy="365760"/>
          </a:xfrm>
          <a:prstGeom prst="rect">
            <a:avLst/>
          </a:prstGeom>
        </p:spPr>
      </p:pic>
      <p:sp>
        <p:nvSpPr>
          <p:cNvPr id="14" name="Text 9"/>
          <p:cNvSpPr txBox="1"/>
          <p:nvPr/>
        </p:nvSpPr>
        <p:spPr>
          <a:xfrm>
            <a:off x="2231136" y="2286000"/>
            <a:ext cx="1371600" cy="274320"/>
          </a:xfrm>
          <a:prstGeom prst="rect">
            <a:avLst/>
          </a:prstGeom>
          <a:noFill/>
          <a:ln/>
        </p:spPr>
        <p:txBody>
          <a:bodyPr wrap="square" lIns="0" tIns="0" rIns="0" bIns="0" rtlCol="0" anchor="ctr"/>
          <a:lstStyle/>
          <a:p>
            <a:pPr algn="ctr" indent="0" marL="0">
              <a:buNone/>
            </a:pPr>
            <a:r>
              <a:rPr lang="en-US" sz="1300" b="1" dirty="0">
                <a:solidFill>
                  <a:schemeClr val="accent1"/>
                </a:solidFill>
              </a:rPr>
              <a:t>UNIT 2</a:t>
            </a:r>
            <a:endParaRPr lang="en-US" sz="1300" dirty="0"/>
          </a:p>
        </p:txBody>
      </p:sp>
      <p:sp>
        <p:nvSpPr>
          <p:cNvPr id="15" name="Text 10"/>
          <p:cNvSpPr txBox="1"/>
          <p:nvPr/>
        </p:nvSpPr>
        <p:spPr>
          <a:xfrm>
            <a:off x="2231136" y="2560320"/>
            <a:ext cx="1371600" cy="731520"/>
          </a:xfrm>
          <a:prstGeom prst="rect">
            <a:avLst/>
          </a:prstGeom>
          <a:noFill/>
          <a:ln/>
        </p:spPr>
        <p:txBody>
          <a:bodyPr wrap="square" lIns="0" tIns="0" rIns="0" bIns="0" rtlCol="0" anchor="t"/>
          <a:lstStyle/>
          <a:p>
            <a:pPr algn="ctr" indent="0" marL="0">
              <a:buNone/>
            </a:pPr>
            <a:r>
              <a:rPr lang="en-US" sz="1600" b="1" dirty="0">
                <a:solidFill>
                  <a:schemeClr val="bg1"/>
                </a:solidFill>
              </a:rPr>
              <a:t>Transformers and Machines</a:t>
            </a:r>
            <a:endParaRPr lang="en-US" sz="1600" dirty="0"/>
          </a:p>
        </p:txBody>
      </p:sp>
      <p:sp>
        <p:nvSpPr>
          <p:cNvPr id="16" name="Text 11"/>
          <p:cNvSpPr txBox="1"/>
          <p:nvPr/>
        </p:nvSpPr>
        <p:spPr>
          <a:xfrm>
            <a:off x="2231136" y="3337560"/>
            <a:ext cx="1371600" cy="1005840"/>
          </a:xfrm>
          <a:prstGeom prst="rect">
            <a:avLst/>
          </a:prstGeom>
          <a:noFill/>
          <a:ln/>
        </p:spPr>
        <p:txBody>
          <a:bodyPr wrap="square" lIns="0" tIns="0" rIns="0" bIns="0" rtlCol="0" anchor="t"/>
          <a:lstStyle/>
          <a:p>
            <a:pPr algn="ctr" indent="0" marL="0">
              <a:buNone/>
            </a:pPr>
            <a:r>
              <a:rPr lang="en-US" sz="1200" dirty="0">
                <a:solidFill>
                  <a:srgbClr val="D5E0EE"/>
                </a:solidFill>
              </a:rPr>
              <a:t>EMF equation, DC motors, induction motor</a:t>
            </a:r>
            <a:endParaRPr lang="en-US" sz="1200" dirty="0"/>
          </a:p>
        </p:txBody>
      </p:sp>
      <p:sp>
        <p:nvSpPr>
          <p:cNvPr id="17" name="Unit card"/>
          <p:cNvSpPr/>
          <p:nvPr/>
        </p:nvSpPr>
        <p:spPr>
          <a:xfrm>
            <a:off x="3822192" y="1234440"/>
            <a:ext cx="1554480" cy="3200400"/>
          </a:xfrm>
          <a:prstGeom prst="roundRect">
            <a:avLst>
              <a:gd name="adj" fmla="val 5882"/>
            </a:avLst>
          </a:prstGeom>
          <a:solidFill>
            <a:schemeClr val="tx2"/>
          </a:solidFill>
          <a:ln/>
        </p:spPr>
      </p:sp>
      <p:sp>
        <p:nvSpPr>
          <p:cNvPr id="18" name="Icon circle"/>
          <p:cNvSpPr/>
          <p:nvPr/>
        </p:nvSpPr>
        <p:spPr>
          <a:xfrm>
            <a:off x="4233672" y="1417320"/>
            <a:ext cx="731520" cy="731520"/>
          </a:xfrm>
          <a:prstGeom prst="ellipse">
            <a:avLst/>
          </a:prstGeom>
          <a:solidFill>
            <a:schemeClr val="accent1"/>
          </a:solidFill>
          <a:ln/>
        </p:spPr>
      </p:sp>
      <p:pic>
        <p:nvPicPr>
          <p:cNvPr id="19" name="Image 3" descr="unit icon">    </p:cNvPr>
          <p:cNvPicPr>
            <a:picLocks noChangeAspect="1"/>
          </p:cNvPicPr>
          <p:nvPr/>
        </p:nvPicPr>
        <p:blipFill>
          <a:blip r:embed="rId4"/>
          <a:stretch>
            <a:fillRect/>
          </a:stretch>
        </p:blipFill>
        <p:spPr>
          <a:xfrm>
            <a:off x="4416552" y="1600200"/>
            <a:ext cx="365760" cy="365760"/>
          </a:xfrm>
          <a:prstGeom prst="rect">
            <a:avLst/>
          </a:prstGeom>
        </p:spPr>
      </p:pic>
      <p:sp>
        <p:nvSpPr>
          <p:cNvPr id="20" name="Text 14"/>
          <p:cNvSpPr txBox="1"/>
          <p:nvPr/>
        </p:nvSpPr>
        <p:spPr>
          <a:xfrm>
            <a:off x="3913632" y="2286000"/>
            <a:ext cx="1371600" cy="274320"/>
          </a:xfrm>
          <a:prstGeom prst="rect">
            <a:avLst/>
          </a:prstGeom>
          <a:noFill/>
          <a:ln/>
        </p:spPr>
        <p:txBody>
          <a:bodyPr wrap="square" lIns="0" tIns="0" rIns="0" bIns="0" rtlCol="0" anchor="ctr"/>
          <a:lstStyle/>
          <a:p>
            <a:pPr algn="ctr" indent="0" marL="0">
              <a:buNone/>
            </a:pPr>
            <a:r>
              <a:rPr lang="en-US" sz="1300" b="1" dirty="0">
                <a:solidFill>
                  <a:schemeClr val="accent1"/>
                </a:solidFill>
              </a:rPr>
              <a:t>UNIT 3</a:t>
            </a:r>
            <a:endParaRPr lang="en-US" sz="1300" dirty="0"/>
          </a:p>
        </p:txBody>
      </p:sp>
      <p:sp>
        <p:nvSpPr>
          <p:cNvPr id="21" name="Text 15"/>
          <p:cNvSpPr txBox="1"/>
          <p:nvPr/>
        </p:nvSpPr>
        <p:spPr>
          <a:xfrm>
            <a:off x="3913632" y="2560320"/>
            <a:ext cx="1371600" cy="731520"/>
          </a:xfrm>
          <a:prstGeom prst="rect">
            <a:avLst/>
          </a:prstGeom>
          <a:noFill/>
          <a:ln/>
        </p:spPr>
        <p:txBody>
          <a:bodyPr wrap="square" lIns="0" tIns="0" rIns="0" bIns="0" rtlCol="0" anchor="t"/>
          <a:lstStyle/>
          <a:p>
            <a:pPr algn="ctr" indent="0" marL="0">
              <a:buNone/>
            </a:pPr>
            <a:r>
              <a:rPr lang="en-US" sz="1600" b="1" dirty="0">
                <a:solidFill>
                  <a:schemeClr val="bg1"/>
                </a:solidFill>
              </a:rPr>
              <a:t>Diodes and Rectifiers</a:t>
            </a:r>
            <a:endParaRPr lang="en-US" sz="1600" dirty="0"/>
          </a:p>
        </p:txBody>
      </p:sp>
      <p:sp>
        <p:nvSpPr>
          <p:cNvPr id="22" name="Text 16"/>
          <p:cNvSpPr txBox="1"/>
          <p:nvPr/>
        </p:nvSpPr>
        <p:spPr>
          <a:xfrm>
            <a:off x="3913632" y="3337560"/>
            <a:ext cx="1371600" cy="1005840"/>
          </a:xfrm>
          <a:prstGeom prst="rect">
            <a:avLst/>
          </a:prstGeom>
          <a:noFill/>
          <a:ln/>
        </p:spPr>
        <p:txBody>
          <a:bodyPr wrap="square" lIns="0" tIns="0" rIns="0" bIns="0" rtlCol="0" anchor="t"/>
          <a:lstStyle/>
          <a:p>
            <a:pPr algn="ctr" indent="0" marL="0">
              <a:buNone/>
            </a:pPr>
            <a:r>
              <a:rPr lang="en-US" sz="1200" dirty="0">
                <a:solidFill>
                  <a:srgbClr val="D5E0EE"/>
                </a:solidFill>
              </a:rPr>
              <a:t>PN diode, HWR, FWR, bridge, Zener regulator</a:t>
            </a:r>
            <a:endParaRPr lang="en-US" sz="1200" dirty="0"/>
          </a:p>
        </p:txBody>
      </p:sp>
      <p:sp>
        <p:nvSpPr>
          <p:cNvPr id="23" name="Unit card"/>
          <p:cNvSpPr/>
          <p:nvPr/>
        </p:nvSpPr>
        <p:spPr>
          <a:xfrm>
            <a:off x="5504688" y="1234440"/>
            <a:ext cx="1554480" cy="3200400"/>
          </a:xfrm>
          <a:prstGeom prst="roundRect">
            <a:avLst>
              <a:gd name="adj" fmla="val 5882"/>
            </a:avLst>
          </a:prstGeom>
          <a:solidFill>
            <a:schemeClr val="tx2"/>
          </a:solidFill>
          <a:ln/>
        </p:spPr>
      </p:sp>
      <p:sp>
        <p:nvSpPr>
          <p:cNvPr id="24" name="Icon circle"/>
          <p:cNvSpPr/>
          <p:nvPr/>
        </p:nvSpPr>
        <p:spPr>
          <a:xfrm>
            <a:off x="5916168" y="1417320"/>
            <a:ext cx="731520" cy="731520"/>
          </a:xfrm>
          <a:prstGeom prst="ellipse">
            <a:avLst/>
          </a:prstGeom>
          <a:solidFill>
            <a:schemeClr val="accent1"/>
          </a:solidFill>
          <a:ln/>
        </p:spPr>
      </p:sp>
      <p:pic>
        <p:nvPicPr>
          <p:cNvPr id="25" name="Image 4" descr="unit icon">    </p:cNvPr>
          <p:cNvPicPr>
            <a:picLocks noChangeAspect="1"/>
          </p:cNvPicPr>
          <p:nvPr/>
        </p:nvPicPr>
        <p:blipFill>
          <a:blip r:embed="rId5"/>
          <a:stretch>
            <a:fillRect/>
          </a:stretch>
        </p:blipFill>
        <p:spPr>
          <a:xfrm>
            <a:off x="6099048" y="1600200"/>
            <a:ext cx="365760" cy="365760"/>
          </a:xfrm>
          <a:prstGeom prst="rect">
            <a:avLst/>
          </a:prstGeom>
        </p:spPr>
      </p:pic>
      <p:sp>
        <p:nvSpPr>
          <p:cNvPr id="26" name="Text 19"/>
          <p:cNvSpPr txBox="1"/>
          <p:nvPr/>
        </p:nvSpPr>
        <p:spPr>
          <a:xfrm>
            <a:off x="5596128" y="2286000"/>
            <a:ext cx="1371600" cy="274320"/>
          </a:xfrm>
          <a:prstGeom prst="rect">
            <a:avLst/>
          </a:prstGeom>
          <a:noFill/>
          <a:ln/>
        </p:spPr>
        <p:txBody>
          <a:bodyPr wrap="square" lIns="0" tIns="0" rIns="0" bIns="0" rtlCol="0" anchor="ctr"/>
          <a:lstStyle/>
          <a:p>
            <a:pPr algn="ctr" indent="0" marL="0">
              <a:buNone/>
            </a:pPr>
            <a:r>
              <a:rPr lang="en-US" sz="1300" b="1" dirty="0">
                <a:solidFill>
                  <a:schemeClr val="accent1"/>
                </a:solidFill>
              </a:rPr>
              <a:t>UNIT 4</a:t>
            </a:r>
            <a:endParaRPr lang="en-US" sz="1300" dirty="0"/>
          </a:p>
        </p:txBody>
      </p:sp>
      <p:sp>
        <p:nvSpPr>
          <p:cNvPr id="27" name="Text 20"/>
          <p:cNvSpPr txBox="1"/>
          <p:nvPr/>
        </p:nvSpPr>
        <p:spPr>
          <a:xfrm>
            <a:off x="5596128" y="2560320"/>
            <a:ext cx="1371600" cy="731520"/>
          </a:xfrm>
          <a:prstGeom prst="rect">
            <a:avLst/>
          </a:prstGeom>
          <a:noFill/>
          <a:ln/>
        </p:spPr>
        <p:txBody>
          <a:bodyPr wrap="square" lIns="0" tIns="0" rIns="0" bIns="0" rtlCol="0" anchor="t"/>
          <a:lstStyle/>
          <a:p>
            <a:pPr algn="ctr" indent="0" marL="0">
              <a:buNone/>
            </a:pPr>
            <a:r>
              <a:rPr lang="en-US" sz="1600" b="1" dirty="0">
                <a:solidFill>
                  <a:schemeClr val="bg1"/>
                </a:solidFill>
              </a:rPr>
              <a:t>BJT and MOSFET</a:t>
            </a:r>
            <a:endParaRPr lang="en-US" sz="1600" dirty="0"/>
          </a:p>
        </p:txBody>
      </p:sp>
      <p:sp>
        <p:nvSpPr>
          <p:cNvPr id="28" name="Text 21"/>
          <p:cNvSpPr txBox="1"/>
          <p:nvPr/>
        </p:nvSpPr>
        <p:spPr>
          <a:xfrm>
            <a:off x="5596128" y="3337560"/>
            <a:ext cx="1371600" cy="1005840"/>
          </a:xfrm>
          <a:prstGeom prst="rect">
            <a:avLst/>
          </a:prstGeom>
          <a:noFill/>
          <a:ln/>
        </p:spPr>
        <p:txBody>
          <a:bodyPr wrap="square" lIns="0" tIns="0" rIns="0" bIns="0" rtlCol="0" anchor="t"/>
          <a:lstStyle/>
          <a:p>
            <a:pPr algn="ctr" indent="0" marL="0">
              <a:buNone/>
            </a:pPr>
            <a:r>
              <a:rPr lang="en-US" sz="1200" dirty="0">
                <a:solidFill>
                  <a:srgbClr val="D5E0EE"/>
                </a:solidFill>
              </a:rPr>
              <a:t>Currents, gains, switch, CMOS inverter</a:t>
            </a:r>
            <a:endParaRPr lang="en-US" sz="1200" dirty="0"/>
          </a:p>
        </p:txBody>
      </p:sp>
      <p:sp>
        <p:nvSpPr>
          <p:cNvPr id="29" name="Unit card"/>
          <p:cNvSpPr/>
          <p:nvPr/>
        </p:nvSpPr>
        <p:spPr>
          <a:xfrm>
            <a:off x="7187184" y="1234440"/>
            <a:ext cx="1554480" cy="3200400"/>
          </a:xfrm>
          <a:prstGeom prst="roundRect">
            <a:avLst>
              <a:gd name="adj" fmla="val 5882"/>
            </a:avLst>
          </a:prstGeom>
          <a:solidFill>
            <a:schemeClr val="tx2"/>
          </a:solidFill>
          <a:ln/>
        </p:spPr>
      </p:sp>
      <p:sp>
        <p:nvSpPr>
          <p:cNvPr id="30" name="Icon circle"/>
          <p:cNvSpPr/>
          <p:nvPr/>
        </p:nvSpPr>
        <p:spPr>
          <a:xfrm>
            <a:off x="7598664" y="1417320"/>
            <a:ext cx="731520" cy="731520"/>
          </a:xfrm>
          <a:prstGeom prst="ellipse">
            <a:avLst/>
          </a:prstGeom>
          <a:solidFill>
            <a:schemeClr val="accent1"/>
          </a:solidFill>
          <a:ln/>
        </p:spPr>
      </p:sp>
      <p:pic>
        <p:nvPicPr>
          <p:cNvPr id="31" name="Image 5" descr="unit icon">    </p:cNvPr>
          <p:cNvPicPr>
            <a:picLocks noChangeAspect="1"/>
          </p:cNvPicPr>
          <p:nvPr/>
        </p:nvPicPr>
        <p:blipFill>
          <a:blip r:embed="rId6"/>
          <a:stretch>
            <a:fillRect/>
          </a:stretch>
        </p:blipFill>
        <p:spPr>
          <a:xfrm>
            <a:off x="7781544" y="1600200"/>
            <a:ext cx="365760" cy="365760"/>
          </a:xfrm>
          <a:prstGeom prst="rect">
            <a:avLst/>
          </a:prstGeom>
        </p:spPr>
      </p:pic>
      <p:sp>
        <p:nvSpPr>
          <p:cNvPr id="32" name="Text 24"/>
          <p:cNvSpPr txBox="1"/>
          <p:nvPr/>
        </p:nvSpPr>
        <p:spPr>
          <a:xfrm>
            <a:off x="7278624" y="2286000"/>
            <a:ext cx="1371600" cy="274320"/>
          </a:xfrm>
          <a:prstGeom prst="rect">
            <a:avLst/>
          </a:prstGeom>
          <a:noFill/>
          <a:ln/>
        </p:spPr>
        <p:txBody>
          <a:bodyPr wrap="square" lIns="0" tIns="0" rIns="0" bIns="0" rtlCol="0" anchor="ctr"/>
          <a:lstStyle/>
          <a:p>
            <a:pPr algn="ctr" indent="0" marL="0">
              <a:buNone/>
            </a:pPr>
            <a:r>
              <a:rPr lang="en-US" sz="1300" b="1" dirty="0">
                <a:solidFill>
                  <a:schemeClr val="accent1"/>
                </a:solidFill>
              </a:rPr>
              <a:t>UNIT 5</a:t>
            </a:r>
            <a:endParaRPr lang="en-US" sz="1300" dirty="0"/>
          </a:p>
        </p:txBody>
      </p:sp>
      <p:sp>
        <p:nvSpPr>
          <p:cNvPr id="33" name="Text 25"/>
          <p:cNvSpPr txBox="1"/>
          <p:nvPr/>
        </p:nvSpPr>
        <p:spPr>
          <a:xfrm>
            <a:off x="7278624" y="2560320"/>
            <a:ext cx="1371600" cy="731520"/>
          </a:xfrm>
          <a:prstGeom prst="rect">
            <a:avLst/>
          </a:prstGeom>
          <a:noFill/>
          <a:ln/>
        </p:spPr>
        <p:txBody>
          <a:bodyPr wrap="square" lIns="0" tIns="0" rIns="0" bIns="0" rtlCol="0" anchor="t"/>
          <a:lstStyle/>
          <a:p>
            <a:pPr algn="ctr" indent="0" marL="0">
              <a:buNone/>
            </a:pPr>
            <a:r>
              <a:rPr lang="en-US" sz="1600" b="1" dirty="0">
                <a:solidFill>
                  <a:schemeClr val="bg1"/>
                </a:solidFill>
              </a:rPr>
              <a:t>Operational Amplifiers</a:t>
            </a:r>
            <a:endParaRPr lang="en-US" sz="1600" dirty="0"/>
          </a:p>
        </p:txBody>
      </p:sp>
      <p:sp>
        <p:nvSpPr>
          <p:cNvPr id="34" name="Text 26"/>
          <p:cNvSpPr txBox="1"/>
          <p:nvPr/>
        </p:nvSpPr>
        <p:spPr>
          <a:xfrm>
            <a:off x="7278624" y="3337560"/>
            <a:ext cx="1371600" cy="1005840"/>
          </a:xfrm>
          <a:prstGeom prst="rect">
            <a:avLst/>
          </a:prstGeom>
          <a:noFill/>
          <a:ln/>
        </p:spPr>
        <p:txBody>
          <a:bodyPr wrap="square" lIns="0" tIns="0" rIns="0" bIns="0" rtlCol="0" anchor="t"/>
          <a:lstStyle/>
          <a:p>
            <a:pPr algn="ctr" indent="0" marL="0">
              <a:buNone/>
            </a:pPr>
            <a:r>
              <a:rPr lang="en-US" sz="1200" dirty="0">
                <a:solidFill>
                  <a:srgbClr val="D5E0EE"/>
                </a:solidFill>
              </a:rPr>
              <a:t>Ideal op-amp, inverting, summing, integrator</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Icon circle"/>
          <p:cNvSpPr/>
          <p:nvPr/>
        </p:nvSpPr>
        <p:spPr>
          <a:xfrm>
            <a:off x="640080" y="1097280"/>
            <a:ext cx="1371600" cy="1371600"/>
          </a:xfrm>
          <a:prstGeom prst="ellipse">
            <a:avLst/>
          </a:prstGeom>
          <a:solidFill>
            <a:schemeClr val="accent1"/>
          </a:solidFill>
          <a:ln/>
        </p:spPr>
      </p:sp>
      <p:pic>
        <p:nvPicPr>
          <p:cNvPr id="3" name="Image 0" descr="unit icon">    </p:cNvPr>
          <p:cNvPicPr>
            <a:picLocks noChangeAspect="1"/>
          </p:cNvPicPr>
          <p:nvPr/>
        </p:nvPicPr>
        <p:blipFill>
          <a:blip r:embed="rId1"/>
          <a:stretch>
            <a:fillRect/>
          </a:stretch>
        </p:blipFill>
        <p:spPr>
          <a:xfrm>
            <a:off x="1005840" y="1463040"/>
            <a:ext cx="640080" cy="640080"/>
          </a:xfrm>
          <a:prstGeom prst="rect">
            <a:avLst/>
          </a:prstGeom>
        </p:spPr>
      </p:pic>
      <p:sp>
        <p:nvSpPr>
          <p:cNvPr id="4" name="Text 1"/>
          <p:cNvSpPr txBox="1"/>
          <p:nvPr/>
        </p:nvSpPr>
        <p:spPr>
          <a:xfrm>
            <a:off x="2377440" y="960120"/>
            <a:ext cx="5943600" cy="457200"/>
          </a:xfrm>
          <a:prstGeom prst="rect">
            <a:avLst/>
          </a:prstGeom>
          <a:noFill/>
          <a:ln/>
        </p:spPr>
        <p:txBody>
          <a:bodyPr wrap="square" lIns="0" tIns="0" rIns="0" bIns="0" rtlCol="0" anchor="ctr"/>
          <a:lstStyle/>
          <a:p>
            <a:pPr indent="0" marL="0">
              <a:buNone/>
            </a:pPr>
            <a:r>
              <a:rPr lang="en-US" sz="1800" b="1" spc="400" kern="0" dirty="0">
                <a:solidFill>
                  <a:schemeClr val="accent1"/>
                </a:solidFill>
              </a:rPr>
              <a:t>UNIT 1</a:t>
            </a:r>
            <a:endParaRPr lang="en-US" sz="1800" dirty="0"/>
          </a:p>
        </p:txBody>
      </p:sp>
      <p:sp>
        <p:nvSpPr>
          <p:cNvPr id="5" name="Text 2"/>
          <p:cNvSpPr txBox="1"/>
          <p:nvPr/>
        </p:nvSpPr>
        <p:spPr>
          <a:xfrm>
            <a:off x="2377440" y="1417320"/>
            <a:ext cx="6309360" cy="109728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Circuit Fundamentals and AC Circuits</a:t>
            </a:r>
            <a:endParaRPr lang="en-US" sz="3600" dirty="0"/>
          </a:p>
        </p:txBody>
      </p:sp>
      <p:sp>
        <p:nvSpPr>
          <p:cNvPr id="6" name="Text 3"/>
          <p:cNvSpPr txBox="1"/>
          <p:nvPr/>
        </p:nvSpPr>
        <p:spPr>
          <a:xfrm>
            <a:off x="2377440" y="2743200"/>
            <a:ext cx="6217920" cy="15544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D5E0EE"/>
                </a:solidFill>
              </a:rPr>
              <a:t>Mesh and nodal analysis</a:t>
            </a:r>
            <a:endParaRPr lang="en-US" sz="1600" dirty="0"/>
          </a:p>
          <a:p>
            <a:pPr marL="342900" indent="-342900">
              <a:spcAft>
                <a:spcPts val="600"/>
              </a:spcAft>
              <a:buSzPct val="100000"/>
              <a:buChar char="•"/>
            </a:pPr>
            <a:r>
              <a:rPr lang="en-US" sz="1600" dirty="0">
                <a:solidFill>
                  <a:srgbClr val="D5E0EE"/>
                </a:solidFill>
              </a:rPr>
              <a:t>Energy and power</a:t>
            </a:r>
            <a:endParaRPr lang="en-US" sz="1600" dirty="0"/>
          </a:p>
          <a:p>
            <a:pPr marL="342900" indent="-342900">
              <a:spcAft>
                <a:spcPts val="600"/>
              </a:spcAft>
              <a:buSzPct val="100000"/>
              <a:buChar char="•"/>
            </a:pPr>
            <a:r>
              <a:rPr lang="en-US" sz="1600" dirty="0">
                <a:solidFill>
                  <a:srgbClr val="D5E0EE"/>
                </a:solidFill>
              </a:rPr>
              <a:t>Sinusoidal quantities: average, RMS, phasors</a:t>
            </a:r>
            <a:endParaRPr lang="en-US" sz="1600" dirty="0"/>
          </a:p>
          <a:p>
            <a:pPr marL="342900" indent="-342900">
              <a:spcAft>
                <a:spcPts val="600"/>
              </a:spcAft>
              <a:buSzPct val="100000"/>
              <a:buChar char="•"/>
            </a:pPr>
            <a:r>
              <a:rPr lang="en-US" sz="1600" dirty="0">
                <a:solidFill>
                  <a:srgbClr val="D5E0EE"/>
                </a:solidFill>
              </a:rPr>
              <a:t>R, L, C circuits, impedance, power factor</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Mesh analysis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5" name="Text 3"/>
          <p:cNvSpPr txBox="1"/>
          <p:nvPr/>
        </p:nvSpPr>
        <p:spPr>
          <a:xfrm>
            <a:off x="457200" y="1188720"/>
            <a:ext cx="3840480" cy="2651760"/>
          </a:xfrm>
          <a:prstGeom prst="rect">
            <a:avLst/>
          </a:prstGeom>
          <a:noFill/>
          <a:ln/>
        </p:spPr>
        <p:txBody>
          <a:bodyPr wrap="square" lIns="0" tIns="0" rIns="0" bIns="0" rtlCol="0" anchor="t"/>
          <a:lstStyle/>
          <a:p>
            <a:pPr marL="342900" indent="-342900">
              <a:spcAft>
                <a:spcPts val="600"/>
              </a:spcAft>
              <a:buSzPct val="100000"/>
              <a:buChar char="•"/>
            </a:pPr>
            <a:r>
              <a:rPr lang="en-US" sz="1500" b="1" dirty="0">
                <a:solidFill>
                  <a:schemeClr val="tx2"/>
                </a:solidFill>
              </a:rPr>
              <a:t>Idea: </a:t>
            </a:r>
            <a:pPr indent="0" marL="0">
              <a:spcAft>
                <a:spcPts val="600"/>
              </a:spcAft>
              <a:buNone/>
            </a:pPr>
            <a:r>
              <a:rPr lang="en-US" sz="1500" dirty="0">
                <a:solidFill>
                  <a:schemeClr val="tx1"/>
                </a:solidFill>
              </a:rPr>
              <a:t>assign a circulating current to every closed loop (mesh), not to every branch.</a:t>
            </a:r>
            <a:endParaRPr lang="en-US" sz="1500" dirty="0"/>
          </a:p>
          <a:p>
            <a:pPr marL="342900" indent="-342900">
              <a:spcAft>
                <a:spcPts val="600"/>
              </a:spcAft>
              <a:buSzPct val="100000"/>
              <a:buChar char="•"/>
            </a:pPr>
            <a:r>
              <a:rPr lang="en-US" sz="1500" b="1" dirty="0">
                <a:solidFill>
                  <a:schemeClr val="tx2"/>
                </a:solidFill>
              </a:rPr>
              <a:t>Write KVL </a:t>
            </a:r>
            <a:pPr indent="0" marL="0">
              <a:spcAft>
                <a:spcPts val="600"/>
              </a:spcAft>
              <a:buNone/>
            </a:pPr>
            <a:r>
              <a:rPr lang="en-US" sz="1500" dirty="0">
                <a:solidFill>
                  <a:schemeClr val="tx1"/>
                </a:solidFill>
              </a:rPr>
              <a:t>around each mesh: sum of EMFs = sum of voltage drops.</a:t>
            </a:r>
            <a:endParaRPr lang="en-US" sz="1500" dirty="0"/>
          </a:p>
          <a:p>
            <a:pPr marL="342900" indent="-342900">
              <a:spcAft>
                <a:spcPts val="600"/>
              </a:spcAft>
              <a:buSzPct val="100000"/>
              <a:buChar char="•"/>
            </a:pPr>
            <a:r>
              <a:rPr lang="en-US" sz="1500" b="1" dirty="0">
                <a:solidFill>
                  <a:schemeClr val="tx2"/>
                </a:solidFill>
              </a:rPr>
              <a:t>Solve </a:t>
            </a:r>
            <a:pPr indent="0" marL="0">
              <a:spcAft>
                <a:spcPts val="600"/>
              </a:spcAft>
              <a:buNone/>
            </a:pPr>
            <a:r>
              <a:rPr lang="en-US" sz="1500" dirty="0">
                <a:solidFill>
                  <a:schemeClr val="tx1"/>
                </a:solidFill>
              </a:rPr>
              <a:t>the simultaneous equations; branch current = algebraic sum of mesh currents.</a:t>
            </a:r>
            <a:endParaRPr lang="en-US" sz="1500" dirty="0"/>
          </a:p>
          <a:p>
            <a:pPr marL="342900" indent="-342900">
              <a:spcAft>
                <a:spcPts val="600"/>
              </a:spcAft>
              <a:buSzPct val="100000"/>
              <a:buChar char="•"/>
            </a:pPr>
            <a:r>
              <a:rPr lang="en-US" sz="1500" b="1" dirty="0">
                <a:solidFill>
                  <a:schemeClr val="tx2"/>
                </a:solidFill>
              </a:rPr>
              <a:t>Sign: </a:t>
            </a:r>
            <a:pPr indent="0" marL="0">
              <a:spcAft>
                <a:spcPts val="600"/>
              </a:spcAft>
              <a:buNone/>
            </a:pPr>
            <a:r>
              <a:rPr lang="en-US" sz="1500" dirty="0">
                <a:solidFill>
                  <a:schemeClr val="tx1"/>
                </a:solidFill>
              </a:rPr>
              <a:t>a negative answer just means the real current flows opposite to the assumed direction.</a:t>
            </a:r>
            <a:endParaRPr lang="en-US" sz="1500" dirty="0"/>
          </a:p>
        </p:txBody>
      </p:sp>
      <p:pic>
        <p:nvPicPr>
          <p:cNvPr id="6" name="Image 0" descr="mesh diagram">    </p:cNvPr>
          <p:cNvPicPr>
            <a:picLocks noChangeAspect="1"/>
          </p:cNvPicPr>
          <p:nvPr/>
        </p:nvPicPr>
        <p:blipFill>
          <a:blip r:embed="rId1"/>
          <a:stretch>
            <a:fillRect/>
          </a:stretch>
        </p:blipFill>
        <p:spPr>
          <a:xfrm>
            <a:off x="4572000" y="1143000"/>
            <a:ext cx="4114800" cy="2395728"/>
          </a:xfrm>
          <a:prstGeom prst="rect">
            <a:avLst/>
          </a:prstGeom>
        </p:spPr>
      </p:pic>
      <p:sp>
        <p:nvSpPr>
          <p:cNvPr id="7" name="Result strip"/>
          <p:cNvSpPr/>
          <p:nvPr/>
        </p:nvSpPr>
        <p:spPr>
          <a:xfrm>
            <a:off x="457200" y="3749040"/>
            <a:ext cx="8229600" cy="822960"/>
          </a:xfrm>
          <a:prstGeom prst="roundRect">
            <a:avLst>
              <a:gd name="adj" fmla="val 8889"/>
            </a:avLst>
          </a:prstGeom>
          <a:solidFill>
            <a:schemeClr val="tx2"/>
          </a:solidFill>
          <a:ln/>
        </p:spPr>
      </p:sp>
      <p:sp>
        <p:nvSpPr>
          <p:cNvPr id="8" name="Text 5"/>
          <p:cNvSpPr txBox="1"/>
          <p:nvPr/>
        </p:nvSpPr>
        <p:spPr>
          <a:xfrm>
            <a:off x="640080" y="3749040"/>
            <a:ext cx="7863840" cy="822960"/>
          </a:xfrm>
          <a:prstGeom prst="rect">
            <a:avLst/>
          </a:prstGeom>
          <a:noFill/>
          <a:ln/>
        </p:spPr>
        <p:txBody>
          <a:bodyPr wrap="square" lIns="0" tIns="0" rIns="0" bIns="0" rtlCol="0" anchor="ctr"/>
          <a:lstStyle/>
          <a:p>
            <a:pPr indent="0" marL="0">
              <a:buNone/>
            </a:pPr>
            <a:r>
              <a:rPr lang="en-US" sz="1500" b="1" dirty="0">
                <a:solidFill>
                  <a:schemeClr val="bg1"/>
                </a:solidFill>
              </a:rPr>
              <a:t>KVL gives  19 I1 − 18 I2 = 10  and  −18 I1 + 20 I2 = −5  →  I1 = 1.964 A, I2 = 1.518 A;  18 Ω carries 0.446 A (3.59 W)</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Nodal analysis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5" name="Text 3"/>
          <p:cNvSpPr txBox="1"/>
          <p:nvPr/>
        </p:nvSpPr>
        <p:spPr>
          <a:xfrm>
            <a:off x="457200" y="1188720"/>
            <a:ext cx="3840480" cy="2377440"/>
          </a:xfrm>
          <a:prstGeom prst="rect">
            <a:avLst/>
          </a:prstGeom>
          <a:noFill/>
          <a:ln/>
        </p:spPr>
        <p:txBody>
          <a:bodyPr wrap="square" lIns="0" tIns="0" rIns="0" bIns="0" rtlCol="0" anchor="t"/>
          <a:lstStyle/>
          <a:p>
            <a:pPr marL="342900" indent="-342900">
              <a:spcAft>
                <a:spcPts val="600"/>
              </a:spcAft>
              <a:buSzPct val="100000"/>
              <a:buChar char="•"/>
            </a:pPr>
            <a:r>
              <a:rPr lang="en-US" sz="1500" b="1" dirty="0">
                <a:solidFill>
                  <a:schemeClr val="tx2"/>
                </a:solidFill>
              </a:rPr>
              <a:t>Choose </a:t>
            </a:r>
            <a:pPr indent="0" marL="0">
              <a:spcAft>
                <a:spcPts val="600"/>
              </a:spcAft>
              <a:buNone/>
            </a:pPr>
            <a:r>
              <a:rPr lang="en-US" sz="1500" dirty="0">
                <a:solidFill>
                  <a:schemeClr val="tx1"/>
                </a:solidFill>
              </a:rPr>
              <a:t>a reference node (0 V); label the others V1, V2, …</a:t>
            </a:r>
            <a:endParaRPr lang="en-US" sz="1500" dirty="0"/>
          </a:p>
          <a:p>
            <a:pPr marL="342900" indent="-342900">
              <a:spcAft>
                <a:spcPts val="600"/>
              </a:spcAft>
              <a:buSzPct val="100000"/>
              <a:buChar char="•"/>
            </a:pPr>
            <a:r>
              <a:rPr lang="en-US" sz="1500" b="1" dirty="0">
                <a:solidFill>
                  <a:schemeClr val="tx2"/>
                </a:solidFill>
              </a:rPr>
              <a:t>Apply KCL </a:t>
            </a:r>
            <a:pPr indent="0" marL="0">
              <a:spcAft>
                <a:spcPts val="600"/>
              </a:spcAft>
              <a:buNone/>
            </a:pPr>
            <a:r>
              <a:rPr lang="en-US" sz="1500" dirty="0">
                <a:solidFill>
                  <a:schemeClr val="tx1"/>
                </a:solidFill>
              </a:rPr>
              <a:t>at each of the N − 1 remaining nodes, writing branch currents in terms of node voltages.</a:t>
            </a:r>
            <a:endParaRPr lang="en-US" sz="1500" dirty="0"/>
          </a:p>
          <a:p>
            <a:pPr marL="342900" indent="-342900">
              <a:spcAft>
                <a:spcPts val="600"/>
              </a:spcAft>
              <a:buSzPct val="100000"/>
              <a:buChar char="•"/>
            </a:pPr>
            <a:r>
              <a:rPr lang="en-US" sz="1500" b="1" dirty="0">
                <a:solidFill>
                  <a:schemeClr val="tx2"/>
                </a:solidFill>
              </a:rPr>
              <a:t>Solve </a:t>
            </a:r>
            <a:pPr indent="0" marL="0">
              <a:spcAft>
                <a:spcPts val="600"/>
              </a:spcAft>
              <a:buNone/>
            </a:pPr>
            <a:r>
              <a:rPr lang="en-US" sz="1500" dirty="0">
                <a:solidFill>
                  <a:schemeClr val="tx1"/>
                </a:solidFill>
              </a:rPr>
              <a:t>the equations for the node voltages.</a:t>
            </a:r>
            <a:endParaRPr lang="en-US" sz="1500" dirty="0"/>
          </a:p>
        </p:txBody>
      </p:sp>
      <p:pic>
        <p:nvPicPr>
          <p:cNvPr id="6" name="Image 0" descr="nodal diagram">    </p:cNvPr>
          <p:cNvPicPr>
            <a:picLocks noChangeAspect="1"/>
          </p:cNvPicPr>
          <p:nvPr/>
        </p:nvPicPr>
        <p:blipFill>
          <a:blip r:embed="rId1"/>
          <a:stretch>
            <a:fillRect/>
          </a:stretch>
        </p:blipFill>
        <p:spPr>
          <a:xfrm>
            <a:off x="4572000" y="1143000"/>
            <a:ext cx="4114800" cy="2514600"/>
          </a:xfrm>
          <a:prstGeom prst="rect">
            <a:avLst/>
          </a:prstGeom>
        </p:spPr>
      </p:pic>
      <p:sp>
        <p:nvSpPr>
          <p:cNvPr id="7" name="Result strip"/>
          <p:cNvSpPr/>
          <p:nvPr/>
        </p:nvSpPr>
        <p:spPr>
          <a:xfrm>
            <a:off x="457200" y="3840480"/>
            <a:ext cx="8229600" cy="685800"/>
          </a:xfrm>
          <a:prstGeom prst="roundRect">
            <a:avLst>
              <a:gd name="adj" fmla="val 10667"/>
            </a:avLst>
          </a:prstGeom>
          <a:solidFill>
            <a:schemeClr val="tx2"/>
          </a:solidFill>
          <a:ln/>
        </p:spPr>
      </p:sp>
      <p:sp>
        <p:nvSpPr>
          <p:cNvPr id="8" name="Text 5"/>
          <p:cNvSpPr txBox="1"/>
          <p:nvPr/>
        </p:nvSpPr>
        <p:spPr>
          <a:xfrm>
            <a:off x="640080" y="3840480"/>
            <a:ext cx="7863840" cy="685800"/>
          </a:xfrm>
          <a:prstGeom prst="rect">
            <a:avLst/>
          </a:prstGeom>
          <a:noFill/>
          <a:ln/>
        </p:spPr>
        <p:txBody>
          <a:bodyPr wrap="square" lIns="0" tIns="0" rIns="0" bIns="0" rtlCol="0" anchor="ctr"/>
          <a:lstStyle/>
          <a:p>
            <a:pPr indent="0" marL="0">
              <a:buNone/>
            </a:pPr>
            <a:r>
              <a:rPr lang="en-US" sz="1500" b="1" dirty="0">
                <a:solidFill>
                  <a:schemeClr val="bg1"/>
                </a:solidFill>
              </a:rPr>
              <a:t>Node 1:  4V1 − 2V2 = 20     Node 2:  2V1 − 3.5V2 = −20     →     V1 = 11 V,  V2 = 12 V</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Energy and power</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5" name="Formula"/>
          <p:cNvSpPr/>
          <p:nvPr/>
        </p:nvSpPr>
        <p:spPr>
          <a:xfrm>
            <a:off x="457200" y="1188720"/>
            <a:ext cx="2560320" cy="822960"/>
          </a:xfrm>
          <a:prstGeom prst="roundRect">
            <a:avLst>
              <a:gd name="adj" fmla="val 8889"/>
            </a:avLst>
          </a:prstGeom>
          <a:solidFill>
            <a:schemeClr val="tx2"/>
          </a:solidFill>
          <a:ln/>
        </p:spPr>
      </p:sp>
      <p:sp>
        <p:nvSpPr>
          <p:cNvPr id="6" name="Text 4"/>
          <p:cNvSpPr txBox="1"/>
          <p:nvPr/>
        </p:nvSpPr>
        <p:spPr>
          <a:xfrm>
            <a:off x="457200" y="1188720"/>
            <a:ext cx="2560320" cy="822960"/>
          </a:xfrm>
          <a:prstGeom prst="rect">
            <a:avLst/>
          </a:prstGeom>
          <a:noFill/>
          <a:ln/>
        </p:spPr>
        <p:txBody>
          <a:bodyPr wrap="square" lIns="635" tIns="635" rIns="635" bIns="635"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P = V I</a:t>
            </a:r>
            <a:endParaRPr lang="en-US" sz="2600" dirty="0"/>
          </a:p>
        </p:txBody>
      </p:sp>
      <p:sp>
        <p:nvSpPr>
          <p:cNvPr id="7" name="Formula"/>
          <p:cNvSpPr/>
          <p:nvPr/>
        </p:nvSpPr>
        <p:spPr>
          <a:xfrm>
            <a:off x="3291840" y="1188720"/>
            <a:ext cx="2560320" cy="822960"/>
          </a:xfrm>
          <a:prstGeom prst="roundRect">
            <a:avLst>
              <a:gd name="adj" fmla="val 8889"/>
            </a:avLst>
          </a:prstGeom>
          <a:solidFill>
            <a:schemeClr val="tx2"/>
          </a:solidFill>
          <a:ln/>
        </p:spPr>
      </p:sp>
      <p:sp>
        <p:nvSpPr>
          <p:cNvPr id="8" name="Text 6"/>
          <p:cNvSpPr txBox="1"/>
          <p:nvPr/>
        </p:nvSpPr>
        <p:spPr>
          <a:xfrm>
            <a:off x="3291840" y="1188720"/>
            <a:ext cx="2560320" cy="822960"/>
          </a:xfrm>
          <a:prstGeom prst="rect">
            <a:avLst/>
          </a:prstGeom>
          <a:noFill/>
          <a:ln/>
        </p:spPr>
        <p:txBody>
          <a:bodyPr wrap="square" lIns="635" tIns="635" rIns="635" bIns="635"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P = I² R</a:t>
            </a:r>
            <a:endParaRPr lang="en-US" sz="2600" dirty="0"/>
          </a:p>
        </p:txBody>
      </p:sp>
      <p:sp>
        <p:nvSpPr>
          <p:cNvPr id="9" name="Formula"/>
          <p:cNvSpPr/>
          <p:nvPr/>
        </p:nvSpPr>
        <p:spPr>
          <a:xfrm>
            <a:off x="6126480" y="1188720"/>
            <a:ext cx="2560320" cy="822960"/>
          </a:xfrm>
          <a:prstGeom prst="roundRect">
            <a:avLst>
              <a:gd name="adj" fmla="val 8889"/>
            </a:avLst>
          </a:prstGeom>
          <a:solidFill>
            <a:schemeClr val="tx2"/>
          </a:solidFill>
          <a:ln/>
        </p:spPr>
      </p:sp>
      <p:sp>
        <p:nvSpPr>
          <p:cNvPr id="10" name="Text 8"/>
          <p:cNvSpPr txBox="1"/>
          <p:nvPr/>
        </p:nvSpPr>
        <p:spPr>
          <a:xfrm>
            <a:off x="6126480" y="1188720"/>
            <a:ext cx="2560320" cy="822960"/>
          </a:xfrm>
          <a:prstGeom prst="rect">
            <a:avLst/>
          </a:prstGeom>
          <a:noFill/>
          <a:ln/>
        </p:spPr>
        <p:txBody>
          <a:bodyPr wrap="square" lIns="635" tIns="635" rIns="635" bIns="635"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P = V² / R</a:t>
            </a:r>
            <a:endParaRPr lang="en-US" sz="2600" dirty="0"/>
          </a:p>
        </p:txBody>
      </p:sp>
      <p:sp>
        <p:nvSpPr>
          <p:cNvPr id="11" name="Card"/>
          <p:cNvSpPr/>
          <p:nvPr/>
        </p:nvSpPr>
        <p:spPr>
          <a:xfrm>
            <a:off x="457200" y="2240280"/>
            <a:ext cx="3977640" cy="2286000"/>
          </a:xfrm>
          <a:prstGeom prst="roundRect">
            <a:avLst>
              <a:gd name="adj" fmla="val 3200"/>
            </a:avLst>
          </a:prstGeom>
          <a:solidFill>
            <a:schemeClr val="bg2"/>
          </a:solidFill>
          <a:ln/>
        </p:spPr>
      </p:sp>
      <p:sp>
        <p:nvSpPr>
          <p:cNvPr id="12" name="Text 10"/>
          <p:cNvSpPr txBox="1"/>
          <p:nvPr/>
        </p:nvSpPr>
        <p:spPr>
          <a:xfrm>
            <a:off x="594360" y="2331720"/>
            <a:ext cx="3703320" cy="365760"/>
          </a:xfrm>
          <a:prstGeom prst="rect">
            <a:avLst/>
          </a:prstGeom>
          <a:noFill/>
          <a:ln/>
        </p:spPr>
        <p:txBody>
          <a:bodyPr wrap="square" lIns="0" tIns="0" rIns="0" bIns="0" rtlCol="0" anchor="ctr"/>
          <a:lstStyle/>
          <a:p>
            <a:pPr indent="0" marL="0">
              <a:buNone/>
            </a:pPr>
            <a:r>
              <a:rPr lang="en-US" sz="1700" b="1" dirty="0">
                <a:solidFill>
                  <a:schemeClr val="tx2"/>
                </a:solidFill>
              </a:rPr>
              <a:t>Definitions</a:t>
            </a:r>
            <a:endParaRPr lang="en-US" sz="1700" dirty="0"/>
          </a:p>
        </p:txBody>
      </p:sp>
      <p:sp>
        <p:nvSpPr>
          <p:cNvPr id="13" name="Text 11"/>
          <p:cNvSpPr txBox="1"/>
          <p:nvPr/>
        </p:nvSpPr>
        <p:spPr>
          <a:xfrm>
            <a:off x="594360" y="2715768"/>
            <a:ext cx="3703320" cy="1737360"/>
          </a:xfrm>
          <a:prstGeom prst="rect">
            <a:avLst/>
          </a:prstGeom>
          <a:noFill/>
          <a:ln/>
        </p:spPr>
        <p:txBody>
          <a:bodyPr wrap="square" lIns="0" tIns="0" rIns="0" bIns="0" rtlCol="0" anchor="t"/>
          <a:lstStyle/>
          <a:p>
            <a:pPr marL="342900" indent="-342900">
              <a:spcAft>
                <a:spcPts val="300"/>
              </a:spcAft>
              <a:buSzPct val="100000"/>
              <a:buChar char="•"/>
            </a:pPr>
            <a:r>
              <a:rPr lang="en-US" sz="1600" dirty="0">
                <a:solidFill>
                  <a:schemeClr val="tx1"/>
                </a:solidFill>
              </a:rPr>
              <a:t>Power: rate of doing work, 1 W = 1 J/s</a:t>
            </a:r>
            <a:endParaRPr lang="en-US" sz="1600" dirty="0"/>
          </a:p>
          <a:p>
            <a:pPr marL="342900" indent="-342900">
              <a:spcAft>
                <a:spcPts val="300"/>
              </a:spcAft>
              <a:buSzPct val="100000"/>
              <a:buChar char="•"/>
            </a:pPr>
            <a:r>
              <a:rPr lang="en-US" sz="1600" dirty="0">
                <a:solidFill>
                  <a:schemeClr val="tx1"/>
                </a:solidFill>
              </a:rPr>
              <a:t>Energy: capacity to do work, unit joule (J)</a:t>
            </a:r>
            <a:endParaRPr lang="en-US" sz="1600" dirty="0"/>
          </a:p>
          <a:p>
            <a:pPr marL="342900" indent="-342900">
              <a:spcAft>
                <a:spcPts val="300"/>
              </a:spcAft>
              <a:buSzPct val="100000"/>
              <a:buChar char="•"/>
            </a:pPr>
            <a:r>
              <a:rPr lang="en-US" sz="1600" dirty="0">
                <a:solidFill>
                  <a:schemeClr val="tx1"/>
                </a:solidFill>
              </a:rPr>
              <a:t>Electrical energy is billed in watt-hours: 1 Wh = 3600 J</a:t>
            </a:r>
            <a:endParaRPr lang="en-US" sz="1600" dirty="0"/>
          </a:p>
        </p:txBody>
      </p:sp>
      <p:sp>
        <p:nvSpPr>
          <p:cNvPr id="14" name="Card"/>
          <p:cNvSpPr/>
          <p:nvPr/>
        </p:nvSpPr>
        <p:spPr>
          <a:xfrm>
            <a:off x="4709160" y="2240280"/>
            <a:ext cx="3977640" cy="2286000"/>
          </a:xfrm>
          <a:prstGeom prst="roundRect">
            <a:avLst>
              <a:gd name="adj" fmla="val 3200"/>
            </a:avLst>
          </a:prstGeom>
          <a:solidFill>
            <a:schemeClr val="bg2"/>
          </a:solidFill>
          <a:ln/>
        </p:spPr>
      </p:sp>
      <p:sp>
        <p:nvSpPr>
          <p:cNvPr id="15" name="Text 13"/>
          <p:cNvSpPr txBox="1"/>
          <p:nvPr/>
        </p:nvSpPr>
        <p:spPr>
          <a:xfrm>
            <a:off x="4846320" y="2331720"/>
            <a:ext cx="3703320" cy="365760"/>
          </a:xfrm>
          <a:prstGeom prst="rect">
            <a:avLst/>
          </a:prstGeom>
          <a:noFill/>
          <a:ln/>
        </p:spPr>
        <p:txBody>
          <a:bodyPr wrap="square" lIns="0" tIns="0" rIns="0" bIns="0" rtlCol="0" anchor="ctr"/>
          <a:lstStyle/>
          <a:p>
            <a:pPr indent="0" marL="0">
              <a:buNone/>
            </a:pPr>
            <a:r>
              <a:rPr lang="en-US" sz="1700" b="1" dirty="0">
                <a:solidFill>
                  <a:schemeClr val="tx2"/>
                </a:solidFill>
              </a:rPr>
              <a:t>Worked examples</a:t>
            </a:r>
            <a:endParaRPr lang="en-US" sz="1700" dirty="0"/>
          </a:p>
        </p:txBody>
      </p:sp>
      <p:sp>
        <p:nvSpPr>
          <p:cNvPr id="16" name="Text 14"/>
          <p:cNvSpPr txBox="1"/>
          <p:nvPr/>
        </p:nvSpPr>
        <p:spPr>
          <a:xfrm>
            <a:off x="4846320" y="2715768"/>
            <a:ext cx="3703320" cy="1737360"/>
          </a:xfrm>
          <a:prstGeom prst="rect">
            <a:avLst/>
          </a:prstGeom>
          <a:noFill/>
          <a:ln/>
        </p:spPr>
        <p:txBody>
          <a:bodyPr wrap="square" lIns="0" tIns="0" rIns="0" bIns="0" rtlCol="0" anchor="t"/>
          <a:lstStyle/>
          <a:p>
            <a:pPr marL="342900" indent="-342900">
              <a:spcAft>
                <a:spcPts val="300"/>
              </a:spcAft>
              <a:buSzPct val="100000"/>
              <a:buChar char="•"/>
            </a:pPr>
            <a:r>
              <a:rPr lang="en-US" sz="1600" dirty="0">
                <a:solidFill>
                  <a:schemeClr val="tx1"/>
                </a:solidFill>
              </a:rPr>
              <a:t>24 V motor drawing 33.5 A: P = 24 × 33.5 = 804 W</a:t>
            </a:r>
            <a:endParaRPr lang="en-US" sz="1600" dirty="0"/>
          </a:p>
          <a:p>
            <a:pPr marL="342900" indent="-342900">
              <a:spcAft>
                <a:spcPts val="300"/>
              </a:spcAft>
              <a:buSzPct val="100000"/>
              <a:buChar char="•"/>
            </a:pPr>
            <a:r>
              <a:rPr lang="en-US" sz="1600" dirty="0">
                <a:solidFill>
                  <a:schemeClr val="tx1"/>
                </a:solidFill>
              </a:rPr>
              <a:t>60 W bulb for 365 days: E = 60 × 365 × 24 = 525 600 Wh = 525.6 kWh</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Generating a sinusoidal voltage</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5" name="Text 3"/>
          <p:cNvSpPr txBox="1"/>
          <p:nvPr/>
        </p:nvSpPr>
        <p:spPr>
          <a:xfrm>
            <a:off x="457200" y="1188720"/>
            <a:ext cx="4297680" cy="3383280"/>
          </a:xfrm>
          <a:prstGeom prst="rect">
            <a:avLst/>
          </a:prstGeom>
          <a:noFill/>
          <a:ln/>
        </p:spPr>
        <p:txBody>
          <a:bodyPr wrap="square" lIns="0" tIns="0" rIns="0" bIns="0" rtlCol="0" anchor="t"/>
          <a:lstStyle/>
          <a:p>
            <a:pPr marL="342900" indent="-342900">
              <a:spcAft>
                <a:spcPts val="600"/>
              </a:spcAft>
              <a:buSzPct val="100000"/>
              <a:buChar char="•"/>
            </a:pPr>
            <a:r>
              <a:rPr lang="en-US" sz="1500" b="1" dirty="0">
                <a:solidFill>
                  <a:schemeClr val="tx2"/>
                </a:solidFill>
              </a:rPr>
              <a:t>Source: </a:t>
            </a:r>
            <a:pPr indent="0" marL="0">
              <a:spcAft>
                <a:spcPts val="600"/>
              </a:spcAft>
              <a:buNone/>
            </a:pPr>
            <a:r>
              <a:rPr lang="en-US" sz="1500" dirty="0">
                <a:solidFill>
                  <a:schemeClr val="tx1"/>
                </a:solidFill>
              </a:rPr>
              <a:t>a coil rotating at uniform speed in a uniform magnetic field; EMF is induced by flux cutting.</a:t>
            </a:r>
            <a:endParaRPr lang="en-US" sz="1500" dirty="0"/>
          </a:p>
          <a:p>
            <a:pPr marL="342900" indent="-342900">
              <a:spcAft>
                <a:spcPts val="600"/>
              </a:spcAft>
              <a:buSzPct val="100000"/>
              <a:buChar char="•"/>
            </a:pPr>
            <a:r>
              <a:rPr lang="en-US" sz="1500" b="1" dirty="0">
                <a:solidFill>
                  <a:schemeClr val="tx2"/>
                </a:solidFill>
              </a:rPr>
              <a:t>Result: </a:t>
            </a:r>
            <a:pPr indent="0" marL="0">
              <a:spcAft>
                <a:spcPts val="600"/>
              </a:spcAft>
              <a:buNone/>
            </a:pPr>
            <a:r>
              <a:rPr lang="en-US" sz="1500" dirty="0">
                <a:solidFill>
                  <a:schemeClr val="tx1"/>
                </a:solidFill>
              </a:rPr>
              <a:t>e = Em sin ωt, with ω = 2πf rad/s.</a:t>
            </a:r>
            <a:endParaRPr lang="en-US" sz="1500" dirty="0"/>
          </a:p>
          <a:p>
            <a:pPr marL="342900" indent="-342900">
              <a:spcAft>
                <a:spcPts val="600"/>
              </a:spcAft>
              <a:buSzPct val="100000"/>
              <a:buChar char="•"/>
            </a:pPr>
            <a:r>
              <a:rPr lang="en-US" sz="1500" b="1" dirty="0">
                <a:solidFill>
                  <a:schemeClr val="tx2"/>
                </a:solidFill>
              </a:rPr>
              <a:t>Cycle / period T: </a:t>
            </a:r>
            <a:pPr indent="0" marL="0">
              <a:spcAft>
                <a:spcPts val="600"/>
              </a:spcAft>
              <a:buNone/>
            </a:pPr>
            <a:r>
              <a:rPr lang="en-US" sz="1500" dirty="0">
                <a:solidFill>
                  <a:schemeClr val="tx1"/>
                </a:solidFill>
              </a:rPr>
              <a:t>one full repetition and its duration; f = 1/T (Hz).</a:t>
            </a:r>
            <a:endParaRPr lang="en-US" sz="1500" dirty="0"/>
          </a:p>
          <a:p>
            <a:pPr marL="342900" indent="-342900">
              <a:spcAft>
                <a:spcPts val="600"/>
              </a:spcAft>
              <a:buSzPct val="100000"/>
              <a:buChar char="•"/>
            </a:pPr>
            <a:r>
              <a:rPr lang="en-US" sz="1500" b="1" dirty="0">
                <a:solidFill>
                  <a:schemeClr val="tx2"/>
                </a:solidFill>
              </a:rPr>
              <a:t>Peak, peak-to-peak: </a:t>
            </a:r>
            <a:pPr indent="0" marL="0">
              <a:spcAft>
                <a:spcPts val="600"/>
              </a:spcAft>
              <a:buNone/>
            </a:pPr>
            <a:r>
              <a:rPr lang="en-US" sz="1500" dirty="0">
                <a:solidFill>
                  <a:schemeClr val="tx1"/>
                </a:solidFill>
              </a:rPr>
              <a:t>Vm, and 2Vm for a sine.</a:t>
            </a:r>
            <a:endParaRPr lang="en-US" sz="1500" dirty="0"/>
          </a:p>
          <a:p>
            <a:pPr marL="342900" indent="-342900">
              <a:spcAft>
                <a:spcPts val="600"/>
              </a:spcAft>
              <a:buSzPct val="100000"/>
              <a:buChar char="•"/>
            </a:pPr>
            <a:r>
              <a:rPr lang="en-US" sz="1500" b="1" dirty="0">
                <a:solidFill>
                  <a:schemeClr val="tx2"/>
                </a:solidFill>
              </a:rPr>
              <a:t>Phase: </a:t>
            </a:r>
            <a:pPr indent="0" marL="0">
              <a:spcAft>
                <a:spcPts val="600"/>
              </a:spcAft>
              <a:buNone/>
            </a:pPr>
            <a:r>
              <a:rPr lang="en-US" sz="1500" dirty="0">
                <a:solidFill>
                  <a:schemeClr val="tx1"/>
                </a:solidFill>
              </a:rPr>
              <a:t>angular shift between two waves of the same frequency.</a:t>
            </a:r>
            <a:endParaRPr lang="en-US" sz="1500" dirty="0"/>
          </a:p>
        </p:txBody>
      </p:sp>
      <p:pic>
        <p:nvPicPr>
          <p:cNvPr id="6" name="Image 0" descr="sine diagram">    </p:cNvPr>
          <p:cNvPicPr>
            <a:picLocks noChangeAspect="1"/>
          </p:cNvPicPr>
          <p:nvPr/>
        </p:nvPicPr>
        <p:blipFill>
          <a:blip r:embed="rId1"/>
          <a:stretch>
            <a:fillRect/>
          </a:stretch>
        </p:blipFill>
        <p:spPr>
          <a:xfrm>
            <a:off x="4937760" y="1280160"/>
            <a:ext cx="3749040" cy="2121408"/>
          </a:xfrm>
          <a:prstGeom prst="rect">
            <a:avLst/>
          </a:prstGeom>
        </p:spPr>
      </p:pic>
      <p:sp>
        <p:nvSpPr>
          <p:cNvPr id="7" name="Text 4"/>
          <p:cNvSpPr txBox="1"/>
          <p:nvPr/>
        </p:nvSpPr>
        <p:spPr>
          <a:xfrm>
            <a:off x="4937760" y="3611880"/>
            <a:ext cx="3749040" cy="365760"/>
          </a:xfrm>
          <a:prstGeom prst="rect">
            <a:avLst/>
          </a:prstGeom>
          <a:noFill/>
          <a:ln/>
        </p:spPr>
        <p:txBody>
          <a:bodyPr wrap="square" lIns="0" tIns="0" rIns="0" bIns="0" rtlCol="0" anchor="ctr"/>
          <a:lstStyle/>
          <a:p>
            <a:pPr indent="0" marL="0">
              <a:buNone/>
            </a:pPr>
            <a:r>
              <a:rPr lang="en-US" sz="1400" i="1" dirty="0">
                <a:solidFill>
                  <a:schemeClr val="accent4"/>
                </a:solidFill>
              </a:rPr>
              <a:t>Instantaneous value: lower-case v, i, 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Average, RMS, form and peak factor</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5" name="Stat"/>
          <p:cNvSpPr/>
          <p:nvPr/>
        </p:nvSpPr>
        <p:spPr>
          <a:xfrm>
            <a:off x="457200" y="1188720"/>
            <a:ext cx="1920240" cy="1554480"/>
          </a:xfrm>
          <a:prstGeom prst="roundRect">
            <a:avLst>
              <a:gd name="adj" fmla="val 4706"/>
            </a:avLst>
          </a:prstGeom>
          <a:solidFill>
            <a:schemeClr val="bg2"/>
          </a:solidFill>
          <a:ln/>
        </p:spPr>
      </p:sp>
      <p:sp>
        <p:nvSpPr>
          <p:cNvPr id="6" name="Text 4"/>
          <p:cNvSpPr txBox="1"/>
          <p:nvPr/>
        </p:nvSpPr>
        <p:spPr>
          <a:xfrm>
            <a:off x="457200" y="1298448"/>
            <a:ext cx="1920240" cy="699516"/>
          </a:xfrm>
          <a:prstGeom prst="rect">
            <a:avLst/>
          </a:prstGeom>
          <a:noFill/>
          <a:ln/>
        </p:spPr>
        <p:txBody>
          <a:bodyPr wrap="square" lIns="0" tIns="0" rIns="0" bIns="0" rtlCol="0" anchor="ctr"/>
          <a:lstStyle/>
          <a:p>
            <a:pPr algn="ctr" indent="0" marL="0">
              <a:buNone/>
            </a:pPr>
            <a:r>
              <a:rPr lang="en-US" sz="3000" b="1" dirty="0">
                <a:solidFill>
                  <a:schemeClr val="accent2"/>
                </a:solidFill>
                <a:latin typeface="Cambria" pitchFamily="34" charset="0"/>
                <a:ea typeface="Cambria" pitchFamily="34" charset="-122"/>
                <a:cs typeface="Cambria" pitchFamily="34" charset="-120"/>
              </a:rPr>
              <a:t>0.637 Vm</a:t>
            </a:r>
            <a:endParaRPr lang="en-US" sz="3000" dirty="0"/>
          </a:p>
        </p:txBody>
      </p:sp>
      <p:sp>
        <p:nvSpPr>
          <p:cNvPr id="7" name="Text 5"/>
          <p:cNvSpPr txBox="1"/>
          <p:nvPr/>
        </p:nvSpPr>
        <p:spPr>
          <a:xfrm>
            <a:off x="548640" y="2043684"/>
            <a:ext cx="1737360" cy="310896"/>
          </a:xfrm>
          <a:prstGeom prst="rect">
            <a:avLst/>
          </a:prstGeom>
          <a:noFill/>
          <a:ln/>
        </p:spPr>
        <p:txBody>
          <a:bodyPr wrap="square" lIns="0" tIns="0" rIns="0" bIns="0" rtlCol="0" anchor="ctr"/>
          <a:lstStyle/>
          <a:p>
            <a:pPr algn="ctr" indent="0" marL="0">
              <a:buNone/>
            </a:pPr>
            <a:r>
              <a:rPr lang="en-US" sz="1500" b="1" dirty="0">
                <a:solidFill>
                  <a:schemeClr val="tx1"/>
                </a:solidFill>
              </a:rPr>
              <a:t>Average</a:t>
            </a:r>
            <a:endParaRPr lang="en-US" sz="1500" dirty="0"/>
          </a:p>
        </p:txBody>
      </p:sp>
      <p:sp>
        <p:nvSpPr>
          <p:cNvPr id="8" name="Text 6"/>
          <p:cNvSpPr txBox="1"/>
          <p:nvPr/>
        </p:nvSpPr>
        <p:spPr>
          <a:xfrm>
            <a:off x="548640" y="2354580"/>
            <a:ext cx="1737360" cy="310896"/>
          </a:xfrm>
          <a:prstGeom prst="rect">
            <a:avLst/>
          </a:prstGeom>
          <a:noFill/>
          <a:ln/>
        </p:spPr>
        <p:txBody>
          <a:bodyPr wrap="square" lIns="0" tIns="0" rIns="0" bIns="0" rtlCol="0" anchor="t"/>
          <a:lstStyle/>
          <a:p>
            <a:pPr algn="ctr" indent="0" marL="0">
              <a:buNone/>
            </a:pPr>
            <a:r>
              <a:rPr lang="en-US" sz="1200" dirty="0">
                <a:solidFill>
                  <a:schemeClr val="accent4"/>
                </a:solidFill>
              </a:rPr>
              <a:t>2Vm/π, half cycle</a:t>
            </a:r>
            <a:endParaRPr lang="en-US" sz="1200" dirty="0"/>
          </a:p>
        </p:txBody>
      </p:sp>
      <p:sp>
        <p:nvSpPr>
          <p:cNvPr id="9" name="Stat"/>
          <p:cNvSpPr/>
          <p:nvPr/>
        </p:nvSpPr>
        <p:spPr>
          <a:xfrm>
            <a:off x="2532888" y="1188720"/>
            <a:ext cx="1920240" cy="1554480"/>
          </a:xfrm>
          <a:prstGeom prst="roundRect">
            <a:avLst>
              <a:gd name="adj" fmla="val 4706"/>
            </a:avLst>
          </a:prstGeom>
          <a:solidFill>
            <a:schemeClr val="bg2"/>
          </a:solidFill>
          <a:ln/>
        </p:spPr>
      </p:sp>
      <p:sp>
        <p:nvSpPr>
          <p:cNvPr id="10" name="Text 8"/>
          <p:cNvSpPr txBox="1"/>
          <p:nvPr/>
        </p:nvSpPr>
        <p:spPr>
          <a:xfrm>
            <a:off x="2532888" y="1298448"/>
            <a:ext cx="1920240" cy="699516"/>
          </a:xfrm>
          <a:prstGeom prst="rect">
            <a:avLst/>
          </a:prstGeom>
          <a:noFill/>
          <a:ln/>
        </p:spPr>
        <p:txBody>
          <a:bodyPr wrap="square" lIns="0" tIns="0" rIns="0" bIns="0" rtlCol="0" anchor="ctr"/>
          <a:lstStyle/>
          <a:p>
            <a:pPr algn="ctr" indent="0" marL="0">
              <a:buNone/>
            </a:pPr>
            <a:r>
              <a:rPr lang="en-US" sz="3000" b="1" dirty="0">
                <a:solidFill>
                  <a:schemeClr val="accent2"/>
                </a:solidFill>
                <a:latin typeface="Cambria" pitchFamily="34" charset="0"/>
                <a:ea typeface="Cambria" pitchFamily="34" charset="-122"/>
                <a:cs typeface="Cambria" pitchFamily="34" charset="-120"/>
              </a:rPr>
              <a:t>0.707 Vm</a:t>
            </a:r>
            <a:endParaRPr lang="en-US" sz="3000" dirty="0"/>
          </a:p>
        </p:txBody>
      </p:sp>
      <p:sp>
        <p:nvSpPr>
          <p:cNvPr id="11" name="Text 9"/>
          <p:cNvSpPr txBox="1"/>
          <p:nvPr/>
        </p:nvSpPr>
        <p:spPr>
          <a:xfrm>
            <a:off x="2624328" y="2043684"/>
            <a:ext cx="1737360" cy="310896"/>
          </a:xfrm>
          <a:prstGeom prst="rect">
            <a:avLst/>
          </a:prstGeom>
          <a:noFill/>
          <a:ln/>
        </p:spPr>
        <p:txBody>
          <a:bodyPr wrap="square" lIns="0" tIns="0" rIns="0" bIns="0" rtlCol="0" anchor="ctr"/>
          <a:lstStyle/>
          <a:p>
            <a:pPr algn="ctr" indent="0" marL="0">
              <a:buNone/>
            </a:pPr>
            <a:r>
              <a:rPr lang="en-US" sz="1500" b="1" dirty="0">
                <a:solidFill>
                  <a:schemeClr val="tx1"/>
                </a:solidFill>
              </a:rPr>
              <a:t>RMS</a:t>
            </a:r>
            <a:endParaRPr lang="en-US" sz="1500" dirty="0"/>
          </a:p>
        </p:txBody>
      </p:sp>
      <p:sp>
        <p:nvSpPr>
          <p:cNvPr id="12" name="Text 10"/>
          <p:cNvSpPr txBox="1"/>
          <p:nvPr/>
        </p:nvSpPr>
        <p:spPr>
          <a:xfrm>
            <a:off x="2624328" y="2354580"/>
            <a:ext cx="1737360" cy="310896"/>
          </a:xfrm>
          <a:prstGeom prst="rect">
            <a:avLst/>
          </a:prstGeom>
          <a:noFill/>
          <a:ln/>
        </p:spPr>
        <p:txBody>
          <a:bodyPr wrap="square" lIns="0" tIns="0" rIns="0" bIns="0" rtlCol="0" anchor="t"/>
          <a:lstStyle/>
          <a:p>
            <a:pPr algn="ctr" indent="0" marL="0">
              <a:buNone/>
            </a:pPr>
            <a:r>
              <a:rPr lang="en-US" sz="1200" dirty="0">
                <a:solidFill>
                  <a:schemeClr val="accent4"/>
                </a:solidFill>
              </a:rPr>
              <a:t>Vm/√2</a:t>
            </a:r>
            <a:endParaRPr lang="en-US" sz="1200" dirty="0"/>
          </a:p>
        </p:txBody>
      </p:sp>
      <p:sp>
        <p:nvSpPr>
          <p:cNvPr id="13" name="Stat"/>
          <p:cNvSpPr/>
          <p:nvPr/>
        </p:nvSpPr>
        <p:spPr>
          <a:xfrm>
            <a:off x="4608576" y="1188720"/>
            <a:ext cx="1920240" cy="1554480"/>
          </a:xfrm>
          <a:prstGeom prst="roundRect">
            <a:avLst>
              <a:gd name="adj" fmla="val 4706"/>
            </a:avLst>
          </a:prstGeom>
          <a:solidFill>
            <a:schemeClr val="bg2"/>
          </a:solidFill>
          <a:ln/>
        </p:spPr>
      </p:sp>
      <p:sp>
        <p:nvSpPr>
          <p:cNvPr id="14" name="Text 12"/>
          <p:cNvSpPr txBox="1"/>
          <p:nvPr/>
        </p:nvSpPr>
        <p:spPr>
          <a:xfrm>
            <a:off x="4608576" y="1298448"/>
            <a:ext cx="1920240" cy="699516"/>
          </a:xfrm>
          <a:prstGeom prst="rect">
            <a:avLst/>
          </a:prstGeom>
          <a:noFill/>
          <a:ln/>
        </p:spPr>
        <p:txBody>
          <a:bodyPr wrap="square" lIns="0" tIns="0" rIns="0" bIns="0" rtlCol="0" anchor="ctr"/>
          <a:lstStyle/>
          <a:p>
            <a:pPr algn="ctr" indent="0" marL="0">
              <a:buNone/>
            </a:pPr>
            <a:r>
              <a:rPr lang="en-US" sz="3000" b="1" dirty="0">
                <a:solidFill>
                  <a:schemeClr val="accent2"/>
                </a:solidFill>
                <a:latin typeface="Cambria" pitchFamily="34" charset="0"/>
                <a:ea typeface="Cambria" pitchFamily="34" charset="-122"/>
                <a:cs typeface="Cambria" pitchFamily="34" charset="-120"/>
              </a:rPr>
              <a:t>1.11</a:t>
            </a:r>
            <a:endParaRPr lang="en-US" sz="3000" dirty="0"/>
          </a:p>
        </p:txBody>
      </p:sp>
      <p:sp>
        <p:nvSpPr>
          <p:cNvPr id="15" name="Text 13"/>
          <p:cNvSpPr txBox="1"/>
          <p:nvPr/>
        </p:nvSpPr>
        <p:spPr>
          <a:xfrm>
            <a:off x="4700016" y="2043684"/>
            <a:ext cx="1737360" cy="310896"/>
          </a:xfrm>
          <a:prstGeom prst="rect">
            <a:avLst/>
          </a:prstGeom>
          <a:noFill/>
          <a:ln/>
        </p:spPr>
        <p:txBody>
          <a:bodyPr wrap="square" lIns="0" tIns="0" rIns="0" bIns="0" rtlCol="0" anchor="ctr"/>
          <a:lstStyle/>
          <a:p>
            <a:pPr algn="ctr" indent="0" marL="0">
              <a:buNone/>
            </a:pPr>
            <a:r>
              <a:rPr lang="en-US" sz="1500" b="1" dirty="0">
                <a:solidFill>
                  <a:schemeClr val="tx1"/>
                </a:solidFill>
              </a:rPr>
              <a:t>Form factor</a:t>
            </a:r>
            <a:endParaRPr lang="en-US" sz="1500" dirty="0"/>
          </a:p>
        </p:txBody>
      </p:sp>
      <p:sp>
        <p:nvSpPr>
          <p:cNvPr id="16" name="Text 14"/>
          <p:cNvSpPr txBox="1"/>
          <p:nvPr/>
        </p:nvSpPr>
        <p:spPr>
          <a:xfrm>
            <a:off x="4700016" y="2354580"/>
            <a:ext cx="1737360" cy="310896"/>
          </a:xfrm>
          <a:prstGeom prst="rect">
            <a:avLst/>
          </a:prstGeom>
          <a:noFill/>
          <a:ln/>
        </p:spPr>
        <p:txBody>
          <a:bodyPr wrap="square" lIns="0" tIns="0" rIns="0" bIns="0" rtlCol="0" anchor="t"/>
          <a:lstStyle/>
          <a:p>
            <a:pPr algn="ctr" indent="0" marL="0">
              <a:buNone/>
            </a:pPr>
            <a:r>
              <a:rPr lang="en-US" sz="1200" dirty="0">
                <a:solidFill>
                  <a:schemeClr val="accent4"/>
                </a:solidFill>
              </a:rPr>
              <a:t>RMS / average</a:t>
            </a:r>
            <a:endParaRPr lang="en-US" sz="1200" dirty="0"/>
          </a:p>
        </p:txBody>
      </p:sp>
      <p:sp>
        <p:nvSpPr>
          <p:cNvPr id="17" name="Stat"/>
          <p:cNvSpPr/>
          <p:nvPr/>
        </p:nvSpPr>
        <p:spPr>
          <a:xfrm>
            <a:off x="6684264" y="1188720"/>
            <a:ext cx="2002536" cy="1554480"/>
          </a:xfrm>
          <a:prstGeom prst="roundRect">
            <a:avLst>
              <a:gd name="adj" fmla="val 4706"/>
            </a:avLst>
          </a:prstGeom>
          <a:solidFill>
            <a:schemeClr val="bg2"/>
          </a:solidFill>
          <a:ln/>
        </p:spPr>
      </p:sp>
      <p:sp>
        <p:nvSpPr>
          <p:cNvPr id="18" name="Text 16"/>
          <p:cNvSpPr txBox="1"/>
          <p:nvPr/>
        </p:nvSpPr>
        <p:spPr>
          <a:xfrm>
            <a:off x="6684264" y="1298448"/>
            <a:ext cx="2002536" cy="699516"/>
          </a:xfrm>
          <a:prstGeom prst="rect">
            <a:avLst/>
          </a:prstGeom>
          <a:noFill/>
          <a:ln/>
        </p:spPr>
        <p:txBody>
          <a:bodyPr wrap="square" lIns="0" tIns="0" rIns="0" bIns="0" rtlCol="0" anchor="ctr"/>
          <a:lstStyle/>
          <a:p>
            <a:pPr algn="ctr" indent="0" marL="0">
              <a:buNone/>
            </a:pPr>
            <a:r>
              <a:rPr lang="en-US" sz="3000" b="1" dirty="0">
                <a:solidFill>
                  <a:schemeClr val="accent2"/>
                </a:solidFill>
                <a:latin typeface="Cambria" pitchFamily="34" charset="0"/>
                <a:ea typeface="Cambria" pitchFamily="34" charset="-122"/>
                <a:cs typeface="Cambria" pitchFamily="34" charset="-120"/>
              </a:rPr>
              <a:t>1.414</a:t>
            </a:r>
            <a:endParaRPr lang="en-US" sz="3000" dirty="0"/>
          </a:p>
        </p:txBody>
      </p:sp>
      <p:sp>
        <p:nvSpPr>
          <p:cNvPr id="19" name="Text 17"/>
          <p:cNvSpPr txBox="1"/>
          <p:nvPr/>
        </p:nvSpPr>
        <p:spPr>
          <a:xfrm>
            <a:off x="6775704" y="2043684"/>
            <a:ext cx="1819656" cy="310896"/>
          </a:xfrm>
          <a:prstGeom prst="rect">
            <a:avLst/>
          </a:prstGeom>
          <a:noFill/>
          <a:ln/>
        </p:spPr>
        <p:txBody>
          <a:bodyPr wrap="square" lIns="0" tIns="0" rIns="0" bIns="0" rtlCol="0" anchor="ctr"/>
          <a:lstStyle/>
          <a:p>
            <a:pPr algn="ctr" indent="0" marL="0">
              <a:buNone/>
            </a:pPr>
            <a:r>
              <a:rPr lang="en-US" sz="1500" b="1" dirty="0">
                <a:solidFill>
                  <a:schemeClr val="tx1"/>
                </a:solidFill>
              </a:rPr>
              <a:t>Peak factor</a:t>
            </a:r>
            <a:endParaRPr lang="en-US" sz="1500" dirty="0"/>
          </a:p>
        </p:txBody>
      </p:sp>
      <p:sp>
        <p:nvSpPr>
          <p:cNvPr id="20" name="Text 18"/>
          <p:cNvSpPr txBox="1"/>
          <p:nvPr/>
        </p:nvSpPr>
        <p:spPr>
          <a:xfrm>
            <a:off x="6775704" y="2354580"/>
            <a:ext cx="1819656" cy="310896"/>
          </a:xfrm>
          <a:prstGeom prst="rect">
            <a:avLst/>
          </a:prstGeom>
          <a:noFill/>
          <a:ln/>
        </p:spPr>
        <p:txBody>
          <a:bodyPr wrap="square" lIns="0" tIns="0" rIns="0" bIns="0" rtlCol="0" anchor="t"/>
          <a:lstStyle/>
          <a:p>
            <a:pPr algn="ctr" indent="0" marL="0">
              <a:buNone/>
            </a:pPr>
            <a:r>
              <a:rPr lang="en-US" sz="1200" dirty="0">
                <a:solidFill>
                  <a:schemeClr val="accent4"/>
                </a:solidFill>
              </a:rPr>
              <a:t>peak / RMS</a:t>
            </a:r>
            <a:endParaRPr lang="en-US" sz="1200" dirty="0"/>
          </a:p>
        </p:txBody>
      </p:sp>
      <p:sp>
        <p:nvSpPr>
          <p:cNvPr id="21" name="Text 19"/>
          <p:cNvSpPr txBox="1"/>
          <p:nvPr/>
        </p:nvSpPr>
        <p:spPr>
          <a:xfrm>
            <a:off x="457200" y="2971800"/>
            <a:ext cx="8229600" cy="1645920"/>
          </a:xfrm>
          <a:prstGeom prst="rect">
            <a:avLst/>
          </a:prstGeom>
          <a:noFill/>
          <a:ln/>
        </p:spPr>
        <p:txBody>
          <a:bodyPr wrap="square" lIns="0" tIns="0" rIns="0" bIns="0" rtlCol="0" anchor="t"/>
          <a:lstStyle/>
          <a:p>
            <a:pPr marL="342900" indent="-342900">
              <a:spcAft>
                <a:spcPts val="600"/>
              </a:spcAft>
              <a:buSzPct val="100000"/>
              <a:buChar char="•"/>
            </a:pPr>
            <a:r>
              <a:rPr lang="en-US" sz="1500" b="1" dirty="0">
                <a:solidFill>
                  <a:schemeClr val="tx2"/>
                </a:solidFill>
              </a:rPr>
              <a:t>Average: </a:t>
            </a:r>
            <a:pPr indent="0" marL="0">
              <a:spcAft>
                <a:spcPts val="600"/>
              </a:spcAft>
              <a:buNone/>
            </a:pPr>
            <a:r>
              <a:rPr lang="en-US" sz="1500" dirty="0">
                <a:solidFill>
                  <a:schemeClr val="tx1"/>
                </a:solidFill>
              </a:rPr>
              <a:t>equal D C that transfers the same charge; over a full sine cycle it is zero, so take half a cycle.</a:t>
            </a:r>
            <a:endParaRPr lang="en-US" sz="1500" dirty="0"/>
          </a:p>
          <a:p>
            <a:pPr marL="342900" indent="-342900">
              <a:spcAft>
                <a:spcPts val="600"/>
              </a:spcAft>
              <a:buSzPct val="100000"/>
              <a:buChar char="•"/>
            </a:pPr>
            <a:r>
              <a:rPr lang="en-US" sz="1500" b="1" dirty="0">
                <a:solidFill>
                  <a:schemeClr val="tx2"/>
                </a:solidFill>
              </a:rPr>
              <a:t>RMS (effective): </a:t>
            </a:r>
            <a:pPr indent="0" marL="0">
              <a:spcAft>
                <a:spcPts val="600"/>
              </a:spcAft>
              <a:buNone/>
            </a:pPr>
            <a:r>
              <a:rPr lang="en-US" sz="1500" dirty="0">
                <a:solidFill>
                  <a:schemeClr val="tx1"/>
                </a:solidFill>
              </a:rPr>
              <a:t>the D C value that produces the same heating in a resistor; mean of i²R over a cycle gives Im/√2.</a:t>
            </a:r>
            <a:endParaRPr lang="en-US" sz="1500" dirty="0"/>
          </a:p>
          <a:p>
            <a:pPr marL="342900" indent="-342900">
              <a:spcAft>
                <a:spcPts val="600"/>
              </a:spcAft>
              <a:buSzPct val="100000"/>
              <a:buChar char="•"/>
            </a:pPr>
            <a:r>
              <a:rPr lang="en-US" sz="1500" b="1" dirty="0">
                <a:solidFill>
                  <a:schemeClr val="tx2"/>
                </a:solidFill>
              </a:rPr>
              <a:t>Example: </a:t>
            </a:r>
            <a:pPr indent="0" marL="0">
              <a:spcAft>
                <a:spcPts val="600"/>
              </a:spcAft>
              <a:buNone/>
            </a:pPr>
            <a:r>
              <a:rPr lang="en-US" sz="1500" dirty="0">
                <a:solidFill>
                  <a:schemeClr val="tx1"/>
                </a:solidFill>
              </a:rPr>
              <a:t>an RMS current of 10 A has peak 10/0.707 = 14.14 A.</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Phasor representation</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pic>
        <p:nvPicPr>
          <p:cNvPr id="5" name="Image 0" descr="phasor diagram">    </p:cNvPr>
          <p:cNvPicPr>
            <a:picLocks noChangeAspect="1"/>
          </p:cNvPicPr>
          <p:nvPr/>
        </p:nvPicPr>
        <p:blipFill>
          <a:blip r:embed="rId1"/>
          <a:stretch>
            <a:fillRect/>
          </a:stretch>
        </p:blipFill>
        <p:spPr>
          <a:xfrm>
            <a:off x="457200" y="1188720"/>
            <a:ext cx="4754880" cy="1783080"/>
          </a:xfrm>
          <a:prstGeom prst="rect">
            <a:avLst/>
          </a:prstGeom>
        </p:spPr>
      </p:pic>
      <p:sp>
        <p:nvSpPr>
          <p:cNvPr id="6" name="Text 3"/>
          <p:cNvSpPr txBox="1"/>
          <p:nvPr/>
        </p:nvSpPr>
        <p:spPr>
          <a:xfrm>
            <a:off x="457200" y="3108960"/>
            <a:ext cx="8229600" cy="1554480"/>
          </a:xfrm>
          <a:prstGeom prst="rect">
            <a:avLst/>
          </a:prstGeom>
          <a:noFill/>
          <a:ln/>
        </p:spPr>
        <p:txBody>
          <a:bodyPr wrap="square" lIns="0" tIns="0" rIns="0" bIns="0" rtlCol="0" anchor="t"/>
          <a:lstStyle/>
          <a:p>
            <a:pPr marL="342900" indent="-342900">
              <a:spcAft>
                <a:spcPts val="600"/>
              </a:spcAft>
              <a:buSzPct val="100000"/>
              <a:buChar char="•"/>
            </a:pPr>
            <a:r>
              <a:rPr lang="en-US" sz="1500" b="1" dirty="0">
                <a:solidFill>
                  <a:schemeClr val="tx2"/>
                </a:solidFill>
              </a:rPr>
              <a:t>A phasor </a:t>
            </a:r>
            <a:pPr indent="0" marL="0">
              <a:spcAft>
                <a:spcPts val="600"/>
              </a:spcAft>
              <a:buNone/>
            </a:pPr>
            <a:r>
              <a:rPr lang="en-US" sz="1500" dirty="0">
                <a:solidFill>
                  <a:schemeClr val="tx1"/>
                </a:solidFill>
              </a:rPr>
              <a:t>is a line of length Vm rotating anticlockwise at ω = 2πf.</a:t>
            </a:r>
            <a:endParaRPr lang="en-US" sz="1500" dirty="0"/>
          </a:p>
          <a:p>
            <a:pPr marL="342900" indent="-342900">
              <a:spcAft>
                <a:spcPts val="600"/>
              </a:spcAft>
              <a:buSzPct val="100000"/>
              <a:buChar char="•"/>
            </a:pPr>
            <a:r>
              <a:rPr lang="en-US" sz="1500" b="1" dirty="0">
                <a:solidFill>
                  <a:schemeClr val="tx2"/>
                </a:solidFill>
              </a:rPr>
              <a:t>Its vertical projection </a:t>
            </a:r>
            <a:pPr indent="0" marL="0">
              <a:spcAft>
                <a:spcPts val="600"/>
              </a:spcAft>
              <a:buNone/>
            </a:pPr>
            <a:r>
              <a:rPr lang="en-US" sz="1500" dirty="0">
                <a:solidFill>
                  <a:schemeClr val="tx1"/>
                </a:solidFill>
              </a:rPr>
              <a:t>is the instantaneous value: v = Vm sin ωt.</a:t>
            </a:r>
            <a:endParaRPr lang="en-US" sz="1500" dirty="0"/>
          </a:p>
          <a:p>
            <a:pPr marL="342900" indent="-342900">
              <a:spcAft>
                <a:spcPts val="600"/>
              </a:spcAft>
              <a:buSzPct val="100000"/>
              <a:buChar char="•"/>
            </a:pPr>
            <a:r>
              <a:rPr lang="en-US" sz="1500" b="1" dirty="0">
                <a:solidFill>
                  <a:schemeClr val="tx2"/>
                </a:solidFill>
              </a:rPr>
              <a:t>One revolution </a:t>
            </a:r>
            <a:pPr indent="0" marL="0">
              <a:spcAft>
                <a:spcPts val="600"/>
              </a:spcAft>
              <a:buNone/>
            </a:pPr>
            <a:r>
              <a:rPr lang="en-US" sz="1500" dirty="0">
                <a:solidFill>
                  <a:schemeClr val="tx1"/>
                </a:solidFill>
              </a:rPr>
              <a:t>= 2π radians = one cycle of the wave.</a:t>
            </a:r>
            <a:endParaRPr lang="en-US" sz="1500" dirty="0"/>
          </a:p>
          <a:p>
            <a:pPr marL="342900" indent="-342900">
              <a:spcAft>
                <a:spcPts val="600"/>
              </a:spcAft>
              <a:buSzPct val="100000"/>
              <a:buChar char="•"/>
            </a:pPr>
            <a:r>
              <a:rPr lang="en-US" sz="1500" b="1" dirty="0">
                <a:solidFill>
                  <a:schemeClr val="tx2"/>
                </a:solidFill>
              </a:rPr>
              <a:t>Same-frequency quantities </a:t>
            </a:r>
            <a:pPr indent="0" marL="0">
              <a:spcAft>
                <a:spcPts val="600"/>
              </a:spcAft>
              <a:buNone/>
            </a:pPr>
            <a:r>
              <a:rPr lang="en-US" sz="1500" dirty="0">
                <a:solidFill>
                  <a:schemeClr val="tx1"/>
                </a:solidFill>
              </a:rPr>
              <a:t>are added as vectors, using RMS lengths.</a:t>
            </a:r>
            <a:endParaRPr lang="en-US" sz="1500" dirty="0"/>
          </a:p>
        </p:txBody>
      </p:sp>
      <p:sp>
        <p:nvSpPr>
          <p:cNvPr id="7" name="Card"/>
          <p:cNvSpPr/>
          <p:nvPr/>
        </p:nvSpPr>
        <p:spPr>
          <a:xfrm>
            <a:off x="5486400" y="1188720"/>
            <a:ext cx="3200400" cy="1783080"/>
          </a:xfrm>
          <a:prstGeom prst="roundRect">
            <a:avLst>
              <a:gd name="adj" fmla="val 4103"/>
            </a:avLst>
          </a:prstGeom>
          <a:solidFill>
            <a:schemeClr val="bg2"/>
          </a:solidFill>
          <a:ln/>
        </p:spPr>
      </p:sp>
      <p:sp>
        <p:nvSpPr>
          <p:cNvPr id="8" name="Text 5"/>
          <p:cNvSpPr txBox="1"/>
          <p:nvPr/>
        </p:nvSpPr>
        <p:spPr>
          <a:xfrm>
            <a:off x="5623560" y="1280160"/>
            <a:ext cx="2926080" cy="365760"/>
          </a:xfrm>
          <a:prstGeom prst="rect">
            <a:avLst/>
          </a:prstGeom>
          <a:noFill/>
          <a:ln/>
        </p:spPr>
        <p:txBody>
          <a:bodyPr wrap="square" lIns="0" tIns="0" rIns="0" bIns="0" rtlCol="0" anchor="ctr"/>
          <a:lstStyle/>
          <a:p>
            <a:pPr indent="0" marL="0">
              <a:buNone/>
            </a:pPr>
            <a:r>
              <a:rPr lang="en-US" sz="1700" b="1" dirty="0">
                <a:solidFill>
                  <a:schemeClr val="tx2"/>
                </a:solidFill>
              </a:rPr>
              <a:t>Check</a:t>
            </a:r>
            <a:endParaRPr lang="en-US" sz="1700" dirty="0"/>
          </a:p>
        </p:txBody>
      </p:sp>
      <p:sp>
        <p:nvSpPr>
          <p:cNvPr id="9" name="Text 6"/>
          <p:cNvSpPr txBox="1"/>
          <p:nvPr/>
        </p:nvSpPr>
        <p:spPr>
          <a:xfrm>
            <a:off x="5623560" y="1664208"/>
            <a:ext cx="2926080" cy="1234440"/>
          </a:xfrm>
          <a:prstGeom prst="rect">
            <a:avLst/>
          </a:prstGeom>
          <a:noFill/>
          <a:ln/>
        </p:spPr>
        <p:txBody>
          <a:bodyPr wrap="square" lIns="0" tIns="0" rIns="0" bIns="0" rtlCol="0" anchor="t"/>
          <a:lstStyle/>
          <a:p>
            <a:pPr indent="0" marL="0">
              <a:spcAft>
                <a:spcPts val="300"/>
              </a:spcAft>
              <a:buNone/>
            </a:pPr>
            <a:r>
              <a:rPr lang="en-US" sz="1500" dirty="0">
                <a:solidFill>
                  <a:schemeClr val="tx1"/>
                </a:solidFill>
              </a:rPr>
              <a:t>v = 141.4 sin 377t</a:t>
            </a:r>
            <a:endParaRPr lang="en-US" sz="1500" dirty="0"/>
          </a:p>
          <a:p>
            <a:pPr indent="0" marL="0">
              <a:spcAft>
                <a:spcPts val="300"/>
              </a:spcAft>
              <a:buNone/>
            </a:pPr>
            <a:r>
              <a:rPr lang="en-US" sz="1500" dirty="0">
                <a:solidFill>
                  <a:schemeClr val="tx1"/>
                </a:solidFill>
              </a:rPr>
              <a:t>→ Vm = 141.4 V</a:t>
            </a:r>
            <a:endParaRPr lang="en-US" sz="1500" dirty="0"/>
          </a:p>
          <a:p>
            <a:pPr indent="0" marL="0">
              <a:spcAft>
                <a:spcPts val="300"/>
              </a:spcAft>
              <a:buNone/>
            </a:pPr>
            <a:r>
              <a:rPr lang="en-US" sz="1500" dirty="0">
                <a:solidFill>
                  <a:schemeClr val="tx1"/>
                </a:solidFill>
              </a:rPr>
              <a:t>→ f = 377 / 2π = 60 Hz</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Pure R, pure L and pure C</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pic>
        <p:nvPicPr>
          <p:cNvPr id="5" name="Image 0" descr="rlc diagram">    </p:cNvPr>
          <p:cNvPicPr>
            <a:picLocks noChangeAspect="1"/>
          </p:cNvPicPr>
          <p:nvPr/>
        </p:nvPicPr>
        <p:blipFill>
          <a:blip r:embed="rId1"/>
          <a:stretch>
            <a:fillRect/>
          </a:stretch>
        </p:blipFill>
        <p:spPr>
          <a:xfrm>
            <a:off x="457200" y="1097280"/>
            <a:ext cx="8229600" cy="2139696"/>
          </a:xfrm>
          <a:prstGeom prst="rect">
            <a:avLst/>
          </a:prstGeom>
        </p:spPr>
      </p:pic>
      <p:sp>
        <p:nvSpPr>
          <p:cNvPr id="6" name="Card"/>
          <p:cNvSpPr/>
          <p:nvPr/>
        </p:nvSpPr>
        <p:spPr>
          <a:xfrm>
            <a:off x="457200" y="3291840"/>
            <a:ext cx="2606040" cy="1325880"/>
          </a:xfrm>
          <a:prstGeom prst="roundRect">
            <a:avLst>
              <a:gd name="adj" fmla="val 5517"/>
            </a:avLst>
          </a:prstGeom>
          <a:solidFill>
            <a:schemeClr val="bg2"/>
          </a:solidFill>
          <a:ln/>
        </p:spPr>
      </p:sp>
      <p:sp>
        <p:nvSpPr>
          <p:cNvPr id="7" name="Text 4"/>
          <p:cNvSpPr txBox="1"/>
          <p:nvPr/>
        </p:nvSpPr>
        <p:spPr>
          <a:xfrm>
            <a:off x="594360" y="3383280"/>
            <a:ext cx="2331720" cy="365760"/>
          </a:xfrm>
          <a:prstGeom prst="rect">
            <a:avLst/>
          </a:prstGeom>
          <a:noFill/>
          <a:ln/>
        </p:spPr>
        <p:txBody>
          <a:bodyPr wrap="square" lIns="0" tIns="0" rIns="0" bIns="0" rtlCol="0" anchor="ctr"/>
          <a:lstStyle/>
          <a:p>
            <a:pPr indent="0" marL="0">
              <a:buNone/>
            </a:pPr>
            <a:r>
              <a:rPr lang="en-US" sz="1600" b="1" dirty="0">
                <a:solidFill>
                  <a:schemeClr val="tx2"/>
                </a:solidFill>
              </a:rPr>
              <a:t>Resistor</a:t>
            </a:r>
            <a:endParaRPr lang="en-US" sz="1600" dirty="0"/>
          </a:p>
        </p:txBody>
      </p:sp>
      <p:sp>
        <p:nvSpPr>
          <p:cNvPr id="8" name="Text 5"/>
          <p:cNvSpPr txBox="1"/>
          <p:nvPr/>
        </p:nvSpPr>
        <p:spPr>
          <a:xfrm>
            <a:off x="594360" y="3767328"/>
            <a:ext cx="2331720" cy="777240"/>
          </a:xfrm>
          <a:prstGeom prst="rect">
            <a:avLst/>
          </a:prstGeom>
          <a:noFill/>
          <a:ln/>
        </p:spPr>
        <p:txBody>
          <a:bodyPr wrap="square" lIns="0" tIns="0" rIns="0" bIns="0" rtlCol="0" anchor="t"/>
          <a:lstStyle/>
          <a:p>
            <a:pPr indent="0" marL="0">
              <a:spcAft>
                <a:spcPts val="300"/>
              </a:spcAft>
              <a:buNone/>
            </a:pPr>
            <a:r>
              <a:rPr lang="en-US" sz="1600" dirty="0">
                <a:solidFill>
                  <a:schemeClr val="tx1"/>
                </a:solidFill>
              </a:rPr>
              <a:t>i in phase with v</a:t>
            </a:r>
            <a:endParaRPr lang="en-US" sz="1600" dirty="0"/>
          </a:p>
          <a:p>
            <a:pPr indent="0" marL="0">
              <a:spcAft>
                <a:spcPts val="300"/>
              </a:spcAft>
              <a:buNone/>
            </a:pPr>
            <a:r>
              <a:rPr lang="en-US" sz="1600" dirty="0">
                <a:solidFill>
                  <a:schemeClr val="tx1"/>
                </a:solidFill>
              </a:rPr>
              <a:t>P = V I</a:t>
            </a:r>
            <a:endParaRPr lang="en-US" sz="1600" dirty="0"/>
          </a:p>
        </p:txBody>
      </p:sp>
      <p:sp>
        <p:nvSpPr>
          <p:cNvPr id="9" name="Card"/>
          <p:cNvSpPr/>
          <p:nvPr/>
        </p:nvSpPr>
        <p:spPr>
          <a:xfrm>
            <a:off x="3268980" y="3291840"/>
            <a:ext cx="2606040" cy="1325880"/>
          </a:xfrm>
          <a:prstGeom prst="roundRect">
            <a:avLst>
              <a:gd name="adj" fmla="val 5517"/>
            </a:avLst>
          </a:prstGeom>
          <a:solidFill>
            <a:schemeClr val="bg2"/>
          </a:solidFill>
          <a:ln/>
        </p:spPr>
      </p:sp>
      <p:sp>
        <p:nvSpPr>
          <p:cNvPr id="10" name="Text 7"/>
          <p:cNvSpPr txBox="1"/>
          <p:nvPr/>
        </p:nvSpPr>
        <p:spPr>
          <a:xfrm>
            <a:off x="3406140" y="3383280"/>
            <a:ext cx="2331720" cy="365760"/>
          </a:xfrm>
          <a:prstGeom prst="rect">
            <a:avLst/>
          </a:prstGeom>
          <a:noFill/>
          <a:ln/>
        </p:spPr>
        <p:txBody>
          <a:bodyPr wrap="square" lIns="0" tIns="0" rIns="0" bIns="0" rtlCol="0" anchor="ctr"/>
          <a:lstStyle/>
          <a:p>
            <a:pPr indent="0" marL="0">
              <a:buNone/>
            </a:pPr>
            <a:r>
              <a:rPr lang="en-US" sz="1600" b="1" dirty="0">
                <a:solidFill>
                  <a:schemeClr val="tx2"/>
                </a:solidFill>
              </a:rPr>
              <a:t>Inductor</a:t>
            </a:r>
            <a:endParaRPr lang="en-US" sz="1600" dirty="0"/>
          </a:p>
        </p:txBody>
      </p:sp>
      <p:sp>
        <p:nvSpPr>
          <p:cNvPr id="11" name="Text 8"/>
          <p:cNvSpPr txBox="1"/>
          <p:nvPr/>
        </p:nvSpPr>
        <p:spPr>
          <a:xfrm>
            <a:off x="3406140" y="3767328"/>
            <a:ext cx="2331720" cy="777240"/>
          </a:xfrm>
          <a:prstGeom prst="rect">
            <a:avLst/>
          </a:prstGeom>
          <a:noFill/>
          <a:ln/>
        </p:spPr>
        <p:txBody>
          <a:bodyPr wrap="square" lIns="0" tIns="0" rIns="0" bIns="0" rtlCol="0" anchor="t"/>
          <a:lstStyle/>
          <a:p>
            <a:pPr indent="0" marL="0">
              <a:spcAft>
                <a:spcPts val="300"/>
              </a:spcAft>
              <a:buNone/>
            </a:pPr>
            <a:r>
              <a:rPr lang="en-US" sz="1600" dirty="0">
                <a:solidFill>
                  <a:schemeClr val="tx1"/>
                </a:solidFill>
              </a:rPr>
              <a:t>XL = 2πfL, i lags by 90°</a:t>
            </a:r>
            <a:endParaRPr lang="en-US" sz="1600" dirty="0"/>
          </a:p>
          <a:p>
            <a:pPr indent="0" marL="0">
              <a:spcAft>
                <a:spcPts val="300"/>
              </a:spcAft>
              <a:buNone/>
            </a:pPr>
            <a:r>
              <a:rPr lang="en-US" sz="1600" dirty="0">
                <a:solidFill>
                  <a:schemeClr val="tx1"/>
                </a:solidFill>
              </a:rPr>
              <a:t>P = 0 (stores magnetic energy)</a:t>
            </a:r>
            <a:endParaRPr lang="en-US" sz="1600" dirty="0"/>
          </a:p>
        </p:txBody>
      </p:sp>
      <p:sp>
        <p:nvSpPr>
          <p:cNvPr id="12" name="Card"/>
          <p:cNvSpPr/>
          <p:nvPr/>
        </p:nvSpPr>
        <p:spPr>
          <a:xfrm>
            <a:off x="6080760" y="3291840"/>
            <a:ext cx="2606040" cy="1325880"/>
          </a:xfrm>
          <a:prstGeom prst="roundRect">
            <a:avLst>
              <a:gd name="adj" fmla="val 5517"/>
            </a:avLst>
          </a:prstGeom>
          <a:solidFill>
            <a:schemeClr val="bg2"/>
          </a:solidFill>
          <a:ln/>
        </p:spPr>
      </p:sp>
      <p:sp>
        <p:nvSpPr>
          <p:cNvPr id="13" name="Text 10"/>
          <p:cNvSpPr txBox="1"/>
          <p:nvPr/>
        </p:nvSpPr>
        <p:spPr>
          <a:xfrm>
            <a:off x="6217920" y="3383280"/>
            <a:ext cx="2331720" cy="365760"/>
          </a:xfrm>
          <a:prstGeom prst="rect">
            <a:avLst/>
          </a:prstGeom>
          <a:noFill/>
          <a:ln/>
        </p:spPr>
        <p:txBody>
          <a:bodyPr wrap="square" lIns="0" tIns="0" rIns="0" bIns="0" rtlCol="0" anchor="ctr"/>
          <a:lstStyle/>
          <a:p>
            <a:pPr indent="0" marL="0">
              <a:buNone/>
            </a:pPr>
            <a:r>
              <a:rPr lang="en-US" sz="1600" b="1" dirty="0">
                <a:solidFill>
                  <a:schemeClr val="tx2"/>
                </a:solidFill>
              </a:rPr>
              <a:t>Capacitor</a:t>
            </a:r>
            <a:endParaRPr lang="en-US" sz="1600" dirty="0"/>
          </a:p>
        </p:txBody>
      </p:sp>
      <p:sp>
        <p:nvSpPr>
          <p:cNvPr id="14" name="Text 11"/>
          <p:cNvSpPr txBox="1"/>
          <p:nvPr/>
        </p:nvSpPr>
        <p:spPr>
          <a:xfrm>
            <a:off x="6217920" y="3767328"/>
            <a:ext cx="2331720" cy="777240"/>
          </a:xfrm>
          <a:prstGeom prst="rect">
            <a:avLst/>
          </a:prstGeom>
          <a:noFill/>
          <a:ln/>
        </p:spPr>
        <p:txBody>
          <a:bodyPr wrap="square" lIns="0" tIns="0" rIns="0" bIns="0" rtlCol="0" anchor="t"/>
          <a:lstStyle/>
          <a:p>
            <a:pPr indent="0" marL="0">
              <a:spcAft>
                <a:spcPts val="300"/>
              </a:spcAft>
              <a:buNone/>
            </a:pPr>
            <a:r>
              <a:rPr lang="en-US" sz="1600" dirty="0">
                <a:solidFill>
                  <a:schemeClr val="tx1"/>
                </a:solidFill>
              </a:rPr>
              <a:t>XC = 1/(2πfC), i leads by 90°</a:t>
            </a:r>
            <a:endParaRPr lang="en-US" sz="1600" dirty="0"/>
          </a:p>
          <a:p>
            <a:pPr indent="0" marL="0">
              <a:spcAft>
                <a:spcPts val="300"/>
              </a:spcAft>
              <a:buNone/>
            </a:pPr>
            <a:r>
              <a:rPr lang="en-US" sz="1600" dirty="0">
                <a:solidFill>
                  <a:schemeClr val="tx1"/>
                </a:solidFill>
              </a:rPr>
              <a:t>P = 0 (stores electric energy)</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Series R-L, R-C and R-L-C circuits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pic>
        <p:nvPicPr>
          <p:cNvPr id="5" name="Image 0" descr="imped diagram">    </p:cNvPr>
          <p:cNvPicPr>
            <a:picLocks noChangeAspect="1"/>
          </p:cNvPicPr>
          <p:nvPr/>
        </p:nvPicPr>
        <p:blipFill>
          <a:blip r:embed="rId1"/>
          <a:stretch>
            <a:fillRect/>
          </a:stretch>
        </p:blipFill>
        <p:spPr>
          <a:xfrm>
            <a:off x="457200" y="1143000"/>
            <a:ext cx="4389120" cy="1755648"/>
          </a:xfrm>
          <a:prstGeom prst="rect">
            <a:avLst/>
          </a:prstGeom>
        </p:spPr>
      </p:pic>
      <p:sp>
        <p:nvSpPr>
          <p:cNvPr id="6" name="Text 3"/>
          <p:cNvSpPr txBox="1"/>
          <p:nvPr/>
        </p:nvSpPr>
        <p:spPr>
          <a:xfrm>
            <a:off x="5029200" y="1188720"/>
            <a:ext cx="3657600" cy="2011680"/>
          </a:xfrm>
          <a:prstGeom prst="rect">
            <a:avLst/>
          </a:prstGeom>
          <a:noFill/>
          <a:ln/>
        </p:spPr>
        <p:txBody>
          <a:bodyPr wrap="square" lIns="0" tIns="0" rIns="0" bIns="0" rtlCol="0" anchor="t"/>
          <a:lstStyle/>
          <a:p>
            <a:pPr marL="342900" indent="-342900">
              <a:spcAft>
                <a:spcPts val="600"/>
              </a:spcAft>
              <a:buSzPct val="100000"/>
              <a:buChar char="•"/>
            </a:pPr>
            <a:r>
              <a:rPr lang="en-US" sz="1500" b="1" dirty="0">
                <a:solidFill>
                  <a:schemeClr val="tx2"/>
                </a:solidFill>
              </a:rPr>
              <a:t>Impedance: </a:t>
            </a:r>
            <a:pPr indent="0" marL="0">
              <a:spcAft>
                <a:spcPts val="600"/>
              </a:spcAft>
              <a:buNone/>
            </a:pPr>
            <a:r>
              <a:rPr lang="en-US" sz="1500" dirty="0">
                <a:solidFill>
                  <a:schemeClr val="tx1"/>
                </a:solidFill>
              </a:rPr>
              <a:t>Z = √(R² + X²), V = I Z.</a:t>
            </a:r>
            <a:endParaRPr lang="en-US" sz="1500" dirty="0"/>
          </a:p>
          <a:p>
            <a:pPr marL="342900" indent="-342900">
              <a:spcAft>
                <a:spcPts val="600"/>
              </a:spcAft>
              <a:buSzPct val="100000"/>
              <a:buChar char="•"/>
            </a:pPr>
            <a:r>
              <a:rPr lang="en-US" sz="1500" b="1" dirty="0">
                <a:solidFill>
                  <a:schemeClr val="tx2"/>
                </a:solidFill>
              </a:rPr>
              <a:t>Angle: </a:t>
            </a:r>
            <a:pPr indent="0" marL="0">
              <a:spcAft>
                <a:spcPts val="600"/>
              </a:spcAft>
              <a:buNone/>
            </a:pPr>
            <a:r>
              <a:rPr lang="en-US" sz="1500" dirty="0">
                <a:solidFill>
                  <a:schemeClr val="tx1"/>
                </a:solidFill>
              </a:rPr>
              <a:t>φ = tan⁻¹(X/R); R-L: current lags, R-C: current leads.</a:t>
            </a:r>
            <a:endParaRPr lang="en-US" sz="1500" dirty="0"/>
          </a:p>
          <a:p>
            <a:pPr marL="342900" indent="-342900">
              <a:spcAft>
                <a:spcPts val="600"/>
              </a:spcAft>
              <a:buSzPct val="100000"/>
              <a:buChar char="•"/>
            </a:pPr>
            <a:r>
              <a:rPr lang="en-US" sz="1500" b="1" dirty="0">
                <a:solidFill>
                  <a:schemeClr val="tx2"/>
                </a:solidFill>
              </a:rPr>
              <a:t>R-L-C: </a:t>
            </a:r>
            <a:pPr indent="0" marL="0">
              <a:spcAft>
                <a:spcPts val="600"/>
              </a:spcAft>
              <a:buNone/>
            </a:pPr>
            <a:r>
              <a:rPr lang="en-US" sz="1500" dirty="0">
                <a:solidFill>
                  <a:schemeClr val="tx1"/>
                </a:solidFill>
              </a:rPr>
              <a:t>Z = √(R² + (XL − XC)²); if XL = XC the circuit is purely resistive (resonance).</a:t>
            </a:r>
            <a:endParaRPr lang="en-US" sz="1500" dirty="0"/>
          </a:p>
        </p:txBody>
      </p:sp>
      <p:sp>
        <p:nvSpPr>
          <p:cNvPr id="7" name="Card"/>
          <p:cNvSpPr/>
          <p:nvPr/>
        </p:nvSpPr>
        <p:spPr>
          <a:xfrm>
            <a:off x="457200" y="3108960"/>
            <a:ext cx="3977640" cy="1463040"/>
          </a:xfrm>
          <a:prstGeom prst="roundRect">
            <a:avLst>
              <a:gd name="adj" fmla="val 5000"/>
            </a:avLst>
          </a:prstGeom>
          <a:solidFill>
            <a:schemeClr val="bg2"/>
          </a:solidFill>
          <a:ln/>
        </p:spPr>
      </p:sp>
      <p:sp>
        <p:nvSpPr>
          <p:cNvPr id="8" name="Text 5"/>
          <p:cNvSpPr txBox="1"/>
          <p:nvPr/>
        </p:nvSpPr>
        <p:spPr>
          <a:xfrm>
            <a:off x="594360" y="3200400"/>
            <a:ext cx="3703320" cy="365760"/>
          </a:xfrm>
          <a:prstGeom prst="rect">
            <a:avLst/>
          </a:prstGeom>
          <a:noFill/>
          <a:ln/>
        </p:spPr>
        <p:txBody>
          <a:bodyPr wrap="square" lIns="0" tIns="0" rIns="0" bIns="0" rtlCol="0" anchor="ctr"/>
          <a:lstStyle/>
          <a:p>
            <a:pPr indent="0" marL="0">
              <a:buNone/>
            </a:pPr>
            <a:r>
              <a:rPr lang="en-US" sz="1700" b="1" dirty="0">
                <a:solidFill>
                  <a:schemeClr val="tx2"/>
                </a:solidFill>
              </a:rPr>
              <a:t>Phasor sum</a:t>
            </a:r>
            <a:endParaRPr lang="en-US" sz="1700" dirty="0"/>
          </a:p>
        </p:txBody>
      </p:sp>
      <p:sp>
        <p:nvSpPr>
          <p:cNvPr id="9" name="Text 6"/>
          <p:cNvSpPr txBox="1"/>
          <p:nvPr/>
        </p:nvSpPr>
        <p:spPr>
          <a:xfrm>
            <a:off x="594360" y="3584448"/>
            <a:ext cx="3703320" cy="914400"/>
          </a:xfrm>
          <a:prstGeom prst="rect">
            <a:avLst/>
          </a:prstGeom>
          <a:noFill/>
          <a:ln/>
        </p:spPr>
        <p:txBody>
          <a:bodyPr wrap="square" lIns="0" tIns="0" rIns="0" bIns="0" rtlCol="0" anchor="t"/>
          <a:lstStyle/>
          <a:p>
            <a:pPr indent="0" marL="0">
              <a:spcAft>
                <a:spcPts val="300"/>
              </a:spcAft>
              <a:buNone/>
            </a:pPr>
            <a:r>
              <a:rPr lang="en-US" sz="1600" dirty="0">
                <a:solidFill>
                  <a:schemeClr val="tx1"/>
                </a:solidFill>
              </a:rPr>
              <a:t>VR = I R in phase with I</a:t>
            </a:r>
            <a:endParaRPr lang="en-US" sz="1600" dirty="0"/>
          </a:p>
          <a:p>
            <a:pPr indent="0" marL="0">
              <a:spcAft>
                <a:spcPts val="300"/>
              </a:spcAft>
              <a:buNone/>
            </a:pPr>
            <a:r>
              <a:rPr lang="en-US" sz="1600" dirty="0">
                <a:solidFill>
                  <a:schemeClr val="tx1"/>
                </a:solidFill>
              </a:rPr>
              <a:t>VL = I XL leads by 90°</a:t>
            </a:r>
            <a:endParaRPr lang="en-US" sz="1600" dirty="0"/>
          </a:p>
          <a:p>
            <a:pPr indent="0" marL="0">
              <a:spcAft>
                <a:spcPts val="300"/>
              </a:spcAft>
              <a:buNone/>
            </a:pPr>
            <a:r>
              <a:rPr lang="en-US" sz="1600" dirty="0">
                <a:solidFill>
                  <a:schemeClr val="tx1"/>
                </a:solidFill>
              </a:rPr>
              <a:t>VC = I XC lags by 90°</a:t>
            </a:r>
            <a:endParaRPr lang="en-US" sz="1600" dirty="0"/>
          </a:p>
        </p:txBody>
      </p:sp>
      <p:sp>
        <p:nvSpPr>
          <p:cNvPr id="10" name="Card"/>
          <p:cNvSpPr/>
          <p:nvPr/>
        </p:nvSpPr>
        <p:spPr>
          <a:xfrm>
            <a:off x="4709160" y="3108960"/>
            <a:ext cx="3977640" cy="1463040"/>
          </a:xfrm>
          <a:prstGeom prst="roundRect">
            <a:avLst>
              <a:gd name="adj" fmla="val 5000"/>
            </a:avLst>
          </a:prstGeom>
          <a:solidFill>
            <a:schemeClr val="bg2"/>
          </a:solidFill>
          <a:ln/>
        </p:spPr>
      </p:sp>
      <p:sp>
        <p:nvSpPr>
          <p:cNvPr id="11" name="Text 8"/>
          <p:cNvSpPr txBox="1"/>
          <p:nvPr/>
        </p:nvSpPr>
        <p:spPr>
          <a:xfrm>
            <a:off x="4846320" y="3200400"/>
            <a:ext cx="3703320" cy="365760"/>
          </a:xfrm>
          <a:prstGeom prst="rect">
            <a:avLst/>
          </a:prstGeom>
          <a:noFill/>
          <a:ln/>
        </p:spPr>
        <p:txBody>
          <a:bodyPr wrap="square" lIns="0" tIns="0" rIns="0" bIns="0" rtlCol="0" anchor="ctr"/>
          <a:lstStyle/>
          <a:p>
            <a:pPr indent="0" marL="0">
              <a:buNone/>
            </a:pPr>
            <a:r>
              <a:rPr lang="en-US" sz="1700" b="1" dirty="0">
                <a:solidFill>
                  <a:schemeClr val="tx2"/>
                </a:solidFill>
              </a:rPr>
              <a:t>Remember</a:t>
            </a:r>
            <a:endParaRPr lang="en-US" sz="1700" dirty="0"/>
          </a:p>
        </p:txBody>
      </p:sp>
      <p:sp>
        <p:nvSpPr>
          <p:cNvPr id="12" name="Text 9"/>
          <p:cNvSpPr txBox="1"/>
          <p:nvPr/>
        </p:nvSpPr>
        <p:spPr>
          <a:xfrm>
            <a:off x="4846320" y="3584448"/>
            <a:ext cx="3703320" cy="914400"/>
          </a:xfrm>
          <a:prstGeom prst="rect">
            <a:avLst/>
          </a:prstGeom>
          <a:noFill/>
          <a:ln/>
        </p:spPr>
        <p:txBody>
          <a:bodyPr wrap="square" lIns="0" tIns="0" rIns="0" bIns="0" rtlCol="0" anchor="t"/>
          <a:lstStyle/>
          <a:p>
            <a:pPr indent="0" marL="0">
              <a:spcAft>
                <a:spcPts val="300"/>
              </a:spcAft>
              <a:buNone/>
            </a:pPr>
            <a:r>
              <a:rPr lang="en-US" sz="1600" dirty="0">
                <a:solidFill>
                  <a:schemeClr val="tx1"/>
                </a:solidFill>
              </a:rPr>
              <a:t>Take the current as the reference phasor in a series circuit. Voltages add as phasors, never arithmetically.</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Power and power factor</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5" name="Stat"/>
          <p:cNvSpPr/>
          <p:nvPr/>
        </p:nvSpPr>
        <p:spPr>
          <a:xfrm>
            <a:off x="457200" y="1188720"/>
            <a:ext cx="2606040" cy="1554480"/>
          </a:xfrm>
          <a:prstGeom prst="roundRect">
            <a:avLst>
              <a:gd name="adj" fmla="val 4706"/>
            </a:avLst>
          </a:prstGeom>
          <a:solidFill>
            <a:schemeClr val="bg2"/>
          </a:solidFill>
          <a:ln/>
        </p:spPr>
      </p:sp>
      <p:sp>
        <p:nvSpPr>
          <p:cNvPr id="6" name="Text 4"/>
          <p:cNvSpPr txBox="1"/>
          <p:nvPr/>
        </p:nvSpPr>
        <p:spPr>
          <a:xfrm>
            <a:off x="457200" y="1298448"/>
            <a:ext cx="2606040" cy="699516"/>
          </a:xfrm>
          <a:prstGeom prst="rect">
            <a:avLst/>
          </a:prstGeom>
          <a:noFill/>
          <a:ln/>
        </p:spPr>
        <p:txBody>
          <a:bodyPr wrap="square" lIns="0" tIns="0" rIns="0" bIns="0" rtlCol="0" anchor="ctr"/>
          <a:lstStyle/>
          <a:p>
            <a:pPr algn="ctr" indent="0" marL="0">
              <a:buNone/>
            </a:pPr>
            <a:r>
              <a:rPr lang="en-US" sz="3000" b="1" dirty="0">
                <a:solidFill>
                  <a:schemeClr val="accent2"/>
                </a:solidFill>
                <a:latin typeface="Cambria" pitchFamily="34" charset="0"/>
                <a:ea typeface="Cambria" pitchFamily="34" charset="-122"/>
                <a:cs typeface="Cambria" pitchFamily="34" charset="-120"/>
              </a:rPr>
              <a:t>P = VI cos φ</a:t>
            </a:r>
            <a:endParaRPr lang="en-US" sz="3000" dirty="0"/>
          </a:p>
        </p:txBody>
      </p:sp>
      <p:sp>
        <p:nvSpPr>
          <p:cNvPr id="7" name="Text 5"/>
          <p:cNvSpPr txBox="1"/>
          <p:nvPr/>
        </p:nvSpPr>
        <p:spPr>
          <a:xfrm>
            <a:off x="548640" y="2043684"/>
            <a:ext cx="2423160" cy="310896"/>
          </a:xfrm>
          <a:prstGeom prst="rect">
            <a:avLst/>
          </a:prstGeom>
          <a:noFill/>
          <a:ln/>
        </p:spPr>
        <p:txBody>
          <a:bodyPr wrap="square" lIns="0" tIns="0" rIns="0" bIns="0" rtlCol="0" anchor="ctr"/>
          <a:lstStyle/>
          <a:p>
            <a:pPr algn="ctr" indent="0" marL="0">
              <a:buNone/>
            </a:pPr>
            <a:r>
              <a:rPr lang="en-US" sz="1500" b="1" dirty="0">
                <a:solidFill>
                  <a:schemeClr val="tx1"/>
                </a:solidFill>
              </a:rPr>
              <a:t>Active power</a:t>
            </a:r>
            <a:endParaRPr lang="en-US" sz="1500" dirty="0"/>
          </a:p>
        </p:txBody>
      </p:sp>
      <p:sp>
        <p:nvSpPr>
          <p:cNvPr id="8" name="Text 6"/>
          <p:cNvSpPr txBox="1"/>
          <p:nvPr/>
        </p:nvSpPr>
        <p:spPr>
          <a:xfrm>
            <a:off x="548640" y="2354580"/>
            <a:ext cx="2423160" cy="310896"/>
          </a:xfrm>
          <a:prstGeom prst="rect">
            <a:avLst/>
          </a:prstGeom>
          <a:noFill/>
          <a:ln/>
        </p:spPr>
        <p:txBody>
          <a:bodyPr wrap="square" lIns="0" tIns="0" rIns="0" bIns="0" rtlCol="0" anchor="t"/>
          <a:lstStyle/>
          <a:p>
            <a:pPr algn="ctr" indent="0" marL="0">
              <a:buNone/>
            </a:pPr>
            <a:r>
              <a:rPr lang="en-US" sz="1200" dirty="0">
                <a:solidFill>
                  <a:schemeClr val="accent4"/>
                </a:solidFill>
              </a:rPr>
              <a:t>watts (W)</a:t>
            </a:r>
            <a:endParaRPr lang="en-US" sz="1200" dirty="0"/>
          </a:p>
        </p:txBody>
      </p:sp>
      <p:sp>
        <p:nvSpPr>
          <p:cNvPr id="9" name="Stat"/>
          <p:cNvSpPr/>
          <p:nvPr/>
        </p:nvSpPr>
        <p:spPr>
          <a:xfrm>
            <a:off x="3268980" y="1188720"/>
            <a:ext cx="2606040" cy="1554480"/>
          </a:xfrm>
          <a:prstGeom prst="roundRect">
            <a:avLst>
              <a:gd name="adj" fmla="val 4706"/>
            </a:avLst>
          </a:prstGeom>
          <a:solidFill>
            <a:schemeClr val="bg2"/>
          </a:solidFill>
          <a:ln/>
        </p:spPr>
      </p:sp>
      <p:sp>
        <p:nvSpPr>
          <p:cNvPr id="10" name="Text 8"/>
          <p:cNvSpPr txBox="1"/>
          <p:nvPr/>
        </p:nvSpPr>
        <p:spPr>
          <a:xfrm>
            <a:off x="3268980" y="1298448"/>
            <a:ext cx="2606040" cy="699516"/>
          </a:xfrm>
          <a:prstGeom prst="rect">
            <a:avLst/>
          </a:prstGeom>
          <a:noFill/>
          <a:ln/>
        </p:spPr>
        <p:txBody>
          <a:bodyPr wrap="square" lIns="0" tIns="0" rIns="0" bIns="0" rtlCol="0" anchor="ctr"/>
          <a:lstStyle/>
          <a:p>
            <a:pPr algn="ctr" indent="0" marL="0">
              <a:buNone/>
            </a:pPr>
            <a:r>
              <a:rPr lang="en-US" sz="3000" b="1" dirty="0">
                <a:solidFill>
                  <a:schemeClr val="accent2"/>
                </a:solidFill>
                <a:latin typeface="Cambria" pitchFamily="34" charset="0"/>
                <a:ea typeface="Cambria" pitchFamily="34" charset="-122"/>
                <a:cs typeface="Cambria" pitchFamily="34" charset="-120"/>
              </a:rPr>
              <a:t>Q = VI sin φ</a:t>
            </a:r>
            <a:endParaRPr lang="en-US" sz="3000" dirty="0"/>
          </a:p>
        </p:txBody>
      </p:sp>
      <p:sp>
        <p:nvSpPr>
          <p:cNvPr id="11" name="Text 9"/>
          <p:cNvSpPr txBox="1"/>
          <p:nvPr/>
        </p:nvSpPr>
        <p:spPr>
          <a:xfrm>
            <a:off x="3360420" y="2043684"/>
            <a:ext cx="2423160" cy="310896"/>
          </a:xfrm>
          <a:prstGeom prst="rect">
            <a:avLst/>
          </a:prstGeom>
          <a:noFill/>
          <a:ln/>
        </p:spPr>
        <p:txBody>
          <a:bodyPr wrap="square" lIns="0" tIns="0" rIns="0" bIns="0" rtlCol="0" anchor="ctr"/>
          <a:lstStyle/>
          <a:p>
            <a:pPr algn="ctr" indent="0" marL="0">
              <a:buNone/>
            </a:pPr>
            <a:r>
              <a:rPr lang="en-US" sz="1500" b="1" dirty="0">
                <a:solidFill>
                  <a:schemeClr val="tx1"/>
                </a:solidFill>
              </a:rPr>
              <a:t>Reactive power</a:t>
            </a:r>
            <a:endParaRPr lang="en-US" sz="1500" dirty="0"/>
          </a:p>
        </p:txBody>
      </p:sp>
      <p:sp>
        <p:nvSpPr>
          <p:cNvPr id="12" name="Text 10"/>
          <p:cNvSpPr txBox="1"/>
          <p:nvPr/>
        </p:nvSpPr>
        <p:spPr>
          <a:xfrm>
            <a:off x="3360420" y="2354580"/>
            <a:ext cx="2423160" cy="310896"/>
          </a:xfrm>
          <a:prstGeom prst="rect">
            <a:avLst/>
          </a:prstGeom>
          <a:noFill/>
          <a:ln/>
        </p:spPr>
        <p:txBody>
          <a:bodyPr wrap="square" lIns="0" tIns="0" rIns="0" bIns="0" rtlCol="0" anchor="t"/>
          <a:lstStyle/>
          <a:p>
            <a:pPr algn="ctr" indent="0" marL="0">
              <a:buNone/>
            </a:pPr>
            <a:r>
              <a:rPr lang="en-US" sz="1200" dirty="0">
                <a:solidFill>
                  <a:schemeClr val="accent4"/>
                </a:solidFill>
              </a:rPr>
              <a:t>VAR</a:t>
            </a:r>
            <a:endParaRPr lang="en-US" sz="1200" dirty="0"/>
          </a:p>
        </p:txBody>
      </p:sp>
      <p:sp>
        <p:nvSpPr>
          <p:cNvPr id="13" name="Stat"/>
          <p:cNvSpPr/>
          <p:nvPr/>
        </p:nvSpPr>
        <p:spPr>
          <a:xfrm>
            <a:off x="6080760" y="1188720"/>
            <a:ext cx="2606040" cy="1554480"/>
          </a:xfrm>
          <a:prstGeom prst="roundRect">
            <a:avLst>
              <a:gd name="adj" fmla="val 4706"/>
            </a:avLst>
          </a:prstGeom>
          <a:solidFill>
            <a:schemeClr val="bg2"/>
          </a:solidFill>
          <a:ln/>
        </p:spPr>
      </p:sp>
      <p:sp>
        <p:nvSpPr>
          <p:cNvPr id="14" name="Text 12"/>
          <p:cNvSpPr txBox="1"/>
          <p:nvPr/>
        </p:nvSpPr>
        <p:spPr>
          <a:xfrm>
            <a:off x="6080760" y="1298448"/>
            <a:ext cx="2606040" cy="699516"/>
          </a:xfrm>
          <a:prstGeom prst="rect">
            <a:avLst/>
          </a:prstGeom>
          <a:noFill/>
          <a:ln/>
        </p:spPr>
        <p:txBody>
          <a:bodyPr wrap="square" lIns="0" tIns="0" rIns="0" bIns="0" rtlCol="0" anchor="ctr"/>
          <a:lstStyle/>
          <a:p>
            <a:pPr algn="ctr" indent="0" marL="0">
              <a:buNone/>
            </a:pPr>
            <a:r>
              <a:rPr lang="en-US" sz="3000" b="1" dirty="0">
                <a:solidFill>
                  <a:schemeClr val="accent2"/>
                </a:solidFill>
                <a:latin typeface="Cambria" pitchFamily="34" charset="0"/>
                <a:ea typeface="Cambria" pitchFamily="34" charset="-122"/>
                <a:cs typeface="Cambria" pitchFamily="34" charset="-120"/>
              </a:rPr>
              <a:t>S = VI</a:t>
            </a:r>
            <a:endParaRPr lang="en-US" sz="3000" dirty="0"/>
          </a:p>
        </p:txBody>
      </p:sp>
      <p:sp>
        <p:nvSpPr>
          <p:cNvPr id="15" name="Text 13"/>
          <p:cNvSpPr txBox="1"/>
          <p:nvPr/>
        </p:nvSpPr>
        <p:spPr>
          <a:xfrm>
            <a:off x="6172200" y="2043684"/>
            <a:ext cx="2423160" cy="310896"/>
          </a:xfrm>
          <a:prstGeom prst="rect">
            <a:avLst/>
          </a:prstGeom>
          <a:noFill/>
          <a:ln/>
        </p:spPr>
        <p:txBody>
          <a:bodyPr wrap="square" lIns="0" tIns="0" rIns="0" bIns="0" rtlCol="0" anchor="ctr"/>
          <a:lstStyle/>
          <a:p>
            <a:pPr algn="ctr" indent="0" marL="0">
              <a:buNone/>
            </a:pPr>
            <a:r>
              <a:rPr lang="en-US" sz="1500" b="1" dirty="0">
                <a:solidFill>
                  <a:schemeClr val="tx1"/>
                </a:solidFill>
              </a:rPr>
              <a:t>Apparent power</a:t>
            </a:r>
            <a:endParaRPr lang="en-US" sz="1500" dirty="0"/>
          </a:p>
        </p:txBody>
      </p:sp>
      <p:sp>
        <p:nvSpPr>
          <p:cNvPr id="16" name="Text 14"/>
          <p:cNvSpPr txBox="1"/>
          <p:nvPr/>
        </p:nvSpPr>
        <p:spPr>
          <a:xfrm>
            <a:off x="6172200" y="2354580"/>
            <a:ext cx="2423160" cy="310896"/>
          </a:xfrm>
          <a:prstGeom prst="rect">
            <a:avLst/>
          </a:prstGeom>
          <a:noFill/>
          <a:ln/>
        </p:spPr>
        <p:txBody>
          <a:bodyPr wrap="square" lIns="0" tIns="0" rIns="0" bIns="0" rtlCol="0" anchor="t"/>
          <a:lstStyle/>
          <a:p>
            <a:pPr algn="ctr" indent="0" marL="0">
              <a:buNone/>
            </a:pPr>
            <a:r>
              <a:rPr lang="en-US" sz="1200" dirty="0">
                <a:solidFill>
                  <a:schemeClr val="accent4"/>
                </a:solidFill>
              </a:rPr>
              <a:t>VA</a:t>
            </a:r>
            <a:endParaRPr lang="en-US" sz="1200" dirty="0"/>
          </a:p>
        </p:txBody>
      </p:sp>
      <p:sp>
        <p:nvSpPr>
          <p:cNvPr id="17" name="Text 15"/>
          <p:cNvSpPr txBox="1"/>
          <p:nvPr/>
        </p:nvSpPr>
        <p:spPr>
          <a:xfrm>
            <a:off x="457200" y="3017520"/>
            <a:ext cx="8229600" cy="1554480"/>
          </a:xfrm>
          <a:prstGeom prst="rect">
            <a:avLst/>
          </a:prstGeom>
          <a:noFill/>
          <a:ln/>
        </p:spPr>
        <p:txBody>
          <a:bodyPr wrap="square" lIns="0" tIns="0" rIns="0" bIns="0" rtlCol="0" anchor="t"/>
          <a:lstStyle/>
          <a:p>
            <a:pPr marL="342900" indent="-342900">
              <a:spcAft>
                <a:spcPts val="600"/>
              </a:spcAft>
              <a:buSzPct val="100000"/>
              <a:buChar char="•"/>
            </a:pPr>
            <a:r>
              <a:rPr lang="en-US" sz="1500" b="1" dirty="0">
                <a:solidFill>
                  <a:schemeClr val="tx2"/>
                </a:solidFill>
              </a:rPr>
              <a:t>Power factor </a:t>
            </a:r>
            <a:pPr indent="0" marL="0">
              <a:spcAft>
                <a:spcPts val="600"/>
              </a:spcAft>
              <a:buNone/>
            </a:pPr>
            <a:r>
              <a:rPr lang="en-US" sz="1500" dirty="0">
                <a:solidFill>
                  <a:schemeClr val="tx1"/>
                </a:solidFill>
              </a:rPr>
              <a:t>cos φ = R/Z = P/S; it lies between 0 and 1 (lagging for R-L, leading for R-C).</a:t>
            </a:r>
            <a:endParaRPr lang="en-US" sz="1500" dirty="0"/>
          </a:p>
          <a:p>
            <a:pPr marL="342900" indent="-342900">
              <a:spcAft>
                <a:spcPts val="600"/>
              </a:spcAft>
              <a:buSzPct val="100000"/>
              <a:buChar char="•"/>
            </a:pPr>
            <a:r>
              <a:rPr lang="en-US" sz="1500" b="1" dirty="0">
                <a:solidFill>
                  <a:schemeClr val="tx2"/>
                </a:solidFill>
              </a:rPr>
              <a:t>Why it matters: </a:t>
            </a:r>
            <a:pPr indent="0" marL="0">
              <a:spcAft>
                <a:spcPts val="600"/>
              </a:spcAft>
              <a:buNone/>
            </a:pPr>
            <a:r>
              <a:rPr lang="en-US" sz="1500" dirty="0">
                <a:solidFill>
                  <a:schemeClr val="tx1"/>
                </a:solidFill>
              </a:rPr>
              <a:t>for the same real power, a low power factor means a larger current, more I²R loss and a larger supply rating.</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Unit 1 numericals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5" name="Card"/>
          <p:cNvSpPr/>
          <p:nvPr/>
        </p:nvSpPr>
        <p:spPr>
          <a:xfrm>
            <a:off x="457200" y="1188720"/>
            <a:ext cx="2606040" cy="3337560"/>
          </a:xfrm>
          <a:prstGeom prst="roundRect">
            <a:avLst>
              <a:gd name="adj" fmla="val 2807"/>
            </a:avLst>
          </a:prstGeom>
          <a:solidFill>
            <a:schemeClr val="bg2"/>
          </a:solidFill>
          <a:ln/>
        </p:spPr>
      </p:sp>
      <p:sp>
        <p:nvSpPr>
          <p:cNvPr id="6" name="Text 4"/>
          <p:cNvSpPr txBox="1"/>
          <p:nvPr/>
        </p:nvSpPr>
        <p:spPr>
          <a:xfrm>
            <a:off x="594360" y="1280160"/>
            <a:ext cx="2331720" cy="365760"/>
          </a:xfrm>
          <a:prstGeom prst="rect">
            <a:avLst/>
          </a:prstGeom>
          <a:noFill/>
          <a:ln/>
        </p:spPr>
        <p:txBody>
          <a:bodyPr wrap="square" lIns="0" tIns="0" rIns="0" bIns="0" rtlCol="0" anchor="ctr"/>
          <a:lstStyle/>
          <a:p>
            <a:pPr indent="0" marL="0">
              <a:buNone/>
            </a:pPr>
            <a:r>
              <a:rPr lang="en-US" sz="1700" b="1" dirty="0">
                <a:solidFill>
                  <a:schemeClr val="tx2"/>
                </a:solidFill>
              </a:rPr>
              <a:t>Resistor</a:t>
            </a:r>
            <a:endParaRPr lang="en-US" sz="1700" dirty="0"/>
          </a:p>
        </p:txBody>
      </p:sp>
      <p:sp>
        <p:nvSpPr>
          <p:cNvPr id="7" name="Text 5"/>
          <p:cNvSpPr txBox="1"/>
          <p:nvPr/>
        </p:nvSpPr>
        <p:spPr>
          <a:xfrm>
            <a:off x="594360" y="1664208"/>
            <a:ext cx="2331720" cy="2788920"/>
          </a:xfrm>
          <a:prstGeom prst="rect">
            <a:avLst/>
          </a:prstGeom>
          <a:noFill/>
          <a:ln/>
        </p:spPr>
        <p:txBody>
          <a:bodyPr wrap="square" lIns="0" tIns="0" rIns="0" bIns="0" rtlCol="0" anchor="t"/>
          <a:lstStyle/>
          <a:p>
            <a:pPr indent="0" marL="0">
              <a:spcAft>
                <a:spcPts val="300"/>
              </a:spcAft>
              <a:buNone/>
            </a:pPr>
            <a:r>
              <a:rPr lang="en-US" sz="1600" dirty="0">
                <a:solidFill>
                  <a:schemeClr val="tx1"/>
                </a:solidFill>
              </a:rPr>
              <a:t>20 Ω across 230 V, 50 Hz</a:t>
            </a:r>
            <a:endParaRPr lang="en-US" sz="1600" dirty="0"/>
          </a:p>
          <a:p>
            <a:pPr indent="0" marL="0">
              <a:spcAft>
                <a:spcPts val="300"/>
              </a:spcAft>
              <a:buNone/>
            </a:pPr>
            <a:r>
              <a:rPr lang="en-US" sz="1600" dirty="0">
                <a:solidFill>
                  <a:schemeClr val="tx1"/>
                </a:solidFill>
              </a:rPr>
              <a:t>I = 230/20 = 11.5 A</a:t>
            </a:r>
            <a:endParaRPr lang="en-US" sz="1600" dirty="0"/>
          </a:p>
          <a:p>
            <a:pPr indent="0" marL="0">
              <a:spcAft>
                <a:spcPts val="300"/>
              </a:spcAft>
              <a:buNone/>
            </a:pPr>
            <a:r>
              <a:rPr lang="en-US" sz="1600" dirty="0">
                <a:solidFill>
                  <a:schemeClr val="tx1"/>
                </a:solidFill>
              </a:rPr>
              <a:t>P = 230 × 11.5 = 2645 W</a:t>
            </a:r>
            <a:endParaRPr lang="en-US" sz="1600" dirty="0"/>
          </a:p>
          <a:p>
            <a:pPr indent="0" marL="0">
              <a:spcAft>
                <a:spcPts val="300"/>
              </a:spcAft>
              <a:buNone/>
            </a:pPr>
            <a:r>
              <a:rPr lang="en-US" sz="1600" dirty="0">
                <a:solidFill>
                  <a:schemeClr val="tx1"/>
                </a:solidFill>
              </a:rPr>
              <a:t>Vm = 325.27 V, Im = 16.26 A</a:t>
            </a:r>
            <a:endParaRPr lang="en-US" sz="1600" dirty="0"/>
          </a:p>
          <a:p>
            <a:pPr indent="0" marL="0">
              <a:spcAft>
                <a:spcPts val="300"/>
              </a:spcAft>
              <a:buNone/>
            </a:pPr>
            <a:r>
              <a:rPr lang="en-US" sz="1600" dirty="0">
                <a:solidFill>
                  <a:schemeClr val="tx1"/>
                </a:solidFill>
              </a:rPr>
              <a:t>v = 325.27 sin 314t</a:t>
            </a:r>
            <a:endParaRPr lang="en-US" sz="1600" dirty="0"/>
          </a:p>
          <a:p>
            <a:pPr indent="0" marL="0">
              <a:spcAft>
                <a:spcPts val="300"/>
              </a:spcAft>
              <a:buNone/>
            </a:pPr>
            <a:r>
              <a:rPr lang="en-US" sz="1600" dirty="0">
                <a:solidFill>
                  <a:schemeClr val="tx1"/>
                </a:solidFill>
              </a:rPr>
              <a:t>i = 16.26 sin 314t</a:t>
            </a:r>
            <a:endParaRPr lang="en-US" sz="1600" dirty="0"/>
          </a:p>
        </p:txBody>
      </p:sp>
      <p:sp>
        <p:nvSpPr>
          <p:cNvPr id="8" name="Card"/>
          <p:cNvSpPr/>
          <p:nvPr/>
        </p:nvSpPr>
        <p:spPr>
          <a:xfrm>
            <a:off x="3268980" y="1188720"/>
            <a:ext cx="2606040" cy="3337560"/>
          </a:xfrm>
          <a:prstGeom prst="roundRect">
            <a:avLst>
              <a:gd name="adj" fmla="val 2807"/>
            </a:avLst>
          </a:prstGeom>
          <a:solidFill>
            <a:schemeClr val="bg2"/>
          </a:solidFill>
          <a:ln/>
        </p:spPr>
      </p:sp>
      <p:sp>
        <p:nvSpPr>
          <p:cNvPr id="9" name="Text 7"/>
          <p:cNvSpPr txBox="1"/>
          <p:nvPr/>
        </p:nvSpPr>
        <p:spPr>
          <a:xfrm>
            <a:off x="3406140" y="1280160"/>
            <a:ext cx="2331720" cy="365760"/>
          </a:xfrm>
          <a:prstGeom prst="rect">
            <a:avLst/>
          </a:prstGeom>
          <a:noFill/>
          <a:ln/>
        </p:spPr>
        <p:txBody>
          <a:bodyPr wrap="square" lIns="0" tIns="0" rIns="0" bIns="0" rtlCol="0" anchor="ctr"/>
          <a:lstStyle/>
          <a:p>
            <a:pPr indent="0" marL="0">
              <a:buNone/>
            </a:pPr>
            <a:r>
              <a:rPr lang="en-US" sz="1700" b="1" dirty="0">
                <a:solidFill>
                  <a:schemeClr val="tx2"/>
                </a:solidFill>
              </a:rPr>
              <a:t>Inductor</a:t>
            </a:r>
            <a:endParaRPr lang="en-US" sz="1700" dirty="0"/>
          </a:p>
        </p:txBody>
      </p:sp>
      <p:sp>
        <p:nvSpPr>
          <p:cNvPr id="10" name="Text 8"/>
          <p:cNvSpPr txBox="1"/>
          <p:nvPr/>
        </p:nvSpPr>
        <p:spPr>
          <a:xfrm>
            <a:off x="3406140" y="1664208"/>
            <a:ext cx="2331720" cy="2788920"/>
          </a:xfrm>
          <a:prstGeom prst="rect">
            <a:avLst/>
          </a:prstGeom>
          <a:noFill/>
          <a:ln/>
        </p:spPr>
        <p:txBody>
          <a:bodyPr wrap="square" lIns="0" tIns="0" rIns="0" bIns="0" rtlCol="0" anchor="t"/>
          <a:lstStyle/>
          <a:p>
            <a:pPr indent="0" marL="0">
              <a:spcAft>
                <a:spcPts val="300"/>
              </a:spcAft>
              <a:buNone/>
            </a:pPr>
            <a:r>
              <a:rPr lang="en-US" sz="1600" dirty="0">
                <a:solidFill>
                  <a:schemeClr val="tx1"/>
                </a:solidFill>
              </a:rPr>
              <a:t>20 A from 230 V, 50 Hz</a:t>
            </a:r>
            <a:endParaRPr lang="en-US" sz="1600" dirty="0"/>
          </a:p>
          <a:p>
            <a:pPr indent="0" marL="0">
              <a:spcAft>
                <a:spcPts val="300"/>
              </a:spcAft>
              <a:buNone/>
            </a:pPr>
            <a:r>
              <a:rPr lang="en-US" sz="1600" dirty="0">
                <a:solidFill>
                  <a:schemeClr val="tx1"/>
                </a:solidFill>
              </a:rPr>
              <a:t>XL = 230/20 = 11.5 Ω</a:t>
            </a:r>
            <a:endParaRPr lang="en-US" sz="1600" dirty="0"/>
          </a:p>
          <a:p>
            <a:pPr indent="0" marL="0">
              <a:spcAft>
                <a:spcPts val="300"/>
              </a:spcAft>
              <a:buNone/>
            </a:pPr>
            <a:r>
              <a:rPr lang="en-US" sz="1600" dirty="0">
                <a:solidFill>
                  <a:schemeClr val="tx1"/>
                </a:solidFill>
              </a:rPr>
              <a:t>L = 11.5/(2π·50) = 0.036 H</a:t>
            </a:r>
            <a:endParaRPr lang="en-US" sz="1600" dirty="0"/>
          </a:p>
          <a:p>
            <a:pPr indent="0" marL="0">
              <a:spcAft>
                <a:spcPts val="300"/>
              </a:spcAft>
              <a:buNone/>
            </a:pPr>
            <a:r>
              <a:rPr lang="en-US" sz="1600" dirty="0">
                <a:solidFill>
                  <a:schemeClr val="tx1"/>
                </a:solidFill>
              </a:rPr>
              <a:t>P = 0</a:t>
            </a:r>
            <a:endParaRPr lang="en-US" sz="1600" dirty="0"/>
          </a:p>
          <a:p>
            <a:pPr indent="0" marL="0">
              <a:spcAft>
                <a:spcPts val="300"/>
              </a:spcAft>
              <a:buNone/>
            </a:pPr>
            <a:r>
              <a:rPr lang="en-US" sz="1600" dirty="0">
                <a:solidFill>
                  <a:schemeClr val="tx1"/>
                </a:solidFill>
              </a:rPr>
              <a:t>i = 28.28 sin(314t − π/2)</a:t>
            </a:r>
            <a:endParaRPr lang="en-US" sz="1600" dirty="0"/>
          </a:p>
        </p:txBody>
      </p:sp>
      <p:sp>
        <p:nvSpPr>
          <p:cNvPr id="11" name="Card"/>
          <p:cNvSpPr/>
          <p:nvPr/>
        </p:nvSpPr>
        <p:spPr>
          <a:xfrm>
            <a:off x="6080760" y="1188720"/>
            <a:ext cx="2606040" cy="3337560"/>
          </a:xfrm>
          <a:prstGeom prst="roundRect">
            <a:avLst>
              <a:gd name="adj" fmla="val 2807"/>
            </a:avLst>
          </a:prstGeom>
          <a:solidFill>
            <a:schemeClr val="bg2"/>
          </a:solidFill>
          <a:ln/>
        </p:spPr>
      </p:sp>
      <p:sp>
        <p:nvSpPr>
          <p:cNvPr id="12" name="Text 10"/>
          <p:cNvSpPr txBox="1"/>
          <p:nvPr/>
        </p:nvSpPr>
        <p:spPr>
          <a:xfrm>
            <a:off x="6217920" y="1280160"/>
            <a:ext cx="2331720" cy="365760"/>
          </a:xfrm>
          <a:prstGeom prst="rect">
            <a:avLst/>
          </a:prstGeom>
          <a:noFill/>
          <a:ln/>
        </p:spPr>
        <p:txBody>
          <a:bodyPr wrap="square" lIns="0" tIns="0" rIns="0" bIns="0" rtlCol="0" anchor="ctr"/>
          <a:lstStyle/>
          <a:p>
            <a:pPr indent="0" marL="0">
              <a:buNone/>
            </a:pPr>
            <a:r>
              <a:rPr lang="en-US" sz="1700" b="1" dirty="0">
                <a:solidFill>
                  <a:schemeClr val="tx2"/>
                </a:solidFill>
              </a:rPr>
              <a:t>Capacitor</a:t>
            </a:r>
            <a:endParaRPr lang="en-US" sz="1700" dirty="0"/>
          </a:p>
        </p:txBody>
      </p:sp>
      <p:sp>
        <p:nvSpPr>
          <p:cNvPr id="13" name="Text 11"/>
          <p:cNvSpPr txBox="1"/>
          <p:nvPr/>
        </p:nvSpPr>
        <p:spPr>
          <a:xfrm>
            <a:off x="6217920" y="1664208"/>
            <a:ext cx="2331720" cy="2788920"/>
          </a:xfrm>
          <a:prstGeom prst="rect">
            <a:avLst/>
          </a:prstGeom>
          <a:noFill/>
          <a:ln/>
        </p:spPr>
        <p:txBody>
          <a:bodyPr wrap="square" lIns="0" tIns="0" rIns="0" bIns="0" rtlCol="0" anchor="t"/>
          <a:lstStyle/>
          <a:p>
            <a:pPr indent="0" marL="0">
              <a:spcAft>
                <a:spcPts val="300"/>
              </a:spcAft>
              <a:buNone/>
            </a:pPr>
            <a:r>
              <a:rPr lang="en-US" sz="1600" dirty="0">
                <a:solidFill>
                  <a:schemeClr val="tx1"/>
                </a:solidFill>
              </a:rPr>
              <a:t>400 µF on 230 V, 50 Hz</a:t>
            </a:r>
            <a:endParaRPr lang="en-US" sz="1600" dirty="0"/>
          </a:p>
          <a:p>
            <a:pPr indent="0" marL="0">
              <a:spcAft>
                <a:spcPts val="300"/>
              </a:spcAft>
              <a:buNone/>
            </a:pPr>
            <a:r>
              <a:rPr lang="en-US" sz="1600" dirty="0">
                <a:solidFill>
                  <a:schemeClr val="tx1"/>
                </a:solidFill>
              </a:rPr>
              <a:t>XC = 1/(2π·50·400µ) = 7.95 Ω</a:t>
            </a:r>
            <a:endParaRPr lang="en-US" sz="1600" dirty="0"/>
          </a:p>
          <a:p>
            <a:pPr indent="0" marL="0">
              <a:spcAft>
                <a:spcPts val="300"/>
              </a:spcAft>
              <a:buNone/>
            </a:pPr>
            <a:r>
              <a:rPr lang="en-US" sz="1600" dirty="0">
                <a:solidFill>
                  <a:schemeClr val="tx1"/>
                </a:solidFill>
              </a:rPr>
              <a:t>I = 230/7.95 = 28.93 A</a:t>
            </a:r>
            <a:endParaRPr lang="en-US" sz="1600" dirty="0"/>
          </a:p>
          <a:p>
            <a:pPr indent="0" marL="0">
              <a:spcAft>
                <a:spcPts val="300"/>
              </a:spcAft>
              <a:buNone/>
            </a:pPr>
            <a:r>
              <a:rPr lang="en-US" sz="1600" dirty="0">
                <a:solidFill>
                  <a:schemeClr val="tx1"/>
                </a:solidFill>
              </a:rPr>
              <a:t>Im = 40.91 A</a:t>
            </a:r>
            <a:endParaRPr lang="en-US" sz="1600" dirty="0"/>
          </a:p>
          <a:p>
            <a:pPr indent="0" marL="0">
              <a:spcAft>
                <a:spcPts val="300"/>
              </a:spcAft>
              <a:buNone/>
            </a:pPr>
            <a:r>
              <a:rPr lang="en-US" sz="1600" dirty="0">
                <a:solidFill>
                  <a:schemeClr val="tx1"/>
                </a:solidFill>
              </a:rPr>
              <a:t>i = 40.91 sin(314t + π/2)</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Icon circle"/>
          <p:cNvSpPr/>
          <p:nvPr/>
        </p:nvSpPr>
        <p:spPr>
          <a:xfrm>
            <a:off x="640080" y="1097280"/>
            <a:ext cx="1371600" cy="1371600"/>
          </a:xfrm>
          <a:prstGeom prst="ellipse">
            <a:avLst/>
          </a:prstGeom>
          <a:solidFill>
            <a:schemeClr val="accent1"/>
          </a:solidFill>
          <a:ln/>
        </p:spPr>
      </p:sp>
      <p:pic>
        <p:nvPicPr>
          <p:cNvPr id="3" name="Image 0" descr="unit icon">    </p:cNvPr>
          <p:cNvPicPr>
            <a:picLocks noChangeAspect="1"/>
          </p:cNvPicPr>
          <p:nvPr/>
        </p:nvPicPr>
        <p:blipFill>
          <a:blip r:embed="rId1"/>
          <a:stretch>
            <a:fillRect/>
          </a:stretch>
        </p:blipFill>
        <p:spPr>
          <a:xfrm>
            <a:off x="1005840" y="1463040"/>
            <a:ext cx="640080" cy="640080"/>
          </a:xfrm>
          <a:prstGeom prst="rect">
            <a:avLst/>
          </a:prstGeom>
        </p:spPr>
      </p:pic>
      <p:sp>
        <p:nvSpPr>
          <p:cNvPr id="4" name="Text 1"/>
          <p:cNvSpPr txBox="1"/>
          <p:nvPr/>
        </p:nvSpPr>
        <p:spPr>
          <a:xfrm>
            <a:off x="2377440" y="960120"/>
            <a:ext cx="5943600" cy="457200"/>
          </a:xfrm>
          <a:prstGeom prst="rect">
            <a:avLst/>
          </a:prstGeom>
          <a:noFill/>
          <a:ln/>
        </p:spPr>
        <p:txBody>
          <a:bodyPr wrap="square" lIns="0" tIns="0" rIns="0" bIns="0" rtlCol="0" anchor="ctr"/>
          <a:lstStyle/>
          <a:p>
            <a:pPr indent="0" marL="0">
              <a:buNone/>
            </a:pPr>
            <a:r>
              <a:rPr lang="en-US" sz="1800" b="1" spc="400" kern="0" dirty="0">
                <a:solidFill>
                  <a:schemeClr val="accent1"/>
                </a:solidFill>
              </a:rPr>
              <a:t>UNIT 2</a:t>
            </a:r>
            <a:endParaRPr lang="en-US" sz="1800" dirty="0"/>
          </a:p>
        </p:txBody>
      </p:sp>
      <p:sp>
        <p:nvSpPr>
          <p:cNvPr id="5" name="Text 2"/>
          <p:cNvSpPr txBox="1"/>
          <p:nvPr/>
        </p:nvSpPr>
        <p:spPr>
          <a:xfrm>
            <a:off x="2377440" y="1417320"/>
            <a:ext cx="6309360" cy="109728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Transformers and Electrical Machines</a:t>
            </a:r>
            <a:endParaRPr lang="en-US" sz="3600" dirty="0"/>
          </a:p>
        </p:txBody>
      </p:sp>
      <p:sp>
        <p:nvSpPr>
          <p:cNvPr id="6" name="Text 3"/>
          <p:cNvSpPr txBox="1"/>
          <p:nvPr/>
        </p:nvSpPr>
        <p:spPr>
          <a:xfrm>
            <a:off x="2377440" y="2743200"/>
            <a:ext cx="6217920" cy="15544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D5E0EE"/>
                </a:solidFill>
              </a:rPr>
              <a:t>Single-phase transformer: construction, EMF, losses, efficiency</a:t>
            </a:r>
            <a:endParaRPr lang="en-US" sz="1600" dirty="0"/>
          </a:p>
          <a:p>
            <a:pPr marL="342900" indent="-342900">
              <a:spcAft>
                <a:spcPts val="600"/>
              </a:spcAft>
              <a:buSzPct val="100000"/>
              <a:buChar char="•"/>
            </a:pPr>
            <a:r>
              <a:rPr lang="en-US" sz="1600" dirty="0">
                <a:solidFill>
                  <a:srgbClr val="D5E0EE"/>
                </a:solidFill>
              </a:rPr>
              <a:t>DC motor: back EMF, torque, types, speed control</a:t>
            </a:r>
            <a:endParaRPr lang="en-US" sz="1600" dirty="0"/>
          </a:p>
          <a:p>
            <a:pPr marL="342900" indent="-342900">
              <a:spcAft>
                <a:spcPts val="600"/>
              </a:spcAft>
              <a:buSzPct val="100000"/>
              <a:buChar char="•"/>
            </a:pPr>
            <a:r>
              <a:rPr lang="en-US" sz="1600" dirty="0">
                <a:solidFill>
                  <a:srgbClr val="D5E0EE"/>
                </a:solidFill>
              </a:rPr>
              <a:t>Three-phase induction motor: rotating field and slip</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Single-phase transformer</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pic>
        <p:nvPicPr>
          <p:cNvPr id="5" name="Image 0" descr="xfmr diagram">    </p:cNvPr>
          <p:cNvPicPr>
            <a:picLocks noChangeAspect="1"/>
          </p:cNvPicPr>
          <p:nvPr/>
        </p:nvPicPr>
        <p:blipFill>
          <a:blip r:embed="rId1"/>
          <a:stretch>
            <a:fillRect/>
          </a:stretch>
        </p:blipFill>
        <p:spPr>
          <a:xfrm>
            <a:off x="457200" y="1143000"/>
            <a:ext cx="4114800" cy="2203704"/>
          </a:xfrm>
          <a:prstGeom prst="rect">
            <a:avLst/>
          </a:prstGeom>
        </p:spPr>
      </p:pic>
      <p:sp>
        <p:nvSpPr>
          <p:cNvPr id="6" name="Text 3"/>
          <p:cNvSpPr txBox="1"/>
          <p:nvPr/>
        </p:nvSpPr>
        <p:spPr>
          <a:xfrm>
            <a:off x="4754880" y="1188720"/>
            <a:ext cx="3931920" cy="2560320"/>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chemeClr val="tx2"/>
                </a:solidFill>
              </a:rPr>
              <a:t>Static device </a:t>
            </a:r>
            <a:pPr indent="0" marL="0">
              <a:spcAft>
                <a:spcPts val="600"/>
              </a:spcAft>
              <a:buNone/>
            </a:pPr>
            <a:r>
              <a:rPr lang="en-US" sz="1400" dirty="0">
                <a:solidFill>
                  <a:schemeClr val="tx1"/>
                </a:solidFill>
              </a:rPr>
              <a:t>that steps voltage up or down at the same frequency, using mutual induction.</a:t>
            </a:r>
            <a:endParaRPr lang="en-US" sz="1400" dirty="0"/>
          </a:p>
          <a:p>
            <a:pPr marL="342900" indent="-342900">
              <a:spcAft>
                <a:spcPts val="600"/>
              </a:spcAft>
              <a:buSzPct val="100000"/>
              <a:buChar char="•"/>
            </a:pPr>
            <a:r>
              <a:rPr lang="en-US" sz="1400" b="1" dirty="0">
                <a:solidFill>
                  <a:schemeClr val="tx2"/>
                </a:solidFill>
              </a:rPr>
              <a:t>Core: </a:t>
            </a:r>
            <a:pPr indent="0" marL="0">
              <a:spcAft>
                <a:spcPts val="600"/>
              </a:spcAft>
              <a:buNone/>
            </a:pPr>
            <a:r>
              <a:rPr lang="en-US" sz="1400" dirty="0">
                <a:solidFill>
                  <a:schemeClr val="tx1"/>
                </a:solidFill>
              </a:rPr>
              <a:t>laminated silicon steel (0.35–0.7 mm) cuts eddy-current and hysteresis loss.</a:t>
            </a:r>
            <a:endParaRPr lang="en-US" sz="1400" dirty="0"/>
          </a:p>
          <a:p>
            <a:pPr marL="342900" indent="-342900">
              <a:spcAft>
                <a:spcPts val="600"/>
              </a:spcAft>
              <a:buSzPct val="100000"/>
              <a:buChar char="•"/>
            </a:pPr>
            <a:r>
              <a:rPr lang="en-US" sz="1400" b="1" dirty="0">
                <a:solidFill>
                  <a:schemeClr val="tx2"/>
                </a:solidFill>
              </a:rPr>
              <a:t>Types: </a:t>
            </a:r>
            <a:pPr indent="0" marL="0">
              <a:spcAft>
                <a:spcPts val="600"/>
              </a:spcAft>
              <a:buNone/>
            </a:pPr>
            <a:r>
              <a:rPr lang="en-US" sz="1400" dirty="0">
                <a:solidFill>
                  <a:schemeClr val="tx1"/>
                </a:solidFill>
              </a:rPr>
              <a:t>core type and shell type; P connected to supply, S to load.</a:t>
            </a:r>
            <a:endParaRPr lang="en-US" sz="1400" dirty="0"/>
          </a:p>
          <a:p>
            <a:pPr marL="342900" indent="-342900">
              <a:spcAft>
                <a:spcPts val="600"/>
              </a:spcAft>
              <a:buSzPct val="100000"/>
              <a:buChar char="•"/>
            </a:pPr>
            <a:r>
              <a:rPr lang="en-US" sz="1400" b="1" dirty="0">
                <a:solidFill>
                  <a:schemeClr val="tx2"/>
                </a:solidFill>
              </a:rPr>
              <a:t>Ideal ratios: </a:t>
            </a:r>
            <a:pPr indent="0" marL="0">
              <a:spcAft>
                <a:spcPts val="600"/>
              </a:spcAft>
              <a:buNone/>
            </a:pPr>
            <a:r>
              <a:rPr lang="en-US" sz="1400" dirty="0">
                <a:solidFill>
                  <a:schemeClr val="tx1"/>
                </a:solidFill>
              </a:rPr>
              <a:t>V2/V1 = N2/N1 = I1/I2.</a:t>
            </a:r>
            <a:endParaRPr lang="en-US" sz="1400" dirty="0"/>
          </a:p>
        </p:txBody>
      </p:sp>
      <p:sp>
        <p:nvSpPr>
          <p:cNvPr id="7" name="Result strip"/>
          <p:cNvSpPr/>
          <p:nvPr/>
        </p:nvSpPr>
        <p:spPr>
          <a:xfrm>
            <a:off x="457200" y="3840480"/>
            <a:ext cx="8229600" cy="731520"/>
          </a:xfrm>
          <a:prstGeom prst="roundRect">
            <a:avLst>
              <a:gd name="adj" fmla="val 10000"/>
            </a:avLst>
          </a:prstGeom>
          <a:solidFill>
            <a:schemeClr val="tx2"/>
          </a:solidFill>
          <a:ln/>
        </p:spPr>
      </p:sp>
      <p:sp>
        <p:nvSpPr>
          <p:cNvPr id="8" name="Text 5"/>
          <p:cNvSpPr txBox="1"/>
          <p:nvPr/>
        </p:nvSpPr>
        <p:spPr>
          <a:xfrm>
            <a:off x="640080" y="3840480"/>
            <a:ext cx="7863840" cy="731520"/>
          </a:xfrm>
          <a:prstGeom prst="rect">
            <a:avLst/>
          </a:prstGeom>
          <a:noFill/>
          <a:ln/>
        </p:spPr>
        <p:txBody>
          <a:bodyPr wrap="square" lIns="0" tIns="0" rIns="0" bIns="0" rtlCol="0" anchor="ctr"/>
          <a:lstStyle/>
          <a:p>
            <a:pPr indent="0" marL="0">
              <a:buNone/>
            </a:pPr>
            <a:r>
              <a:rPr lang="en-US" sz="1500" b="1" dirty="0">
                <a:solidFill>
                  <a:schemeClr val="bg1"/>
                </a:solidFill>
              </a:rPr>
              <a:t>Why use it?  Power ∝ V I but loss ∝ I².  Step the voltage up for transmission, current falls, losses fall.</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EMF equation, losses and efficiency</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5" name="Formula"/>
          <p:cNvSpPr/>
          <p:nvPr/>
        </p:nvSpPr>
        <p:spPr>
          <a:xfrm>
            <a:off x="457200" y="1188720"/>
            <a:ext cx="3977640" cy="731520"/>
          </a:xfrm>
          <a:prstGeom prst="roundRect">
            <a:avLst>
              <a:gd name="adj" fmla="val 10000"/>
            </a:avLst>
          </a:prstGeom>
          <a:solidFill>
            <a:schemeClr val="tx2"/>
          </a:solidFill>
          <a:ln/>
        </p:spPr>
      </p:sp>
      <p:sp>
        <p:nvSpPr>
          <p:cNvPr id="6" name="Text 4"/>
          <p:cNvSpPr txBox="1"/>
          <p:nvPr/>
        </p:nvSpPr>
        <p:spPr>
          <a:xfrm>
            <a:off x="457200" y="1188720"/>
            <a:ext cx="3977640" cy="731520"/>
          </a:xfrm>
          <a:prstGeom prst="rect">
            <a:avLst/>
          </a:prstGeom>
          <a:noFill/>
          <a:ln/>
        </p:spPr>
        <p:txBody>
          <a:bodyPr wrap="square" lIns="635" tIns="635" rIns="635" bIns="635"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E1 = 4.44 f φm N1</a:t>
            </a:r>
            <a:endParaRPr lang="en-US" sz="2400" dirty="0"/>
          </a:p>
        </p:txBody>
      </p:sp>
      <p:sp>
        <p:nvSpPr>
          <p:cNvPr id="7" name="Formula"/>
          <p:cNvSpPr/>
          <p:nvPr/>
        </p:nvSpPr>
        <p:spPr>
          <a:xfrm>
            <a:off x="457200" y="2057400"/>
            <a:ext cx="3977640" cy="731520"/>
          </a:xfrm>
          <a:prstGeom prst="roundRect">
            <a:avLst>
              <a:gd name="adj" fmla="val 10000"/>
            </a:avLst>
          </a:prstGeom>
          <a:solidFill>
            <a:schemeClr val="tx2"/>
          </a:solidFill>
          <a:ln/>
        </p:spPr>
      </p:sp>
      <p:sp>
        <p:nvSpPr>
          <p:cNvPr id="8" name="Text 6"/>
          <p:cNvSpPr txBox="1"/>
          <p:nvPr/>
        </p:nvSpPr>
        <p:spPr>
          <a:xfrm>
            <a:off x="457200" y="2057400"/>
            <a:ext cx="3977640" cy="731520"/>
          </a:xfrm>
          <a:prstGeom prst="rect">
            <a:avLst/>
          </a:prstGeom>
          <a:noFill/>
          <a:ln/>
        </p:spPr>
        <p:txBody>
          <a:bodyPr wrap="square" lIns="635" tIns="635" rIns="635" bIns="635"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E2 = 4.44 f φm N2</a:t>
            </a:r>
            <a:endParaRPr lang="en-US" sz="2400" dirty="0"/>
          </a:p>
        </p:txBody>
      </p:sp>
      <p:sp>
        <p:nvSpPr>
          <p:cNvPr id="9" name="Text 7"/>
          <p:cNvSpPr txBox="1"/>
          <p:nvPr/>
        </p:nvSpPr>
        <p:spPr>
          <a:xfrm>
            <a:off x="457200" y="2926080"/>
            <a:ext cx="3977640" cy="731520"/>
          </a:xfrm>
          <a:prstGeom prst="rect">
            <a:avLst/>
          </a:prstGeom>
          <a:noFill/>
          <a:ln/>
        </p:spPr>
        <p:txBody>
          <a:bodyPr wrap="square" lIns="0" tIns="0" rIns="0" bIns="0" rtlCol="0" anchor="t"/>
          <a:lstStyle/>
          <a:p>
            <a:pPr indent="0" marL="0">
              <a:buNone/>
            </a:pPr>
            <a:r>
              <a:rPr lang="en-US" sz="1400" dirty="0">
                <a:solidFill>
                  <a:schemeClr val="tx1"/>
                </a:solidFill>
              </a:rPr>
              <a:t>Average EMF per turn = 4 f φm (flux changes 2φm in 1/2f s); RMS = 1.11 × average.</a:t>
            </a:r>
            <a:endParaRPr lang="en-US" sz="1400" dirty="0"/>
          </a:p>
        </p:txBody>
      </p:sp>
      <p:sp>
        <p:nvSpPr>
          <p:cNvPr id="10" name="Card"/>
          <p:cNvSpPr/>
          <p:nvPr/>
        </p:nvSpPr>
        <p:spPr>
          <a:xfrm>
            <a:off x="4709160" y="1188720"/>
            <a:ext cx="3977640" cy="1920240"/>
          </a:xfrm>
          <a:prstGeom prst="roundRect">
            <a:avLst>
              <a:gd name="adj" fmla="val 3810"/>
            </a:avLst>
          </a:prstGeom>
          <a:solidFill>
            <a:schemeClr val="bg2"/>
          </a:solidFill>
          <a:ln/>
        </p:spPr>
      </p:sp>
      <p:sp>
        <p:nvSpPr>
          <p:cNvPr id="11" name="Text 9"/>
          <p:cNvSpPr txBox="1"/>
          <p:nvPr/>
        </p:nvSpPr>
        <p:spPr>
          <a:xfrm>
            <a:off x="4846320" y="1280160"/>
            <a:ext cx="3703320" cy="365760"/>
          </a:xfrm>
          <a:prstGeom prst="rect">
            <a:avLst/>
          </a:prstGeom>
          <a:noFill/>
          <a:ln/>
        </p:spPr>
        <p:txBody>
          <a:bodyPr wrap="square" lIns="0" tIns="0" rIns="0" bIns="0" rtlCol="0" anchor="ctr"/>
          <a:lstStyle/>
          <a:p>
            <a:pPr indent="0" marL="0">
              <a:buNone/>
            </a:pPr>
            <a:r>
              <a:rPr lang="en-US" sz="1700" b="1" dirty="0">
                <a:solidFill>
                  <a:schemeClr val="tx2"/>
                </a:solidFill>
              </a:rPr>
              <a:t>Losses</a:t>
            </a:r>
            <a:endParaRPr lang="en-US" sz="1700" dirty="0"/>
          </a:p>
        </p:txBody>
      </p:sp>
      <p:sp>
        <p:nvSpPr>
          <p:cNvPr id="12" name="Text 10"/>
          <p:cNvSpPr txBox="1"/>
          <p:nvPr/>
        </p:nvSpPr>
        <p:spPr>
          <a:xfrm>
            <a:off x="4846320" y="1664208"/>
            <a:ext cx="3703320" cy="1371600"/>
          </a:xfrm>
          <a:prstGeom prst="rect">
            <a:avLst/>
          </a:prstGeom>
          <a:noFill/>
          <a:ln/>
        </p:spPr>
        <p:txBody>
          <a:bodyPr wrap="square" lIns="0" tIns="0" rIns="0" bIns="0" rtlCol="0" anchor="t"/>
          <a:lstStyle/>
          <a:p>
            <a:pPr marL="342900" indent="-342900">
              <a:spcAft>
                <a:spcPts val="300"/>
              </a:spcAft>
              <a:buSzPct val="100000"/>
              <a:buChar char="•"/>
            </a:pPr>
            <a:r>
              <a:rPr lang="en-US" sz="1600" dirty="0">
                <a:solidFill>
                  <a:schemeClr val="tx1"/>
                </a:solidFill>
              </a:rPr>
              <a:t>Core (iron) loss Pi = hysteresis + eddy current; practically constant</a:t>
            </a:r>
            <a:endParaRPr lang="en-US" sz="1600" dirty="0"/>
          </a:p>
          <a:p>
            <a:pPr marL="342900" indent="-342900">
              <a:spcAft>
                <a:spcPts val="300"/>
              </a:spcAft>
              <a:buSzPct val="100000"/>
              <a:buChar char="•"/>
            </a:pPr>
            <a:r>
              <a:rPr lang="en-US" sz="1600" dirty="0">
                <a:solidFill>
                  <a:schemeClr val="tx1"/>
                </a:solidFill>
              </a:rPr>
              <a:t>Copper loss Pc = I1²R1 + I2²R2; varies with load</a:t>
            </a:r>
            <a:endParaRPr lang="en-US" sz="1600" dirty="0"/>
          </a:p>
        </p:txBody>
      </p:sp>
      <p:sp>
        <p:nvSpPr>
          <p:cNvPr id="13" name="Formula"/>
          <p:cNvSpPr/>
          <p:nvPr/>
        </p:nvSpPr>
        <p:spPr>
          <a:xfrm>
            <a:off x="4709160" y="3291840"/>
            <a:ext cx="3977640" cy="731520"/>
          </a:xfrm>
          <a:prstGeom prst="roundRect">
            <a:avLst>
              <a:gd name="adj" fmla="val 10000"/>
            </a:avLst>
          </a:prstGeom>
          <a:solidFill>
            <a:schemeClr val="tx2"/>
          </a:solidFill>
          <a:ln/>
        </p:spPr>
      </p:sp>
      <p:sp>
        <p:nvSpPr>
          <p:cNvPr id="14" name="Text 12"/>
          <p:cNvSpPr txBox="1"/>
          <p:nvPr/>
        </p:nvSpPr>
        <p:spPr>
          <a:xfrm>
            <a:off x="4709160" y="3291840"/>
            <a:ext cx="3977640" cy="731520"/>
          </a:xfrm>
          <a:prstGeom prst="rect">
            <a:avLst/>
          </a:prstGeom>
          <a:noFill/>
          <a:ln/>
        </p:spPr>
        <p:txBody>
          <a:bodyPr wrap="square" lIns="635" tIns="635" rIns="635" bIns="635"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η = Output / (Output + Pi + Pc)</a:t>
            </a:r>
            <a:endParaRPr lang="en-US" sz="1800" dirty="0"/>
          </a:p>
        </p:txBody>
      </p:sp>
      <p:sp>
        <p:nvSpPr>
          <p:cNvPr id="15" name="Text 13"/>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400" i="1" dirty="0">
                <a:solidFill>
                  <a:schemeClr val="accent4"/>
                </a:solidFill>
              </a:rPr>
              <a:t>Efficiency is typically 95–99 % for power transformers.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Transformer numerical</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5" name="Text 3"/>
          <p:cNvSpPr txBox="1"/>
          <p:nvPr/>
        </p:nvSpPr>
        <p:spPr>
          <a:xfrm>
            <a:off x="457200" y="1143000"/>
            <a:ext cx="8229600" cy="640080"/>
          </a:xfrm>
          <a:prstGeom prst="rect">
            <a:avLst/>
          </a:prstGeom>
          <a:noFill/>
          <a:ln/>
        </p:spPr>
        <p:txBody>
          <a:bodyPr wrap="square" lIns="0" tIns="0" rIns="0" bIns="0" rtlCol="0" anchor="t"/>
          <a:lstStyle/>
          <a:p>
            <a:pPr indent="0" marL="0">
              <a:buNone/>
            </a:pPr>
            <a:r>
              <a:rPr lang="en-US" sz="1500" dirty="0">
                <a:solidFill>
                  <a:schemeClr val="tx1"/>
                </a:solidFill>
              </a:rPr>
              <a:t>25 kVA, 50 Hz, 2000/200 V, iron loss 350 W, copper loss 400 W, φm = 0.045 Wb. Find the turns and the full-load efficiency at 0.8 pf lagging.</a:t>
            </a:r>
            <a:endParaRPr lang="en-US" sz="1500" dirty="0"/>
          </a:p>
        </p:txBody>
      </p:sp>
      <p:sp>
        <p:nvSpPr>
          <p:cNvPr id="6" name="Card"/>
          <p:cNvSpPr/>
          <p:nvPr/>
        </p:nvSpPr>
        <p:spPr>
          <a:xfrm>
            <a:off x="457200" y="1920240"/>
            <a:ext cx="2606040" cy="2651760"/>
          </a:xfrm>
          <a:prstGeom prst="roundRect">
            <a:avLst>
              <a:gd name="adj" fmla="val 2807"/>
            </a:avLst>
          </a:prstGeom>
          <a:solidFill>
            <a:schemeClr val="bg2"/>
          </a:solidFill>
          <a:ln/>
        </p:spPr>
      </p:sp>
      <p:sp>
        <p:nvSpPr>
          <p:cNvPr id="7" name="Text 5"/>
          <p:cNvSpPr txBox="1"/>
          <p:nvPr/>
        </p:nvSpPr>
        <p:spPr>
          <a:xfrm>
            <a:off x="594360" y="2011680"/>
            <a:ext cx="2331720" cy="365760"/>
          </a:xfrm>
          <a:prstGeom prst="rect">
            <a:avLst/>
          </a:prstGeom>
          <a:noFill/>
          <a:ln/>
        </p:spPr>
        <p:txBody>
          <a:bodyPr wrap="square" lIns="0" tIns="0" rIns="0" bIns="0" rtlCol="0" anchor="ctr"/>
          <a:lstStyle/>
          <a:p>
            <a:pPr indent="0" marL="0">
              <a:buNone/>
            </a:pPr>
            <a:r>
              <a:rPr lang="en-US" sz="1700" b="1" dirty="0">
                <a:solidFill>
                  <a:schemeClr val="tx2"/>
                </a:solidFill>
              </a:rPr>
              <a:t>Step 1: N2</a:t>
            </a:r>
            <a:endParaRPr lang="en-US" sz="1700" dirty="0"/>
          </a:p>
        </p:txBody>
      </p:sp>
      <p:sp>
        <p:nvSpPr>
          <p:cNvPr id="8" name="Text 6"/>
          <p:cNvSpPr txBox="1"/>
          <p:nvPr/>
        </p:nvSpPr>
        <p:spPr>
          <a:xfrm>
            <a:off x="594360" y="2395728"/>
            <a:ext cx="2331720" cy="2103120"/>
          </a:xfrm>
          <a:prstGeom prst="rect">
            <a:avLst/>
          </a:prstGeom>
          <a:noFill/>
          <a:ln/>
        </p:spPr>
        <p:txBody>
          <a:bodyPr wrap="square" lIns="0" tIns="0" rIns="0" bIns="0" rtlCol="0" anchor="t"/>
          <a:lstStyle/>
          <a:p>
            <a:pPr indent="0" marL="0">
              <a:spcAft>
                <a:spcPts val="300"/>
              </a:spcAft>
              <a:buNone/>
            </a:pPr>
            <a:r>
              <a:rPr lang="en-US" sz="1600" dirty="0">
                <a:solidFill>
                  <a:schemeClr val="tx1"/>
                </a:solidFill>
              </a:rPr>
              <a:t>N2 = E2 / (4.44 f φm)</a:t>
            </a:r>
            <a:endParaRPr lang="en-US" sz="1600" dirty="0"/>
          </a:p>
          <a:p>
            <a:pPr indent="0" marL="0">
              <a:spcAft>
                <a:spcPts val="300"/>
              </a:spcAft>
              <a:buNone/>
            </a:pPr>
            <a:r>
              <a:rPr lang="en-US" sz="1600" dirty="0">
                <a:solidFill>
                  <a:schemeClr val="tx1"/>
                </a:solidFill>
              </a:rPr>
              <a:t>= 200 / (4.44 × 50 × 0.045)</a:t>
            </a:r>
            <a:endParaRPr lang="en-US" sz="1600" dirty="0"/>
          </a:p>
          <a:p>
            <a:pPr indent="0" marL="0">
              <a:spcAft>
                <a:spcPts val="300"/>
              </a:spcAft>
              <a:buNone/>
            </a:pPr>
            <a:r>
              <a:rPr lang="en-US" sz="1600" dirty="0">
                <a:solidFill>
                  <a:schemeClr val="tx1"/>
                </a:solidFill>
              </a:rPr>
              <a:t>= 20.02 ≈ 20 turns</a:t>
            </a:r>
            <a:endParaRPr lang="en-US" sz="1600" dirty="0"/>
          </a:p>
        </p:txBody>
      </p:sp>
      <p:sp>
        <p:nvSpPr>
          <p:cNvPr id="9" name="Card"/>
          <p:cNvSpPr/>
          <p:nvPr/>
        </p:nvSpPr>
        <p:spPr>
          <a:xfrm>
            <a:off x="3268980" y="1920240"/>
            <a:ext cx="2606040" cy="2651760"/>
          </a:xfrm>
          <a:prstGeom prst="roundRect">
            <a:avLst>
              <a:gd name="adj" fmla="val 2807"/>
            </a:avLst>
          </a:prstGeom>
          <a:solidFill>
            <a:schemeClr val="bg2"/>
          </a:solidFill>
          <a:ln/>
        </p:spPr>
      </p:sp>
      <p:sp>
        <p:nvSpPr>
          <p:cNvPr id="10" name="Text 8"/>
          <p:cNvSpPr txBox="1"/>
          <p:nvPr/>
        </p:nvSpPr>
        <p:spPr>
          <a:xfrm>
            <a:off x="3406140" y="2011680"/>
            <a:ext cx="2331720" cy="365760"/>
          </a:xfrm>
          <a:prstGeom prst="rect">
            <a:avLst/>
          </a:prstGeom>
          <a:noFill/>
          <a:ln/>
        </p:spPr>
        <p:txBody>
          <a:bodyPr wrap="square" lIns="0" tIns="0" rIns="0" bIns="0" rtlCol="0" anchor="ctr"/>
          <a:lstStyle/>
          <a:p>
            <a:pPr indent="0" marL="0">
              <a:buNone/>
            </a:pPr>
            <a:r>
              <a:rPr lang="en-US" sz="1700" b="1" dirty="0">
                <a:solidFill>
                  <a:schemeClr val="tx2"/>
                </a:solidFill>
              </a:rPr>
              <a:t>Step 2: N1</a:t>
            </a:r>
            <a:endParaRPr lang="en-US" sz="1700" dirty="0"/>
          </a:p>
        </p:txBody>
      </p:sp>
      <p:sp>
        <p:nvSpPr>
          <p:cNvPr id="11" name="Text 9"/>
          <p:cNvSpPr txBox="1"/>
          <p:nvPr/>
        </p:nvSpPr>
        <p:spPr>
          <a:xfrm>
            <a:off x="3406140" y="2395728"/>
            <a:ext cx="2331720" cy="2103120"/>
          </a:xfrm>
          <a:prstGeom prst="rect">
            <a:avLst/>
          </a:prstGeom>
          <a:noFill/>
          <a:ln/>
        </p:spPr>
        <p:txBody>
          <a:bodyPr wrap="square" lIns="0" tIns="0" rIns="0" bIns="0" rtlCol="0" anchor="t"/>
          <a:lstStyle/>
          <a:p>
            <a:pPr indent="0" marL="0">
              <a:spcAft>
                <a:spcPts val="300"/>
              </a:spcAft>
              <a:buNone/>
            </a:pPr>
            <a:r>
              <a:rPr lang="en-US" sz="1600" dirty="0">
                <a:solidFill>
                  <a:schemeClr val="tx1"/>
                </a:solidFill>
              </a:rPr>
              <a:t>N1 = (E1/E2) × N2</a:t>
            </a:r>
            <a:endParaRPr lang="en-US" sz="1600" dirty="0"/>
          </a:p>
          <a:p>
            <a:pPr indent="0" marL="0">
              <a:spcAft>
                <a:spcPts val="300"/>
              </a:spcAft>
              <a:buNone/>
            </a:pPr>
            <a:r>
              <a:rPr lang="en-US" sz="1600" dirty="0">
                <a:solidFill>
                  <a:schemeClr val="tx1"/>
                </a:solidFill>
              </a:rPr>
              <a:t>= (2000/200) × 20</a:t>
            </a:r>
            <a:endParaRPr lang="en-US" sz="1600" dirty="0"/>
          </a:p>
          <a:p>
            <a:pPr indent="0" marL="0">
              <a:spcAft>
                <a:spcPts val="300"/>
              </a:spcAft>
              <a:buNone/>
            </a:pPr>
            <a:r>
              <a:rPr lang="en-US" sz="1600" dirty="0">
                <a:solidFill>
                  <a:schemeClr val="tx1"/>
                </a:solidFill>
              </a:rPr>
              <a:t>= 200 turns</a:t>
            </a:r>
            <a:endParaRPr lang="en-US" sz="1600" dirty="0"/>
          </a:p>
        </p:txBody>
      </p:sp>
      <p:sp>
        <p:nvSpPr>
          <p:cNvPr id="12" name="Card"/>
          <p:cNvSpPr/>
          <p:nvPr/>
        </p:nvSpPr>
        <p:spPr>
          <a:xfrm>
            <a:off x="6080760" y="1920240"/>
            <a:ext cx="2606040" cy="2651760"/>
          </a:xfrm>
          <a:prstGeom prst="roundRect">
            <a:avLst>
              <a:gd name="adj" fmla="val 2807"/>
            </a:avLst>
          </a:prstGeom>
          <a:solidFill>
            <a:schemeClr val="tx2"/>
          </a:solidFill>
          <a:ln/>
        </p:spPr>
      </p:sp>
      <p:sp>
        <p:nvSpPr>
          <p:cNvPr id="13" name="Text 11"/>
          <p:cNvSpPr txBox="1"/>
          <p:nvPr/>
        </p:nvSpPr>
        <p:spPr>
          <a:xfrm>
            <a:off x="6217920" y="2011680"/>
            <a:ext cx="2331720" cy="365760"/>
          </a:xfrm>
          <a:prstGeom prst="rect">
            <a:avLst/>
          </a:prstGeom>
          <a:noFill/>
          <a:ln/>
        </p:spPr>
        <p:txBody>
          <a:bodyPr wrap="square" lIns="0" tIns="0" rIns="0" bIns="0" rtlCol="0" anchor="ctr"/>
          <a:lstStyle/>
          <a:p>
            <a:pPr indent="0" marL="0">
              <a:buNone/>
            </a:pPr>
            <a:r>
              <a:rPr lang="en-US" sz="1700" b="1" dirty="0">
                <a:solidFill>
                  <a:schemeClr val="accent1"/>
                </a:solidFill>
              </a:rPr>
              <a:t>Step 3: η</a:t>
            </a:r>
            <a:endParaRPr lang="en-US" sz="1700" dirty="0"/>
          </a:p>
        </p:txBody>
      </p:sp>
      <p:sp>
        <p:nvSpPr>
          <p:cNvPr id="14" name="Text 12"/>
          <p:cNvSpPr txBox="1"/>
          <p:nvPr/>
        </p:nvSpPr>
        <p:spPr>
          <a:xfrm>
            <a:off x="6217920" y="2395728"/>
            <a:ext cx="2331720" cy="2103120"/>
          </a:xfrm>
          <a:prstGeom prst="rect">
            <a:avLst/>
          </a:prstGeom>
          <a:noFill/>
          <a:ln/>
        </p:spPr>
        <p:txBody>
          <a:bodyPr wrap="square" lIns="0" tIns="0" rIns="0" bIns="0" rtlCol="0" anchor="t"/>
          <a:lstStyle/>
          <a:p>
            <a:pPr indent="0" marL="0">
              <a:spcAft>
                <a:spcPts val="300"/>
              </a:spcAft>
              <a:buNone/>
            </a:pPr>
            <a:r>
              <a:rPr lang="en-US" sz="1600" dirty="0">
                <a:solidFill>
                  <a:schemeClr val="bg1"/>
                </a:solidFill>
              </a:rPr>
              <a:t>Output = 25 × 0.8 = 20 kW</a:t>
            </a:r>
            <a:endParaRPr lang="en-US" sz="1600" dirty="0"/>
          </a:p>
          <a:p>
            <a:pPr indent="0" marL="0">
              <a:spcAft>
                <a:spcPts val="300"/>
              </a:spcAft>
              <a:buNone/>
            </a:pPr>
            <a:r>
              <a:rPr lang="en-US" sz="1600" dirty="0">
                <a:solidFill>
                  <a:schemeClr val="bg1"/>
                </a:solidFill>
              </a:rPr>
              <a:t>Pc = 0.4 kW, Pi = 0.35 kW</a:t>
            </a:r>
            <a:endParaRPr lang="en-US" sz="1600" dirty="0"/>
          </a:p>
          <a:p>
            <a:pPr indent="0" marL="0">
              <a:spcAft>
                <a:spcPts val="300"/>
              </a:spcAft>
              <a:buNone/>
            </a:pPr>
            <a:r>
              <a:rPr lang="en-US" sz="1600" dirty="0">
                <a:solidFill>
                  <a:schemeClr val="bg1"/>
                </a:solidFill>
              </a:rPr>
              <a:t>η = 20 / 20.75</a:t>
            </a:r>
            <a:endParaRPr lang="en-US" sz="1600" dirty="0"/>
          </a:p>
          <a:p>
            <a:pPr indent="0" marL="0">
              <a:spcAft>
                <a:spcPts val="300"/>
              </a:spcAft>
              <a:buNone/>
            </a:pPr>
            <a:r>
              <a:rPr lang="en-US" sz="1600" dirty="0">
                <a:solidFill>
                  <a:schemeClr val="bg1"/>
                </a:solidFill>
              </a:rPr>
              <a:t>= 96.38 %</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DC motor: principle and back EMF</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5" name="Flow step"/>
          <p:cNvSpPr/>
          <p:nvPr/>
        </p:nvSpPr>
        <p:spPr>
          <a:xfrm>
            <a:off x="457200" y="1188720"/>
            <a:ext cx="1874520" cy="914400"/>
          </a:xfrm>
          <a:prstGeom prst="roundRect">
            <a:avLst>
              <a:gd name="adj" fmla="val 8000"/>
            </a:avLst>
          </a:prstGeom>
          <a:solidFill>
            <a:schemeClr val="bg2"/>
          </a:solidFill>
          <a:ln/>
        </p:spPr>
      </p:sp>
      <p:sp>
        <p:nvSpPr>
          <p:cNvPr id="6" name="Text 4"/>
          <p:cNvSpPr txBox="1"/>
          <p:nvPr/>
        </p:nvSpPr>
        <p:spPr>
          <a:xfrm>
            <a:off x="502920" y="1188720"/>
            <a:ext cx="1783080" cy="914400"/>
          </a:xfrm>
          <a:prstGeom prst="rect">
            <a:avLst/>
          </a:prstGeom>
          <a:noFill/>
          <a:ln/>
        </p:spPr>
        <p:txBody>
          <a:bodyPr wrap="square" lIns="0" tIns="0" rIns="0" bIns="0" rtlCol="0" anchor="ctr"/>
          <a:lstStyle/>
          <a:p>
            <a:pPr algn="ctr" indent="0" marL="0">
              <a:buNone/>
            </a:pPr>
            <a:r>
              <a:rPr lang="en-US" sz="1600" b="1" dirty="0">
                <a:solidFill>
                  <a:schemeClr val="tx1"/>
                </a:solidFill>
              </a:rPr>
              <a:t>Current</a:t>
            </a:r>
            <a:endParaRPr lang="en-US" sz="1600" dirty="0"/>
          </a:p>
          <a:p>
            <a:pPr algn="ctr" indent="0" marL="0">
              <a:buNone/>
            </a:pPr>
            <a:r>
              <a:rPr lang="en-US" sz="1200" dirty="0">
                <a:solidFill>
                  <a:schemeClr val="tx1"/>
                </a:solidFill>
              </a:rPr>
              <a:t>flows in armature conductors</a:t>
            </a:r>
            <a:endParaRPr lang="en-US" sz="1600" dirty="0"/>
          </a:p>
        </p:txBody>
      </p:sp>
      <p:sp>
        <p:nvSpPr>
          <p:cNvPr id="7" name="Flow step"/>
          <p:cNvSpPr/>
          <p:nvPr/>
        </p:nvSpPr>
        <p:spPr>
          <a:xfrm>
            <a:off x="2542032" y="1188720"/>
            <a:ext cx="1874520" cy="914400"/>
          </a:xfrm>
          <a:prstGeom prst="roundRect">
            <a:avLst>
              <a:gd name="adj" fmla="val 8000"/>
            </a:avLst>
          </a:prstGeom>
          <a:solidFill>
            <a:schemeClr val="bg2"/>
          </a:solidFill>
          <a:ln/>
        </p:spPr>
      </p:sp>
      <p:sp>
        <p:nvSpPr>
          <p:cNvPr id="8" name="Text 6"/>
          <p:cNvSpPr txBox="1"/>
          <p:nvPr/>
        </p:nvSpPr>
        <p:spPr>
          <a:xfrm>
            <a:off x="2587752" y="1188720"/>
            <a:ext cx="1783080" cy="914400"/>
          </a:xfrm>
          <a:prstGeom prst="rect">
            <a:avLst/>
          </a:prstGeom>
          <a:noFill/>
          <a:ln/>
        </p:spPr>
        <p:txBody>
          <a:bodyPr wrap="square" lIns="0" tIns="0" rIns="0" bIns="0" rtlCol="0" anchor="ctr"/>
          <a:lstStyle/>
          <a:p>
            <a:pPr algn="ctr" indent="0" marL="0">
              <a:buNone/>
            </a:pPr>
            <a:r>
              <a:rPr lang="en-US" sz="1600" b="1" dirty="0">
                <a:solidFill>
                  <a:schemeClr val="tx1"/>
                </a:solidFill>
              </a:rPr>
              <a:t>Force</a:t>
            </a:r>
            <a:endParaRPr lang="en-US" sz="1600" dirty="0"/>
          </a:p>
          <a:p>
            <a:pPr algn="ctr" indent="0" marL="0">
              <a:buNone/>
            </a:pPr>
            <a:r>
              <a:rPr lang="en-US" sz="1200" dirty="0">
                <a:solidFill>
                  <a:schemeClr val="tx1"/>
                </a:solidFill>
              </a:rPr>
              <a:t>Fleming's left-hand rule</a:t>
            </a:r>
            <a:endParaRPr lang="en-US" sz="1600" dirty="0"/>
          </a:p>
        </p:txBody>
      </p:sp>
      <p:sp>
        <p:nvSpPr>
          <p:cNvPr id="9" name="Flow step"/>
          <p:cNvSpPr/>
          <p:nvPr/>
        </p:nvSpPr>
        <p:spPr>
          <a:xfrm>
            <a:off x="4626864" y="1188720"/>
            <a:ext cx="1874520" cy="914400"/>
          </a:xfrm>
          <a:prstGeom prst="roundRect">
            <a:avLst>
              <a:gd name="adj" fmla="val 8000"/>
            </a:avLst>
          </a:prstGeom>
          <a:solidFill>
            <a:schemeClr val="bg2"/>
          </a:solidFill>
          <a:ln/>
        </p:spPr>
      </p:sp>
      <p:sp>
        <p:nvSpPr>
          <p:cNvPr id="10" name="Text 8"/>
          <p:cNvSpPr txBox="1"/>
          <p:nvPr/>
        </p:nvSpPr>
        <p:spPr>
          <a:xfrm>
            <a:off x="4672584" y="1188720"/>
            <a:ext cx="1783080" cy="914400"/>
          </a:xfrm>
          <a:prstGeom prst="rect">
            <a:avLst/>
          </a:prstGeom>
          <a:noFill/>
          <a:ln/>
        </p:spPr>
        <p:txBody>
          <a:bodyPr wrap="square" lIns="0" tIns="0" rIns="0" bIns="0" rtlCol="0" anchor="ctr"/>
          <a:lstStyle/>
          <a:p>
            <a:pPr algn="ctr" indent="0" marL="0">
              <a:buNone/>
            </a:pPr>
            <a:r>
              <a:rPr lang="en-US" sz="1600" b="1" dirty="0">
                <a:solidFill>
                  <a:schemeClr val="tx1"/>
                </a:solidFill>
              </a:rPr>
              <a:t>Torque</a:t>
            </a:r>
            <a:endParaRPr lang="en-US" sz="1600" dirty="0"/>
          </a:p>
          <a:p>
            <a:pPr algn="ctr" indent="0" marL="0">
              <a:buNone/>
            </a:pPr>
            <a:r>
              <a:rPr lang="en-US" sz="1200" dirty="0">
                <a:solidFill>
                  <a:schemeClr val="tx1"/>
                </a:solidFill>
              </a:rPr>
              <a:t>armature rotates</a:t>
            </a:r>
            <a:endParaRPr lang="en-US" sz="1600" dirty="0"/>
          </a:p>
        </p:txBody>
      </p:sp>
      <p:sp>
        <p:nvSpPr>
          <p:cNvPr id="11" name="Flow step"/>
          <p:cNvSpPr/>
          <p:nvPr/>
        </p:nvSpPr>
        <p:spPr>
          <a:xfrm>
            <a:off x="6711696" y="1188720"/>
            <a:ext cx="1874520" cy="914400"/>
          </a:xfrm>
          <a:prstGeom prst="roundRect">
            <a:avLst>
              <a:gd name="adj" fmla="val 8000"/>
            </a:avLst>
          </a:prstGeom>
          <a:solidFill>
            <a:schemeClr val="accent1"/>
          </a:solidFill>
          <a:ln/>
        </p:spPr>
      </p:sp>
      <p:sp>
        <p:nvSpPr>
          <p:cNvPr id="12" name="Text 10"/>
          <p:cNvSpPr txBox="1"/>
          <p:nvPr/>
        </p:nvSpPr>
        <p:spPr>
          <a:xfrm>
            <a:off x="6757416" y="1188720"/>
            <a:ext cx="1783080" cy="914400"/>
          </a:xfrm>
          <a:prstGeom prst="rect">
            <a:avLst/>
          </a:prstGeom>
          <a:noFill/>
          <a:ln/>
        </p:spPr>
        <p:txBody>
          <a:bodyPr wrap="square" lIns="0" tIns="0" rIns="0" bIns="0" rtlCol="0" anchor="ctr"/>
          <a:lstStyle/>
          <a:p>
            <a:pPr algn="ctr" indent="0" marL="0">
              <a:buNone/>
            </a:pPr>
            <a:r>
              <a:rPr lang="en-US" sz="1600" b="1" dirty="0">
                <a:solidFill>
                  <a:schemeClr val="tx1"/>
                </a:solidFill>
              </a:rPr>
              <a:t>Back EMF</a:t>
            </a:r>
            <a:endParaRPr lang="en-US" sz="1600" dirty="0"/>
          </a:p>
          <a:p>
            <a:pPr algn="ctr" indent="0" marL="0">
              <a:buNone/>
            </a:pPr>
            <a:r>
              <a:rPr lang="en-US" sz="1200" dirty="0">
                <a:solidFill>
                  <a:schemeClr val="tx1"/>
                </a:solidFill>
              </a:rPr>
              <a:t>Eb opposes applied V</a:t>
            </a:r>
            <a:endParaRPr lang="en-US" sz="1600" dirty="0"/>
          </a:p>
        </p:txBody>
      </p:sp>
      <p:sp>
        <p:nvSpPr>
          <p:cNvPr id="13" name="Formula"/>
          <p:cNvSpPr/>
          <p:nvPr/>
        </p:nvSpPr>
        <p:spPr>
          <a:xfrm>
            <a:off x="457200" y="2331720"/>
            <a:ext cx="3977640" cy="685800"/>
          </a:xfrm>
          <a:prstGeom prst="roundRect">
            <a:avLst>
              <a:gd name="adj" fmla="val 10667"/>
            </a:avLst>
          </a:prstGeom>
          <a:solidFill>
            <a:schemeClr val="tx2"/>
          </a:solidFill>
          <a:ln/>
        </p:spPr>
      </p:sp>
      <p:sp>
        <p:nvSpPr>
          <p:cNvPr id="14" name="Text 12"/>
          <p:cNvSpPr txBox="1"/>
          <p:nvPr/>
        </p:nvSpPr>
        <p:spPr>
          <a:xfrm>
            <a:off x="457200" y="2331720"/>
            <a:ext cx="3977640" cy="685800"/>
          </a:xfrm>
          <a:prstGeom prst="rect">
            <a:avLst/>
          </a:prstGeom>
          <a:noFill/>
          <a:ln/>
        </p:spPr>
        <p:txBody>
          <a:bodyPr wrap="square" lIns="635" tIns="635" rIns="635" bIns="635"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Eb = Z N φ P / 60 A</a:t>
            </a:r>
            <a:endParaRPr lang="en-US" sz="2200" dirty="0"/>
          </a:p>
        </p:txBody>
      </p:sp>
      <p:sp>
        <p:nvSpPr>
          <p:cNvPr id="15" name="Formula"/>
          <p:cNvSpPr/>
          <p:nvPr/>
        </p:nvSpPr>
        <p:spPr>
          <a:xfrm>
            <a:off x="4709160" y="2331720"/>
            <a:ext cx="3977640" cy="685800"/>
          </a:xfrm>
          <a:prstGeom prst="roundRect">
            <a:avLst>
              <a:gd name="adj" fmla="val 10667"/>
            </a:avLst>
          </a:prstGeom>
          <a:solidFill>
            <a:schemeClr val="tx2"/>
          </a:solidFill>
          <a:ln/>
        </p:spPr>
      </p:sp>
      <p:sp>
        <p:nvSpPr>
          <p:cNvPr id="16" name="Text 14"/>
          <p:cNvSpPr txBox="1"/>
          <p:nvPr/>
        </p:nvSpPr>
        <p:spPr>
          <a:xfrm>
            <a:off x="4709160" y="2331720"/>
            <a:ext cx="3977640" cy="685800"/>
          </a:xfrm>
          <a:prstGeom prst="rect">
            <a:avLst/>
          </a:prstGeom>
          <a:noFill/>
          <a:ln/>
        </p:spPr>
        <p:txBody>
          <a:bodyPr wrap="square" lIns="635" tIns="635" rIns="635" bIns="635"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V = Eb + Ia Ra</a:t>
            </a:r>
            <a:endParaRPr lang="en-US" sz="2200" dirty="0"/>
          </a:p>
        </p:txBody>
      </p:sp>
      <p:sp>
        <p:nvSpPr>
          <p:cNvPr id="17" name="Text 15"/>
          <p:cNvSpPr txBox="1"/>
          <p:nvPr/>
        </p:nvSpPr>
        <p:spPr>
          <a:xfrm>
            <a:off x="457200" y="3246120"/>
            <a:ext cx="8229600" cy="1371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Eb is always less than V; the difference drives armature current: Ia = (V − Eb) / Ra.</a:t>
            </a:r>
            <a:endParaRPr lang="en-US" sz="1500" dirty="0"/>
          </a:p>
          <a:p>
            <a:pPr marL="342900" indent="-342900">
              <a:spcAft>
                <a:spcPts val="600"/>
              </a:spcAft>
              <a:buSzPct val="100000"/>
              <a:buChar char="•"/>
            </a:pPr>
            <a:r>
              <a:rPr lang="en-US" sz="1500" dirty="0">
                <a:solidFill>
                  <a:schemeClr val="tx1"/>
                </a:solidFill>
              </a:rPr>
              <a:t>Multiply by Ia: V Ia = Eb Ia + Ia² Ra: input power = mechanical power developed + armature copper loss.</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Torque and types of DC motors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5" name="Formula"/>
          <p:cNvSpPr/>
          <p:nvPr/>
        </p:nvSpPr>
        <p:spPr>
          <a:xfrm>
            <a:off x="457200" y="1188720"/>
            <a:ext cx="3977640" cy="685800"/>
          </a:xfrm>
          <a:prstGeom prst="roundRect">
            <a:avLst>
              <a:gd name="adj" fmla="val 10667"/>
            </a:avLst>
          </a:prstGeom>
          <a:solidFill>
            <a:schemeClr val="tx2"/>
          </a:solidFill>
          <a:ln/>
        </p:spPr>
      </p:sp>
      <p:sp>
        <p:nvSpPr>
          <p:cNvPr id="6" name="Text 4"/>
          <p:cNvSpPr txBox="1"/>
          <p:nvPr/>
        </p:nvSpPr>
        <p:spPr>
          <a:xfrm>
            <a:off x="457200" y="1188720"/>
            <a:ext cx="3977640" cy="685800"/>
          </a:xfrm>
          <a:prstGeom prst="rect">
            <a:avLst/>
          </a:prstGeom>
          <a:noFill/>
          <a:ln/>
        </p:spPr>
        <p:txBody>
          <a:bodyPr wrap="square" lIns="635" tIns="635" rIns="635" bIns="635"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Ta = 0.159 φ Z Ia (P/A)  N·m</a:t>
            </a:r>
            <a:endParaRPr lang="en-US" sz="1800" dirty="0"/>
          </a:p>
        </p:txBody>
      </p:sp>
      <p:sp>
        <p:nvSpPr>
          <p:cNvPr id="7" name="Formula"/>
          <p:cNvSpPr/>
          <p:nvPr/>
        </p:nvSpPr>
        <p:spPr>
          <a:xfrm>
            <a:off x="4709160" y="1188720"/>
            <a:ext cx="3977640" cy="685800"/>
          </a:xfrm>
          <a:prstGeom prst="roundRect">
            <a:avLst>
              <a:gd name="adj" fmla="val 10667"/>
            </a:avLst>
          </a:prstGeom>
          <a:solidFill>
            <a:schemeClr val="tx2"/>
          </a:solidFill>
          <a:ln/>
        </p:spPr>
      </p:sp>
      <p:sp>
        <p:nvSpPr>
          <p:cNvPr id="8" name="Text 6"/>
          <p:cNvSpPr txBox="1"/>
          <p:nvPr/>
        </p:nvSpPr>
        <p:spPr>
          <a:xfrm>
            <a:off x="4709160" y="1188720"/>
            <a:ext cx="3977640" cy="685800"/>
          </a:xfrm>
          <a:prstGeom prst="rect">
            <a:avLst/>
          </a:prstGeom>
          <a:noFill/>
          <a:ln/>
        </p:spPr>
        <p:txBody>
          <a:bodyPr wrap="square" lIns="635" tIns="635" rIns="635" bIns="635"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Tsh = (Eb Ia − Pi) / (2πN/60)</a:t>
            </a:r>
            <a:endParaRPr lang="en-US" sz="1800" dirty="0"/>
          </a:p>
        </p:txBody>
      </p:sp>
      <p:sp>
        <p:nvSpPr>
          <p:cNvPr id="9" name="Text 7"/>
          <p:cNvSpPr txBox="1"/>
          <p:nvPr/>
        </p:nvSpPr>
        <p:spPr>
          <a:xfrm>
            <a:off x="457200" y="1965960"/>
            <a:ext cx="8229600" cy="365760"/>
          </a:xfrm>
          <a:prstGeom prst="rect">
            <a:avLst/>
          </a:prstGeom>
          <a:noFill/>
          <a:ln/>
        </p:spPr>
        <p:txBody>
          <a:bodyPr wrap="square" lIns="0" tIns="0" rIns="0" bIns="0" rtlCol="0" anchor="ctr"/>
          <a:lstStyle/>
          <a:p>
            <a:pPr indent="0" marL="0">
              <a:buNone/>
            </a:pPr>
            <a:r>
              <a:rPr lang="en-US" sz="1400" i="1" dirty="0">
                <a:solidFill>
                  <a:schemeClr val="accent4"/>
                </a:solidFill>
              </a:rPr>
              <a:t>Armature torque is the gross torque; shaft torque is what is left after iron and friction losses.</a:t>
            </a:r>
            <a:endParaRPr lang="en-US" sz="1400" dirty="0"/>
          </a:p>
        </p:txBody>
      </p:sp>
      <p:sp>
        <p:nvSpPr>
          <p:cNvPr id="10" name="Card"/>
          <p:cNvSpPr/>
          <p:nvPr/>
        </p:nvSpPr>
        <p:spPr>
          <a:xfrm>
            <a:off x="457200" y="2468880"/>
            <a:ext cx="2606040" cy="2103120"/>
          </a:xfrm>
          <a:prstGeom prst="roundRect">
            <a:avLst>
              <a:gd name="adj" fmla="val 3478"/>
            </a:avLst>
          </a:prstGeom>
          <a:solidFill>
            <a:schemeClr val="bg2"/>
          </a:solidFill>
          <a:ln/>
        </p:spPr>
      </p:sp>
      <p:sp>
        <p:nvSpPr>
          <p:cNvPr id="11" name="Text 9"/>
          <p:cNvSpPr txBox="1"/>
          <p:nvPr/>
        </p:nvSpPr>
        <p:spPr>
          <a:xfrm>
            <a:off x="594360" y="2560320"/>
            <a:ext cx="2331720" cy="365760"/>
          </a:xfrm>
          <a:prstGeom prst="rect">
            <a:avLst/>
          </a:prstGeom>
          <a:noFill/>
          <a:ln/>
        </p:spPr>
        <p:txBody>
          <a:bodyPr wrap="square" lIns="0" tIns="0" rIns="0" bIns="0" rtlCol="0" anchor="ctr"/>
          <a:lstStyle/>
          <a:p>
            <a:pPr indent="0" marL="0">
              <a:buNone/>
            </a:pPr>
            <a:r>
              <a:rPr lang="en-US" sz="1700" b="1" dirty="0">
                <a:solidFill>
                  <a:schemeClr val="tx2"/>
                </a:solidFill>
              </a:rPr>
              <a:t>Shunt</a:t>
            </a:r>
            <a:endParaRPr lang="en-US" sz="1700" dirty="0"/>
          </a:p>
        </p:txBody>
      </p:sp>
      <p:sp>
        <p:nvSpPr>
          <p:cNvPr id="12" name="Text 10"/>
          <p:cNvSpPr txBox="1"/>
          <p:nvPr/>
        </p:nvSpPr>
        <p:spPr>
          <a:xfrm>
            <a:off x="594360" y="2944368"/>
            <a:ext cx="2331720" cy="1554480"/>
          </a:xfrm>
          <a:prstGeom prst="rect">
            <a:avLst/>
          </a:prstGeom>
          <a:noFill/>
          <a:ln/>
        </p:spPr>
        <p:txBody>
          <a:bodyPr wrap="square" lIns="0" tIns="0" rIns="0" bIns="0" rtlCol="0" anchor="t"/>
          <a:lstStyle/>
          <a:p>
            <a:pPr indent="0" marL="0">
              <a:spcAft>
                <a:spcPts val="300"/>
              </a:spcAft>
              <a:buNone/>
            </a:pPr>
            <a:r>
              <a:rPr lang="en-US" sz="1600" dirty="0">
                <a:solidFill>
                  <a:schemeClr val="tx1"/>
                </a:solidFill>
              </a:rPr>
              <a:t>Field in parallel with armature.</a:t>
            </a:r>
            <a:endParaRPr lang="en-US" sz="1600" dirty="0"/>
          </a:p>
          <a:p>
            <a:pPr indent="0" marL="0">
              <a:spcAft>
                <a:spcPts val="300"/>
              </a:spcAft>
              <a:buNone/>
            </a:pPr>
            <a:r>
              <a:rPr lang="en-US" sz="1600" dirty="0">
                <a:solidFill>
                  <a:schemeClr val="tx1"/>
                </a:solidFill>
              </a:rPr>
              <a:t>Ia = IL − Ish</a:t>
            </a:r>
            <a:endParaRPr lang="en-US" sz="1600" dirty="0"/>
          </a:p>
          <a:p>
            <a:pPr indent="0" marL="0">
              <a:spcAft>
                <a:spcPts val="300"/>
              </a:spcAft>
              <a:buNone/>
            </a:pPr>
            <a:r>
              <a:rPr lang="en-US" sz="1600" dirty="0">
                <a:solidFill>
                  <a:schemeClr val="tx1"/>
                </a:solidFill>
              </a:rPr>
              <a:t>Eb = V − Ia Ra</a:t>
            </a:r>
            <a:endParaRPr lang="en-US" sz="1600" dirty="0"/>
          </a:p>
        </p:txBody>
      </p:sp>
      <p:sp>
        <p:nvSpPr>
          <p:cNvPr id="13" name="Card"/>
          <p:cNvSpPr/>
          <p:nvPr/>
        </p:nvSpPr>
        <p:spPr>
          <a:xfrm>
            <a:off x="3268980" y="2468880"/>
            <a:ext cx="2606040" cy="2103120"/>
          </a:xfrm>
          <a:prstGeom prst="roundRect">
            <a:avLst>
              <a:gd name="adj" fmla="val 3478"/>
            </a:avLst>
          </a:prstGeom>
          <a:solidFill>
            <a:schemeClr val="bg2"/>
          </a:solidFill>
          <a:ln/>
        </p:spPr>
      </p:sp>
      <p:sp>
        <p:nvSpPr>
          <p:cNvPr id="14" name="Text 12"/>
          <p:cNvSpPr txBox="1"/>
          <p:nvPr/>
        </p:nvSpPr>
        <p:spPr>
          <a:xfrm>
            <a:off x="3406140" y="2560320"/>
            <a:ext cx="2331720" cy="365760"/>
          </a:xfrm>
          <a:prstGeom prst="rect">
            <a:avLst/>
          </a:prstGeom>
          <a:noFill/>
          <a:ln/>
        </p:spPr>
        <p:txBody>
          <a:bodyPr wrap="square" lIns="0" tIns="0" rIns="0" bIns="0" rtlCol="0" anchor="ctr"/>
          <a:lstStyle/>
          <a:p>
            <a:pPr indent="0" marL="0">
              <a:buNone/>
            </a:pPr>
            <a:r>
              <a:rPr lang="en-US" sz="1700" b="1" dirty="0">
                <a:solidFill>
                  <a:schemeClr val="tx2"/>
                </a:solidFill>
              </a:rPr>
              <a:t>Series</a:t>
            </a:r>
            <a:endParaRPr lang="en-US" sz="1700" dirty="0"/>
          </a:p>
        </p:txBody>
      </p:sp>
      <p:sp>
        <p:nvSpPr>
          <p:cNvPr id="15" name="Text 13"/>
          <p:cNvSpPr txBox="1"/>
          <p:nvPr/>
        </p:nvSpPr>
        <p:spPr>
          <a:xfrm>
            <a:off x="3406140" y="2944368"/>
            <a:ext cx="2331720" cy="1554480"/>
          </a:xfrm>
          <a:prstGeom prst="rect">
            <a:avLst/>
          </a:prstGeom>
          <a:noFill/>
          <a:ln/>
        </p:spPr>
        <p:txBody>
          <a:bodyPr wrap="square" lIns="0" tIns="0" rIns="0" bIns="0" rtlCol="0" anchor="t"/>
          <a:lstStyle/>
          <a:p>
            <a:pPr indent="0" marL="0">
              <a:spcAft>
                <a:spcPts val="300"/>
              </a:spcAft>
              <a:buNone/>
            </a:pPr>
            <a:r>
              <a:rPr lang="en-US" sz="1600" dirty="0">
                <a:solidFill>
                  <a:schemeClr val="tx1"/>
                </a:solidFill>
              </a:rPr>
              <a:t>Field in series; same current.</a:t>
            </a:r>
            <a:endParaRPr lang="en-US" sz="1600" dirty="0"/>
          </a:p>
          <a:p>
            <a:pPr indent="0" marL="0">
              <a:spcAft>
                <a:spcPts val="300"/>
              </a:spcAft>
              <a:buNone/>
            </a:pPr>
            <a:r>
              <a:rPr lang="en-US" sz="1600" dirty="0">
                <a:solidFill>
                  <a:schemeClr val="tx1"/>
                </a:solidFill>
              </a:rPr>
              <a:t>Eb = V − Ia(Ra + Rse)</a:t>
            </a:r>
            <a:endParaRPr lang="en-US" sz="1600" dirty="0"/>
          </a:p>
        </p:txBody>
      </p:sp>
      <p:sp>
        <p:nvSpPr>
          <p:cNvPr id="16" name="Card"/>
          <p:cNvSpPr/>
          <p:nvPr/>
        </p:nvSpPr>
        <p:spPr>
          <a:xfrm>
            <a:off x="6080760" y="2468880"/>
            <a:ext cx="2606040" cy="2103120"/>
          </a:xfrm>
          <a:prstGeom prst="roundRect">
            <a:avLst>
              <a:gd name="adj" fmla="val 3478"/>
            </a:avLst>
          </a:prstGeom>
          <a:solidFill>
            <a:schemeClr val="bg2"/>
          </a:solidFill>
          <a:ln/>
        </p:spPr>
      </p:sp>
      <p:sp>
        <p:nvSpPr>
          <p:cNvPr id="17" name="Text 15"/>
          <p:cNvSpPr txBox="1"/>
          <p:nvPr/>
        </p:nvSpPr>
        <p:spPr>
          <a:xfrm>
            <a:off x="6217920" y="2560320"/>
            <a:ext cx="2331720" cy="365760"/>
          </a:xfrm>
          <a:prstGeom prst="rect">
            <a:avLst/>
          </a:prstGeom>
          <a:noFill/>
          <a:ln/>
        </p:spPr>
        <p:txBody>
          <a:bodyPr wrap="square" lIns="0" tIns="0" rIns="0" bIns="0" rtlCol="0" anchor="ctr"/>
          <a:lstStyle/>
          <a:p>
            <a:pPr indent="0" marL="0">
              <a:buNone/>
            </a:pPr>
            <a:r>
              <a:rPr lang="en-US" sz="1700" b="1" dirty="0">
                <a:solidFill>
                  <a:schemeClr val="tx2"/>
                </a:solidFill>
              </a:rPr>
              <a:t>Compound</a:t>
            </a:r>
            <a:endParaRPr lang="en-US" sz="1700" dirty="0"/>
          </a:p>
        </p:txBody>
      </p:sp>
      <p:sp>
        <p:nvSpPr>
          <p:cNvPr id="18" name="Text 16"/>
          <p:cNvSpPr txBox="1"/>
          <p:nvPr/>
        </p:nvSpPr>
        <p:spPr>
          <a:xfrm>
            <a:off x="6217920" y="2944368"/>
            <a:ext cx="2331720" cy="1554480"/>
          </a:xfrm>
          <a:prstGeom prst="rect">
            <a:avLst/>
          </a:prstGeom>
          <a:noFill/>
          <a:ln/>
        </p:spPr>
        <p:txBody>
          <a:bodyPr wrap="square" lIns="0" tIns="0" rIns="0" bIns="0" rtlCol="0" anchor="t"/>
          <a:lstStyle/>
          <a:p>
            <a:pPr indent="0" marL="0">
              <a:spcAft>
                <a:spcPts val="300"/>
              </a:spcAft>
              <a:buNone/>
            </a:pPr>
            <a:r>
              <a:rPr lang="en-US" sz="1600" dirty="0">
                <a:solidFill>
                  <a:schemeClr val="tx1"/>
                </a:solidFill>
              </a:rPr>
              <a:t>Both fields; long or short shunt.</a:t>
            </a:r>
            <a:endParaRPr lang="en-US" sz="1600" dirty="0"/>
          </a:p>
          <a:p>
            <a:pPr indent="0" marL="0">
              <a:spcAft>
                <a:spcPts val="300"/>
              </a:spcAft>
              <a:buNone/>
            </a:pPr>
            <a:r>
              <a:rPr lang="en-US" sz="1600" dirty="0">
                <a:solidFill>
                  <a:schemeClr val="tx1"/>
                </a:solidFill>
              </a:rPr>
              <a:t>Cumulative: fluxes add</a:t>
            </a:r>
            <a:endParaRPr lang="en-US" sz="1600" dirty="0"/>
          </a:p>
          <a:p>
            <a:pPr indent="0" marL="0">
              <a:spcAft>
                <a:spcPts val="300"/>
              </a:spcAft>
              <a:buNone/>
            </a:pPr>
            <a:r>
              <a:rPr lang="en-US" sz="1600" dirty="0">
                <a:solidFill>
                  <a:schemeClr val="tx1"/>
                </a:solidFill>
              </a:rPr>
              <a:t>Differential: fluxes oppose</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DC motor characteristics and uses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pic>
        <p:nvPicPr>
          <p:cNvPr id="5" name="Image 0" descr="dcchar diagram">    </p:cNvPr>
          <p:cNvPicPr>
            <a:picLocks noChangeAspect="1"/>
          </p:cNvPicPr>
          <p:nvPr/>
        </p:nvPicPr>
        <p:blipFill>
          <a:blip r:embed="rId1"/>
          <a:stretch>
            <a:fillRect/>
          </a:stretch>
        </p:blipFill>
        <p:spPr>
          <a:xfrm>
            <a:off x="457200" y="1097280"/>
            <a:ext cx="4572000" cy="1627632"/>
          </a:xfrm>
          <a:prstGeom prst="rect">
            <a:avLst/>
          </a:prstGeom>
        </p:spPr>
      </p:pic>
      <p:sp>
        <p:nvSpPr>
          <p:cNvPr id="6" name="Text 3"/>
          <p:cNvSpPr txBox="1"/>
          <p:nvPr/>
        </p:nvSpPr>
        <p:spPr>
          <a:xfrm>
            <a:off x="5212080" y="1143000"/>
            <a:ext cx="3474720" cy="1645920"/>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chemeClr val="tx2"/>
                </a:solidFill>
              </a:rPr>
              <a:t>Shunt: </a:t>
            </a:r>
            <a:pPr indent="0" marL="0">
              <a:spcAft>
                <a:spcPts val="600"/>
              </a:spcAft>
              <a:buNone/>
            </a:pPr>
            <a:r>
              <a:rPr lang="en-US" sz="1400" dirty="0">
                <a:solidFill>
                  <a:schemeClr val="tx1"/>
                </a:solidFill>
              </a:rPr>
              <a:t>nearly constant speed; T ∝ Ia.</a:t>
            </a:r>
            <a:endParaRPr lang="en-US" sz="1400" dirty="0"/>
          </a:p>
          <a:p>
            <a:pPr marL="342900" indent="-342900">
              <a:spcAft>
                <a:spcPts val="600"/>
              </a:spcAft>
              <a:buSzPct val="100000"/>
              <a:buChar char="•"/>
            </a:pPr>
            <a:r>
              <a:rPr lang="en-US" sz="1400" b="1" dirty="0">
                <a:solidFill>
                  <a:schemeClr val="tx2"/>
                </a:solidFill>
              </a:rPr>
              <a:t>Series: </a:t>
            </a:r>
            <a:pPr indent="0" marL="0">
              <a:spcAft>
                <a:spcPts val="600"/>
              </a:spcAft>
              <a:buNone/>
            </a:pPr>
            <a:r>
              <a:rPr lang="en-US" sz="1400" dirty="0">
                <a:solidFill>
                  <a:schemeClr val="tx1"/>
                </a:solidFill>
              </a:rPr>
              <a:t>T ∝ Ia², very high starting torque; speed ∝ 1/Ia, so never run it unloaded.</a:t>
            </a:r>
            <a:endParaRPr lang="en-US" sz="1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2880360"/>
          <a:ext cx="8229600" cy="914400"/>
        </p:xfrm>
        <a:graphic>
          <a:graphicData uri="http://schemas.openxmlformats.org/drawingml/2006/table">
            <a:tbl>
              <a:tblPr/>
              <a:tblGrid>
                <a:gridCol w="2103120"/>
                <a:gridCol w="2743200"/>
                <a:gridCol w="3383280"/>
              </a:tblGrid>
              <a:tr h="329184">
                <a:tc>
                  <a:txBody>
                    <a:bodyPr/>
                    <a:lstStyle/>
                    <a:p>
                      <a:pPr algn="l" indent="0" marL="0">
                        <a:buNone/>
                      </a:pPr>
                      <a:r>
                        <a:rPr lang="en-US" sz="1300" b="1" dirty="0">
                          <a:solidFill>
                            <a:schemeClr val="bg1"/>
                          </a:solidFill>
                        </a:rPr>
                        <a:t>Motor</a:t>
                      </a:r>
                      <a:endParaRPr lang="en-US" sz="13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algn="l" indent="0" marL="0">
                        <a:buNone/>
                      </a:pPr>
                      <a:r>
                        <a:rPr lang="en-US" sz="1300" b="1" dirty="0">
                          <a:solidFill>
                            <a:schemeClr val="bg1"/>
                          </a:solidFill>
                        </a:rPr>
                        <a:t>Behaviour</a:t>
                      </a:r>
                      <a:endParaRPr lang="en-US" sz="13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algn="l" indent="0" marL="0">
                        <a:buNone/>
                      </a:pPr>
                      <a:r>
                        <a:rPr lang="en-US" sz="1300" b="1" dirty="0">
                          <a:solidFill>
                            <a:schemeClr val="bg1"/>
                          </a:solidFill>
                        </a:rPr>
                        <a:t>Applications</a:t>
                      </a:r>
                      <a:endParaRPr lang="en-US" sz="13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r>
              <a:tr h="329184">
                <a:tc>
                  <a:txBody>
                    <a:bodyPr/>
                    <a:lstStyle/>
                    <a:p>
                      <a:pPr indent="0" marL="0">
                        <a:buNone/>
                      </a:pPr>
                      <a:r>
                        <a:rPr lang="en-US" sz="1300" b="1" dirty="0">
                          <a:solidFill>
                            <a:schemeClr val="tx1"/>
                          </a:solidFill>
                        </a:rPr>
                        <a:t>Shunt</a:t>
                      </a:r>
                      <a:endParaRPr lang="en-US" sz="13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Constant speed</a:t>
                      </a:r>
                      <a:endParaRPr lang="en-US" sz="13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Lathes, pumps, fans, machine tools</a:t>
                      </a:r>
                      <a:endParaRPr lang="en-US" sz="13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329184">
                <a:tc>
                  <a:txBody>
                    <a:bodyPr/>
                    <a:lstStyle/>
                    <a:p>
                      <a:pPr indent="0" marL="0">
                        <a:buNone/>
                      </a:pPr>
                      <a:r>
                        <a:rPr lang="en-US" sz="1300" b="1" dirty="0">
                          <a:solidFill>
                            <a:schemeClr val="tx1"/>
                          </a:solidFill>
                        </a:rPr>
                        <a:t>Series</a:t>
                      </a:r>
                      <a:endParaRPr lang="en-US" sz="13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High starting torque</a:t>
                      </a:r>
                      <a:endParaRPr lang="en-US" sz="13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Cranes, hoists, traction, conveyors</a:t>
                      </a:r>
                      <a:endParaRPr lang="en-US" sz="13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r h="329184">
                <a:tc>
                  <a:txBody>
                    <a:bodyPr/>
                    <a:lstStyle/>
                    <a:p>
                      <a:pPr indent="0" marL="0">
                        <a:buNone/>
                      </a:pPr>
                      <a:r>
                        <a:rPr lang="en-US" sz="1300" b="1" dirty="0">
                          <a:solidFill>
                            <a:schemeClr val="tx1"/>
                          </a:solidFill>
                        </a:rPr>
                        <a:t>Cumulative compound</a:t>
                      </a:r>
                      <a:endParaRPr lang="en-US" sz="13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High torque, fairly steady speed</a:t>
                      </a:r>
                      <a:endParaRPr lang="en-US" sz="13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Punches, elevators, rolling mills</a:t>
                      </a:r>
                      <a:endParaRPr lang="en-US" sz="13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329184">
                <a:tc>
                  <a:txBody>
                    <a:bodyPr/>
                    <a:lstStyle/>
                    <a:p>
                      <a:pPr indent="0" marL="0">
                        <a:buNone/>
                      </a:pPr>
                      <a:r>
                        <a:rPr lang="en-US" sz="1300" b="1" dirty="0">
                          <a:solidFill>
                            <a:schemeClr val="tx1"/>
                          </a:solidFill>
                        </a:rPr>
                        <a:t>Differential compound</a:t>
                      </a:r>
                      <a:endParaRPr lang="en-US" sz="13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Wide speed variation</a:t>
                      </a:r>
                      <a:endParaRPr lang="en-US" sz="13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Variable-speed drives</a:t>
                      </a:r>
                      <a:endParaRPr lang="en-US" sz="13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DC motor numerical and speed control</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5" name="Card"/>
          <p:cNvSpPr/>
          <p:nvPr/>
        </p:nvSpPr>
        <p:spPr>
          <a:xfrm>
            <a:off x="457200" y="1188720"/>
            <a:ext cx="3977640" cy="3383280"/>
          </a:xfrm>
          <a:prstGeom prst="roundRect">
            <a:avLst>
              <a:gd name="adj" fmla="val 2162"/>
            </a:avLst>
          </a:prstGeom>
          <a:solidFill>
            <a:schemeClr val="bg2"/>
          </a:solidFill>
          <a:ln/>
        </p:spPr>
      </p:sp>
      <p:sp>
        <p:nvSpPr>
          <p:cNvPr id="6" name="Text 4"/>
          <p:cNvSpPr txBox="1"/>
          <p:nvPr/>
        </p:nvSpPr>
        <p:spPr>
          <a:xfrm>
            <a:off x="594360" y="1280160"/>
            <a:ext cx="3703320" cy="365760"/>
          </a:xfrm>
          <a:prstGeom prst="rect">
            <a:avLst/>
          </a:prstGeom>
          <a:noFill/>
          <a:ln/>
        </p:spPr>
        <p:txBody>
          <a:bodyPr wrap="square" lIns="0" tIns="0" rIns="0" bIns="0" rtlCol="0" anchor="ctr"/>
          <a:lstStyle/>
          <a:p>
            <a:pPr indent="0" marL="0">
              <a:buNone/>
            </a:pPr>
            <a:r>
              <a:rPr lang="en-US" sz="1700" b="1" dirty="0">
                <a:solidFill>
                  <a:schemeClr val="tx2"/>
                </a:solidFill>
              </a:rPr>
              <a:t>220 V shunt motor, 10 kW input</a:t>
            </a:r>
            <a:endParaRPr lang="en-US" sz="1700" dirty="0"/>
          </a:p>
        </p:txBody>
      </p:sp>
      <p:sp>
        <p:nvSpPr>
          <p:cNvPr id="7" name="Text 5"/>
          <p:cNvSpPr txBox="1"/>
          <p:nvPr/>
        </p:nvSpPr>
        <p:spPr>
          <a:xfrm>
            <a:off x="594360" y="1664208"/>
            <a:ext cx="3703320" cy="2834640"/>
          </a:xfrm>
          <a:prstGeom prst="rect">
            <a:avLst/>
          </a:prstGeom>
          <a:noFill/>
          <a:ln/>
        </p:spPr>
        <p:txBody>
          <a:bodyPr wrap="square" lIns="0" tIns="0" rIns="0" bIns="0" rtlCol="0" anchor="t"/>
          <a:lstStyle/>
          <a:p>
            <a:pPr indent="0" marL="0">
              <a:spcAft>
                <a:spcPts val="300"/>
              </a:spcAft>
              <a:buNone/>
            </a:pPr>
            <a:r>
              <a:rPr lang="en-US" sz="1600" dirty="0">
                <a:solidFill>
                  <a:schemeClr val="tx1"/>
                </a:solidFill>
              </a:rPr>
              <a:t>Rsh = 230 Ω, Ra = 0.28 Ω</a:t>
            </a:r>
            <a:endParaRPr lang="en-US" sz="1600" dirty="0"/>
          </a:p>
          <a:p>
            <a:pPr indent="0" marL="0">
              <a:spcAft>
                <a:spcPts val="300"/>
              </a:spcAft>
              <a:buNone/>
            </a:pPr>
            <a:r>
              <a:rPr lang="en-US" sz="1600" dirty="0">
                <a:solidFill>
                  <a:schemeClr val="tx1"/>
                </a:solidFill>
              </a:rPr>
              <a:t>Input current I = 10 000/220 = 45.45 A</a:t>
            </a:r>
            <a:endParaRPr lang="en-US" sz="1600" dirty="0"/>
          </a:p>
          <a:p>
            <a:pPr indent="0" marL="0">
              <a:spcAft>
                <a:spcPts val="300"/>
              </a:spcAft>
              <a:buNone/>
            </a:pPr>
            <a:r>
              <a:rPr lang="en-US" sz="1600" dirty="0">
                <a:solidFill>
                  <a:schemeClr val="tx1"/>
                </a:solidFill>
              </a:rPr>
              <a:t>Field current Ish = 220/230 = 0.956 A</a:t>
            </a:r>
            <a:endParaRPr lang="en-US" sz="1600" dirty="0"/>
          </a:p>
          <a:p>
            <a:pPr indent="0" marL="0">
              <a:spcAft>
                <a:spcPts val="300"/>
              </a:spcAft>
              <a:buNone/>
            </a:pPr>
            <a:r>
              <a:rPr lang="en-US" sz="1600" dirty="0">
                <a:solidFill>
                  <a:schemeClr val="tx1"/>
                </a:solidFill>
              </a:rPr>
              <a:t>Armature current Ia = 44.49 A</a:t>
            </a:r>
            <a:endParaRPr lang="en-US" sz="1600" dirty="0"/>
          </a:p>
          <a:p>
            <a:pPr indent="0" marL="0">
              <a:spcAft>
                <a:spcPts val="300"/>
              </a:spcAft>
              <a:buNone/>
            </a:pPr>
            <a:r>
              <a:rPr lang="en-US" sz="1600" dirty="0">
                <a:solidFill>
                  <a:schemeClr val="tx1"/>
                </a:solidFill>
              </a:rPr>
              <a:t>Back EMF Eb = 220 − 44.49 × 0.28</a:t>
            </a:r>
            <a:endParaRPr lang="en-US" sz="1600" dirty="0"/>
          </a:p>
          <a:p>
            <a:pPr indent="0" marL="0">
              <a:spcAft>
                <a:spcPts val="300"/>
              </a:spcAft>
              <a:buNone/>
            </a:pPr>
            <a:r>
              <a:rPr lang="en-US" sz="1600" dirty="0">
                <a:solidFill>
                  <a:schemeClr val="tx1"/>
                </a:solidFill>
              </a:rPr>
              <a:t>= 207.54 V</a:t>
            </a:r>
            <a:endParaRPr lang="en-US" sz="1600" dirty="0"/>
          </a:p>
        </p:txBody>
      </p:sp>
      <p:sp>
        <p:nvSpPr>
          <p:cNvPr id="8" name="Formula"/>
          <p:cNvSpPr/>
          <p:nvPr/>
        </p:nvSpPr>
        <p:spPr>
          <a:xfrm>
            <a:off x="4709160" y="1188720"/>
            <a:ext cx="3977640" cy="640080"/>
          </a:xfrm>
          <a:prstGeom prst="roundRect">
            <a:avLst>
              <a:gd name="adj" fmla="val 11429"/>
            </a:avLst>
          </a:prstGeom>
          <a:solidFill>
            <a:schemeClr val="tx2"/>
          </a:solidFill>
          <a:ln/>
        </p:spPr>
      </p:sp>
      <p:sp>
        <p:nvSpPr>
          <p:cNvPr id="9" name="Text 7"/>
          <p:cNvSpPr txBox="1"/>
          <p:nvPr/>
        </p:nvSpPr>
        <p:spPr>
          <a:xfrm>
            <a:off x="4709160" y="1188720"/>
            <a:ext cx="3977640" cy="640080"/>
          </a:xfrm>
          <a:prstGeom prst="rect">
            <a:avLst/>
          </a:prstGeom>
          <a:noFill/>
          <a:ln/>
        </p:spPr>
        <p:txBody>
          <a:bodyPr wrap="square" lIns="635" tIns="635" rIns="635" bIns="635"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N = (V − Ia Ra) / (K φ)</a:t>
            </a:r>
            <a:endParaRPr lang="en-US" sz="2000" dirty="0"/>
          </a:p>
        </p:txBody>
      </p:sp>
      <p:sp>
        <p:nvSpPr>
          <p:cNvPr id="10" name="Text 8"/>
          <p:cNvSpPr txBox="1"/>
          <p:nvPr/>
        </p:nvSpPr>
        <p:spPr>
          <a:xfrm>
            <a:off x="4709160" y="2011680"/>
            <a:ext cx="3977640" cy="2560320"/>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chemeClr val="tx2"/>
                </a:solidFill>
              </a:rPr>
              <a:t>Armature resistance control: </a:t>
            </a:r>
            <a:pPr indent="0" marL="0">
              <a:spcAft>
                <a:spcPts val="600"/>
              </a:spcAft>
              <a:buNone/>
            </a:pPr>
            <a:r>
              <a:rPr lang="en-US" sz="1400" dirty="0">
                <a:solidFill>
                  <a:schemeClr val="tx1"/>
                </a:solidFill>
              </a:rPr>
              <a:t>extra series resistance lowers Ia, so speed falls (wasteful).</a:t>
            </a:r>
            <a:endParaRPr lang="en-US" sz="1400" dirty="0"/>
          </a:p>
          <a:p>
            <a:pPr marL="342900" indent="-342900">
              <a:spcAft>
                <a:spcPts val="600"/>
              </a:spcAft>
              <a:buSzPct val="100000"/>
              <a:buChar char="•"/>
            </a:pPr>
            <a:r>
              <a:rPr lang="en-US" sz="1400" b="1" dirty="0">
                <a:solidFill>
                  <a:schemeClr val="tx2"/>
                </a:solidFill>
              </a:rPr>
              <a:t>Field (flux) control: </a:t>
            </a:r>
            <a:pPr indent="0" marL="0">
              <a:spcAft>
                <a:spcPts val="600"/>
              </a:spcAft>
              <a:buNone/>
            </a:pPr>
            <a:r>
              <a:rPr lang="en-US" sz="1400" dirty="0">
                <a:solidFill>
                  <a:schemeClr val="tx1"/>
                </a:solidFill>
              </a:rPr>
              <a:t>rheostat in the shunt field; weaker flux gives higher speed and the loss is small.</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Three-phase induction motor</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5" name="Card"/>
          <p:cNvSpPr/>
          <p:nvPr/>
        </p:nvSpPr>
        <p:spPr>
          <a:xfrm>
            <a:off x="457200" y="1188720"/>
            <a:ext cx="2606040" cy="2651760"/>
          </a:xfrm>
          <a:prstGeom prst="roundRect">
            <a:avLst>
              <a:gd name="adj" fmla="val 2807"/>
            </a:avLst>
          </a:prstGeom>
          <a:solidFill>
            <a:schemeClr val="bg2"/>
          </a:solidFill>
          <a:ln/>
        </p:spPr>
      </p:sp>
      <p:sp>
        <p:nvSpPr>
          <p:cNvPr id="6" name="Text 4"/>
          <p:cNvSpPr txBox="1"/>
          <p:nvPr/>
        </p:nvSpPr>
        <p:spPr>
          <a:xfrm>
            <a:off x="594360" y="1280160"/>
            <a:ext cx="2331720" cy="365760"/>
          </a:xfrm>
          <a:prstGeom prst="rect">
            <a:avLst/>
          </a:prstGeom>
          <a:noFill/>
          <a:ln/>
        </p:spPr>
        <p:txBody>
          <a:bodyPr wrap="square" lIns="0" tIns="0" rIns="0" bIns="0" rtlCol="0" anchor="ctr"/>
          <a:lstStyle/>
          <a:p>
            <a:pPr indent="0" marL="0">
              <a:buNone/>
            </a:pPr>
            <a:r>
              <a:rPr lang="en-US" sz="1700" b="1" dirty="0">
                <a:solidFill>
                  <a:schemeClr val="tx2"/>
                </a:solidFill>
              </a:rPr>
              <a:t>Stator</a:t>
            </a:r>
            <a:endParaRPr lang="en-US" sz="1700" dirty="0"/>
          </a:p>
        </p:txBody>
      </p:sp>
      <p:sp>
        <p:nvSpPr>
          <p:cNvPr id="7" name="Text 5"/>
          <p:cNvSpPr txBox="1"/>
          <p:nvPr/>
        </p:nvSpPr>
        <p:spPr>
          <a:xfrm>
            <a:off x="594360" y="1664208"/>
            <a:ext cx="2331720" cy="2103120"/>
          </a:xfrm>
          <a:prstGeom prst="rect">
            <a:avLst/>
          </a:prstGeom>
          <a:noFill/>
          <a:ln/>
        </p:spPr>
        <p:txBody>
          <a:bodyPr wrap="square" lIns="0" tIns="0" rIns="0" bIns="0" rtlCol="0" anchor="t"/>
          <a:lstStyle/>
          <a:p>
            <a:pPr indent="0" marL="0">
              <a:spcAft>
                <a:spcPts val="300"/>
              </a:spcAft>
              <a:buNone/>
            </a:pPr>
            <a:r>
              <a:rPr lang="en-US" sz="1600" dirty="0">
                <a:solidFill>
                  <a:schemeClr val="tx1"/>
                </a:solidFill>
              </a:rPr>
              <a:t>Stationary. Slotted silicon-steel laminations carrying a balanced three-phase winding (star or delta).</a:t>
            </a:r>
            <a:endParaRPr lang="en-US" sz="1600" dirty="0"/>
          </a:p>
        </p:txBody>
      </p:sp>
      <p:sp>
        <p:nvSpPr>
          <p:cNvPr id="8" name="Card"/>
          <p:cNvSpPr/>
          <p:nvPr/>
        </p:nvSpPr>
        <p:spPr>
          <a:xfrm>
            <a:off x="3268980" y="1188720"/>
            <a:ext cx="2606040" cy="2651760"/>
          </a:xfrm>
          <a:prstGeom prst="roundRect">
            <a:avLst>
              <a:gd name="adj" fmla="val 2807"/>
            </a:avLst>
          </a:prstGeom>
          <a:solidFill>
            <a:schemeClr val="bg2"/>
          </a:solidFill>
          <a:ln/>
        </p:spPr>
      </p:sp>
      <p:sp>
        <p:nvSpPr>
          <p:cNvPr id="9" name="Text 7"/>
          <p:cNvSpPr txBox="1"/>
          <p:nvPr/>
        </p:nvSpPr>
        <p:spPr>
          <a:xfrm>
            <a:off x="3406140" y="1280160"/>
            <a:ext cx="2331720" cy="365760"/>
          </a:xfrm>
          <a:prstGeom prst="rect">
            <a:avLst/>
          </a:prstGeom>
          <a:noFill/>
          <a:ln/>
        </p:spPr>
        <p:txBody>
          <a:bodyPr wrap="square" lIns="0" tIns="0" rIns="0" bIns="0" rtlCol="0" anchor="ctr"/>
          <a:lstStyle/>
          <a:p>
            <a:pPr indent="0" marL="0">
              <a:buNone/>
            </a:pPr>
            <a:r>
              <a:rPr lang="en-US" sz="1700" b="1" dirty="0">
                <a:solidFill>
                  <a:schemeClr val="tx2"/>
                </a:solidFill>
              </a:rPr>
              <a:t>Squirrel-cage rotor</a:t>
            </a:r>
            <a:endParaRPr lang="en-US" sz="1700" dirty="0"/>
          </a:p>
        </p:txBody>
      </p:sp>
      <p:sp>
        <p:nvSpPr>
          <p:cNvPr id="10" name="Text 8"/>
          <p:cNvSpPr txBox="1"/>
          <p:nvPr/>
        </p:nvSpPr>
        <p:spPr>
          <a:xfrm>
            <a:off x="3406140" y="1664208"/>
            <a:ext cx="2331720" cy="2103120"/>
          </a:xfrm>
          <a:prstGeom prst="rect">
            <a:avLst/>
          </a:prstGeom>
          <a:noFill/>
          <a:ln/>
        </p:spPr>
        <p:txBody>
          <a:bodyPr wrap="square" lIns="0" tIns="0" rIns="0" bIns="0" rtlCol="0" anchor="t"/>
          <a:lstStyle/>
          <a:p>
            <a:pPr indent="0" marL="0">
              <a:spcAft>
                <a:spcPts val="300"/>
              </a:spcAft>
              <a:buNone/>
            </a:pPr>
            <a:r>
              <a:rPr lang="en-US" sz="1600" dirty="0">
                <a:solidFill>
                  <a:schemeClr val="tx1"/>
                </a:solidFill>
              </a:rPr>
              <a:t>Bars short-circuited by end rings. Robust, low starting torque, no external resistance.</a:t>
            </a:r>
            <a:endParaRPr lang="en-US" sz="1600" dirty="0"/>
          </a:p>
        </p:txBody>
      </p:sp>
      <p:sp>
        <p:nvSpPr>
          <p:cNvPr id="11" name="Card"/>
          <p:cNvSpPr/>
          <p:nvPr/>
        </p:nvSpPr>
        <p:spPr>
          <a:xfrm>
            <a:off x="6080760" y="1188720"/>
            <a:ext cx="2606040" cy="2651760"/>
          </a:xfrm>
          <a:prstGeom prst="roundRect">
            <a:avLst>
              <a:gd name="adj" fmla="val 2807"/>
            </a:avLst>
          </a:prstGeom>
          <a:solidFill>
            <a:schemeClr val="bg2"/>
          </a:solidFill>
          <a:ln/>
        </p:spPr>
      </p:sp>
      <p:sp>
        <p:nvSpPr>
          <p:cNvPr id="12" name="Text 10"/>
          <p:cNvSpPr txBox="1"/>
          <p:nvPr/>
        </p:nvSpPr>
        <p:spPr>
          <a:xfrm>
            <a:off x="6217920" y="1280160"/>
            <a:ext cx="2331720" cy="365760"/>
          </a:xfrm>
          <a:prstGeom prst="rect">
            <a:avLst/>
          </a:prstGeom>
          <a:noFill/>
          <a:ln/>
        </p:spPr>
        <p:txBody>
          <a:bodyPr wrap="square" lIns="0" tIns="0" rIns="0" bIns="0" rtlCol="0" anchor="ctr"/>
          <a:lstStyle/>
          <a:p>
            <a:pPr indent="0" marL="0">
              <a:buNone/>
            </a:pPr>
            <a:r>
              <a:rPr lang="en-US" sz="1700" b="1" dirty="0">
                <a:solidFill>
                  <a:schemeClr val="tx2"/>
                </a:solidFill>
              </a:rPr>
              <a:t>Slip-ring rotor</a:t>
            </a:r>
            <a:endParaRPr lang="en-US" sz="1700" dirty="0"/>
          </a:p>
        </p:txBody>
      </p:sp>
      <p:sp>
        <p:nvSpPr>
          <p:cNvPr id="13" name="Text 11"/>
          <p:cNvSpPr txBox="1"/>
          <p:nvPr/>
        </p:nvSpPr>
        <p:spPr>
          <a:xfrm>
            <a:off x="6217920" y="1664208"/>
            <a:ext cx="2331720" cy="2103120"/>
          </a:xfrm>
          <a:prstGeom prst="rect">
            <a:avLst/>
          </a:prstGeom>
          <a:noFill/>
          <a:ln/>
        </p:spPr>
        <p:txBody>
          <a:bodyPr wrap="square" lIns="0" tIns="0" rIns="0" bIns="0" rtlCol="0" anchor="t"/>
          <a:lstStyle/>
          <a:p>
            <a:pPr indent="0" marL="0">
              <a:spcAft>
                <a:spcPts val="300"/>
              </a:spcAft>
              <a:buNone/>
            </a:pPr>
            <a:r>
              <a:rPr lang="en-US" sz="1600" dirty="0">
                <a:solidFill>
                  <a:schemeClr val="tx1"/>
                </a:solidFill>
              </a:rPr>
              <a:t>Three-phase wound, brought to slip rings and brushes; external resistance can be added.</a:t>
            </a:r>
            <a:endParaRPr lang="en-US" sz="1600" dirty="0"/>
          </a:p>
        </p:txBody>
      </p:sp>
      <p:sp>
        <p:nvSpPr>
          <p:cNvPr id="14" name="Result strip"/>
          <p:cNvSpPr/>
          <p:nvPr/>
        </p:nvSpPr>
        <p:spPr>
          <a:xfrm>
            <a:off x="457200" y="4023360"/>
            <a:ext cx="8229600" cy="594360"/>
          </a:xfrm>
          <a:prstGeom prst="roundRect">
            <a:avLst>
              <a:gd name="adj" fmla="val 12308"/>
            </a:avLst>
          </a:prstGeom>
          <a:solidFill>
            <a:schemeClr val="tx2"/>
          </a:solidFill>
          <a:ln/>
        </p:spPr>
      </p:sp>
      <p:sp>
        <p:nvSpPr>
          <p:cNvPr id="15" name="Text 13"/>
          <p:cNvSpPr txBox="1"/>
          <p:nvPr/>
        </p:nvSpPr>
        <p:spPr>
          <a:xfrm>
            <a:off x="640080" y="4023360"/>
            <a:ext cx="7863840" cy="594360"/>
          </a:xfrm>
          <a:prstGeom prst="rect">
            <a:avLst/>
          </a:prstGeom>
          <a:noFill/>
          <a:ln/>
        </p:spPr>
        <p:txBody>
          <a:bodyPr wrap="square" lIns="0" tIns="0" rIns="0" bIns="0" rtlCol="0" anchor="ctr"/>
          <a:lstStyle/>
          <a:p>
            <a:pPr indent="0" marL="0">
              <a:buNone/>
            </a:pPr>
            <a:r>
              <a:rPr lang="en-US" sz="1500" b="1" dirty="0">
                <a:solidFill>
                  <a:schemeClr val="bg1"/>
                </a:solidFill>
              </a:rPr>
              <a:t>About 50 % of electric power is used by induction motors: robust, self-starting, reliable and economical.</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Rotating magnetic field and slip</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pic>
        <p:nvPicPr>
          <p:cNvPr id="5" name="Image 0" descr="rmf diagram">    </p:cNvPr>
          <p:cNvPicPr>
            <a:picLocks noChangeAspect="1"/>
          </p:cNvPicPr>
          <p:nvPr/>
        </p:nvPicPr>
        <p:blipFill>
          <a:blip r:embed="rId1"/>
          <a:stretch>
            <a:fillRect/>
          </a:stretch>
        </p:blipFill>
        <p:spPr>
          <a:xfrm>
            <a:off x="457200" y="1097280"/>
            <a:ext cx="4937760" cy="1645920"/>
          </a:xfrm>
          <a:prstGeom prst="rect">
            <a:avLst/>
          </a:prstGeom>
        </p:spPr>
      </p:pic>
      <p:sp>
        <p:nvSpPr>
          <p:cNvPr id="6" name="Text 3"/>
          <p:cNvSpPr txBox="1"/>
          <p:nvPr/>
        </p:nvSpPr>
        <p:spPr>
          <a:xfrm>
            <a:off x="457200" y="2880360"/>
            <a:ext cx="8229600" cy="1188720"/>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chemeClr val="tx2"/>
                </a:solidFill>
              </a:rPr>
              <a:t>Three fluxes </a:t>
            </a:r>
            <a:pPr indent="0" marL="0">
              <a:spcAft>
                <a:spcPts val="600"/>
              </a:spcAft>
              <a:buNone/>
            </a:pPr>
            <a:r>
              <a:rPr lang="en-US" sz="1400" dirty="0">
                <a:solidFill>
                  <a:schemeClr val="tx1"/>
                </a:solidFill>
              </a:rPr>
              <a:t>120° apart give a resultant of constant magnitude 1.5 φm that rotates at Ns = 120 f / P.</a:t>
            </a:r>
            <a:endParaRPr lang="en-US" sz="1400" dirty="0"/>
          </a:p>
          <a:p>
            <a:pPr marL="342900" indent="-342900">
              <a:spcAft>
                <a:spcPts val="600"/>
              </a:spcAft>
              <a:buSzPct val="100000"/>
              <a:buChar char="•"/>
            </a:pPr>
            <a:r>
              <a:rPr lang="en-US" sz="1400" b="1" dirty="0">
                <a:solidFill>
                  <a:schemeClr val="tx2"/>
                </a:solidFill>
              </a:rPr>
              <a:t>Rotor </a:t>
            </a:r>
            <a:pPr indent="0" marL="0">
              <a:spcAft>
                <a:spcPts val="600"/>
              </a:spcAft>
              <a:buNone/>
            </a:pPr>
            <a:r>
              <a:rPr lang="en-US" sz="1400" dirty="0">
                <a:solidFill>
                  <a:schemeClr val="tx1"/>
                </a:solidFill>
              </a:rPr>
              <a:t>conductors cut this field, current flows, torque drags the rotor along.</a:t>
            </a:r>
            <a:endParaRPr lang="en-US" sz="1400" dirty="0"/>
          </a:p>
          <a:p>
            <a:pPr marL="342900" indent="-342900">
              <a:spcAft>
                <a:spcPts val="600"/>
              </a:spcAft>
              <a:buSzPct val="100000"/>
              <a:buChar char="•"/>
            </a:pPr>
            <a:r>
              <a:rPr lang="en-US" sz="1400" b="1" dirty="0">
                <a:solidFill>
                  <a:schemeClr val="tx2"/>
                </a:solidFill>
              </a:rPr>
              <a:t>Slip: </a:t>
            </a:r>
            <a:pPr indent="0" marL="0">
              <a:spcAft>
                <a:spcPts val="600"/>
              </a:spcAft>
              <a:buNone/>
            </a:pPr>
            <a:r>
              <a:rPr lang="en-US" sz="1400" dirty="0">
                <a:solidFill>
                  <a:schemeClr val="tx1"/>
                </a:solidFill>
              </a:rPr>
              <a:t>s = (Ns − N)/Ns. The rotor cannot reach Ns, or no EMF would be induced.</a:t>
            </a:r>
            <a:endParaRPr lang="en-US" sz="1400" dirty="0"/>
          </a:p>
        </p:txBody>
      </p:sp>
      <p:sp>
        <p:nvSpPr>
          <p:cNvPr id="7" name="Card"/>
          <p:cNvSpPr/>
          <p:nvPr/>
        </p:nvSpPr>
        <p:spPr>
          <a:xfrm>
            <a:off x="5577840" y="1143000"/>
            <a:ext cx="3108960" cy="1600200"/>
          </a:xfrm>
          <a:prstGeom prst="roundRect">
            <a:avLst>
              <a:gd name="adj" fmla="val 4571"/>
            </a:avLst>
          </a:prstGeom>
          <a:solidFill>
            <a:schemeClr val="bg2"/>
          </a:solidFill>
          <a:ln/>
        </p:spPr>
      </p:sp>
      <p:sp>
        <p:nvSpPr>
          <p:cNvPr id="8" name="Text 5"/>
          <p:cNvSpPr txBox="1"/>
          <p:nvPr/>
        </p:nvSpPr>
        <p:spPr>
          <a:xfrm>
            <a:off x="5715000" y="1234440"/>
            <a:ext cx="2834640" cy="365760"/>
          </a:xfrm>
          <a:prstGeom prst="rect">
            <a:avLst/>
          </a:prstGeom>
          <a:noFill/>
          <a:ln/>
        </p:spPr>
        <p:txBody>
          <a:bodyPr wrap="square" lIns="0" tIns="0" rIns="0" bIns="0" rtlCol="0" anchor="ctr"/>
          <a:lstStyle/>
          <a:p>
            <a:pPr indent="0" marL="0">
              <a:buNone/>
            </a:pPr>
            <a:r>
              <a:rPr lang="en-US" sz="1700" b="1" dirty="0">
                <a:solidFill>
                  <a:schemeClr val="tx2"/>
                </a:solidFill>
              </a:rPr>
              <a:t>Example</a:t>
            </a:r>
            <a:endParaRPr lang="en-US" sz="1700" dirty="0"/>
          </a:p>
        </p:txBody>
      </p:sp>
      <p:sp>
        <p:nvSpPr>
          <p:cNvPr id="9" name="Text 6"/>
          <p:cNvSpPr txBox="1"/>
          <p:nvPr/>
        </p:nvSpPr>
        <p:spPr>
          <a:xfrm>
            <a:off x="5715000" y="1618488"/>
            <a:ext cx="2834640" cy="1051560"/>
          </a:xfrm>
          <a:prstGeom prst="rect">
            <a:avLst/>
          </a:prstGeom>
          <a:noFill/>
          <a:ln/>
        </p:spPr>
        <p:txBody>
          <a:bodyPr wrap="square" lIns="0" tIns="0" rIns="0" bIns="0" rtlCol="0" anchor="t"/>
          <a:lstStyle/>
          <a:p>
            <a:pPr indent="0" marL="0">
              <a:spcAft>
                <a:spcPts val="300"/>
              </a:spcAft>
              <a:buNone/>
            </a:pPr>
            <a:r>
              <a:rPr lang="en-US" sz="1600" dirty="0">
                <a:solidFill>
                  <a:schemeClr val="tx1"/>
                </a:solidFill>
              </a:rPr>
              <a:t>4 poles, 50 Hz</a:t>
            </a:r>
            <a:endParaRPr lang="en-US" sz="1600" dirty="0"/>
          </a:p>
          <a:p>
            <a:pPr indent="0" marL="0">
              <a:spcAft>
                <a:spcPts val="300"/>
              </a:spcAft>
              <a:buNone/>
            </a:pPr>
            <a:r>
              <a:rPr lang="en-US" sz="1600" dirty="0">
                <a:solidFill>
                  <a:schemeClr val="tx1"/>
                </a:solidFill>
              </a:rPr>
              <a:t>Ns = 120 × 50 / 4 = 1500 rpm</a:t>
            </a:r>
            <a:endParaRPr lang="en-US" sz="1600" dirty="0"/>
          </a:p>
          <a:p>
            <a:pPr indent="0" marL="0">
              <a:spcAft>
                <a:spcPts val="300"/>
              </a:spcAft>
              <a:buNone/>
            </a:pPr>
            <a:r>
              <a:rPr lang="en-US" sz="1600" dirty="0">
                <a:solidFill>
                  <a:schemeClr val="tx1"/>
                </a:solidFill>
              </a:rPr>
              <a:t>At N = 1440 rpm, s = 4 %</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Icon circle"/>
          <p:cNvSpPr/>
          <p:nvPr/>
        </p:nvSpPr>
        <p:spPr>
          <a:xfrm>
            <a:off x="640080" y="1097280"/>
            <a:ext cx="1371600" cy="1371600"/>
          </a:xfrm>
          <a:prstGeom prst="ellipse">
            <a:avLst/>
          </a:prstGeom>
          <a:solidFill>
            <a:schemeClr val="accent1"/>
          </a:solidFill>
          <a:ln/>
        </p:spPr>
      </p:sp>
      <p:pic>
        <p:nvPicPr>
          <p:cNvPr id="3" name="Image 0" descr="unit icon">    </p:cNvPr>
          <p:cNvPicPr>
            <a:picLocks noChangeAspect="1"/>
          </p:cNvPicPr>
          <p:nvPr/>
        </p:nvPicPr>
        <p:blipFill>
          <a:blip r:embed="rId1"/>
          <a:stretch>
            <a:fillRect/>
          </a:stretch>
        </p:blipFill>
        <p:spPr>
          <a:xfrm>
            <a:off x="1005840" y="1463040"/>
            <a:ext cx="640080" cy="640080"/>
          </a:xfrm>
          <a:prstGeom prst="rect">
            <a:avLst/>
          </a:prstGeom>
        </p:spPr>
      </p:pic>
      <p:sp>
        <p:nvSpPr>
          <p:cNvPr id="4" name="Text 1"/>
          <p:cNvSpPr txBox="1"/>
          <p:nvPr/>
        </p:nvSpPr>
        <p:spPr>
          <a:xfrm>
            <a:off x="2377440" y="960120"/>
            <a:ext cx="5943600" cy="457200"/>
          </a:xfrm>
          <a:prstGeom prst="rect">
            <a:avLst/>
          </a:prstGeom>
          <a:noFill/>
          <a:ln/>
        </p:spPr>
        <p:txBody>
          <a:bodyPr wrap="square" lIns="0" tIns="0" rIns="0" bIns="0" rtlCol="0" anchor="ctr"/>
          <a:lstStyle/>
          <a:p>
            <a:pPr indent="0" marL="0">
              <a:buNone/>
            </a:pPr>
            <a:r>
              <a:rPr lang="en-US" sz="1800" b="1" spc="400" kern="0" dirty="0">
                <a:solidFill>
                  <a:schemeClr val="accent1"/>
                </a:solidFill>
              </a:rPr>
              <a:t>UNIT 3</a:t>
            </a:r>
            <a:endParaRPr lang="en-US" sz="1800" dirty="0"/>
          </a:p>
        </p:txBody>
      </p:sp>
      <p:sp>
        <p:nvSpPr>
          <p:cNvPr id="5" name="Text 2"/>
          <p:cNvSpPr txBox="1"/>
          <p:nvPr/>
        </p:nvSpPr>
        <p:spPr>
          <a:xfrm>
            <a:off x="2377440" y="1417320"/>
            <a:ext cx="6309360" cy="109728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Diodes, Rectifiers and the Zener Regulator</a:t>
            </a:r>
            <a:endParaRPr lang="en-US" sz="3600" dirty="0"/>
          </a:p>
        </p:txBody>
      </p:sp>
      <p:sp>
        <p:nvSpPr>
          <p:cNvPr id="6" name="Text 3"/>
          <p:cNvSpPr txBox="1"/>
          <p:nvPr/>
        </p:nvSpPr>
        <p:spPr>
          <a:xfrm>
            <a:off x="2377440" y="2743200"/>
            <a:ext cx="6217920" cy="15544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D5E0EE"/>
                </a:solidFill>
              </a:rPr>
              <a:t>PN junction diode: bias and V-I characteristics</a:t>
            </a:r>
            <a:endParaRPr lang="en-US" sz="1600" dirty="0"/>
          </a:p>
          <a:p>
            <a:pPr marL="342900" indent="-342900">
              <a:spcAft>
                <a:spcPts val="600"/>
              </a:spcAft>
              <a:buSzPct val="100000"/>
              <a:buChar char="•"/>
            </a:pPr>
            <a:r>
              <a:rPr lang="en-US" sz="1600" dirty="0">
                <a:solidFill>
                  <a:srgbClr val="D5E0EE"/>
                </a:solidFill>
              </a:rPr>
              <a:t>Half-wave, full-wave and bridge rectifiers</a:t>
            </a:r>
            <a:endParaRPr lang="en-US" sz="1600" dirty="0"/>
          </a:p>
          <a:p>
            <a:pPr marL="342900" indent="-342900">
              <a:spcAft>
                <a:spcPts val="600"/>
              </a:spcAft>
              <a:buSzPct val="100000"/>
              <a:buChar char="•"/>
            </a:pPr>
            <a:r>
              <a:rPr lang="en-US" sz="1600" dirty="0">
                <a:solidFill>
                  <a:srgbClr val="D5E0EE"/>
                </a:solidFill>
              </a:rPr>
              <a:t>Zener diode as a voltage regulator</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C"/>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The PN junction diode</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sp>
        <p:nvSpPr>
          <p:cNvPr id="5" name="Text 3"/>
          <p:cNvSpPr txBox="1"/>
          <p:nvPr/>
        </p:nvSpPr>
        <p:spPr>
          <a:xfrm>
            <a:off x="457200" y="1188720"/>
            <a:ext cx="3931920" cy="2286000"/>
          </a:xfrm>
          <a:prstGeom prst="rect">
            <a:avLst/>
          </a:prstGeom>
          <a:noFill/>
          <a:ln/>
        </p:spPr>
        <p:txBody>
          <a:bodyPr wrap="square" lIns="0" tIns="0" rIns="0" bIns="0" rtlCol="0" anchor="t"/>
          <a:lstStyle/>
          <a:p>
            <a:pPr marL="342900" indent="-342900">
              <a:spcAft>
                <a:spcPts val="600"/>
              </a:spcAft>
              <a:buSzPct val="100000"/>
              <a:buChar char="•"/>
            </a:pPr>
            <a:r>
              <a:rPr lang="en-US" sz="1500" b="1" dirty="0">
                <a:solidFill>
                  <a:schemeClr val="tx2"/>
                </a:solidFill>
              </a:rPr>
              <a:t>P side: </a:t>
            </a:r>
            <a:pPr indent="0" marL="0">
              <a:spcAft>
                <a:spcPts val="600"/>
              </a:spcAft>
              <a:buNone/>
            </a:pPr>
            <a:r>
              <a:rPr lang="en-US" sz="1500" dirty="0">
                <a:solidFill>
                  <a:schemeClr val="tx1"/>
                </a:solidFill>
              </a:rPr>
              <a:t>holes are majority carriers. N side: electrons.</a:t>
            </a:r>
            <a:endParaRPr lang="en-US" sz="1500" dirty="0"/>
          </a:p>
          <a:p>
            <a:pPr marL="342900" indent="-342900">
              <a:spcAft>
                <a:spcPts val="600"/>
              </a:spcAft>
              <a:buSzPct val="100000"/>
              <a:buChar char="•"/>
            </a:pPr>
            <a:r>
              <a:rPr lang="en-US" sz="1500" b="1" dirty="0">
                <a:solidFill>
                  <a:schemeClr val="tx2"/>
                </a:solidFill>
              </a:rPr>
              <a:t>Depletion region: </a:t>
            </a:r>
            <a:pPr indent="0" marL="0">
              <a:spcAft>
                <a:spcPts val="600"/>
              </a:spcAft>
              <a:buNone/>
            </a:pPr>
            <a:r>
              <a:rPr lang="en-US" sz="1500" dirty="0">
                <a:solidFill>
                  <a:schemeClr val="tx1"/>
                </a:solidFill>
              </a:rPr>
              <a:t>at the junction, recombination leaves no free carriers and a barrier potential.</a:t>
            </a:r>
            <a:endParaRPr lang="en-US" sz="1500" dirty="0"/>
          </a:p>
          <a:p>
            <a:pPr marL="342900" indent="-342900">
              <a:spcAft>
                <a:spcPts val="600"/>
              </a:spcAft>
              <a:buSzPct val="100000"/>
              <a:buChar char="•"/>
            </a:pPr>
            <a:r>
              <a:rPr lang="en-US" sz="1500" b="1" dirty="0">
                <a:solidFill>
                  <a:schemeClr val="tx2"/>
                </a:solidFill>
              </a:rPr>
              <a:t>Function: </a:t>
            </a:r>
            <a:pPr indent="0" marL="0">
              <a:spcAft>
                <a:spcPts val="600"/>
              </a:spcAft>
              <a:buNone/>
            </a:pPr>
            <a:r>
              <a:rPr lang="en-US" sz="1500" dirty="0">
                <a:solidFill>
                  <a:schemeClr val="tx1"/>
                </a:solidFill>
              </a:rPr>
              <a:t>conducts in one direction only, so it converts A C into D C.</a:t>
            </a:r>
            <a:endParaRPr lang="en-US" sz="1500" dirty="0"/>
          </a:p>
        </p:txBody>
      </p:sp>
      <p:sp>
        <p:nvSpPr>
          <p:cNvPr id="6" name="Card"/>
          <p:cNvSpPr/>
          <p:nvPr/>
        </p:nvSpPr>
        <p:spPr>
          <a:xfrm>
            <a:off x="4663440" y="1188720"/>
            <a:ext cx="4023360" cy="1417320"/>
          </a:xfrm>
          <a:prstGeom prst="roundRect">
            <a:avLst>
              <a:gd name="adj" fmla="val 5161"/>
            </a:avLst>
          </a:prstGeom>
          <a:solidFill>
            <a:schemeClr val="bg2"/>
          </a:solidFill>
          <a:ln/>
        </p:spPr>
      </p:sp>
      <p:sp>
        <p:nvSpPr>
          <p:cNvPr id="7" name="Text 5"/>
          <p:cNvSpPr txBox="1"/>
          <p:nvPr/>
        </p:nvSpPr>
        <p:spPr>
          <a:xfrm>
            <a:off x="4800600" y="1280160"/>
            <a:ext cx="3749040" cy="365760"/>
          </a:xfrm>
          <a:prstGeom prst="rect">
            <a:avLst/>
          </a:prstGeom>
          <a:noFill/>
          <a:ln/>
        </p:spPr>
        <p:txBody>
          <a:bodyPr wrap="square" lIns="0" tIns="0" rIns="0" bIns="0" rtlCol="0" anchor="ctr"/>
          <a:lstStyle/>
          <a:p>
            <a:pPr indent="0" marL="0">
              <a:buNone/>
            </a:pPr>
            <a:r>
              <a:rPr lang="en-US" sz="1700" b="1" dirty="0">
                <a:solidFill>
                  <a:schemeClr val="tx2"/>
                </a:solidFill>
              </a:rPr>
              <a:t>Forward bias (P to +)</a:t>
            </a:r>
            <a:endParaRPr lang="en-US" sz="1700" dirty="0"/>
          </a:p>
        </p:txBody>
      </p:sp>
      <p:sp>
        <p:nvSpPr>
          <p:cNvPr id="8" name="Text 6"/>
          <p:cNvSpPr txBox="1"/>
          <p:nvPr/>
        </p:nvSpPr>
        <p:spPr>
          <a:xfrm>
            <a:off x="4800600" y="1664208"/>
            <a:ext cx="3749040" cy="868680"/>
          </a:xfrm>
          <a:prstGeom prst="rect">
            <a:avLst/>
          </a:prstGeom>
          <a:noFill/>
          <a:ln/>
        </p:spPr>
        <p:txBody>
          <a:bodyPr wrap="square" lIns="0" tIns="0" rIns="0" bIns="0" rtlCol="0" anchor="t"/>
          <a:lstStyle/>
          <a:p>
            <a:pPr indent="0" marL="0">
              <a:spcAft>
                <a:spcPts val="300"/>
              </a:spcAft>
              <a:buNone/>
            </a:pPr>
            <a:r>
              <a:rPr lang="en-US" sz="1600" dirty="0">
                <a:solidFill>
                  <a:schemeClr val="tx1"/>
                </a:solidFill>
              </a:rPr>
              <a:t>Barrier shrinks; carriers cross; current flows once V ≈ 0.7 V (Si).</a:t>
            </a:r>
            <a:endParaRPr lang="en-US" sz="1600" dirty="0"/>
          </a:p>
        </p:txBody>
      </p:sp>
      <p:sp>
        <p:nvSpPr>
          <p:cNvPr id="9" name="Card"/>
          <p:cNvSpPr/>
          <p:nvPr/>
        </p:nvSpPr>
        <p:spPr>
          <a:xfrm>
            <a:off x="4663440" y="2743200"/>
            <a:ext cx="4023360" cy="1417320"/>
          </a:xfrm>
          <a:prstGeom prst="roundRect">
            <a:avLst>
              <a:gd name="adj" fmla="val 5161"/>
            </a:avLst>
          </a:prstGeom>
          <a:solidFill>
            <a:schemeClr val="bg2"/>
          </a:solidFill>
          <a:ln/>
        </p:spPr>
      </p:sp>
      <p:sp>
        <p:nvSpPr>
          <p:cNvPr id="10" name="Text 8"/>
          <p:cNvSpPr txBox="1"/>
          <p:nvPr/>
        </p:nvSpPr>
        <p:spPr>
          <a:xfrm>
            <a:off x="4800600" y="2834640"/>
            <a:ext cx="3749040" cy="365760"/>
          </a:xfrm>
          <a:prstGeom prst="rect">
            <a:avLst/>
          </a:prstGeom>
          <a:noFill/>
          <a:ln/>
        </p:spPr>
        <p:txBody>
          <a:bodyPr wrap="square" lIns="0" tIns="0" rIns="0" bIns="0" rtlCol="0" anchor="ctr"/>
          <a:lstStyle/>
          <a:p>
            <a:pPr indent="0" marL="0">
              <a:buNone/>
            </a:pPr>
            <a:r>
              <a:rPr lang="en-US" sz="1700" b="1" dirty="0">
                <a:solidFill>
                  <a:schemeClr val="tx2"/>
                </a:solidFill>
              </a:rPr>
              <a:t>Reverse bias (P to −)</a:t>
            </a:r>
            <a:endParaRPr lang="en-US" sz="1700" dirty="0"/>
          </a:p>
        </p:txBody>
      </p:sp>
      <p:sp>
        <p:nvSpPr>
          <p:cNvPr id="11" name="Text 9"/>
          <p:cNvSpPr txBox="1"/>
          <p:nvPr/>
        </p:nvSpPr>
        <p:spPr>
          <a:xfrm>
            <a:off x="4800600" y="3218688"/>
            <a:ext cx="3749040" cy="868680"/>
          </a:xfrm>
          <a:prstGeom prst="rect">
            <a:avLst/>
          </a:prstGeom>
          <a:noFill/>
          <a:ln/>
        </p:spPr>
        <p:txBody>
          <a:bodyPr wrap="square" lIns="0" tIns="0" rIns="0" bIns="0" rtlCol="0" anchor="t"/>
          <a:lstStyle/>
          <a:p>
            <a:pPr indent="0" marL="0">
              <a:spcAft>
                <a:spcPts val="300"/>
              </a:spcAft>
              <a:buNone/>
            </a:pPr>
            <a:r>
              <a:rPr lang="en-US" sz="1600" dirty="0">
                <a:solidFill>
                  <a:schemeClr val="tx1"/>
                </a:solidFill>
              </a:rPr>
              <a:t>Depletion region widens; only a tiny leakage current flows.</a:t>
            </a:r>
            <a:endParaRPr lang="en-US" sz="1600" dirty="0"/>
          </a:p>
        </p:txBody>
      </p:sp>
      <p:pic>
        <p:nvPicPr>
          <p:cNvPr id="12" name="Image 0" descr="check">    </p:cNvPr>
          <p:cNvPicPr>
            <a:picLocks noChangeAspect="1"/>
          </p:cNvPicPr>
          <p:nvPr/>
        </p:nvPicPr>
        <p:blipFill>
          <a:blip r:embed="rId1"/>
          <a:stretch>
            <a:fillRect/>
          </a:stretch>
        </p:blipFill>
        <p:spPr>
          <a:xfrm>
            <a:off x="8229600" y="1280160"/>
            <a:ext cx="320040" cy="320040"/>
          </a:xfrm>
          <a:prstGeom prst="rect">
            <a:avLst/>
          </a:prstGeom>
        </p:spPr>
      </p:pic>
      <p:pic>
        <p:nvPicPr>
          <p:cNvPr id="13" name="Image 1" descr="cross">    </p:cNvPr>
          <p:cNvPicPr>
            <a:picLocks noChangeAspect="1"/>
          </p:cNvPicPr>
          <p:nvPr/>
        </p:nvPicPr>
        <p:blipFill>
          <a:blip r:embed="rId2"/>
          <a:stretch>
            <a:fillRect/>
          </a:stretch>
        </p:blipFill>
        <p:spPr>
          <a:xfrm>
            <a:off x="8229600" y="2834640"/>
            <a:ext cx="320040" cy="320040"/>
          </a:xfrm>
          <a:prstGeom prst="rect">
            <a:avLst/>
          </a:prstGeom>
        </p:spPr>
      </p:pic>
      <p:sp>
        <p:nvSpPr>
          <p:cNvPr id="14" name="Text 10"/>
          <p:cNvSpPr txBox="1"/>
          <p:nvPr/>
        </p:nvSpPr>
        <p:spPr>
          <a:xfrm>
            <a:off x="457200" y="3657600"/>
            <a:ext cx="3931920" cy="822960"/>
          </a:xfrm>
          <a:prstGeom prst="rect">
            <a:avLst/>
          </a:prstGeom>
          <a:noFill/>
          <a:ln/>
        </p:spPr>
        <p:txBody>
          <a:bodyPr wrap="square" lIns="0" tIns="0" rIns="0" bIns="0" rtlCol="0" anchor="t"/>
          <a:lstStyle/>
          <a:p>
            <a:pPr indent="0" marL="0">
              <a:buNone/>
            </a:pPr>
            <a:r>
              <a:rPr lang="en-US" sz="1400" i="1" dirty="0">
                <a:solidFill>
                  <a:schemeClr val="accent4"/>
                </a:solidFill>
              </a:rPr>
              <a:t>Anode (P) → Cathode (N): like a one-way valve for current.</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V-I characteristics and equivalent circuit</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pic>
        <p:nvPicPr>
          <p:cNvPr id="5" name="Image 0" descr="vi diagram">    </p:cNvPr>
          <p:cNvPicPr>
            <a:picLocks noChangeAspect="1"/>
          </p:cNvPicPr>
          <p:nvPr/>
        </p:nvPicPr>
        <p:blipFill>
          <a:blip r:embed="rId1"/>
          <a:stretch>
            <a:fillRect/>
          </a:stretch>
        </p:blipFill>
        <p:spPr>
          <a:xfrm>
            <a:off x="457200" y="1143000"/>
            <a:ext cx="5120640" cy="1938528"/>
          </a:xfrm>
          <a:prstGeom prst="rect">
            <a:avLst/>
          </a:prstGeom>
        </p:spPr>
      </p:pic>
      <p:sp>
        <p:nvSpPr>
          <p:cNvPr id="6" name="Formula"/>
          <p:cNvSpPr/>
          <p:nvPr/>
        </p:nvSpPr>
        <p:spPr>
          <a:xfrm>
            <a:off x="5760720" y="1188720"/>
            <a:ext cx="2926080" cy="731520"/>
          </a:xfrm>
          <a:prstGeom prst="roundRect">
            <a:avLst>
              <a:gd name="adj" fmla="val 10000"/>
            </a:avLst>
          </a:prstGeom>
          <a:solidFill>
            <a:schemeClr val="tx2"/>
          </a:solidFill>
          <a:ln/>
        </p:spPr>
      </p:sp>
      <p:sp>
        <p:nvSpPr>
          <p:cNvPr id="7" name="Text 4"/>
          <p:cNvSpPr txBox="1"/>
          <p:nvPr/>
        </p:nvSpPr>
        <p:spPr>
          <a:xfrm>
            <a:off x="5760720" y="1188720"/>
            <a:ext cx="2926080" cy="731520"/>
          </a:xfrm>
          <a:prstGeom prst="rect">
            <a:avLst/>
          </a:prstGeom>
          <a:noFill/>
          <a:ln/>
        </p:spPr>
        <p:txBody>
          <a:bodyPr wrap="square" lIns="635" tIns="635" rIns="635" bIns="635"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I = Io (e^(V/VT) − 1)</a:t>
            </a:r>
            <a:endParaRPr lang="en-US" sz="1800" dirty="0"/>
          </a:p>
        </p:txBody>
      </p:sp>
      <p:sp>
        <p:nvSpPr>
          <p:cNvPr id="8" name="Text 5"/>
          <p:cNvSpPr txBox="1"/>
          <p:nvPr/>
        </p:nvSpPr>
        <p:spPr>
          <a:xfrm>
            <a:off x="5760720" y="2057400"/>
            <a:ext cx="2926080" cy="1005840"/>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chemeClr val="tx2"/>
                </a:solidFill>
              </a:rPr>
              <a:t>Io: </a:t>
            </a:r>
            <a:pPr indent="0" marL="0">
              <a:spcAft>
                <a:spcPts val="600"/>
              </a:spcAft>
              <a:buNone/>
            </a:pPr>
            <a:r>
              <a:rPr lang="en-US" sz="1400" dirty="0">
                <a:solidFill>
                  <a:schemeClr val="tx1"/>
                </a:solidFill>
              </a:rPr>
              <a:t>reverse saturation current</a:t>
            </a:r>
            <a:endParaRPr lang="en-US" sz="1400" dirty="0"/>
          </a:p>
          <a:p>
            <a:pPr marL="342900" indent="-342900">
              <a:spcAft>
                <a:spcPts val="600"/>
              </a:spcAft>
              <a:buSzPct val="100000"/>
              <a:buChar char="•"/>
            </a:pPr>
            <a:r>
              <a:rPr lang="en-US" sz="1400" b="1" dirty="0">
                <a:solidFill>
                  <a:schemeClr val="tx2"/>
                </a:solidFill>
              </a:rPr>
              <a:t>VT: </a:t>
            </a:r>
            <a:pPr indent="0" marL="0">
              <a:spcAft>
                <a:spcPts val="600"/>
              </a:spcAft>
              <a:buNone/>
            </a:pPr>
            <a:r>
              <a:rPr lang="en-US" sz="1400" dirty="0">
                <a:solidFill>
                  <a:schemeClr val="tx1"/>
                </a:solidFill>
              </a:rPr>
              <a:t>thermal voltage (≈ 26 mV at room temp.)</a:t>
            </a:r>
            <a:endParaRPr lang="en-US" sz="1400" dirty="0"/>
          </a:p>
        </p:txBody>
      </p:sp>
      <p:sp>
        <p:nvSpPr>
          <p:cNvPr id="9" name="Text 6"/>
          <p:cNvSpPr txBox="1"/>
          <p:nvPr/>
        </p:nvSpPr>
        <p:spPr>
          <a:xfrm>
            <a:off x="457200" y="3246120"/>
            <a:ext cx="8229600" cy="1371600"/>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chemeClr val="tx2"/>
                </a:solidFill>
              </a:rPr>
              <a:t>Silicon diode: </a:t>
            </a:r>
            <a:pPr indent="0" marL="0">
              <a:spcAft>
                <a:spcPts val="600"/>
              </a:spcAft>
              <a:buNone/>
            </a:pPr>
            <a:r>
              <a:rPr lang="en-US" sz="1400" dirty="0">
                <a:solidFill>
                  <a:schemeClr val="tx1"/>
                </a:solidFill>
              </a:rPr>
              <a:t>forward drop ≈ 0.7 V, high reverse breakdown, good temperature stability.</a:t>
            </a:r>
            <a:endParaRPr lang="en-US" sz="1400" dirty="0"/>
          </a:p>
          <a:p>
            <a:pPr marL="342900" indent="-342900">
              <a:spcAft>
                <a:spcPts val="600"/>
              </a:spcAft>
              <a:buSzPct val="100000"/>
              <a:buChar char="•"/>
            </a:pPr>
            <a:r>
              <a:rPr lang="en-US" sz="1400" b="1" dirty="0">
                <a:solidFill>
                  <a:schemeClr val="tx2"/>
                </a:solidFill>
              </a:rPr>
              <a:t>Equivalent circuit: </a:t>
            </a:r>
            <a:pPr indent="0" marL="0">
              <a:spcAft>
                <a:spcPts val="600"/>
              </a:spcAft>
              <a:buNone/>
            </a:pPr>
            <a:r>
              <a:rPr lang="en-US" sz="1400" dirty="0">
                <a:solidFill>
                  <a:schemeClr val="tx1"/>
                </a:solidFill>
              </a:rPr>
              <a:t>forward current IF flows through the internal resistance rf; the applied voltage must overcome the knee voltage plus IF·rf.</a:t>
            </a:r>
            <a:endParaRPr lang="en-US" sz="1400" dirty="0"/>
          </a:p>
          <a:p>
            <a:pPr marL="342900" indent="-342900">
              <a:spcAft>
                <a:spcPts val="600"/>
              </a:spcAft>
              <a:buSzPct val="100000"/>
              <a:buChar char="•"/>
            </a:pPr>
            <a:r>
              <a:rPr lang="en-US" sz="1400" b="1" dirty="0">
                <a:solidFill>
                  <a:schemeClr val="tx2"/>
                </a:solidFill>
              </a:rPr>
              <a:t>Uses: </a:t>
            </a:r>
            <a:pPr indent="0" marL="0">
              <a:spcAft>
                <a:spcPts val="600"/>
              </a:spcAft>
              <a:buNone/>
            </a:pPr>
            <a:r>
              <a:rPr lang="en-US" sz="1400" dirty="0">
                <a:solidFill>
                  <a:schemeClr val="tx1"/>
                </a:solidFill>
              </a:rPr>
              <a:t>rectification, switching, protection.</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Rectifiers: HWR, FWR and bridge</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pic>
        <p:nvPicPr>
          <p:cNvPr id="5" name="Image 0" descr="rect diagram">    </p:cNvPr>
          <p:cNvPicPr>
            <a:picLocks noChangeAspect="1"/>
          </p:cNvPicPr>
          <p:nvPr/>
        </p:nvPicPr>
        <p:blipFill>
          <a:blip r:embed="rId1"/>
          <a:stretch>
            <a:fillRect/>
          </a:stretch>
        </p:blipFill>
        <p:spPr>
          <a:xfrm>
            <a:off x="5669280" y="1097280"/>
            <a:ext cx="3017520" cy="2322576"/>
          </a:xfrm>
          <a:prstGeom prst="rect">
            <a:avLst/>
          </a:prstGeom>
        </p:spPr>
      </p:pic>
      <p:sp>
        <p:nvSpPr>
          <p:cNvPr id="6" name="Card"/>
          <p:cNvSpPr/>
          <p:nvPr/>
        </p:nvSpPr>
        <p:spPr>
          <a:xfrm>
            <a:off x="457200" y="1188720"/>
            <a:ext cx="5029200" cy="1005840"/>
          </a:xfrm>
          <a:prstGeom prst="roundRect">
            <a:avLst>
              <a:gd name="adj" fmla="val 7273"/>
            </a:avLst>
          </a:prstGeom>
          <a:solidFill>
            <a:schemeClr val="bg2"/>
          </a:solidFill>
          <a:ln/>
        </p:spPr>
      </p:sp>
      <p:sp>
        <p:nvSpPr>
          <p:cNvPr id="7" name="Text 4"/>
          <p:cNvSpPr txBox="1"/>
          <p:nvPr/>
        </p:nvSpPr>
        <p:spPr>
          <a:xfrm>
            <a:off x="594360" y="1280160"/>
            <a:ext cx="4754880" cy="365760"/>
          </a:xfrm>
          <a:prstGeom prst="rect">
            <a:avLst/>
          </a:prstGeom>
          <a:noFill/>
          <a:ln/>
        </p:spPr>
        <p:txBody>
          <a:bodyPr wrap="square" lIns="0" tIns="0" rIns="0" bIns="0" rtlCol="0" anchor="ctr"/>
          <a:lstStyle/>
          <a:p>
            <a:pPr indent="0" marL="0">
              <a:buNone/>
            </a:pPr>
            <a:r>
              <a:rPr lang="en-US" sz="1600" b="1" dirty="0">
                <a:solidFill>
                  <a:schemeClr val="tx2"/>
                </a:solidFill>
              </a:rPr>
              <a:t>Half-wave</a:t>
            </a:r>
            <a:endParaRPr lang="en-US" sz="1600" dirty="0"/>
          </a:p>
        </p:txBody>
      </p:sp>
      <p:sp>
        <p:nvSpPr>
          <p:cNvPr id="8" name="Text 5"/>
          <p:cNvSpPr txBox="1"/>
          <p:nvPr/>
        </p:nvSpPr>
        <p:spPr>
          <a:xfrm>
            <a:off x="594360" y="1664208"/>
            <a:ext cx="4754880" cy="457200"/>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One diode passes one half-cycle: pulsating DC. Used in simple chargers, AM demodulation.</a:t>
            </a:r>
            <a:endParaRPr lang="en-US" sz="1400" dirty="0"/>
          </a:p>
        </p:txBody>
      </p:sp>
      <p:sp>
        <p:nvSpPr>
          <p:cNvPr id="9" name="Card"/>
          <p:cNvSpPr/>
          <p:nvPr/>
        </p:nvSpPr>
        <p:spPr>
          <a:xfrm>
            <a:off x="457200" y="2286000"/>
            <a:ext cx="5029200" cy="1005840"/>
          </a:xfrm>
          <a:prstGeom prst="roundRect">
            <a:avLst>
              <a:gd name="adj" fmla="val 7273"/>
            </a:avLst>
          </a:prstGeom>
          <a:solidFill>
            <a:schemeClr val="bg2"/>
          </a:solidFill>
          <a:ln/>
        </p:spPr>
      </p:sp>
      <p:sp>
        <p:nvSpPr>
          <p:cNvPr id="10" name="Text 7"/>
          <p:cNvSpPr txBox="1"/>
          <p:nvPr/>
        </p:nvSpPr>
        <p:spPr>
          <a:xfrm>
            <a:off x="594360" y="2377440"/>
            <a:ext cx="4754880" cy="365760"/>
          </a:xfrm>
          <a:prstGeom prst="rect">
            <a:avLst/>
          </a:prstGeom>
          <a:noFill/>
          <a:ln/>
        </p:spPr>
        <p:txBody>
          <a:bodyPr wrap="square" lIns="0" tIns="0" rIns="0" bIns="0" rtlCol="0" anchor="ctr"/>
          <a:lstStyle/>
          <a:p>
            <a:pPr indent="0" marL="0">
              <a:buNone/>
            </a:pPr>
            <a:r>
              <a:rPr lang="en-US" sz="1600" b="1" dirty="0">
                <a:solidFill>
                  <a:schemeClr val="tx2"/>
                </a:solidFill>
              </a:rPr>
              <a:t>Full-wave (centre-tap)</a:t>
            </a:r>
            <a:endParaRPr lang="en-US" sz="1600" dirty="0"/>
          </a:p>
        </p:txBody>
      </p:sp>
      <p:sp>
        <p:nvSpPr>
          <p:cNvPr id="11" name="Text 8"/>
          <p:cNvSpPr txBox="1"/>
          <p:nvPr/>
        </p:nvSpPr>
        <p:spPr>
          <a:xfrm>
            <a:off x="594360" y="2761488"/>
            <a:ext cx="4754880" cy="457200"/>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Two diodes + centre-tapped transformer; each conducts on alternate half-cycles.</a:t>
            </a:r>
            <a:endParaRPr lang="en-US" sz="1400" dirty="0"/>
          </a:p>
        </p:txBody>
      </p:sp>
      <p:sp>
        <p:nvSpPr>
          <p:cNvPr id="12" name="Card"/>
          <p:cNvSpPr/>
          <p:nvPr/>
        </p:nvSpPr>
        <p:spPr>
          <a:xfrm>
            <a:off x="457200" y="3383280"/>
            <a:ext cx="5029200" cy="1188720"/>
          </a:xfrm>
          <a:prstGeom prst="roundRect">
            <a:avLst>
              <a:gd name="adj" fmla="val 6154"/>
            </a:avLst>
          </a:prstGeom>
          <a:solidFill>
            <a:schemeClr val="bg2"/>
          </a:solidFill>
          <a:ln/>
        </p:spPr>
      </p:sp>
      <p:sp>
        <p:nvSpPr>
          <p:cNvPr id="13" name="Text 10"/>
          <p:cNvSpPr txBox="1"/>
          <p:nvPr/>
        </p:nvSpPr>
        <p:spPr>
          <a:xfrm>
            <a:off x="594360" y="3474720"/>
            <a:ext cx="4754880" cy="365760"/>
          </a:xfrm>
          <a:prstGeom prst="rect">
            <a:avLst/>
          </a:prstGeom>
          <a:noFill/>
          <a:ln/>
        </p:spPr>
        <p:txBody>
          <a:bodyPr wrap="square" lIns="0" tIns="0" rIns="0" bIns="0" rtlCol="0" anchor="ctr"/>
          <a:lstStyle/>
          <a:p>
            <a:pPr indent="0" marL="0">
              <a:buNone/>
            </a:pPr>
            <a:r>
              <a:rPr lang="en-US" sz="1600" b="1" dirty="0">
                <a:solidFill>
                  <a:schemeClr val="tx2"/>
                </a:solidFill>
              </a:rPr>
              <a:t>Bridge</a:t>
            </a:r>
            <a:endParaRPr lang="en-US" sz="1600" dirty="0"/>
          </a:p>
        </p:txBody>
      </p:sp>
      <p:sp>
        <p:nvSpPr>
          <p:cNvPr id="14" name="Text 11"/>
          <p:cNvSpPr txBox="1"/>
          <p:nvPr/>
        </p:nvSpPr>
        <p:spPr>
          <a:xfrm>
            <a:off x="594360" y="3858768"/>
            <a:ext cx="4754880" cy="640080"/>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Four diodes, two conduct per half-cycle, current through RL always in the same direction. No centre tap needed.</a:t>
            </a:r>
            <a:endParaRPr lang="en-US" sz="1400" dirty="0"/>
          </a:p>
        </p:txBody>
      </p:sp>
      <p:sp>
        <p:nvSpPr>
          <p:cNvPr id="15" name="Text 12"/>
          <p:cNvSpPr txBox="1"/>
          <p:nvPr/>
        </p:nvSpPr>
        <p:spPr>
          <a:xfrm>
            <a:off x="5669280" y="3566160"/>
            <a:ext cx="3017520" cy="914400"/>
          </a:xfrm>
          <a:prstGeom prst="rect">
            <a:avLst/>
          </a:prstGeom>
          <a:noFill/>
          <a:ln/>
        </p:spPr>
        <p:txBody>
          <a:bodyPr wrap="square" lIns="0" tIns="0" rIns="0" bIns="0" rtlCol="0" anchor="t"/>
          <a:lstStyle/>
          <a:p>
            <a:pPr indent="0" marL="0">
              <a:buNone/>
            </a:pPr>
            <a:r>
              <a:rPr lang="en-US" sz="1300" i="1" dirty="0">
                <a:solidFill>
                  <a:schemeClr val="accent4"/>
                </a:solidFill>
              </a:rPr>
              <a:t>Applications: power supplies, battery chargers, welding, renewable systems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Half-wave versus full-wave</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3291840"/>
                <a:gridCol w="2468880"/>
                <a:gridCol w="2468880"/>
              </a:tblGrid>
              <a:tr h="411480">
                <a:tc>
                  <a:txBody>
                    <a:bodyPr/>
                    <a:lstStyle/>
                    <a:p>
                      <a:pPr algn="l" indent="0" marL="0">
                        <a:buNone/>
                      </a:pPr>
                      <a:r>
                        <a:rPr lang="en-US" sz="1500" b="1" dirty="0">
                          <a:solidFill>
                            <a:schemeClr val="bg1"/>
                          </a:solidFill>
                        </a:rPr>
                        <a:t>Parameter</a:t>
                      </a:r>
                      <a:endParaRPr lang="en-US" sz="15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rPr>
                        <a:t>Half-wave</a:t>
                      </a:r>
                      <a:endParaRPr lang="en-US" sz="15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rPr>
                        <a:t>Full-wave</a:t>
                      </a:r>
                      <a:endParaRPr lang="en-US" sz="15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r>
              <a:tr h="411480">
                <a:tc>
                  <a:txBody>
                    <a:bodyPr/>
                    <a:lstStyle/>
                    <a:p>
                      <a:pPr indent="0" marL="0">
                        <a:buNone/>
                      </a:pPr>
                      <a:r>
                        <a:rPr lang="en-US" sz="1500" b="1" dirty="0">
                          <a:solidFill>
                            <a:schemeClr val="tx1"/>
                          </a:solidFill>
                        </a:rPr>
                        <a:t>DC (average) voltage</a:t>
                      </a:r>
                      <a:endParaRPr lang="en-US" sz="15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Vm / π</a:t>
                      </a:r>
                      <a:endParaRPr lang="en-US" sz="15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2 Vm / π</a:t>
                      </a:r>
                      <a:endParaRPr lang="en-US" sz="15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411480">
                <a:tc>
                  <a:txBody>
                    <a:bodyPr/>
                    <a:lstStyle/>
                    <a:p>
                      <a:pPr indent="0" marL="0">
                        <a:buNone/>
                      </a:pPr>
                      <a:r>
                        <a:rPr lang="en-US" sz="1500" b="1" dirty="0">
                          <a:solidFill>
                            <a:schemeClr val="tx1"/>
                          </a:solidFill>
                        </a:rPr>
                        <a:t>DC (average) current</a:t>
                      </a:r>
                      <a:endParaRPr lang="en-US" sz="15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Im / π</a:t>
                      </a:r>
                      <a:endParaRPr lang="en-US" sz="15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2 Im / π</a:t>
                      </a:r>
                      <a:endParaRPr lang="en-US" sz="15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r h="411480">
                <a:tc>
                  <a:txBody>
                    <a:bodyPr/>
                    <a:lstStyle/>
                    <a:p>
                      <a:pPr indent="0" marL="0">
                        <a:buNone/>
                      </a:pPr>
                      <a:r>
                        <a:rPr lang="en-US" sz="1500" b="1" dirty="0">
                          <a:solidFill>
                            <a:schemeClr val="tx1"/>
                          </a:solidFill>
                        </a:rPr>
                        <a:t>RMS current</a:t>
                      </a:r>
                      <a:endParaRPr lang="en-US" sz="15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Im / 2</a:t>
                      </a:r>
                      <a:endParaRPr lang="en-US" sz="15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Im / √2</a:t>
                      </a:r>
                      <a:endParaRPr lang="en-US" sz="15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411480">
                <a:tc>
                  <a:txBody>
                    <a:bodyPr/>
                    <a:lstStyle/>
                    <a:p>
                      <a:pPr indent="0" marL="0">
                        <a:buNone/>
                      </a:pPr>
                      <a:r>
                        <a:rPr lang="en-US" sz="1500" b="1" dirty="0">
                          <a:solidFill>
                            <a:schemeClr val="tx1"/>
                          </a:solidFill>
                        </a:rPr>
                        <a:t>Ripple factor</a:t>
                      </a:r>
                      <a:endParaRPr lang="en-US" sz="15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1.21</a:t>
                      </a:r>
                      <a:endParaRPr lang="en-US" sz="15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0.482</a:t>
                      </a:r>
                      <a:endParaRPr lang="en-US" sz="15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r h="411480">
                <a:tc>
                  <a:txBody>
                    <a:bodyPr/>
                    <a:lstStyle/>
                    <a:p>
                      <a:pPr indent="0" marL="0">
                        <a:buNone/>
                      </a:pPr>
                      <a:r>
                        <a:rPr lang="en-US" sz="1500" b="1" dirty="0">
                          <a:solidFill>
                            <a:schemeClr val="tx1"/>
                          </a:solidFill>
                        </a:rPr>
                        <a:t>Max. rectification efficiency</a:t>
                      </a:r>
                      <a:endParaRPr lang="en-US" sz="15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40.6 %</a:t>
                      </a:r>
                      <a:endParaRPr lang="en-US" sz="15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81.2 %</a:t>
                      </a:r>
                      <a:endParaRPr lang="en-US" sz="15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411480">
                <a:tc>
                  <a:txBody>
                    <a:bodyPr/>
                    <a:lstStyle/>
                    <a:p>
                      <a:pPr indent="0" marL="0">
                        <a:buNone/>
                      </a:pPr>
                      <a:r>
                        <a:rPr lang="en-US" sz="1500" b="1" dirty="0">
                          <a:solidFill>
                            <a:schemeClr val="tx1"/>
                          </a:solidFill>
                        </a:rPr>
                        <a:t>Output frequency</a:t>
                      </a:r>
                      <a:endParaRPr lang="en-US" sz="15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f</a:t>
                      </a:r>
                      <a:endParaRPr lang="en-US" sz="15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2f</a:t>
                      </a:r>
                      <a:endParaRPr lang="en-US" sz="15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bl>
          </a:graphicData>
        </a:graphic>
      </p:graphicFrame>
      <p:sp>
        <p:nvSpPr>
          <p:cNvPr id="6" name="Text 3"/>
          <p:cNvSpPr txBox="1"/>
          <p:nvPr/>
        </p:nvSpPr>
        <p:spPr>
          <a:xfrm>
            <a:off x="457200" y="4251960"/>
            <a:ext cx="8229600" cy="365760"/>
          </a:xfrm>
          <a:prstGeom prst="rect">
            <a:avLst/>
          </a:prstGeom>
          <a:noFill/>
          <a:ln/>
        </p:spPr>
        <p:txBody>
          <a:bodyPr wrap="square" lIns="0" tIns="0" rIns="0" bIns="0" rtlCol="0" anchor="ctr"/>
          <a:lstStyle/>
          <a:p>
            <a:pPr indent="0" marL="0">
              <a:buNone/>
            </a:pPr>
            <a:r>
              <a:rPr lang="en-US" sz="1400" i="1" dirty="0">
                <a:solidFill>
                  <a:schemeClr val="accent4"/>
                </a:solidFill>
              </a:rPr>
              <a:t>Ideal diodes, Im = Vm / (Rf + RL). Lower ripple means smoother DC.</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The Zener diode</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sp>
        <p:nvSpPr>
          <p:cNvPr id="5" name="Text 3"/>
          <p:cNvSpPr txBox="1"/>
          <p:nvPr/>
        </p:nvSpPr>
        <p:spPr>
          <a:xfrm>
            <a:off x="457200" y="1188720"/>
            <a:ext cx="3931920" cy="2743200"/>
          </a:xfrm>
          <a:prstGeom prst="rect">
            <a:avLst/>
          </a:prstGeom>
          <a:noFill/>
          <a:ln/>
        </p:spPr>
        <p:txBody>
          <a:bodyPr wrap="square" lIns="0" tIns="0" rIns="0" bIns="0" rtlCol="0" anchor="t"/>
          <a:lstStyle/>
          <a:p>
            <a:pPr marL="342900" indent="-342900">
              <a:spcAft>
                <a:spcPts val="600"/>
              </a:spcAft>
              <a:buSzPct val="100000"/>
              <a:buChar char="•"/>
            </a:pPr>
            <a:r>
              <a:rPr lang="en-US" sz="1500" b="1" dirty="0">
                <a:solidFill>
                  <a:schemeClr val="tx2"/>
                </a:solidFill>
              </a:rPr>
              <a:t>Heavily doped </a:t>
            </a:r>
            <a:pPr indent="0" marL="0">
              <a:spcAft>
                <a:spcPts val="600"/>
              </a:spcAft>
              <a:buNone/>
            </a:pPr>
            <a:r>
              <a:rPr lang="en-US" sz="1500" dirty="0">
                <a:solidFill>
                  <a:schemeClr val="tx1"/>
                </a:solidFill>
              </a:rPr>
              <a:t>PN junction designed to operate in reverse breakdown.</a:t>
            </a:r>
            <a:endParaRPr lang="en-US" sz="1500" dirty="0"/>
          </a:p>
          <a:p>
            <a:pPr marL="342900" indent="-342900">
              <a:spcAft>
                <a:spcPts val="600"/>
              </a:spcAft>
              <a:buSzPct val="100000"/>
              <a:buChar char="•"/>
            </a:pPr>
            <a:r>
              <a:rPr lang="en-US" sz="1500" b="1" dirty="0">
                <a:solidFill>
                  <a:schemeClr val="tx2"/>
                </a:solidFill>
              </a:rPr>
              <a:t>Forward: </a:t>
            </a:r>
            <a:pPr indent="0" marL="0">
              <a:spcAft>
                <a:spcPts val="600"/>
              </a:spcAft>
              <a:buNone/>
            </a:pPr>
            <a:r>
              <a:rPr lang="en-US" sz="1500" dirty="0">
                <a:solidFill>
                  <a:schemeClr val="tx1"/>
                </a:solidFill>
              </a:rPr>
              <a:t>behaves like an ordinary diode.</a:t>
            </a:r>
            <a:endParaRPr lang="en-US" sz="1500" dirty="0"/>
          </a:p>
          <a:p>
            <a:pPr marL="342900" indent="-342900">
              <a:spcAft>
                <a:spcPts val="600"/>
              </a:spcAft>
              <a:buSzPct val="100000"/>
              <a:buChar char="•"/>
            </a:pPr>
            <a:r>
              <a:rPr lang="en-US" sz="1500" b="1" dirty="0">
                <a:solidFill>
                  <a:schemeClr val="tx2"/>
                </a:solidFill>
              </a:rPr>
              <a:t>Reverse: </a:t>
            </a:r>
            <a:pPr indent="0" marL="0">
              <a:spcAft>
                <a:spcPts val="600"/>
              </a:spcAft>
              <a:buNone/>
            </a:pPr>
            <a:r>
              <a:rPr lang="en-US" sz="1500" dirty="0">
                <a:solidFill>
                  <a:schemeClr val="tx1"/>
                </a:solidFill>
              </a:rPr>
              <a:t>blocks until VZ, then conducts heavily while the voltage stays almost constant.</a:t>
            </a:r>
            <a:endParaRPr lang="en-US" sz="1500" dirty="0"/>
          </a:p>
          <a:p>
            <a:pPr marL="342900" indent="-342900">
              <a:spcAft>
                <a:spcPts val="600"/>
              </a:spcAft>
              <a:buSzPct val="100000"/>
              <a:buChar char="•"/>
            </a:pPr>
            <a:r>
              <a:rPr lang="en-US" sz="1500" b="1" dirty="0">
                <a:solidFill>
                  <a:schemeClr val="tx2"/>
                </a:solidFill>
              </a:rPr>
              <a:t>Series resistor </a:t>
            </a:r>
            <a:pPr indent="0" marL="0">
              <a:spcAft>
                <a:spcPts val="600"/>
              </a:spcAft>
              <a:buNone/>
            </a:pPr>
            <a:r>
              <a:rPr lang="en-US" sz="1500" dirty="0">
                <a:solidFill>
                  <a:schemeClr val="tx1"/>
                </a:solidFill>
              </a:rPr>
              <a:t>must limit the current to avoid overheating.</a:t>
            </a:r>
            <a:endParaRPr lang="en-US" sz="1500" dirty="0"/>
          </a:p>
        </p:txBody>
      </p:sp>
      <p:sp>
        <p:nvSpPr>
          <p:cNvPr id="6" name="Stat"/>
          <p:cNvSpPr/>
          <p:nvPr/>
        </p:nvSpPr>
        <p:spPr>
          <a:xfrm>
            <a:off x="4663440" y="1188720"/>
            <a:ext cx="1920240" cy="1600200"/>
          </a:xfrm>
          <a:prstGeom prst="roundRect">
            <a:avLst>
              <a:gd name="adj" fmla="val 4571"/>
            </a:avLst>
          </a:prstGeom>
          <a:solidFill>
            <a:schemeClr val="bg2"/>
          </a:solidFill>
          <a:ln/>
        </p:spPr>
      </p:sp>
      <p:sp>
        <p:nvSpPr>
          <p:cNvPr id="7" name="Text 5"/>
          <p:cNvSpPr txBox="1"/>
          <p:nvPr/>
        </p:nvSpPr>
        <p:spPr>
          <a:xfrm>
            <a:off x="4663440" y="1298448"/>
            <a:ext cx="1920240" cy="720090"/>
          </a:xfrm>
          <a:prstGeom prst="rect">
            <a:avLst/>
          </a:prstGeom>
          <a:noFill/>
          <a:ln/>
        </p:spPr>
        <p:txBody>
          <a:bodyPr wrap="square" lIns="0" tIns="0" rIns="0" bIns="0" rtlCol="0" anchor="ctr"/>
          <a:lstStyle/>
          <a:p>
            <a:pPr algn="ctr" indent="0" marL="0">
              <a:buNone/>
            </a:pPr>
            <a:r>
              <a:rPr lang="en-US" sz="3000" b="1" dirty="0">
                <a:solidFill>
                  <a:schemeClr val="accent2"/>
                </a:solidFill>
                <a:latin typeface="Cambria" pitchFamily="34" charset="0"/>
                <a:ea typeface="Cambria" pitchFamily="34" charset="-122"/>
                <a:cs typeface="Cambria" pitchFamily="34" charset="-120"/>
              </a:rPr>
              <a:t>&lt; 5 V</a:t>
            </a:r>
            <a:endParaRPr lang="en-US" sz="3000" dirty="0"/>
          </a:p>
        </p:txBody>
      </p:sp>
      <p:sp>
        <p:nvSpPr>
          <p:cNvPr id="8" name="Text 6"/>
          <p:cNvSpPr txBox="1"/>
          <p:nvPr/>
        </p:nvSpPr>
        <p:spPr>
          <a:xfrm>
            <a:off x="4754880" y="2068830"/>
            <a:ext cx="1737360" cy="320040"/>
          </a:xfrm>
          <a:prstGeom prst="rect">
            <a:avLst/>
          </a:prstGeom>
          <a:noFill/>
          <a:ln/>
        </p:spPr>
        <p:txBody>
          <a:bodyPr wrap="square" lIns="0" tIns="0" rIns="0" bIns="0" rtlCol="0" anchor="ctr"/>
          <a:lstStyle/>
          <a:p>
            <a:pPr algn="ctr" indent="0" marL="0">
              <a:buNone/>
            </a:pPr>
            <a:r>
              <a:rPr lang="en-US" sz="1500" b="1" dirty="0">
                <a:solidFill>
                  <a:schemeClr val="tx1"/>
                </a:solidFill>
              </a:rPr>
              <a:t>Zener effect</a:t>
            </a:r>
            <a:endParaRPr lang="en-US" sz="1500" dirty="0"/>
          </a:p>
        </p:txBody>
      </p:sp>
      <p:sp>
        <p:nvSpPr>
          <p:cNvPr id="9" name="Text 7"/>
          <p:cNvSpPr txBox="1"/>
          <p:nvPr/>
        </p:nvSpPr>
        <p:spPr>
          <a:xfrm>
            <a:off x="4754880" y="2388870"/>
            <a:ext cx="1737360" cy="320040"/>
          </a:xfrm>
          <a:prstGeom prst="rect">
            <a:avLst/>
          </a:prstGeom>
          <a:noFill/>
          <a:ln/>
        </p:spPr>
        <p:txBody>
          <a:bodyPr wrap="square" lIns="0" tIns="0" rIns="0" bIns="0" rtlCol="0" anchor="t"/>
          <a:lstStyle/>
          <a:p>
            <a:pPr algn="ctr" indent="0" marL="0">
              <a:buNone/>
            </a:pPr>
            <a:r>
              <a:rPr lang="en-US" sz="1200" dirty="0">
                <a:solidFill>
                  <a:schemeClr val="accent4"/>
                </a:solidFill>
              </a:rPr>
              <a:t>intense field pulls electrons from bonds</a:t>
            </a:r>
            <a:endParaRPr lang="en-US" sz="1200" dirty="0"/>
          </a:p>
        </p:txBody>
      </p:sp>
      <p:sp>
        <p:nvSpPr>
          <p:cNvPr id="10" name="Stat"/>
          <p:cNvSpPr/>
          <p:nvPr/>
        </p:nvSpPr>
        <p:spPr>
          <a:xfrm>
            <a:off x="6766560" y="1188720"/>
            <a:ext cx="1920240" cy="1600200"/>
          </a:xfrm>
          <a:prstGeom prst="roundRect">
            <a:avLst>
              <a:gd name="adj" fmla="val 4571"/>
            </a:avLst>
          </a:prstGeom>
          <a:solidFill>
            <a:schemeClr val="bg2"/>
          </a:solidFill>
          <a:ln/>
        </p:spPr>
      </p:sp>
      <p:sp>
        <p:nvSpPr>
          <p:cNvPr id="11" name="Text 9"/>
          <p:cNvSpPr txBox="1"/>
          <p:nvPr/>
        </p:nvSpPr>
        <p:spPr>
          <a:xfrm>
            <a:off x="6766560" y="1298448"/>
            <a:ext cx="1920240" cy="720090"/>
          </a:xfrm>
          <a:prstGeom prst="rect">
            <a:avLst/>
          </a:prstGeom>
          <a:noFill/>
          <a:ln/>
        </p:spPr>
        <p:txBody>
          <a:bodyPr wrap="square" lIns="0" tIns="0" rIns="0" bIns="0" rtlCol="0" anchor="ctr"/>
          <a:lstStyle/>
          <a:p>
            <a:pPr algn="ctr" indent="0" marL="0">
              <a:buNone/>
            </a:pPr>
            <a:r>
              <a:rPr lang="en-US" sz="3000" b="1" dirty="0">
                <a:solidFill>
                  <a:schemeClr val="accent2"/>
                </a:solidFill>
                <a:latin typeface="Cambria" pitchFamily="34" charset="0"/>
                <a:ea typeface="Cambria" pitchFamily="34" charset="-122"/>
                <a:cs typeface="Cambria" pitchFamily="34" charset="-120"/>
              </a:rPr>
              <a:t>&gt; 8 V</a:t>
            </a:r>
            <a:endParaRPr lang="en-US" sz="3000" dirty="0"/>
          </a:p>
        </p:txBody>
      </p:sp>
      <p:sp>
        <p:nvSpPr>
          <p:cNvPr id="12" name="Text 10"/>
          <p:cNvSpPr txBox="1"/>
          <p:nvPr/>
        </p:nvSpPr>
        <p:spPr>
          <a:xfrm>
            <a:off x="6858000" y="2068830"/>
            <a:ext cx="1737360" cy="320040"/>
          </a:xfrm>
          <a:prstGeom prst="rect">
            <a:avLst/>
          </a:prstGeom>
          <a:noFill/>
          <a:ln/>
        </p:spPr>
        <p:txBody>
          <a:bodyPr wrap="square" lIns="0" tIns="0" rIns="0" bIns="0" rtlCol="0" anchor="ctr"/>
          <a:lstStyle/>
          <a:p>
            <a:pPr algn="ctr" indent="0" marL="0">
              <a:buNone/>
            </a:pPr>
            <a:r>
              <a:rPr lang="en-US" sz="1500" b="1" dirty="0">
                <a:solidFill>
                  <a:schemeClr val="tx1"/>
                </a:solidFill>
              </a:rPr>
              <a:t>Avalanche</a:t>
            </a:r>
            <a:endParaRPr lang="en-US" sz="1500" dirty="0"/>
          </a:p>
        </p:txBody>
      </p:sp>
      <p:sp>
        <p:nvSpPr>
          <p:cNvPr id="13" name="Text 11"/>
          <p:cNvSpPr txBox="1"/>
          <p:nvPr/>
        </p:nvSpPr>
        <p:spPr>
          <a:xfrm>
            <a:off x="6858000" y="2388870"/>
            <a:ext cx="1737360" cy="320040"/>
          </a:xfrm>
          <a:prstGeom prst="rect">
            <a:avLst/>
          </a:prstGeom>
          <a:noFill/>
          <a:ln/>
        </p:spPr>
        <p:txBody>
          <a:bodyPr wrap="square" lIns="0" tIns="0" rIns="0" bIns="0" rtlCol="0" anchor="t"/>
          <a:lstStyle/>
          <a:p>
            <a:pPr algn="ctr" indent="0" marL="0">
              <a:buNone/>
            </a:pPr>
            <a:r>
              <a:rPr lang="en-US" sz="1200" dirty="0">
                <a:solidFill>
                  <a:schemeClr val="accent4"/>
                </a:solidFill>
              </a:rPr>
              <a:t>collisions multiply carriers</a:t>
            </a:r>
            <a:endParaRPr lang="en-US" sz="1200" dirty="0"/>
          </a:p>
        </p:txBody>
      </p:sp>
      <p:sp>
        <p:nvSpPr>
          <p:cNvPr id="14" name="Card"/>
          <p:cNvSpPr/>
          <p:nvPr/>
        </p:nvSpPr>
        <p:spPr>
          <a:xfrm>
            <a:off x="4663440" y="2971800"/>
            <a:ext cx="4023360" cy="1554480"/>
          </a:xfrm>
          <a:prstGeom prst="roundRect">
            <a:avLst>
              <a:gd name="adj" fmla="val 4706"/>
            </a:avLst>
          </a:prstGeom>
          <a:solidFill>
            <a:schemeClr val="bg2"/>
          </a:solidFill>
          <a:ln/>
        </p:spPr>
      </p:sp>
      <p:sp>
        <p:nvSpPr>
          <p:cNvPr id="15" name="Text 13"/>
          <p:cNvSpPr txBox="1"/>
          <p:nvPr/>
        </p:nvSpPr>
        <p:spPr>
          <a:xfrm>
            <a:off x="4800600" y="3063240"/>
            <a:ext cx="3749040" cy="365760"/>
          </a:xfrm>
          <a:prstGeom prst="rect">
            <a:avLst/>
          </a:prstGeom>
          <a:noFill/>
          <a:ln/>
        </p:spPr>
        <p:txBody>
          <a:bodyPr wrap="square" lIns="0" tIns="0" rIns="0" bIns="0" rtlCol="0" anchor="ctr"/>
          <a:lstStyle/>
          <a:p>
            <a:pPr indent="0" marL="0">
              <a:buNone/>
            </a:pPr>
            <a:r>
              <a:rPr lang="en-US" sz="1700" b="1" dirty="0">
                <a:solidFill>
                  <a:schemeClr val="tx2"/>
                </a:solidFill>
              </a:rPr>
              <a:t>Applications</a:t>
            </a:r>
            <a:endParaRPr lang="en-US" sz="1700" dirty="0"/>
          </a:p>
        </p:txBody>
      </p:sp>
      <p:sp>
        <p:nvSpPr>
          <p:cNvPr id="16" name="Text 14"/>
          <p:cNvSpPr txBox="1"/>
          <p:nvPr/>
        </p:nvSpPr>
        <p:spPr>
          <a:xfrm>
            <a:off x="4800600" y="3447288"/>
            <a:ext cx="3749040" cy="1005840"/>
          </a:xfrm>
          <a:prstGeom prst="rect">
            <a:avLst/>
          </a:prstGeom>
          <a:noFill/>
          <a:ln/>
        </p:spPr>
        <p:txBody>
          <a:bodyPr wrap="square" lIns="0" tIns="0" rIns="0" bIns="0" rtlCol="0" anchor="t"/>
          <a:lstStyle/>
          <a:p>
            <a:pPr indent="0" marL="0">
              <a:spcAft>
                <a:spcPts val="300"/>
              </a:spcAft>
              <a:buNone/>
            </a:pPr>
            <a:r>
              <a:rPr lang="en-US" sz="1600" dirty="0">
                <a:solidFill>
                  <a:schemeClr val="tx1"/>
                </a:solidFill>
              </a:rPr>
              <a:t>Voltage regulation, reference voltage, over-voltage protection, clipping circuits.</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Zener diode as a voltage regulator</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U3</a:t>
            </a:r>
            <a:endParaRPr lang="en-US" sz="1600" dirty="0"/>
          </a:p>
        </p:txBody>
      </p:sp>
      <p:sp>
        <p:nvSpPr>
          <p:cNvPr id="5" name="Text 3"/>
          <p:cNvSpPr txBox="1"/>
          <p:nvPr/>
        </p:nvSpPr>
        <p:spPr>
          <a:xfrm>
            <a:off x="457200" y="1188720"/>
            <a:ext cx="4206240" cy="3291840"/>
          </a:xfrm>
          <a:prstGeom prst="rect">
            <a:avLst/>
          </a:prstGeom>
          <a:noFill/>
          <a:ln/>
        </p:spPr>
        <p:txBody>
          <a:bodyPr wrap="square" lIns="0" tIns="0" rIns="0" bIns="0" rtlCol="0" anchor="t"/>
          <a:lstStyle/>
          <a:p>
            <a:pPr marL="342900" indent="-342900">
              <a:spcAft>
                <a:spcPts val="600"/>
              </a:spcAft>
              <a:buSzPct val="100000"/>
              <a:buChar char="•"/>
            </a:pPr>
            <a:r>
              <a:rPr lang="en-US" sz="1500" b="1" dirty="0">
                <a:solidFill>
                  <a:schemeClr val="tx2"/>
                </a:solidFill>
              </a:rPr>
              <a:t>Circuit: </a:t>
            </a:r>
            <a:pPr indent="0" marL="0">
              <a:spcAft>
                <a:spcPts val="600"/>
              </a:spcAft>
              <a:buNone/>
            </a:pPr>
            <a:r>
              <a:rPr lang="en-US" sz="1500" dirty="0">
                <a:solidFill>
                  <a:schemeClr val="tx1"/>
                </a:solidFill>
              </a:rPr>
              <a:t>Zener reverse-connected across the load RL, with a series resistor Rs from the input VI. Choose VZ = VL.</a:t>
            </a:r>
            <a:endParaRPr lang="en-US" sz="1500" dirty="0"/>
          </a:p>
          <a:p>
            <a:pPr marL="342900" indent="-342900">
              <a:spcAft>
                <a:spcPts val="600"/>
              </a:spcAft>
              <a:buSzPct val="100000"/>
              <a:buChar char="•"/>
            </a:pPr>
            <a:r>
              <a:rPr lang="en-US" sz="1500" b="1" dirty="0">
                <a:solidFill>
                  <a:schemeClr val="tx2"/>
                </a:solidFill>
              </a:rPr>
              <a:t>Output </a:t>
            </a:r>
            <a:pPr indent="0" marL="0">
              <a:spcAft>
                <a:spcPts val="600"/>
              </a:spcAft>
              <a:buNone/>
            </a:pPr>
            <a:r>
              <a:rPr lang="en-US" sz="1500" dirty="0">
                <a:solidFill>
                  <a:schemeClr val="tx1"/>
                </a:solidFill>
              </a:rPr>
              <a:t>Vo = VZ as long as the Zener stays in breakdown.</a:t>
            </a:r>
            <a:endParaRPr lang="en-US" sz="1500" dirty="0"/>
          </a:p>
          <a:p>
            <a:pPr marL="342900" indent="-342900">
              <a:spcAft>
                <a:spcPts val="600"/>
              </a:spcAft>
              <a:buSzPct val="100000"/>
              <a:buChar char="•"/>
            </a:pPr>
            <a:r>
              <a:rPr lang="en-US" sz="1500" b="1" dirty="0">
                <a:solidFill>
                  <a:schemeClr val="tx2"/>
                </a:solidFill>
              </a:rPr>
              <a:t>Line regulation: </a:t>
            </a:r>
            <a:pPr indent="0" marL="0">
              <a:spcAft>
                <a:spcPts val="600"/>
              </a:spcAft>
              <a:buNone/>
            </a:pPr>
            <a:r>
              <a:rPr lang="en-US" sz="1500" dirty="0">
                <a:solidFill>
                  <a:schemeClr val="tx1"/>
                </a:solidFill>
              </a:rPr>
              <a:t>input varies, load fixed.</a:t>
            </a:r>
            <a:endParaRPr lang="en-US" sz="1500" dirty="0"/>
          </a:p>
          <a:p>
            <a:pPr marL="342900" indent="-342900">
              <a:spcAft>
                <a:spcPts val="600"/>
              </a:spcAft>
              <a:buSzPct val="100000"/>
              <a:buChar char="•"/>
            </a:pPr>
            <a:r>
              <a:rPr lang="en-US" sz="1500" b="1" dirty="0">
                <a:solidFill>
                  <a:schemeClr val="tx2"/>
                </a:solidFill>
              </a:rPr>
              <a:t>Load regulation: </a:t>
            </a:r>
            <a:pPr indent="0" marL="0">
              <a:spcAft>
                <a:spcPts val="600"/>
              </a:spcAft>
              <a:buNone/>
            </a:pPr>
            <a:r>
              <a:rPr lang="en-US" sz="1500" dirty="0">
                <a:solidFill>
                  <a:schemeClr val="tx1"/>
                </a:solidFill>
              </a:rPr>
              <a:t>input fixed, load varies.</a:t>
            </a:r>
            <a:endParaRPr lang="en-US" sz="1500" dirty="0"/>
          </a:p>
        </p:txBody>
      </p:sp>
      <p:sp>
        <p:nvSpPr>
          <p:cNvPr id="6" name="Card"/>
          <p:cNvSpPr/>
          <p:nvPr/>
        </p:nvSpPr>
        <p:spPr>
          <a:xfrm>
            <a:off x="4937760" y="1188720"/>
            <a:ext cx="3749040" cy="3337560"/>
          </a:xfrm>
          <a:prstGeom prst="roundRect">
            <a:avLst>
              <a:gd name="adj" fmla="val 2192"/>
            </a:avLst>
          </a:prstGeom>
          <a:solidFill>
            <a:schemeClr val="bg2"/>
          </a:solidFill>
          <a:ln/>
        </p:spPr>
      </p:sp>
      <p:sp>
        <p:nvSpPr>
          <p:cNvPr id="7" name="Text 5"/>
          <p:cNvSpPr txBox="1"/>
          <p:nvPr/>
        </p:nvSpPr>
        <p:spPr>
          <a:xfrm>
            <a:off x="5074920" y="1280160"/>
            <a:ext cx="3474720" cy="365760"/>
          </a:xfrm>
          <a:prstGeom prst="rect">
            <a:avLst/>
          </a:prstGeom>
          <a:noFill/>
          <a:ln/>
        </p:spPr>
        <p:txBody>
          <a:bodyPr wrap="square" lIns="0" tIns="0" rIns="0" bIns="0" rtlCol="0" anchor="ctr"/>
          <a:lstStyle/>
          <a:p>
            <a:pPr indent="0" marL="0">
              <a:buNone/>
            </a:pPr>
            <a:r>
              <a:rPr lang="en-US" sz="1700" b="1" dirty="0">
                <a:solidFill>
                  <a:schemeClr val="tx2"/>
                </a:solidFill>
              </a:rPr>
              <a:t>Example: 12 V → 5 V, Pz(max) = 2 W</a:t>
            </a:r>
            <a:endParaRPr lang="en-US" sz="1700" dirty="0"/>
          </a:p>
        </p:txBody>
      </p:sp>
      <p:sp>
        <p:nvSpPr>
          <p:cNvPr id="8" name="Text 6"/>
          <p:cNvSpPr txBox="1"/>
          <p:nvPr/>
        </p:nvSpPr>
        <p:spPr>
          <a:xfrm>
            <a:off x="5074920" y="1664208"/>
            <a:ext cx="3474720" cy="2788920"/>
          </a:xfrm>
          <a:prstGeom prst="rect">
            <a:avLst/>
          </a:prstGeom>
          <a:noFill/>
          <a:ln/>
        </p:spPr>
        <p:txBody>
          <a:bodyPr wrap="square" lIns="0" tIns="0" rIns="0" bIns="0" rtlCol="0" anchor="t"/>
          <a:lstStyle/>
          <a:p>
            <a:pPr indent="0" marL="0">
              <a:spcAft>
                <a:spcPts val="300"/>
              </a:spcAft>
              <a:buNone/>
            </a:pPr>
            <a:r>
              <a:rPr lang="en-US" sz="1500" dirty="0">
                <a:solidFill>
                  <a:schemeClr val="tx1"/>
                </a:solidFill>
              </a:rPr>
              <a:t>Max Zener current</a:t>
            </a:r>
            <a:endParaRPr lang="en-US" sz="1500" dirty="0"/>
          </a:p>
          <a:p>
            <a:pPr indent="0" marL="0">
              <a:spcAft>
                <a:spcPts val="300"/>
              </a:spcAft>
              <a:buNone/>
            </a:pPr>
            <a:r>
              <a:rPr lang="en-US" sz="1500" dirty="0">
                <a:solidFill>
                  <a:schemeClr val="tx1"/>
                </a:solidFill>
              </a:rPr>
              <a:t>Iz(max) = Pz / Vz = 2 / 5 = 0.4 A</a:t>
            </a:r>
            <a:endParaRPr lang="en-US" sz="1500" dirty="0"/>
          </a:p>
          <a:p>
            <a:pPr indent="0" marL="0">
              <a:spcAft>
                <a:spcPts val="300"/>
              </a:spcAft>
              <a:buNone/>
            </a:pPr>
            <a:endParaRPr lang="en-US" sz="1500" dirty="0"/>
          </a:p>
          <a:p>
            <a:pPr indent="0" marL="0">
              <a:spcAft>
                <a:spcPts val="300"/>
              </a:spcAft>
              <a:buNone/>
            </a:pPr>
            <a:r>
              <a:rPr lang="en-US" sz="1500" dirty="0">
                <a:solidFill>
                  <a:schemeClr val="tx1"/>
                </a:solidFill>
              </a:rPr>
              <a:t>Minimum series resistor</a:t>
            </a:r>
            <a:endParaRPr lang="en-US" sz="1500" dirty="0"/>
          </a:p>
          <a:p>
            <a:pPr indent="0" marL="0">
              <a:spcAft>
                <a:spcPts val="300"/>
              </a:spcAft>
              <a:buNone/>
            </a:pPr>
            <a:r>
              <a:rPr lang="en-US" sz="1500" dirty="0">
                <a:solidFill>
                  <a:schemeClr val="tx1"/>
                </a:solidFill>
              </a:rPr>
              <a:t>Rs(min) = (12 − 5) / 0.4 = 17.5 Ω</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Icon circle"/>
          <p:cNvSpPr/>
          <p:nvPr/>
        </p:nvSpPr>
        <p:spPr>
          <a:xfrm>
            <a:off x="640080" y="1097280"/>
            <a:ext cx="1371600" cy="1371600"/>
          </a:xfrm>
          <a:prstGeom prst="ellipse">
            <a:avLst/>
          </a:prstGeom>
          <a:solidFill>
            <a:schemeClr val="accent1"/>
          </a:solidFill>
          <a:ln/>
        </p:spPr>
      </p:sp>
      <p:pic>
        <p:nvPicPr>
          <p:cNvPr id="3" name="Image 0" descr="unit icon">    </p:cNvPr>
          <p:cNvPicPr>
            <a:picLocks noChangeAspect="1"/>
          </p:cNvPicPr>
          <p:nvPr/>
        </p:nvPicPr>
        <p:blipFill>
          <a:blip r:embed="rId1"/>
          <a:stretch>
            <a:fillRect/>
          </a:stretch>
        </p:blipFill>
        <p:spPr>
          <a:xfrm>
            <a:off x="1005840" y="1463040"/>
            <a:ext cx="640080" cy="640080"/>
          </a:xfrm>
          <a:prstGeom prst="rect">
            <a:avLst/>
          </a:prstGeom>
        </p:spPr>
      </p:pic>
      <p:sp>
        <p:nvSpPr>
          <p:cNvPr id="4" name="Text 1"/>
          <p:cNvSpPr txBox="1"/>
          <p:nvPr/>
        </p:nvSpPr>
        <p:spPr>
          <a:xfrm>
            <a:off x="2377440" y="960120"/>
            <a:ext cx="5943600" cy="457200"/>
          </a:xfrm>
          <a:prstGeom prst="rect">
            <a:avLst/>
          </a:prstGeom>
          <a:noFill/>
          <a:ln/>
        </p:spPr>
        <p:txBody>
          <a:bodyPr wrap="square" lIns="0" tIns="0" rIns="0" bIns="0" rtlCol="0" anchor="ctr"/>
          <a:lstStyle/>
          <a:p>
            <a:pPr indent="0" marL="0">
              <a:buNone/>
            </a:pPr>
            <a:r>
              <a:rPr lang="en-US" sz="1800" b="1" spc="400" kern="0" dirty="0">
                <a:solidFill>
                  <a:schemeClr val="accent1"/>
                </a:solidFill>
              </a:rPr>
              <a:t>UNIT 4</a:t>
            </a:r>
            <a:endParaRPr lang="en-US" sz="1800" dirty="0"/>
          </a:p>
        </p:txBody>
      </p:sp>
      <p:sp>
        <p:nvSpPr>
          <p:cNvPr id="5" name="Text 2"/>
          <p:cNvSpPr txBox="1"/>
          <p:nvPr/>
        </p:nvSpPr>
        <p:spPr>
          <a:xfrm>
            <a:off x="2377440" y="1417320"/>
            <a:ext cx="6309360" cy="109728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BJT and MOSFET Applications</a:t>
            </a:r>
            <a:endParaRPr lang="en-US" sz="3600" dirty="0"/>
          </a:p>
        </p:txBody>
      </p:sp>
      <p:sp>
        <p:nvSpPr>
          <p:cNvPr id="6" name="Text 3"/>
          <p:cNvSpPr txBox="1"/>
          <p:nvPr/>
        </p:nvSpPr>
        <p:spPr>
          <a:xfrm>
            <a:off x="2377440" y="2743200"/>
            <a:ext cx="6217920" cy="15544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D5E0EE"/>
                </a:solidFill>
              </a:rPr>
              <a:t>Bipolar junction transistor: construction, currents, gains</a:t>
            </a:r>
            <a:endParaRPr lang="en-US" sz="1600" dirty="0"/>
          </a:p>
          <a:p>
            <a:pPr marL="342900" indent="-342900">
              <a:spcAft>
                <a:spcPts val="600"/>
              </a:spcAft>
              <a:buSzPct val="100000"/>
              <a:buChar char="•"/>
            </a:pPr>
            <a:r>
              <a:rPr lang="en-US" sz="1600" dirty="0">
                <a:solidFill>
                  <a:srgbClr val="D5E0EE"/>
                </a:solidFill>
              </a:rPr>
              <a:t>Configurations and the transistor as a switch</a:t>
            </a:r>
            <a:endParaRPr lang="en-US" sz="1600" dirty="0"/>
          </a:p>
          <a:p>
            <a:pPr marL="342900" indent="-342900">
              <a:spcAft>
                <a:spcPts val="600"/>
              </a:spcAft>
              <a:buSzPct val="100000"/>
              <a:buChar char="•"/>
            </a:pPr>
            <a:r>
              <a:rPr lang="en-US" sz="1600" dirty="0">
                <a:solidFill>
                  <a:srgbClr val="D5E0EE"/>
                </a:solidFill>
              </a:rPr>
              <a:t>Enhancement MOSFET and the CMOS inverter</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C"/>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Bipolar junction transistor</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U4</a:t>
            </a:r>
            <a:endParaRPr lang="en-US" sz="1600" dirty="0"/>
          </a:p>
        </p:txBody>
      </p:sp>
      <p:pic>
        <p:nvPicPr>
          <p:cNvPr id="5" name="Image 0" descr="bjt diagram">    </p:cNvPr>
          <p:cNvPicPr>
            <a:picLocks noChangeAspect="1"/>
          </p:cNvPicPr>
          <p:nvPr/>
        </p:nvPicPr>
        <p:blipFill>
          <a:blip r:embed="rId1"/>
          <a:stretch>
            <a:fillRect/>
          </a:stretch>
        </p:blipFill>
        <p:spPr>
          <a:xfrm>
            <a:off x="457200" y="1143000"/>
            <a:ext cx="4572000" cy="2194560"/>
          </a:xfrm>
          <a:prstGeom prst="rect">
            <a:avLst/>
          </a:prstGeom>
        </p:spPr>
      </p:pic>
      <p:sp>
        <p:nvSpPr>
          <p:cNvPr id="6" name="Text 3"/>
          <p:cNvSpPr txBox="1"/>
          <p:nvPr/>
        </p:nvSpPr>
        <p:spPr>
          <a:xfrm>
            <a:off x="5212080" y="1188720"/>
            <a:ext cx="3474720" cy="2560320"/>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chemeClr val="tx2"/>
                </a:solidFill>
              </a:rPr>
              <a:t>Three terminals: </a:t>
            </a:r>
            <a:pPr indent="0" marL="0">
              <a:spcAft>
                <a:spcPts val="600"/>
              </a:spcAft>
              <a:buNone/>
            </a:pPr>
            <a:r>
              <a:rPr lang="en-US" sz="1400" dirty="0">
                <a:solidFill>
                  <a:schemeClr val="tx1"/>
                </a:solidFill>
              </a:rPr>
              <a:t>Emitter, Base, Collector; npn or pnp.</a:t>
            </a:r>
            <a:endParaRPr lang="en-US" sz="1400" dirty="0"/>
          </a:p>
          <a:p>
            <a:pPr marL="342900" indent="-342900">
              <a:spcAft>
                <a:spcPts val="600"/>
              </a:spcAft>
              <a:buSzPct val="100000"/>
              <a:buChar char="•"/>
            </a:pPr>
            <a:r>
              <a:rPr lang="en-US" sz="1400" b="1" dirty="0">
                <a:solidFill>
                  <a:schemeClr val="tx2"/>
                </a:solidFill>
              </a:rPr>
              <a:t>Emitter: </a:t>
            </a:r>
            <a:pPr indent="0" marL="0">
              <a:spcAft>
                <a:spcPts val="600"/>
              </a:spcAft>
              <a:buNone/>
            </a:pPr>
            <a:r>
              <a:rPr lang="en-US" sz="1400" dirty="0">
                <a:solidFill>
                  <a:schemeClr val="tx1"/>
                </a:solidFill>
              </a:rPr>
              <a:t>heavily doped, emits carriers.</a:t>
            </a:r>
            <a:endParaRPr lang="en-US" sz="1400" dirty="0"/>
          </a:p>
          <a:p>
            <a:pPr marL="342900" indent="-342900">
              <a:spcAft>
                <a:spcPts val="600"/>
              </a:spcAft>
              <a:buSzPct val="100000"/>
              <a:buChar char="•"/>
            </a:pPr>
            <a:r>
              <a:rPr lang="en-US" sz="1400" b="1" dirty="0">
                <a:solidFill>
                  <a:schemeClr val="tx2"/>
                </a:solidFill>
              </a:rPr>
              <a:t>Base: </a:t>
            </a:r>
            <a:pPr indent="0" marL="0">
              <a:spcAft>
                <a:spcPts val="600"/>
              </a:spcAft>
              <a:buNone/>
            </a:pPr>
            <a:r>
              <a:rPr lang="en-US" sz="1400" dirty="0">
                <a:solidFill>
                  <a:schemeClr val="tx1"/>
                </a:solidFill>
              </a:rPr>
              <a:t>thin, lightly doped, so little recombination.</a:t>
            </a:r>
            <a:endParaRPr lang="en-US" sz="1400" dirty="0"/>
          </a:p>
          <a:p>
            <a:pPr marL="342900" indent="-342900">
              <a:spcAft>
                <a:spcPts val="600"/>
              </a:spcAft>
              <a:buSzPct val="100000"/>
              <a:buChar char="•"/>
            </a:pPr>
            <a:r>
              <a:rPr lang="en-US" sz="1400" b="1" dirty="0">
                <a:solidFill>
                  <a:schemeClr val="tx2"/>
                </a:solidFill>
              </a:rPr>
              <a:t>Collector: </a:t>
            </a:r>
            <a:pPr indent="0" marL="0">
              <a:spcAft>
                <a:spcPts val="600"/>
              </a:spcAft>
              <a:buNone/>
            </a:pPr>
            <a:r>
              <a:rPr lang="en-US" sz="1400" dirty="0">
                <a:solidFill>
                  <a:schemeClr val="tx1"/>
                </a:solidFill>
              </a:rPr>
              <a:t>widest region, collects carriers.</a:t>
            </a:r>
            <a:endParaRPr lang="en-US" sz="1400" dirty="0"/>
          </a:p>
        </p:txBody>
      </p:sp>
      <p:sp>
        <p:nvSpPr>
          <p:cNvPr id="7" name="Result strip"/>
          <p:cNvSpPr/>
          <p:nvPr/>
        </p:nvSpPr>
        <p:spPr>
          <a:xfrm>
            <a:off x="457200" y="3657600"/>
            <a:ext cx="8229600" cy="822960"/>
          </a:xfrm>
          <a:prstGeom prst="roundRect">
            <a:avLst>
              <a:gd name="adj" fmla="val 8889"/>
            </a:avLst>
          </a:prstGeom>
          <a:solidFill>
            <a:schemeClr val="tx2"/>
          </a:solidFill>
          <a:ln/>
        </p:spPr>
      </p:sp>
      <p:sp>
        <p:nvSpPr>
          <p:cNvPr id="8" name="Text 5"/>
          <p:cNvSpPr txBox="1"/>
          <p:nvPr/>
        </p:nvSpPr>
        <p:spPr>
          <a:xfrm>
            <a:off x="640080" y="3657600"/>
            <a:ext cx="7863840" cy="822960"/>
          </a:xfrm>
          <a:prstGeom prst="rect">
            <a:avLst/>
          </a:prstGeom>
          <a:noFill/>
          <a:ln/>
        </p:spPr>
        <p:txBody>
          <a:bodyPr wrap="square" lIns="0" tIns="0" rIns="0" bIns="0" rtlCol="0" anchor="ctr"/>
          <a:lstStyle/>
          <a:p>
            <a:pPr indent="0" marL="0">
              <a:buNone/>
            </a:pPr>
            <a:r>
              <a:rPr lang="en-US" sz="1500" b="1" dirty="0">
                <a:solidFill>
                  <a:schemeClr val="bg1"/>
                </a:solidFill>
              </a:rPr>
              <a:t>Active mode: emitter-base forward biased (VBE ≈ 0.7 V Si, 0.3 V Ge), collector-base reverse biased (VCC &gt; VBB).</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Transistor currents and gains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U4</a:t>
            </a:r>
            <a:endParaRPr lang="en-US" sz="1600" dirty="0"/>
          </a:p>
        </p:txBody>
      </p:sp>
      <p:sp>
        <p:nvSpPr>
          <p:cNvPr id="5" name="Formula"/>
          <p:cNvSpPr/>
          <p:nvPr/>
        </p:nvSpPr>
        <p:spPr>
          <a:xfrm>
            <a:off x="457200" y="1188720"/>
            <a:ext cx="2606040" cy="731520"/>
          </a:xfrm>
          <a:prstGeom prst="roundRect">
            <a:avLst>
              <a:gd name="adj" fmla="val 10000"/>
            </a:avLst>
          </a:prstGeom>
          <a:solidFill>
            <a:schemeClr val="tx2"/>
          </a:solidFill>
          <a:ln/>
        </p:spPr>
      </p:sp>
      <p:sp>
        <p:nvSpPr>
          <p:cNvPr id="6" name="Text 4"/>
          <p:cNvSpPr txBox="1"/>
          <p:nvPr/>
        </p:nvSpPr>
        <p:spPr>
          <a:xfrm>
            <a:off x="457200" y="1188720"/>
            <a:ext cx="2606040" cy="731520"/>
          </a:xfrm>
          <a:prstGeom prst="rect">
            <a:avLst/>
          </a:prstGeom>
          <a:noFill/>
          <a:ln/>
        </p:spPr>
        <p:txBody>
          <a:bodyPr wrap="square" lIns="635" tIns="635" rIns="635" bIns="635"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IE = IB + IC</a:t>
            </a:r>
            <a:endParaRPr lang="en-US" sz="2200" dirty="0"/>
          </a:p>
        </p:txBody>
      </p:sp>
      <p:sp>
        <p:nvSpPr>
          <p:cNvPr id="7" name="Formula"/>
          <p:cNvSpPr/>
          <p:nvPr/>
        </p:nvSpPr>
        <p:spPr>
          <a:xfrm>
            <a:off x="3268980" y="1188720"/>
            <a:ext cx="2606040" cy="731520"/>
          </a:xfrm>
          <a:prstGeom prst="roundRect">
            <a:avLst>
              <a:gd name="adj" fmla="val 10000"/>
            </a:avLst>
          </a:prstGeom>
          <a:solidFill>
            <a:schemeClr val="tx2"/>
          </a:solidFill>
          <a:ln/>
        </p:spPr>
      </p:sp>
      <p:sp>
        <p:nvSpPr>
          <p:cNvPr id="8" name="Text 6"/>
          <p:cNvSpPr txBox="1"/>
          <p:nvPr/>
        </p:nvSpPr>
        <p:spPr>
          <a:xfrm>
            <a:off x="3268980" y="1188720"/>
            <a:ext cx="2606040" cy="731520"/>
          </a:xfrm>
          <a:prstGeom prst="rect">
            <a:avLst/>
          </a:prstGeom>
          <a:noFill/>
          <a:ln/>
        </p:spPr>
        <p:txBody>
          <a:bodyPr wrap="square" lIns="635" tIns="635" rIns="635" bIns="635"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α = IC / IE</a:t>
            </a:r>
            <a:endParaRPr lang="en-US" sz="2200" dirty="0"/>
          </a:p>
        </p:txBody>
      </p:sp>
      <p:sp>
        <p:nvSpPr>
          <p:cNvPr id="9" name="Formula"/>
          <p:cNvSpPr/>
          <p:nvPr/>
        </p:nvSpPr>
        <p:spPr>
          <a:xfrm>
            <a:off x="6080760" y="1188720"/>
            <a:ext cx="2606040" cy="731520"/>
          </a:xfrm>
          <a:prstGeom prst="roundRect">
            <a:avLst>
              <a:gd name="adj" fmla="val 10000"/>
            </a:avLst>
          </a:prstGeom>
          <a:solidFill>
            <a:schemeClr val="tx2"/>
          </a:solidFill>
          <a:ln/>
        </p:spPr>
      </p:sp>
      <p:sp>
        <p:nvSpPr>
          <p:cNvPr id="10" name="Text 8"/>
          <p:cNvSpPr txBox="1"/>
          <p:nvPr/>
        </p:nvSpPr>
        <p:spPr>
          <a:xfrm>
            <a:off x="6080760" y="1188720"/>
            <a:ext cx="2606040" cy="731520"/>
          </a:xfrm>
          <a:prstGeom prst="rect">
            <a:avLst/>
          </a:prstGeom>
          <a:noFill/>
          <a:ln/>
        </p:spPr>
        <p:txBody>
          <a:bodyPr wrap="square" lIns="635" tIns="635" rIns="635" bIns="635"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β = IC / IB</a:t>
            </a:r>
            <a:endParaRPr lang="en-US" sz="2200" dirty="0"/>
          </a:p>
        </p:txBody>
      </p:sp>
      <p:sp>
        <p:nvSpPr>
          <p:cNvPr id="11" name="Text 9"/>
          <p:cNvSpPr txBox="1"/>
          <p:nvPr/>
        </p:nvSpPr>
        <p:spPr>
          <a:xfrm>
            <a:off x="457200" y="2103120"/>
            <a:ext cx="8229600" cy="822960"/>
          </a:xfrm>
          <a:prstGeom prst="rect">
            <a:avLst/>
          </a:prstGeom>
          <a:noFill/>
          <a:ln/>
        </p:spPr>
        <p:txBody>
          <a:bodyPr wrap="square" lIns="0" tIns="0" rIns="0" bIns="0" rtlCol="0" anchor="t"/>
          <a:lstStyle/>
          <a:p>
            <a:pPr marL="342900" indent="-342900">
              <a:spcAft>
                <a:spcPts val="600"/>
              </a:spcAft>
              <a:buSzPct val="100000"/>
              <a:buChar char="•"/>
            </a:pPr>
            <a:r>
              <a:rPr lang="en-US" sz="1500" b="1" dirty="0">
                <a:solidFill>
                  <a:schemeClr val="tx2"/>
                </a:solidFill>
              </a:rPr>
              <a:t>α </a:t>
            </a:r>
            <a:pPr indent="0" marL="0">
              <a:spcAft>
                <a:spcPts val="600"/>
              </a:spcAft>
              <a:buNone/>
            </a:pPr>
            <a:r>
              <a:rPr lang="en-US" sz="1500" dirty="0">
                <a:solidFill>
                  <a:schemeClr val="tx1"/>
                </a:solidFill>
              </a:rPr>
              <a:t>is 0.95 to 0.99 (close to 1); β is typically 20 to 500.</a:t>
            </a:r>
            <a:endParaRPr lang="en-US" sz="1500" dirty="0"/>
          </a:p>
          <a:p>
            <a:pPr marL="342900" indent="-342900">
              <a:spcAft>
                <a:spcPts val="600"/>
              </a:spcAft>
              <a:buSzPct val="100000"/>
              <a:buChar char="•"/>
            </a:pPr>
            <a:r>
              <a:rPr lang="en-US" sz="1500" b="1" dirty="0">
                <a:solidFill>
                  <a:schemeClr val="tx2"/>
                </a:solidFill>
              </a:rPr>
              <a:t>Relation: </a:t>
            </a:r>
            <a:pPr indent="0" marL="0">
              <a:spcAft>
                <a:spcPts val="600"/>
              </a:spcAft>
              <a:buNone/>
            </a:pPr>
            <a:r>
              <a:rPr lang="en-US" sz="1500" dirty="0">
                <a:solidFill>
                  <a:schemeClr val="tx1"/>
                </a:solidFill>
              </a:rPr>
              <a:t>β = α / (1 − α) and IE = (β + 1) IB.</a:t>
            </a:r>
            <a:endParaRPr lang="en-US" sz="1500" dirty="0"/>
          </a:p>
        </p:txBody>
      </p:sp>
      <p:sp>
        <p:nvSpPr>
          <p:cNvPr id="12" name="Card"/>
          <p:cNvSpPr/>
          <p:nvPr/>
        </p:nvSpPr>
        <p:spPr>
          <a:xfrm>
            <a:off x="457200" y="3017520"/>
            <a:ext cx="8229600" cy="1554480"/>
          </a:xfrm>
          <a:prstGeom prst="roundRect">
            <a:avLst>
              <a:gd name="adj" fmla="val 4706"/>
            </a:avLst>
          </a:prstGeom>
          <a:solidFill>
            <a:schemeClr val="bg2"/>
          </a:solidFill>
          <a:ln/>
        </p:spPr>
      </p:sp>
      <p:sp>
        <p:nvSpPr>
          <p:cNvPr id="13" name="Text 11"/>
          <p:cNvSpPr txBox="1"/>
          <p:nvPr/>
        </p:nvSpPr>
        <p:spPr>
          <a:xfrm>
            <a:off x="594360" y="3108960"/>
            <a:ext cx="7955280" cy="365760"/>
          </a:xfrm>
          <a:prstGeom prst="rect">
            <a:avLst/>
          </a:prstGeom>
          <a:noFill/>
          <a:ln/>
        </p:spPr>
        <p:txBody>
          <a:bodyPr wrap="square" lIns="0" tIns="0" rIns="0" bIns="0" rtlCol="0" anchor="ctr"/>
          <a:lstStyle/>
          <a:p>
            <a:pPr indent="0" marL="0">
              <a:buNone/>
            </a:pPr>
            <a:r>
              <a:rPr lang="en-US" sz="1700" b="1" dirty="0">
                <a:solidFill>
                  <a:schemeClr val="tx2"/>
                </a:solidFill>
              </a:rPr>
              <a:t>Example: IB = 0.08 mA, IE = 9.60 mA</a:t>
            </a:r>
            <a:endParaRPr lang="en-US" sz="1700" dirty="0"/>
          </a:p>
        </p:txBody>
      </p:sp>
      <p:sp>
        <p:nvSpPr>
          <p:cNvPr id="14" name="Text 12"/>
          <p:cNvSpPr txBox="1"/>
          <p:nvPr/>
        </p:nvSpPr>
        <p:spPr>
          <a:xfrm>
            <a:off x="594360" y="3493008"/>
            <a:ext cx="7955280" cy="1005840"/>
          </a:xfrm>
          <a:prstGeom prst="rect">
            <a:avLst/>
          </a:prstGeom>
          <a:noFill/>
          <a:ln/>
        </p:spPr>
        <p:txBody>
          <a:bodyPr wrap="square" lIns="0" tIns="0" rIns="0" bIns="0" rtlCol="0" anchor="t"/>
          <a:lstStyle/>
          <a:p>
            <a:pPr indent="0" marL="0">
              <a:spcAft>
                <a:spcPts val="300"/>
              </a:spcAft>
              <a:buNone/>
            </a:pPr>
            <a:r>
              <a:rPr lang="en-US" sz="1600" dirty="0">
                <a:solidFill>
                  <a:schemeClr val="tx1"/>
                </a:solidFill>
              </a:rPr>
              <a:t>IC = IE − IB = 9.52 mA      α = 9.52 / 9.60 = 0.9917      β = 9.52 / 0.08 = 119</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Configurations and the transistor switch</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U4</a:t>
            </a:r>
            <a:endParaRPr lang="en-US" sz="1600" dirty="0"/>
          </a:p>
        </p:txBody>
      </p:sp>
      <p:sp>
        <p:nvSpPr>
          <p:cNvPr id="5" name="Card"/>
          <p:cNvSpPr/>
          <p:nvPr/>
        </p:nvSpPr>
        <p:spPr>
          <a:xfrm>
            <a:off x="457200" y="1188720"/>
            <a:ext cx="2606040" cy="1371600"/>
          </a:xfrm>
          <a:prstGeom prst="roundRect">
            <a:avLst>
              <a:gd name="adj" fmla="val 5333"/>
            </a:avLst>
          </a:prstGeom>
          <a:solidFill>
            <a:schemeClr val="bg2"/>
          </a:solidFill>
          <a:ln/>
        </p:spPr>
      </p:sp>
      <p:sp>
        <p:nvSpPr>
          <p:cNvPr id="6" name="Text 4"/>
          <p:cNvSpPr txBox="1"/>
          <p:nvPr/>
        </p:nvSpPr>
        <p:spPr>
          <a:xfrm>
            <a:off x="594360" y="1280160"/>
            <a:ext cx="2331720" cy="365760"/>
          </a:xfrm>
          <a:prstGeom prst="rect">
            <a:avLst/>
          </a:prstGeom>
          <a:noFill/>
          <a:ln/>
        </p:spPr>
        <p:txBody>
          <a:bodyPr wrap="square" lIns="0" tIns="0" rIns="0" bIns="0" rtlCol="0" anchor="ctr"/>
          <a:lstStyle/>
          <a:p>
            <a:pPr indent="0" marL="0">
              <a:buNone/>
            </a:pPr>
            <a:r>
              <a:rPr lang="en-US" sz="1600" b="1" dirty="0">
                <a:solidFill>
                  <a:schemeClr val="tx2"/>
                </a:solidFill>
              </a:rPr>
              <a:t>Common base</a:t>
            </a:r>
            <a:endParaRPr lang="en-US" sz="1600" dirty="0"/>
          </a:p>
        </p:txBody>
      </p:sp>
      <p:sp>
        <p:nvSpPr>
          <p:cNvPr id="7" name="Text 5"/>
          <p:cNvSpPr txBox="1"/>
          <p:nvPr/>
        </p:nvSpPr>
        <p:spPr>
          <a:xfrm>
            <a:off x="594360" y="1664208"/>
            <a:ext cx="2331720" cy="822960"/>
          </a:xfrm>
          <a:prstGeom prst="rect">
            <a:avLst/>
          </a:prstGeom>
          <a:noFill/>
          <a:ln/>
        </p:spPr>
        <p:txBody>
          <a:bodyPr wrap="square" lIns="0" tIns="0" rIns="0" bIns="0" rtlCol="0" anchor="t"/>
          <a:lstStyle/>
          <a:p>
            <a:pPr indent="0" marL="0">
              <a:spcAft>
                <a:spcPts val="300"/>
              </a:spcAft>
              <a:buNone/>
            </a:pPr>
            <a:r>
              <a:rPr lang="en-US" sz="1600" dirty="0">
                <a:solidFill>
                  <a:schemeClr val="tx1"/>
                </a:solidFill>
              </a:rPr>
              <a:t>Voltage gain, no current gain</a:t>
            </a:r>
            <a:endParaRPr lang="en-US" sz="1600" dirty="0"/>
          </a:p>
        </p:txBody>
      </p:sp>
      <p:sp>
        <p:nvSpPr>
          <p:cNvPr id="8" name="Card"/>
          <p:cNvSpPr/>
          <p:nvPr/>
        </p:nvSpPr>
        <p:spPr>
          <a:xfrm>
            <a:off x="3268980" y="1188720"/>
            <a:ext cx="2606040" cy="1371600"/>
          </a:xfrm>
          <a:prstGeom prst="roundRect">
            <a:avLst>
              <a:gd name="adj" fmla="val 5333"/>
            </a:avLst>
          </a:prstGeom>
          <a:solidFill>
            <a:schemeClr val="bg2"/>
          </a:solidFill>
          <a:ln/>
        </p:spPr>
      </p:sp>
      <p:sp>
        <p:nvSpPr>
          <p:cNvPr id="9" name="Text 7"/>
          <p:cNvSpPr txBox="1"/>
          <p:nvPr/>
        </p:nvSpPr>
        <p:spPr>
          <a:xfrm>
            <a:off x="3406140" y="1280160"/>
            <a:ext cx="2331720" cy="365760"/>
          </a:xfrm>
          <a:prstGeom prst="rect">
            <a:avLst/>
          </a:prstGeom>
          <a:noFill/>
          <a:ln/>
        </p:spPr>
        <p:txBody>
          <a:bodyPr wrap="square" lIns="0" tIns="0" rIns="0" bIns="0" rtlCol="0" anchor="ctr"/>
          <a:lstStyle/>
          <a:p>
            <a:pPr indent="0" marL="0">
              <a:buNone/>
            </a:pPr>
            <a:r>
              <a:rPr lang="en-US" sz="1600" b="1" dirty="0">
                <a:solidFill>
                  <a:schemeClr val="tx2"/>
                </a:solidFill>
              </a:rPr>
              <a:t>Common emitter</a:t>
            </a:r>
            <a:endParaRPr lang="en-US" sz="1600" dirty="0"/>
          </a:p>
        </p:txBody>
      </p:sp>
      <p:sp>
        <p:nvSpPr>
          <p:cNvPr id="10" name="Text 8"/>
          <p:cNvSpPr txBox="1"/>
          <p:nvPr/>
        </p:nvSpPr>
        <p:spPr>
          <a:xfrm>
            <a:off x="3406140" y="1664208"/>
            <a:ext cx="2331720" cy="822960"/>
          </a:xfrm>
          <a:prstGeom prst="rect">
            <a:avLst/>
          </a:prstGeom>
          <a:noFill/>
          <a:ln/>
        </p:spPr>
        <p:txBody>
          <a:bodyPr wrap="square" lIns="0" tIns="0" rIns="0" bIns="0" rtlCol="0" anchor="t"/>
          <a:lstStyle/>
          <a:p>
            <a:pPr indent="0" marL="0">
              <a:spcAft>
                <a:spcPts val="300"/>
              </a:spcAft>
              <a:buNone/>
            </a:pPr>
            <a:r>
              <a:rPr lang="en-US" sz="1600" dirty="0">
                <a:solidFill>
                  <a:schemeClr val="tx1"/>
                </a:solidFill>
              </a:rPr>
              <a:t>Both current and voltage gain</a:t>
            </a:r>
            <a:endParaRPr lang="en-US" sz="1600" dirty="0"/>
          </a:p>
        </p:txBody>
      </p:sp>
      <p:sp>
        <p:nvSpPr>
          <p:cNvPr id="11" name="Card"/>
          <p:cNvSpPr/>
          <p:nvPr/>
        </p:nvSpPr>
        <p:spPr>
          <a:xfrm>
            <a:off x="6080760" y="1188720"/>
            <a:ext cx="2606040" cy="1371600"/>
          </a:xfrm>
          <a:prstGeom prst="roundRect">
            <a:avLst>
              <a:gd name="adj" fmla="val 5333"/>
            </a:avLst>
          </a:prstGeom>
          <a:solidFill>
            <a:schemeClr val="bg2"/>
          </a:solidFill>
          <a:ln/>
        </p:spPr>
      </p:sp>
      <p:sp>
        <p:nvSpPr>
          <p:cNvPr id="12" name="Text 10"/>
          <p:cNvSpPr txBox="1"/>
          <p:nvPr/>
        </p:nvSpPr>
        <p:spPr>
          <a:xfrm>
            <a:off x="6217920" y="1280160"/>
            <a:ext cx="2331720" cy="365760"/>
          </a:xfrm>
          <a:prstGeom prst="rect">
            <a:avLst/>
          </a:prstGeom>
          <a:noFill/>
          <a:ln/>
        </p:spPr>
        <p:txBody>
          <a:bodyPr wrap="square" lIns="0" tIns="0" rIns="0" bIns="0" rtlCol="0" anchor="ctr"/>
          <a:lstStyle/>
          <a:p>
            <a:pPr indent="0" marL="0">
              <a:buNone/>
            </a:pPr>
            <a:r>
              <a:rPr lang="en-US" sz="1600" b="1" dirty="0">
                <a:solidFill>
                  <a:schemeClr val="tx2"/>
                </a:solidFill>
              </a:rPr>
              <a:t>Common collector</a:t>
            </a:r>
            <a:endParaRPr lang="en-US" sz="1600" dirty="0"/>
          </a:p>
        </p:txBody>
      </p:sp>
      <p:sp>
        <p:nvSpPr>
          <p:cNvPr id="13" name="Text 11"/>
          <p:cNvSpPr txBox="1"/>
          <p:nvPr/>
        </p:nvSpPr>
        <p:spPr>
          <a:xfrm>
            <a:off x="6217920" y="1664208"/>
            <a:ext cx="2331720" cy="822960"/>
          </a:xfrm>
          <a:prstGeom prst="rect">
            <a:avLst/>
          </a:prstGeom>
          <a:noFill/>
          <a:ln/>
        </p:spPr>
        <p:txBody>
          <a:bodyPr wrap="square" lIns="0" tIns="0" rIns="0" bIns="0" rtlCol="0" anchor="t"/>
          <a:lstStyle/>
          <a:p>
            <a:pPr indent="0" marL="0">
              <a:spcAft>
                <a:spcPts val="300"/>
              </a:spcAft>
              <a:buNone/>
            </a:pPr>
            <a:r>
              <a:rPr lang="en-US" sz="1600" dirty="0">
                <a:solidFill>
                  <a:schemeClr val="tx1"/>
                </a:solidFill>
              </a:rPr>
              <a:t>Current gain, no voltage gain</a:t>
            </a:r>
            <a:endParaRPr lang="en-US" sz="1600" dirty="0"/>
          </a:p>
        </p:txBody>
      </p:sp>
      <p:sp>
        <p:nvSpPr>
          <p:cNvPr id="14" name="Card"/>
          <p:cNvSpPr/>
          <p:nvPr/>
        </p:nvSpPr>
        <p:spPr>
          <a:xfrm>
            <a:off x="457200" y="2743200"/>
            <a:ext cx="3977640" cy="1828800"/>
          </a:xfrm>
          <a:prstGeom prst="roundRect">
            <a:avLst>
              <a:gd name="adj" fmla="val 4000"/>
            </a:avLst>
          </a:prstGeom>
          <a:solidFill>
            <a:schemeClr val="bg2"/>
          </a:solidFill>
          <a:ln/>
        </p:spPr>
      </p:sp>
      <p:sp>
        <p:nvSpPr>
          <p:cNvPr id="15" name="Text 13"/>
          <p:cNvSpPr txBox="1"/>
          <p:nvPr/>
        </p:nvSpPr>
        <p:spPr>
          <a:xfrm>
            <a:off x="594360" y="2834640"/>
            <a:ext cx="3703320" cy="365760"/>
          </a:xfrm>
          <a:prstGeom prst="rect">
            <a:avLst/>
          </a:prstGeom>
          <a:noFill/>
          <a:ln/>
        </p:spPr>
        <p:txBody>
          <a:bodyPr wrap="square" lIns="0" tIns="0" rIns="0" bIns="0" rtlCol="0" anchor="ctr"/>
          <a:lstStyle/>
          <a:p>
            <a:pPr indent="0" marL="0">
              <a:buNone/>
            </a:pPr>
            <a:r>
              <a:rPr lang="en-US" sz="1700" b="1" dirty="0">
                <a:solidFill>
                  <a:schemeClr val="tx2"/>
                </a:solidFill>
              </a:rPr>
              <a:t>OFF: cut-off</a:t>
            </a:r>
            <a:endParaRPr lang="en-US" sz="1700" dirty="0"/>
          </a:p>
        </p:txBody>
      </p:sp>
      <p:sp>
        <p:nvSpPr>
          <p:cNvPr id="16" name="Text 14"/>
          <p:cNvSpPr txBox="1"/>
          <p:nvPr/>
        </p:nvSpPr>
        <p:spPr>
          <a:xfrm>
            <a:off x="594360" y="3218688"/>
            <a:ext cx="3703320" cy="1280160"/>
          </a:xfrm>
          <a:prstGeom prst="rect">
            <a:avLst/>
          </a:prstGeom>
          <a:noFill/>
          <a:ln/>
        </p:spPr>
        <p:txBody>
          <a:bodyPr wrap="square" lIns="0" tIns="0" rIns="0" bIns="0" rtlCol="0" anchor="t"/>
          <a:lstStyle/>
          <a:p>
            <a:pPr indent="0" marL="0">
              <a:spcAft>
                <a:spcPts val="300"/>
              </a:spcAft>
              <a:buNone/>
            </a:pPr>
            <a:r>
              <a:rPr lang="en-US" sz="1600" dirty="0">
                <a:solidFill>
                  <a:schemeClr val="tx1"/>
                </a:solidFill>
              </a:rPr>
              <a:t>VBB = 0, IB = 0, IC = 0. Open switch. Operating point in cut-off.</a:t>
            </a:r>
            <a:endParaRPr lang="en-US" sz="1600" dirty="0"/>
          </a:p>
        </p:txBody>
      </p:sp>
      <p:sp>
        <p:nvSpPr>
          <p:cNvPr id="17" name="Card"/>
          <p:cNvSpPr/>
          <p:nvPr/>
        </p:nvSpPr>
        <p:spPr>
          <a:xfrm>
            <a:off x="4709160" y="2743200"/>
            <a:ext cx="3977640" cy="1828800"/>
          </a:xfrm>
          <a:prstGeom prst="roundRect">
            <a:avLst>
              <a:gd name="adj" fmla="val 4000"/>
            </a:avLst>
          </a:prstGeom>
          <a:solidFill>
            <a:schemeClr val="tx2"/>
          </a:solidFill>
          <a:ln/>
        </p:spPr>
      </p:sp>
      <p:sp>
        <p:nvSpPr>
          <p:cNvPr id="18" name="Text 16"/>
          <p:cNvSpPr txBox="1"/>
          <p:nvPr/>
        </p:nvSpPr>
        <p:spPr>
          <a:xfrm>
            <a:off x="4846320" y="2834640"/>
            <a:ext cx="3703320" cy="365760"/>
          </a:xfrm>
          <a:prstGeom prst="rect">
            <a:avLst/>
          </a:prstGeom>
          <a:noFill/>
          <a:ln/>
        </p:spPr>
        <p:txBody>
          <a:bodyPr wrap="square" lIns="0" tIns="0" rIns="0" bIns="0" rtlCol="0" anchor="ctr"/>
          <a:lstStyle/>
          <a:p>
            <a:pPr indent="0" marL="0">
              <a:buNone/>
            </a:pPr>
            <a:r>
              <a:rPr lang="en-US" sz="1700" b="1" dirty="0">
                <a:solidFill>
                  <a:schemeClr val="accent1"/>
                </a:solidFill>
              </a:rPr>
              <a:t>ON: saturation</a:t>
            </a:r>
            <a:endParaRPr lang="en-US" sz="1700" dirty="0"/>
          </a:p>
        </p:txBody>
      </p:sp>
      <p:sp>
        <p:nvSpPr>
          <p:cNvPr id="19" name="Text 17"/>
          <p:cNvSpPr txBox="1"/>
          <p:nvPr/>
        </p:nvSpPr>
        <p:spPr>
          <a:xfrm>
            <a:off x="4846320" y="3218688"/>
            <a:ext cx="3703320" cy="1280160"/>
          </a:xfrm>
          <a:prstGeom prst="rect">
            <a:avLst/>
          </a:prstGeom>
          <a:noFill/>
          <a:ln/>
        </p:spPr>
        <p:txBody>
          <a:bodyPr wrap="square" lIns="0" tIns="0" rIns="0" bIns="0" rtlCol="0" anchor="t"/>
          <a:lstStyle/>
          <a:p>
            <a:pPr indent="0" marL="0">
              <a:spcAft>
                <a:spcPts val="300"/>
              </a:spcAft>
              <a:buNone/>
            </a:pPr>
            <a:r>
              <a:rPr lang="en-US" sz="1600" dirty="0">
                <a:solidFill>
                  <a:schemeClr val="bg1"/>
                </a:solidFill>
              </a:rPr>
              <a:t>VBB &gt; 0, IB flows. Both junctions forward biased. Closed switch. Example: a 2 s square wave blinks an LED, 1 s on, 1 s off.</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Enhancement-type MOSFET</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U4</a:t>
            </a:r>
            <a:endParaRPr lang="en-US" sz="1600" dirty="0"/>
          </a:p>
        </p:txBody>
      </p:sp>
      <p:sp>
        <p:nvSpPr>
          <p:cNvPr id="5" name="Text 3"/>
          <p:cNvSpPr txBox="1"/>
          <p:nvPr/>
        </p:nvSpPr>
        <p:spPr>
          <a:xfrm>
            <a:off x="457200" y="1188720"/>
            <a:ext cx="8229600" cy="822960"/>
          </a:xfrm>
          <a:prstGeom prst="rect">
            <a:avLst/>
          </a:prstGeom>
          <a:noFill/>
          <a:ln/>
        </p:spPr>
        <p:txBody>
          <a:bodyPr wrap="square" lIns="0" tIns="0" rIns="0" bIns="0" rtlCol="0" anchor="t"/>
          <a:lstStyle/>
          <a:p>
            <a:pPr marL="342900" indent="-342900">
              <a:spcAft>
                <a:spcPts val="600"/>
              </a:spcAft>
              <a:buSzPct val="100000"/>
              <a:buChar char="•"/>
            </a:pPr>
            <a:r>
              <a:rPr lang="en-US" sz="1500" b="1" dirty="0">
                <a:solidFill>
                  <a:schemeClr val="tx2"/>
                </a:solidFill>
              </a:rPr>
              <a:t>Structure: </a:t>
            </a:r>
            <a:pPr indent="0" marL="0">
              <a:spcAft>
                <a:spcPts val="600"/>
              </a:spcAft>
              <a:buNone/>
            </a:pPr>
            <a:r>
              <a:rPr lang="en-US" sz="1500" dirty="0">
                <a:solidFill>
                  <a:schemeClr val="tx1"/>
                </a:solidFill>
              </a:rPr>
              <a:t>p-type substrate, two n+ regions (source, drain); gate insulated by a thin SiO2 layer, so no gate current. Four terminals: G, D, S, SS.</a:t>
            </a:r>
            <a:endParaRPr lang="en-US" sz="1500" dirty="0"/>
          </a:p>
        </p:txBody>
      </p:sp>
      <p:sp>
        <p:nvSpPr>
          <p:cNvPr id="6" name="Card"/>
          <p:cNvSpPr/>
          <p:nvPr/>
        </p:nvSpPr>
        <p:spPr>
          <a:xfrm>
            <a:off x="457200" y="2103120"/>
            <a:ext cx="2606040" cy="2468880"/>
          </a:xfrm>
          <a:prstGeom prst="roundRect">
            <a:avLst>
              <a:gd name="adj" fmla="val 2963"/>
            </a:avLst>
          </a:prstGeom>
          <a:solidFill>
            <a:schemeClr val="bg2"/>
          </a:solidFill>
          <a:ln/>
        </p:spPr>
      </p:sp>
      <p:sp>
        <p:nvSpPr>
          <p:cNvPr id="7" name="Text 5"/>
          <p:cNvSpPr txBox="1"/>
          <p:nvPr/>
        </p:nvSpPr>
        <p:spPr>
          <a:xfrm>
            <a:off x="594360" y="2194560"/>
            <a:ext cx="2331720" cy="365760"/>
          </a:xfrm>
          <a:prstGeom prst="rect">
            <a:avLst/>
          </a:prstGeom>
          <a:noFill/>
          <a:ln/>
        </p:spPr>
        <p:txBody>
          <a:bodyPr wrap="square" lIns="0" tIns="0" rIns="0" bIns="0" rtlCol="0" anchor="ctr"/>
          <a:lstStyle/>
          <a:p>
            <a:pPr indent="0" marL="0">
              <a:buNone/>
            </a:pPr>
            <a:r>
              <a:rPr lang="en-US" sz="1700" b="1" dirty="0">
                <a:solidFill>
                  <a:schemeClr val="tx2"/>
                </a:solidFill>
              </a:rPr>
              <a:t>1. VGS &lt; VT</a:t>
            </a:r>
            <a:endParaRPr lang="en-US" sz="1700" dirty="0"/>
          </a:p>
        </p:txBody>
      </p:sp>
      <p:sp>
        <p:nvSpPr>
          <p:cNvPr id="8" name="Text 6"/>
          <p:cNvSpPr txBox="1"/>
          <p:nvPr/>
        </p:nvSpPr>
        <p:spPr>
          <a:xfrm>
            <a:off x="594360" y="2578608"/>
            <a:ext cx="2331720" cy="1920240"/>
          </a:xfrm>
          <a:prstGeom prst="rect">
            <a:avLst/>
          </a:prstGeom>
          <a:noFill/>
          <a:ln/>
        </p:spPr>
        <p:txBody>
          <a:bodyPr wrap="square" lIns="0" tIns="0" rIns="0" bIns="0" rtlCol="0" anchor="t"/>
          <a:lstStyle/>
          <a:p>
            <a:pPr indent="0" marL="0">
              <a:spcAft>
                <a:spcPts val="300"/>
              </a:spcAft>
              <a:buNone/>
            </a:pPr>
            <a:r>
              <a:rPr lang="en-US" sz="1600" dirty="0">
                <a:solidFill>
                  <a:schemeClr val="tx1"/>
                </a:solidFill>
              </a:rPr>
              <a:t>No channel exists, so ID = 0 mA.</a:t>
            </a:r>
            <a:endParaRPr lang="en-US" sz="1600" dirty="0"/>
          </a:p>
        </p:txBody>
      </p:sp>
      <p:sp>
        <p:nvSpPr>
          <p:cNvPr id="9" name="Card"/>
          <p:cNvSpPr/>
          <p:nvPr/>
        </p:nvSpPr>
        <p:spPr>
          <a:xfrm>
            <a:off x="3268980" y="2103120"/>
            <a:ext cx="2606040" cy="2468880"/>
          </a:xfrm>
          <a:prstGeom prst="roundRect">
            <a:avLst>
              <a:gd name="adj" fmla="val 2963"/>
            </a:avLst>
          </a:prstGeom>
          <a:solidFill>
            <a:schemeClr val="bg2"/>
          </a:solidFill>
          <a:ln/>
        </p:spPr>
      </p:sp>
      <p:sp>
        <p:nvSpPr>
          <p:cNvPr id="10" name="Text 8"/>
          <p:cNvSpPr txBox="1"/>
          <p:nvPr/>
        </p:nvSpPr>
        <p:spPr>
          <a:xfrm>
            <a:off x="3406140" y="2194560"/>
            <a:ext cx="2331720" cy="365760"/>
          </a:xfrm>
          <a:prstGeom prst="rect">
            <a:avLst/>
          </a:prstGeom>
          <a:noFill/>
          <a:ln/>
        </p:spPr>
        <p:txBody>
          <a:bodyPr wrap="square" lIns="0" tIns="0" rIns="0" bIns="0" rtlCol="0" anchor="ctr"/>
          <a:lstStyle/>
          <a:p>
            <a:pPr indent="0" marL="0">
              <a:buNone/>
            </a:pPr>
            <a:r>
              <a:rPr lang="en-US" sz="1700" b="1" dirty="0">
                <a:solidFill>
                  <a:schemeClr val="tx2"/>
                </a:solidFill>
              </a:rPr>
              <a:t>2. VGS &gt; VT</a:t>
            </a:r>
            <a:endParaRPr lang="en-US" sz="1700" dirty="0"/>
          </a:p>
        </p:txBody>
      </p:sp>
      <p:sp>
        <p:nvSpPr>
          <p:cNvPr id="11" name="Text 9"/>
          <p:cNvSpPr txBox="1"/>
          <p:nvPr/>
        </p:nvSpPr>
        <p:spPr>
          <a:xfrm>
            <a:off x="3406140" y="2578608"/>
            <a:ext cx="2331720" cy="1920240"/>
          </a:xfrm>
          <a:prstGeom prst="rect">
            <a:avLst/>
          </a:prstGeom>
          <a:noFill/>
          <a:ln/>
        </p:spPr>
        <p:txBody>
          <a:bodyPr wrap="square" lIns="0" tIns="0" rIns="0" bIns="0" rtlCol="0" anchor="t"/>
          <a:lstStyle/>
          <a:p>
            <a:pPr indent="0" marL="0">
              <a:spcAft>
                <a:spcPts val="300"/>
              </a:spcAft>
              <a:buNone/>
            </a:pPr>
            <a:r>
              <a:rPr lang="en-US" sz="1600" dirty="0">
                <a:solidFill>
                  <a:schemeClr val="tx1"/>
                </a:solidFill>
              </a:rPr>
              <a:t>Electrons gather under the SiO2 and form an n-channel; ID rises with VGS.</a:t>
            </a:r>
            <a:endParaRPr lang="en-US" sz="1600" dirty="0"/>
          </a:p>
        </p:txBody>
      </p:sp>
      <p:sp>
        <p:nvSpPr>
          <p:cNvPr id="12" name="Card"/>
          <p:cNvSpPr/>
          <p:nvPr/>
        </p:nvSpPr>
        <p:spPr>
          <a:xfrm>
            <a:off x="6080760" y="2103120"/>
            <a:ext cx="2606040" cy="2468880"/>
          </a:xfrm>
          <a:prstGeom prst="roundRect">
            <a:avLst>
              <a:gd name="adj" fmla="val 2963"/>
            </a:avLst>
          </a:prstGeom>
          <a:solidFill>
            <a:schemeClr val="bg2"/>
          </a:solidFill>
          <a:ln/>
        </p:spPr>
      </p:sp>
      <p:sp>
        <p:nvSpPr>
          <p:cNvPr id="13" name="Text 11"/>
          <p:cNvSpPr txBox="1"/>
          <p:nvPr/>
        </p:nvSpPr>
        <p:spPr>
          <a:xfrm>
            <a:off x="6217920" y="2194560"/>
            <a:ext cx="2331720" cy="365760"/>
          </a:xfrm>
          <a:prstGeom prst="rect">
            <a:avLst/>
          </a:prstGeom>
          <a:noFill/>
          <a:ln/>
        </p:spPr>
        <p:txBody>
          <a:bodyPr wrap="square" lIns="0" tIns="0" rIns="0" bIns="0" rtlCol="0" anchor="ctr"/>
          <a:lstStyle/>
          <a:p>
            <a:pPr indent="0" marL="0">
              <a:buNone/>
            </a:pPr>
            <a:r>
              <a:rPr lang="en-US" sz="1700" b="1" dirty="0">
                <a:solidFill>
                  <a:schemeClr val="tx2"/>
                </a:solidFill>
              </a:rPr>
              <a:t>3. VDS rises</a:t>
            </a:r>
            <a:endParaRPr lang="en-US" sz="1700" dirty="0"/>
          </a:p>
        </p:txBody>
      </p:sp>
      <p:sp>
        <p:nvSpPr>
          <p:cNvPr id="14" name="Text 12"/>
          <p:cNvSpPr txBox="1"/>
          <p:nvPr/>
        </p:nvSpPr>
        <p:spPr>
          <a:xfrm>
            <a:off x="6217920" y="2578608"/>
            <a:ext cx="2331720" cy="1920240"/>
          </a:xfrm>
          <a:prstGeom prst="rect">
            <a:avLst/>
          </a:prstGeom>
          <a:noFill/>
          <a:ln/>
        </p:spPr>
        <p:txBody>
          <a:bodyPr wrap="square" lIns="0" tIns="0" rIns="0" bIns="0" rtlCol="0" anchor="t"/>
          <a:lstStyle/>
          <a:p>
            <a:pPr indent="0" marL="0">
              <a:spcAft>
                <a:spcPts val="300"/>
              </a:spcAft>
              <a:buNone/>
            </a:pPr>
            <a:r>
              <a:rPr lang="en-US" sz="1600" dirty="0">
                <a:solidFill>
                  <a:schemeClr val="tx1"/>
                </a:solidFill>
              </a:rPr>
              <a:t>Channel pinches off near the drain, ID saturates; VDS(sat) = VGS − VT.</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CMOS inverter</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U4</a:t>
            </a:r>
            <a:endParaRPr lang="en-US" sz="1600" dirty="0"/>
          </a:p>
        </p:txBody>
      </p:sp>
      <p:sp>
        <p:nvSpPr>
          <p:cNvPr id="5" name="Text 3"/>
          <p:cNvSpPr txBox="1"/>
          <p:nvPr/>
        </p:nvSpPr>
        <p:spPr>
          <a:xfrm>
            <a:off x="457200" y="1143000"/>
            <a:ext cx="8229600" cy="457200"/>
          </a:xfrm>
          <a:prstGeom prst="rect">
            <a:avLst/>
          </a:prstGeom>
          <a:noFill/>
          <a:ln/>
        </p:spPr>
        <p:txBody>
          <a:bodyPr wrap="square" lIns="0" tIns="0" rIns="0" bIns="0" rtlCol="0" anchor="ctr"/>
          <a:lstStyle/>
          <a:p>
            <a:pPr indent="0" marL="0">
              <a:buNone/>
            </a:pPr>
            <a:r>
              <a:rPr lang="en-US" sz="1500" dirty="0">
                <a:solidFill>
                  <a:schemeClr val="tx1"/>
                </a:solidFill>
              </a:rPr>
              <a:t>PMOS and NMOS share a common gate (Vin) and common drain (Vout).</a:t>
            </a:r>
            <a:endParaRPr lang="en-US" sz="1500" dirty="0"/>
          </a:p>
        </p:txBody>
      </p:sp>
      <p:sp>
        <p:nvSpPr>
          <p:cNvPr id="6" name="Stat"/>
          <p:cNvSpPr/>
          <p:nvPr/>
        </p:nvSpPr>
        <p:spPr>
          <a:xfrm>
            <a:off x="457200" y="1737360"/>
            <a:ext cx="3977640" cy="2011680"/>
          </a:xfrm>
          <a:prstGeom prst="roundRect">
            <a:avLst>
              <a:gd name="adj" fmla="val 3636"/>
            </a:avLst>
          </a:prstGeom>
          <a:solidFill>
            <a:schemeClr val="bg2"/>
          </a:solidFill>
          <a:ln/>
        </p:spPr>
      </p:sp>
      <p:sp>
        <p:nvSpPr>
          <p:cNvPr id="7" name="Text 5"/>
          <p:cNvSpPr txBox="1"/>
          <p:nvPr/>
        </p:nvSpPr>
        <p:spPr>
          <a:xfrm>
            <a:off x="457200" y="1847088"/>
            <a:ext cx="3977640" cy="905256"/>
          </a:xfrm>
          <a:prstGeom prst="rect">
            <a:avLst/>
          </a:prstGeom>
          <a:noFill/>
          <a:ln/>
        </p:spPr>
        <p:txBody>
          <a:bodyPr wrap="square" lIns="0" tIns="0" rIns="0" bIns="0" rtlCol="0" anchor="ctr"/>
          <a:lstStyle/>
          <a:p>
            <a:pPr algn="ctr" indent="0" marL="0">
              <a:buNone/>
            </a:pPr>
            <a:r>
              <a:rPr lang="en-US" sz="3000" b="1" dirty="0">
                <a:solidFill>
                  <a:schemeClr val="accent2"/>
                </a:solidFill>
                <a:latin typeface="Cambria" pitchFamily="34" charset="0"/>
                <a:ea typeface="Cambria" pitchFamily="34" charset="-122"/>
                <a:cs typeface="Cambria" pitchFamily="34" charset="-120"/>
              </a:rPr>
              <a:t>Vin = 5 V → Vout = 0 V</a:t>
            </a:r>
            <a:endParaRPr lang="en-US" sz="3000" dirty="0"/>
          </a:p>
        </p:txBody>
      </p:sp>
      <p:sp>
        <p:nvSpPr>
          <p:cNvPr id="8" name="Text 6"/>
          <p:cNvSpPr txBox="1"/>
          <p:nvPr/>
        </p:nvSpPr>
        <p:spPr>
          <a:xfrm>
            <a:off x="548640" y="2843784"/>
            <a:ext cx="3794760" cy="402336"/>
          </a:xfrm>
          <a:prstGeom prst="rect">
            <a:avLst/>
          </a:prstGeom>
          <a:noFill/>
          <a:ln/>
        </p:spPr>
        <p:txBody>
          <a:bodyPr wrap="square" lIns="0" tIns="0" rIns="0" bIns="0" rtlCol="0" anchor="ctr"/>
          <a:lstStyle/>
          <a:p>
            <a:pPr algn="ctr" indent="0" marL="0">
              <a:buNone/>
            </a:pPr>
            <a:r>
              <a:rPr lang="en-US" sz="1500" b="1" dirty="0">
                <a:solidFill>
                  <a:schemeClr val="tx1"/>
                </a:solidFill>
              </a:rPr>
              <a:t>Logic 1 in, logic 0 out</a:t>
            </a:r>
            <a:endParaRPr lang="en-US" sz="1500" dirty="0"/>
          </a:p>
        </p:txBody>
      </p:sp>
      <p:sp>
        <p:nvSpPr>
          <p:cNvPr id="9" name="Text 7"/>
          <p:cNvSpPr txBox="1"/>
          <p:nvPr/>
        </p:nvSpPr>
        <p:spPr>
          <a:xfrm>
            <a:off x="548640" y="3246120"/>
            <a:ext cx="3794760" cy="402336"/>
          </a:xfrm>
          <a:prstGeom prst="rect">
            <a:avLst/>
          </a:prstGeom>
          <a:noFill/>
          <a:ln/>
        </p:spPr>
        <p:txBody>
          <a:bodyPr wrap="square" lIns="0" tIns="0" rIns="0" bIns="0" rtlCol="0" anchor="t"/>
          <a:lstStyle/>
          <a:p>
            <a:pPr algn="ctr" indent="0" marL="0">
              <a:buNone/>
            </a:pPr>
            <a:r>
              <a:rPr lang="en-US" sz="1200" dirty="0">
                <a:solidFill>
                  <a:schemeClr val="accent4"/>
                </a:solidFill>
              </a:rPr>
              <a:t>NMOS ON (VGS = 5 V), PMOS OFF (VGS = 0 V)</a:t>
            </a:r>
            <a:endParaRPr lang="en-US" sz="1200" dirty="0"/>
          </a:p>
        </p:txBody>
      </p:sp>
      <p:sp>
        <p:nvSpPr>
          <p:cNvPr id="10" name="Stat"/>
          <p:cNvSpPr/>
          <p:nvPr/>
        </p:nvSpPr>
        <p:spPr>
          <a:xfrm>
            <a:off x="4709160" y="1737360"/>
            <a:ext cx="3977640" cy="2011680"/>
          </a:xfrm>
          <a:prstGeom prst="roundRect">
            <a:avLst>
              <a:gd name="adj" fmla="val 3636"/>
            </a:avLst>
          </a:prstGeom>
          <a:solidFill>
            <a:schemeClr val="bg2"/>
          </a:solidFill>
          <a:ln/>
        </p:spPr>
      </p:sp>
      <p:sp>
        <p:nvSpPr>
          <p:cNvPr id="11" name="Text 9"/>
          <p:cNvSpPr txBox="1"/>
          <p:nvPr/>
        </p:nvSpPr>
        <p:spPr>
          <a:xfrm>
            <a:off x="4709160" y="1847088"/>
            <a:ext cx="3977640" cy="905256"/>
          </a:xfrm>
          <a:prstGeom prst="rect">
            <a:avLst/>
          </a:prstGeom>
          <a:noFill/>
          <a:ln/>
        </p:spPr>
        <p:txBody>
          <a:bodyPr wrap="square" lIns="0" tIns="0" rIns="0" bIns="0" rtlCol="0" anchor="ctr"/>
          <a:lstStyle/>
          <a:p>
            <a:pPr algn="ctr" indent="0" marL="0">
              <a:buNone/>
            </a:pPr>
            <a:r>
              <a:rPr lang="en-US" sz="3000" b="1" dirty="0">
                <a:solidFill>
                  <a:schemeClr val="accent2"/>
                </a:solidFill>
                <a:latin typeface="Cambria" pitchFamily="34" charset="0"/>
                <a:ea typeface="Cambria" pitchFamily="34" charset="-122"/>
                <a:cs typeface="Cambria" pitchFamily="34" charset="-120"/>
              </a:rPr>
              <a:t>Vin = 0 V → Vout = 5 V</a:t>
            </a:r>
            <a:endParaRPr lang="en-US" sz="3000" dirty="0"/>
          </a:p>
        </p:txBody>
      </p:sp>
      <p:sp>
        <p:nvSpPr>
          <p:cNvPr id="12" name="Text 10"/>
          <p:cNvSpPr txBox="1"/>
          <p:nvPr/>
        </p:nvSpPr>
        <p:spPr>
          <a:xfrm>
            <a:off x="4800600" y="2843784"/>
            <a:ext cx="3794760" cy="402336"/>
          </a:xfrm>
          <a:prstGeom prst="rect">
            <a:avLst/>
          </a:prstGeom>
          <a:noFill/>
          <a:ln/>
        </p:spPr>
        <p:txBody>
          <a:bodyPr wrap="square" lIns="0" tIns="0" rIns="0" bIns="0" rtlCol="0" anchor="ctr"/>
          <a:lstStyle/>
          <a:p>
            <a:pPr algn="ctr" indent="0" marL="0">
              <a:buNone/>
            </a:pPr>
            <a:r>
              <a:rPr lang="en-US" sz="1500" b="1" dirty="0">
                <a:solidFill>
                  <a:schemeClr val="tx1"/>
                </a:solidFill>
              </a:rPr>
              <a:t>Logic 0 in, logic 1 out</a:t>
            </a:r>
            <a:endParaRPr lang="en-US" sz="1500" dirty="0"/>
          </a:p>
        </p:txBody>
      </p:sp>
      <p:sp>
        <p:nvSpPr>
          <p:cNvPr id="13" name="Text 11"/>
          <p:cNvSpPr txBox="1"/>
          <p:nvPr/>
        </p:nvSpPr>
        <p:spPr>
          <a:xfrm>
            <a:off x="4800600" y="3246120"/>
            <a:ext cx="3794760" cy="402336"/>
          </a:xfrm>
          <a:prstGeom prst="rect">
            <a:avLst/>
          </a:prstGeom>
          <a:noFill/>
          <a:ln/>
        </p:spPr>
        <p:txBody>
          <a:bodyPr wrap="square" lIns="0" tIns="0" rIns="0" bIns="0" rtlCol="0" anchor="t"/>
          <a:lstStyle/>
          <a:p>
            <a:pPr algn="ctr" indent="0" marL="0">
              <a:buNone/>
            </a:pPr>
            <a:r>
              <a:rPr lang="en-US" sz="1200" dirty="0">
                <a:solidFill>
                  <a:schemeClr val="accent4"/>
                </a:solidFill>
              </a:rPr>
              <a:t>PMOS ON (VGS = −5 V), NMOS OFF (VGS = 0 V)</a:t>
            </a:r>
            <a:endParaRPr lang="en-US" sz="1200" dirty="0"/>
          </a:p>
        </p:txBody>
      </p:sp>
      <p:sp>
        <p:nvSpPr>
          <p:cNvPr id="14" name="Result strip"/>
          <p:cNvSpPr/>
          <p:nvPr/>
        </p:nvSpPr>
        <p:spPr>
          <a:xfrm>
            <a:off x="457200" y="3931920"/>
            <a:ext cx="8229600" cy="640080"/>
          </a:xfrm>
          <a:prstGeom prst="roundRect">
            <a:avLst>
              <a:gd name="adj" fmla="val 11429"/>
            </a:avLst>
          </a:prstGeom>
          <a:solidFill>
            <a:schemeClr val="tx2"/>
          </a:solidFill>
          <a:ln/>
        </p:spPr>
      </p:sp>
      <p:sp>
        <p:nvSpPr>
          <p:cNvPr id="15" name="Text 13"/>
          <p:cNvSpPr txBox="1"/>
          <p:nvPr/>
        </p:nvSpPr>
        <p:spPr>
          <a:xfrm>
            <a:off x="640080" y="3931920"/>
            <a:ext cx="7863840" cy="640080"/>
          </a:xfrm>
          <a:prstGeom prst="rect">
            <a:avLst/>
          </a:prstGeom>
          <a:noFill/>
          <a:ln/>
        </p:spPr>
        <p:txBody>
          <a:bodyPr wrap="square" lIns="0" tIns="0" rIns="0" bIns="0" rtlCol="0" anchor="ctr"/>
          <a:lstStyle/>
          <a:p>
            <a:pPr indent="0" marL="0">
              <a:buNone/>
            </a:pPr>
            <a:r>
              <a:rPr lang="en-US" sz="1500" b="1" dirty="0">
                <a:solidFill>
                  <a:schemeClr val="bg1"/>
                </a:solidFill>
              </a:rPr>
              <a:t>The circuit inverts the logic level: a CMOS NOT gate, the building block of digital ICs.</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Icon circle"/>
          <p:cNvSpPr/>
          <p:nvPr/>
        </p:nvSpPr>
        <p:spPr>
          <a:xfrm>
            <a:off x="640080" y="1097280"/>
            <a:ext cx="1371600" cy="1371600"/>
          </a:xfrm>
          <a:prstGeom prst="ellipse">
            <a:avLst/>
          </a:prstGeom>
          <a:solidFill>
            <a:schemeClr val="accent1"/>
          </a:solidFill>
          <a:ln/>
        </p:spPr>
      </p:sp>
      <p:pic>
        <p:nvPicPr>
          <p:cNvPr id="3" name="Image 0" descr="unit icon">    </p:cNvPr>
          <p:cNvPicPr>
            <a:picLocks noChangeAspect="1"/>
          </p:cNvPicPr>
          <p:nvPr/>
        </p:nvPicPr>
        <p:blipFill>
          <a:blip r:embed="rId1"/>
          <a:stretch>
            <a:fillRect/>
          </a:stretch>
        </p:blipFill>
        <p:spPr>
          <a:xfrm>
            <a:off x="1005840" y="1463040"/>
            <a:ext cx="640080" cy="640080"/>
          </a:xfrm>
          <a:prstGeom prst="rect">
            <a:avLst/>
          </a:prstGeom>
        </p:spPr>
      </p:pic>
      <p:sp>
        <p:nvSpPr>
          <p:cNvPr id="4" name="Text 1"/>
          <p:cNvSpPr txBox="1"/>
          <p:nvPr/>
        </p:nvSpPr>
        <p:spPr>
          <a:xfrm>
            <a:off x="2377440" y="960120"/>
            <a:ext cx="5943600" cy="457200"/>
          </a:xfrm>
          <a:prstGeom prst="rect">
            <a:avLst/>
          </a:prstGeom>
          <a:noFill/>
          <a:ln/>
        </p:spPr>
        <p:txBody>
          <a:bodyPr wrap="square" lIns="0" tIns="0" rIns="0" bIns="0" rtlCol="0" anchor="ctr"/>
          <a:lstStyle/>
          <a:p>
            <a:pPr indent="0" marL="0">
              <a:buNone/>
            </a:pPr>
            <a:r>
              <a:rPr lang="en-US" sz="1800" b="1" spc="400" kern="0" dirty="0">
                <a:solidFill>
                  <a:schemeClr val="accent1"/>
                </a:solidFill>
              </a:rPr>
              <a:t>UNIT 5</a:t>
            </a:r>
            <a:endParaRPr lang="en-US" sz="1800" dirty="0"/>
          </a:p>
        </p:txBody>
      </p:sp>
      <p:sp>
        <p:nvSpPr>
          <p:cNvPr id="5" name="Text 2"/>
          <p:cNvSpPr txBox="1"/>
          <p:nvPr/>
        </p:nvSpPr>
        <p:spPr>
          <a:xfrm>
            <a:off x="2377440" y="1417320"/>
            <a:ext cx="6309360" cy="109728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Operational Amplifiers</a:t>
            </a:r>
            <a:endParaRPr lang="en-US" sz="3600" dirty="0"/>
          </a:p>
        </p:txBody>
      </p:sp>
      <p:sp>
        <p:nvSpPr>
          <p:cNvPr id="6" name="Text 3"/>
          <p:cNvSpPr txBox="1"/>
          <p:nvPr/>
        </p:nvSpPr>
        <p:spPr>
          <a:xfrm>
            <a:off x="2377440" y="2743200"/>
            <a:ext cx="6217920" cy="15544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D5E0EE"/>
                </a:solidFill>
              </a:rPr>
              <a:t>Ideal and practical op-amps</a:t>
            </a:r>
            <a:endParaRPr lang="en-US" sz="1600" dirty="0"/>
          </a:p>
          <a:p>
            <a:pPr marL="342900" indent="-342900">
              <a:spcAft>
                <a:spcPts val="600"/>
              </a:spcAft>
              <a:buSzPct val="100000"/>
              <a:buChar char="•"/>
            </a:pPr>
            <a:r>
              <a:rPr lang="en-US" sz="1600" dirty="0">
                <a:solidFill>
                  <a:srgbClr val="D5E0EE"/>
                </a:solidFill>
              </a:rPr>
              <a:t>Modes of operation, CMRR, virtual ground</a:t>
            </a:r>
            <a:endParaRPr lang="en-US" sz="1600" dirty="0"/>
          </a:p>
          <a:p>
            <a:pPr marL="342900" indent="-342900">
              <a:spcAft>
                <a:spcPts val="600"/>
              </a:spcAft>
              <a:buSzPct val="100000"/>
              <a:buChar char="•"/>
            </a:pPr>
            <a:r>
              <a:rPr lang="en-US" sz="1600" dirty="0">
                <a:solidFill>
                  <a:srgbClr val="D5E0EE"/>
                </a:solidFill>
              </a:rPr>
              <a:t>Inverting, non-inverting and summing amplifiers</a:t>
            </a:r>
            <a:endParaRPr lang="en-US" sz="1600" dirty="0"/>
          </a:p>
          <a:p>
            <a:pPr marL="342900" indent="-342900">
              <a:spcAft>
                <a:spcPts val="600"/>
              </a:spcAft>
              <a:buSzPct val="100000"/>
              <a:buChar char="•"/>
            </a:pPr>
            <a:r>
              <a:rPr lang="en-US" sz="1600" dirty="0">
                <a:solidFill>
                  <a:srgbClr val="D5E0EE"/>
                </a:solidFill>
              </a:rPr>
              <a:t>Integrator and differentiator</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3CC"/>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Ideal versus practical op-amp</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U5</a:t>
            </a:r>
            <a:endParaRPr lang="en-US" sz="1600" dirty="0"/>
          </a:p>
        </p:txBody>
      </p:sp>
      <p:sp>
        <p:nvSpPr>
          <p:cNvPr id="5" name="Text 3"/>
          <p:cNvSpPr txBox="1"/>
          <p:nvPr/>
        </p:nvSpPr>
        <p:spPr>
          <a:xfrm>
            <a:off x="457200" y="1143000"/>
            <a:ext cx="8229600" cy="822960"/>
          </a:xfrm>
          <a:prstGeom prst="rect">
            <a:avLst/>
          </a:prstGeom>
          <a:noFill/>
          <a:ln/>
        </p:spPr>
        <p:txBody>
          <a:bodyPr wrap="square" lIns="0" tIns="0" rIns="0" bIns="0" rtlCol="0" anchor="t"/>
          <a:lstStyle/>
          <a:p>
            <a:pPr marL="342900" indent="-342900">
              <a:spcAft>
                <a:spcPts val="600"/>
              </a:spcAft>
              <a:buSzPct val="100000"/>
              <a:buChar char="•"/>
            </a:pPr>
            <a:r>
              <a:rPr lang="en-US" sz="1500" b="1" dirty="0">
                <a:solidFill>
                  <a:schemeClr val="tx2"/>
                </a:solidFill>
              </a:rPr>
              <a:t>Two inputs, one output, </a:t>
            </a:r>
            <a:pPr indent="0" marL="0">
              <a:spcAft>
                <a:spcPts val="600"/>
              </a:spcAft>
              <a:buNone/>
            </a:pPr>
            <a:r>
              <a:rPr lang="en-US" sz="1500" dirty="0">
                <a:solidFill>
                  <a:schemeClr val="tx1"/>
                </a:solidFill>
              </a:rPr>
              <a:t>powered from +VCC and −VEE. Output vo = A (v2 − v1).</a:t>
            </a:r>
            <a:endParaRPr lang="en-US" sz="1500" dirty="0"/>
          </a:p>
          <a:p>
            <a:pPr marL="342900" indent="-342900">
              <a:spcAft>
                <a:spcPts val="600"/>
              </a:spcAft>
              <a:buSzPct val="100000"/>
              <a:buChar char="•"/>
            </a:pPr>
            <a:r>
              <a:rPr lang="en-US" sz="1500" b="1" dirty="0">
                <a:solidFill>
                  <a:schemeClr val="tx2"/>
                </a:solidFill>
              </a:rPr>
              <a:t>Negative feedback </a:t>
            </a:r>
            <a:pPr indent="0" marL="0">
              <a:spcAft>
                <a:spcPts val="600"/>
              </a:spcAft>
              <a:buNone/>
            </a:pPr>
            <a:r>
              <a:rPr lang="en-US" sz="1500" dirty="0">
                <a:solidFill>
                  <a:schemeClr val="tx1"/>
                </a:solidFill>
              </a:rPr>
              <a:t>makes circuit behaviour depend only on the external resistors.</a:t>
            </a:r>
            <a:endParaRPr lang="en-US" sz="15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2011680"/>
          <a:ext cx="8229600" cy="914400"/>
        </p:xfrm>
        <a:graphic>
          <a:graphicData uri="http://schemas.openxmlformats.org/drawingml/2006/table">
            <a:tbl>
              <a:tblPr/>
              <a:tblGrid>
                <a:gridCol w="3017520"/>
                <a:gridCol w="2286000"/>
                <a:gridCol w="2926080"/>
              </a:tblGrid>
              <a:tr h="347472">
                <a:tc>
                  <a:txBody>
                    <a:bodyPr/>
                    <a:lstStyle/>
                    <a:p>
                      <a:pPr algn="l" indent="0" marL="0">
                        <a:buNone/>
                      </a:pPr>
                      <a:r>
                        <a:rPr lang="en-US" sz="1400" b="1" dirty="0">
                          <a:solidFill>
                            <a:schemeClr val="bg1"/>
                          </a:solidFill>
                        </a:rPr>
                        <a:t>Parameter</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Ideal</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Practical (e.g. 741)</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r>
              <a:tr h="347472">
                <a:tc>
                  <a:txBody>
                    <a:bodyPr/>
                    <a:lstStyle/>
                    <a:p>
                      <a:pPr indent="0" marL="0">
                        <a:buNone/>
                      </a:pPr>
                      <a:r>
                        <a:rPr lang="en-US" sz="1400" b="1" dirty="0">
                          <a:solidFill>
                            <a:schemeClr val="tx1"/>
                          </a:solidFill>
                        </a:rPr>
                        <a:t>Open-loop gain</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Infinite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10^5 – 10^6</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Input impedance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Infinite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10^6 – 10^12 Ω</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Output impedance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Zero</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10 – 100 Ω</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Bandwidth</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Infinite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 1 MHz (unity gain)</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Slew rate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Infinite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 0.5 V/µs</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CMRR</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Infinite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70 – 120 dB</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Modes, CMRR and virtual ground</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U5</a:t>
            </a:r>
            <a:endParaRPr lang="en-US" sz="1600" dirty="0"/>
          </a:p>
        </p:txBody>
      </p:sp>
      <p:sp>
        <p:nvSpPr>
          <p:cNvPr id="5" name="Card"/>
          <p:cNvSpPr/>
          <p:nvPr/>
        </p:nvSpPr>
        <p:spPr>
          <a:xfrm>
            <a:off x="457200" y="1188720"/>
            <a:ext cx="2606040" cy="1554480"/>
          </a:xfrm>
          <a:prstGeom prst="roundRect">
            <a:avLst>
              <a:gd name="adj" fmla="val 4706"/>
            </a:avLst>
          </a:prstGeom>
          <a:solidFill>
            <a:schemeClr val="bg2"/>
          </a:solidFill>
          <a:ln/>
        </p:spPr>
      </p:sp>
      <p:sp>
        <p:nvSpPr>
          <p:cNvPr id="6" name="Text 4"/>
          <p:cNvSpPr txBox="1"/>
          <p:nvPr/>
        </p:nvSpPr>
        <p:spPr>
          <a:xfrm>
            <a:off x="594360" y="1280160"/>
            <a:ext cx="2331720" cy="365760"/>
          </a:xfrm>
          <a:prstGeom prst="rect">
            <a:avLst/>
          </a:prstGeom>
          <a:noFill/>
          <a:ln/>
        </p:spPr>
        <p:txBody>
          <a:bodyPr wrap="square" lIns="0" tIns="0" rIns="0" bIns="0" rtlCol="0" anchor="ctr"/>
          <a:lstStyle/>
          <a:p>
            <a:pPr indent="0" marL="0">
              <a:buNone/>
            </a:pPr>
            <a:r>
              <a:rPr lang="en-US" sz="1600" b="1" dirty="0">
                <a:solidFill>
                  <a:schemeClr val="tx2"/>
                </a:solidFill>
              </a:rPr>
              <a:t>Single-ended</a:t>
            </a:r>
            <a:endParaRPr lang="en-US" sz="1600" dirty="0"/>
          </a:p>
        </p:txBody>
      </p:sp>
      <p:sp>
        <p:nvSpPr>
          <p:cNvPr id="7" name="Text 5"/>
          <p:cNvSpPr txBox="1"/>
          <p:nvPr/>
        </p:nvSpPr>
        <p:spPr>
          <a:xfrm>
            <a:off x="594360" y="1664208"/>
            <a:ext cx="2331720" cy="1005840"/>
          </a:xfrm>
          <a:prstGeom prst="rect">
            <a:avLst/>
          </a:prstGeom>
          <a:noFill/>
          <a:ln/>
        </p:spPr>
        <p:txBody>
          <a:bodyPr wrap="square" lIns="0" tIns="0" rIns="0" bIns="0" rtlCol="0" anchor="t"/>
          <a:lstStyle/>
          <a:p>
            <a:pPr indent="0" marL="0">
              <a:spcAft>
                <a:spcPts val="300"/>
              </a:spcAft>
              <a:buNone/>
            </a:pPr>
            <a:r>
              <a:rPr lang="en-US" sz="1600" dirty="0">
                <a:solidFill>
                  <a:schemeClr val="tx1"/>
                </a:solidFill>
              </a:rPr>
              <a:t>One input is zero: v1 = 0 or v2 = 0.</a:t>
            </a:r>
            <a:endParaRPr lang="en-US" sz="1600" dirty="0"/>
          </a:p>
        </p:txBody>
      </p:sp>
      <p:sp>
        <p:nvSpPr>
          <p:cNvPr id="8" name="Card"/>
          <p:cNvSpPr/>
          <p:nvPr/>
        </p:nvSpPr>
        <p:spPr>
          <a:xfrm>
            <a:off x="3268980" y="1188720"/>
            <a:ext cx="2606040" cy="1554480"/>
          </a:xfrm>
          <a:prstGeom prst="roundRect">
            <a:avLst>
              <a:gd name="adj" fmla="val 4706"/>
            </a:avLst>
          </a:prstGeom>
          <a:solidFill>
            <a:schemeClr val="bg2"/>
          </a:solidFill>
          <a:ln/>
        </p:spPr>
      </p:sp>
      <p:sp>
        <p:nvSpPr>
          <p:cNvPr id="9" name="Text 7"/>
          <p:cNvSpPr txBox="1"/>
          <p:nvPr/>
        </p:nvSpPr>
        <p:spPr>
          <a:xfrm>
            <a:off x="3406140" y="1280160"/>
            <a:ext cx="2331720" cy="365760"/>
          </a:xfrm>
          <a:prstGeom prst="rect">
            <a:avLst/>
          </a:prstGeom>
          <a:noFill/>
          <a:ln/>
        </p:spPr>
        <p:txBody>
          <a:bodyPr wrap="square" lIns="0" tIns="0" rIns="0" bIns="0" rtlCol="0" anchor="ctr"/>
          <a:lstStyle/>
          <a:p>
            <a:pPr indent="0" marL="0">
              <a:buNone/>
            </a:pPr>
            <a:r>
              <a:rPr lang="en-US" sz="1600" b="1" dirty="0">
                <a:solidFill>
                  <a:schemeClr val="tx2"/>
                </a:solidFill>
              </a:rPr>
              <a:t>Differential</a:t>
            </a:r>
            <a:endParaRPr lang="en-US" sz="1600" dirty="0"/>
          </a:p>
        </p:txBody>
      </p:sp>
      <p:sp>
        <p:nvSpPr>
          <p:cNvPr id="10" name="Text 8"/>
          <p:cNvSpPr txBox="1"/>
          <p:nvPr/>
        </p:nvSpPr>
        <p:spPr>
          <a:xfrm>
            <a:off x="3406140" y="1664208"/>
            <a:ext cx="2331720" cy="1005840"/>
          </a:xfrm>
          <a:prstGeom prst="rect">
            <a:avLst/>
          </a:prstGeom>
          <a:noFill/>
          <a:ln/>
        </p:spPr>
        <p:txBody>
          <a:bodyPr wrap="square" lIns="0" tIns="0" rIns="0" bIns="0" rtlCol="0" anchor="t"/>
          <a:lstStyle/>
          <a:p>
            <a:pPr indent="0" marL="0">
              <a:spcAft>
                <a:spcPts val="300"/>
              </a:spcAft>
              <a:buNone/>
            </a:pPr>
            <a:r>
              <a:rPr lang="en-US" sz="1600" dirty="0">
                <a:solidFill>
                  <a:schemeClr val="tx1"/>
                </a:solidFill>
              </a:rPr>
              <a:t>v1 = −v2. Output = Ad (V1 − V2).</a:t>
            </a:r>
            <a:endParaRPr lang="en-US" sz="1600" dirty="0"/>
          </a:p>
        </p:txBody>
      </p:sp>
      <p:sp>
        <p:nvSpPr>
          <p:cNvPr id="11" name="Card"/>
          <p:cNvSpPr/>
          <p:nvPr/>
        </p:nvSpPr>
        <p:spPr>
          <a:xfrm>
            <a:off x="6080760" y="1188720"/>
            <a:ext cx="2606040" cy="1554480"/>
          </a:xfrm>
          <a:prstGeom prst="roundRect">
            <a:avLst>
              <a:gd name="adj" fmla="val 4706"/>
            </a:avLst>
          </a:prstGeom>
          <a:solidFill>
            <a:schemeClr val="bg2"/>
          </a:solidFill>
          <a:ln/>
        </p:spPr>
      </p:sp>
      <p:sp>
        <p:nvSpPr>
          <p:cNvPr id="12" name="Text 10"/>
          <p:cNvSpPr txBox="1"/>
          <p:nvPr/>
        </p:nvSpPr>
        <p:spPr>
          <a:xfrm>
            <a:off x="6217920" y="1280160"/>
            <a:ext cx="2331720" cy="365760"/>
          </a:xfrm>
          <a:prstGeom prst="rect">
            <a:avLst/>
          </a:prstGeom>
          <a:noFill/>
          <a:ln/>
        </p:spPr>
        <p:txBody>
          <a:bodyPr wrap="square" lIns="0" tIns="0" rIns="0" bIns="0" rtlCol="0" anchor="ctr"/>
          <a:lstStyle/>
          <a:p>
            <a:pPr indent="0" marL="0">
              <a:buNone/>
            </a:pPr>
            <a:r>
              <a:rPr lang="en-US" sz="1600" b="1" dirty="0">
                <a:solidFill>
                  <a:schemeClr val="tx2"/>
                </a:solidFill>
              </a:rPr>
              <a:t>Common mode</a:t>
            </a:r>
            <a:endParaRPr lang="en-US" sz="1600" dirty="0"/>
          </a:p>
        </p:txBody>
      </p:sp>
      <p:sp>
        <p:nvSpPr>
          <p:cNvPr id="13" name="Text 11"/>
          <p:cNvSpPr txBox="1"/>
          <p:nvPr/>
        </p:nvSpPr>
        <p:spPr>
          <a:xfrm>
            <a:off x="6217920" y="1664208"/>
            <a:ext cx="2331720" cy="1005840"/>
          </a:xfrm>
          <a:prstGeom prst="rect">
            <a:avLst/>
          </a:prstGeom>
          <a:noFill/>
          <a:ln/>
        </p:spPr>
        <p:txBody>
          <a:bodyPr wrap="square" lIns="0" tIns="0" rIns="0" bIns="0" rtlCol="0" anchor="t"/>
          <a:lstStyle/>
          <a:p>
            <a:pPr indent="0" marL="0">
              <a:spcAft>
                <a:spcPts val="300"/>
              </a:spcAft>
              <a:buNone/>
            </a:pPr>
            <a:r>
              <a:rPr lang="en-US" sz="1600" dirty="0">
                <a:solidFill>
                  <a:schemeClr val="tx1"/>
                </a:solidFill>
              </a:rPr>
              <a:t>v1 = v2 = VCM. Ideally the output is zero.</a:t>
            </a:r>
            <a:endParaRPr lang="en-US" sz="1600" dirty="0"/>
          </a:p>
        </p:txBody>
      </p:sp>
      <p:sp>
        <p:nvSpPr>
          <p:cNvPr id="14" name="Formula"/>
          <p:cNvSpPr/>
          <p:nvPr/>
        </p:nvSpPr>
        <p:spPr>
          <a:xfrm>
            <a:off x="457200" y="2926080"/>
            <a:ext cx="3977640" cy="685800"/>
          </a:xfrm>
          <a:prstGeom prst="roundRect">
            <a:avLst>
              <a:gd name="adj" fmla="val 10667"/>
            </a:avLst>
          </a:prstGeom>
          <a:solidFill>
            <a:schemeClr val="tx2"/>
          </a:solidFill>
          <a:ln/>
        </p:spPr>
      </p:sp>
      <p:sp>
        <p:nvSpPr>
          <p:cNvPr id="15" name="Text 13"/>
          <p:cNvSpPr txBox="1"/>
          <p:nvPr/>
        </p:nvSpPr>
        <p:spPr>
          <a:xfrm>
            <a:off x="457200" y="2926080"/>
            <a:ext cx="3977640" cy="685800"/>
          </a:xfrm>
          <a:prstGeom prst="rect">
            <a:avLst/>
          </a:prstGeom>
          <a:noFill/>
          <a:ln/>
        </p:spPr>
        <p:txBody>
          <a:bodyPr wrap="square" lIns="635" tIns="635" rIns="635" bIns="635"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CMRR = Ad / Acm</a:t>
            </a:r>
            <a:endParaRPr lang="en-US" sz="2200" dirty="0"/>
          </a:p>
        </p:txBody>
      </p:sp>
      <p:sp>
        <p:nvSpPr>
          <p:cNvPr id="16" name="Text 14"/>
          <p:cNvSpPr txBox="1"/>
          <p:nvPr/>
        </p:nvSpPr>
        <p:spPr>
          <a:xfrm>
            <a:off x="457200" y="3703320"/>
            <a:ext cx="3977640" cy="822960"/>
          </a:xfrm>
          <a:prstGeom prst="rect">
            <a:avLst/>
          </a:prstGeom>
          <a:noFill/>
          <a:ln/>
        </p:spPr>
        <p:txBody>
          <a:bodyPr wrap="square" lIns="0" tIns="0" rIns="0" bIns="0" rtlCol="0" anchor="t"/>
          <a:lstStyle/>
          <a:p>
            <a:pPr indent="0" marL="0">
              <a:buNone/>
            </a:pPr>
            <a:r>
              <a:rPr lang="en-US" sz="1300" dirty="0">
                <a:solidFill>
                  <a:schemeClr val="tx1"/>
                </a:solidFill>
              </a:rPr>
              <a:t>CMRR(dB) = 20 log10(Ad / Acm). High CMRR rejects noise common to both inputs.</a:t>
            </a:r>
            <a:endParaRPr lang="en-US" sz="1300" dirty="0"/>
          </a:p>
        </p:txBody>
      </p:sp>
      <p:sp>
        <p:nvSpPr>
          <p:cNvPr id="17" name="Card"/>
          <p:cNvSpPr/>
          <p:nvPr/>
        </p:nvSpPr>
        <p:spPr>
          <a:xfrm>
            <a:off x="4709160" y="2926080"/>
            <a:ext cx="3977640" cy="1600200"/>
          </a:xfrm>
          <a:prstGeom prst="roundRect">
            <a:avLst>
              <a:gd name="adj" fmla="val 4571"/>
            </a:avLst>
          </a:prstGeom>
          <a:solidFill>
            <a:schemeClr val="bg2"/>
          </a:solidFill>
          <a:ln/>
        </p:spPr>
      </p:sp>
      <p:sp>
        <p:nvSpPr>
          <p:cNvPr id="18" name="Text 16"/>
          <p:cNvSpPr txBox="1"/>
          <p:nvPr/>
        </p:nvSpPr>
        <p:spPr>
          <a:xfrm>
            <a:off x="4846320" y="3017520"/>
            <a:ext cx="3703320" cy="365760"/>
          </a:xfrm>
          <a:prstGeom prst="rect">
            <a:avLst/>
          </a:prstGeom>
          <a:noFill/>
          <a:ln/>
        </p:spPr>
        <p:txBody>
          <a:bodyPr wrap="square" lIns="0" tIns="0" rIns="0" bIns="0" rtlCol="0" anchor="ctr"/>
          <a:lstStyle/>
          <a:p>
            <a:pPr indent="0" marL="0">
              <a:buNone/>
            </a:pPr>
            <a:r>
              <a:rPr lang="en-US" sz="1700" b="1" dirty="0">
                <a:solidFill>
                  <a:schemeClr val="tx2"/>
                </a:solidFill>
              </a:rPr>
              <a:t>Virtual ground</a:t>
            </a:r>
            <a:endParaRPr lang="en-US" sz="1700" dirty="0"/>
          </a:p>
        </p:txBody>
      </p:sp>
      <p:sp>
        <p:nvSpPr>
          <p:cNvPr id="19" name="Text 17"/>
          <p:cNvSpPr txBox="1"/>
          <p:nvPr/>
        </p:nvSpPr>
        <p:spPr>
          <a:xfrm>
            <a:off x="4846320" y="3401568"/>
            <a:ext cx="3703320" cy="1051560"/>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Vi = Vo / A is tiny (e.g. 5 V / 5000 = 1 mV), so the inverting input sits at ≈ 0 V, a virtual short, but no current flows into it.</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Inverting amplifier</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U5</a:t>
            </a:r>
            <a:endParaRPr lang="en-US" sz="1600" dirty="0"/>
          </a:p>
        </p:txBody>
      </p:sp>
      <p:pic>
        <p:nvPicPr>
          <p:cNvPr id="5" name="Image 0" descr="opinv diagram">    </p:cNvPr>
          <p:cNvPicPr>
            <a:picLocks noChangeAspect="1"/>
          </p:cNvPicPr>
          <p:nvPr/>
        </p:nvPicPr>
        <p:blipFill>
          <a:blip r:embed="rId1"/>
          <a:stretch>
            <a:fillRect/>
          </a:stretch>
        </p:blipFill>
        <p:spPr>
          <a:xfrm>
            <a:off x="457200" y="1097280"/>
            <a:ext cx="4297680" cy="2514600"/>
          </a:xfrm>
          <a:prstGeom prst="rect">
            <a:avLst/>
          </a:prstGeom>
        </p:spPr>
      </p:pic>
      <p:sp>
        <p:nvSpPr>
          <p:cNvPr id="6" name="Text 3"/>
          <p:cNvSpPr txBox="1"/>
          <p:nvPr/>
        </p:nvSpPr>
        <p:spPr>
          <a:xfrm>
            <a:off x="4937760" y="1188720"/>
            <a:ext cx="3749040" cy="2468880"/>
          </a:xfrm>
          <a:prstGeom prst="rect">
            <a:avLst/>
          </a:prstGeom>
          <a:noFill/>
          <a:ln/>
        </p:spPr>
        <p:txBody>
          <a:bodyPr wrap="square" lIns="0" tIns="0" rIns="0" bIns="0" rtlCol="0" anchor="t"/>
          <a:lstStyle/>
          <a:p>
            <a:pPr marL="342900" indent="-342900">
              <a:spcAft>
                <a:spcPts val="600"/>
              </a:spcAft>
              <a:buSzPct val="100000"/>
              <a:buChar char="•"/>
            </a:pPr>
            <a:r>
              <a:rPr lang="en-US" sz="1500" b="1" dirty="0">
                <a:solidFill>
                  <a:schemeClr val="tx2"/>
                </a:solidFill>
              </a:rPr>
              <a:t>Virtual ground </a:t>
            </a:r>
            <a:pPr indent="0" marL="0">
              <a:spcAft>
                <a:spcPts val="600"/>
              </a:spcAft>
              <a:buNone/>
            </a:pPr>
            <a:r>
              <a:rPr lang="en-US" sz="1500" dirty="0">
                <a:solidFill>
                  <a:schemeClr val="tx1"/>
                </a:solidFill>
              </a:rPr>
              <a:t>at the inverting input: i = Vi/R1 = −Vo/Rf.</a:t>
            </a:r>
            <a:endParaRPr lang="en-US" sz="1500" dirty="0"/>
          </a:p>
          <a:p>
            <a:pPr marL="342900" indent="-342900">
              <a:spcAft>
                <a:spcPts val="600"/>
              </a:spcAft>
              <a:buSzPct val="100000"/>
              <a:buChar char="•"/>
            </a:pPr>
            <a:r>
              <a:rPr lang="en-US" sz="1500" b="1" dirty="0">
                <a:solidFill>
                  <a:schemeClr val="tx2"/>
                </a:solidFill>
              </a:rPr>
              <a:t>Gain: </a:t>
            </a:r>
            <a:pPr indent="0" marL="0">
              <a:spcAft>
                <a:spcPts val="600"/>
              </a:spcAft>
              <a:buNone/>
            </a:pPr>
            <a:r>
              <a:rPr lang="en-US" sz="1500" dirty="0">
                <a:solidFill>
                  <a:schemeClr val="tx1"/>
                </a:solidFill>
              </a:rPr>
              <a:t>ACL = −Rf/R1. The minus sign means a 180° phase shift.</a:t>
            </a:r>
            <a:endParaRPr lang="en-US" sz="1500" dirty="0"/>
          </a:p>
          <a:p>
            <a:pPr marL="342900" indent="-342900">
              <a:spcAft>
                <a:spcPts val="600"/>
              </a:spcAft>
              <a:buSzPct val="100000"/>
              <a:buChar char="•"/>
            </a:pPr>
            <a:r>
              <a:rPr lang="en-US" sz="1500" b="1" dirty="0">
                <a:solidFill>
                  <a:schemeClr val="tx2"/>
                </a:solidFill>
              </a:rPr>
              <a:t>Input resistance </a:t>
            </a:r>
            <a:pPr indent="0" marL="0">
              <a:spcAft>
                <a:spcPts val="600"/>
              </a:spcAft>
              <a:buNone/>
            </a:pPr>
            <a:r>
              <a:rPr lang="en-US" sz="1500" dirty="0">
                <a:solidFill>
                  <a:schemeClr val="tx1"/>
                </a:solidFill>
              </a:rPr>
              <a:t>Rin = R1.</a:t>
            </a:r>
            <a:endParaRPr lang="en-US" sz="1500" dirty="0"/>
          </a:p>
        </p:txBody>
      </p:sp>
      <p:sp>
        <p:nvSpPr>
          <p:cNvPr id="7" name="Result strip"/>
          <p:cNvSpPr/>
          <p:nvPr/>
        </p:nvSpPr>
        <p:spPr>
          <a:xfrm>
            <a:off x="457200" y="3794760"/>
            <a:ext cx="8229600" cy="731520"/>
          </a:xfrm>
          <a:prstGeom prst="roundRect">
            <a:avLst>
              <a:gd name="adj" fmla="val 10000"/>
            </a:avLst>
          </a:prstGeom>
          <a:solidFill>
            <a:schemeClr val="tx2"/>
          </a:solidFill>
          <a:ln/>
        </p:spPr>
      </p:sp>
      <p:sp>
        <p:nvSpPr>
          <p:cNvPr id="8" name="Text 5"/>
          <p:cNvSpPr txBox="1"/>
          <p:nvPr/>
        </p:nvSpPr>
        <p:spPr>
          <a:xfrm>
            <a:off x="640080" y="3794760"/>
            <a:ext cx="7863840" cy="731520"/>
          </a:xfrm>
          <a:prstGeom prst="rect">
            <a:avLst/>
          </a:prstGeom>
          <a:noFill/>
          <a:ln/>
        </p:spPr>
        <p:txBody>
          <a:bodyPr wrap="square" lIns="0" tIns="0" rIns="0" bIns="0" rtlCol="0" anchor="ctr"/>
          <a:lstStyle/>
          <a:p>
            <a:pPr indent="0" marL="0">
              <a:buNone/>
            </a:pPr>
            <a:r>
              <a:rPr lang="en-US" sz="1500" b="1" dirty="0">
                <a:solidFill>
                  <a:schemeClr val="bg1"/>
                </a:solidFill>
              </a:rPr>
              <a:t>R1 = 20 kΩ, Rf = 100 kΩ, Vi = 1 V  →  Vo = −5 V,  Rin = 20 kΩ,  Iin = 0.05 mA</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Non-inverting and summing amplifiers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U5</a:t>
            </a:r>
            <a:endParaRPr lang="en-US" sz="1600" dirty="0"/>
          </a:p>
        </p:txBody>
      </p:sp>
      <p:pic>
        <p:nvPicPr>
          <p:cNvPr id="5" name="Image 0" descr="opnon diagram">    </p:cNvPr>
          <p:cNvPicPr>
            <a:picLocks noChangeAspect="1"/>
          </p:cNvPicPr>
          <p:nvPr/>
        </p:nvPicPr>
        <p:blipFill>
          <a:blip r:embed="rId1"/>
          <a:stretch>
            <a:fillRect/>
          </a:stretch>
        </p:blipFill>
        <p:spPr>
          <a:xfrm>
            <a:off x="457200" y="1097280"/>
            <a:ext cx="3931920" cy="2194560"/>
          </a:xfrm>
          <a:prstGeom prst="rect">
            <a:avLst/>
          </a:prstGeom>
        </p:spPr>
      </p:pic>
      <p:sp>
        <p:nvSpPr>
          <p:cNvPr id="6" name="Formula"/>
          <p:cNvSpPr/>
          <p:nvPr/>
        </p:nvSpPr>
        <p:spPr>
          <a:xfrm>
            <a:off x="457200" y="3429000"/>
            <a:ext cx="3931920" cy="640080"/>
          </a:xfrm>
          <a:prstGeom prst="roundRect">
            <a:avLst>
              <a:gd name="adj" fmla="val 11429"/>
            </a:avLst>
          </a:prstGeom>
          <a:solidFill>
            <a:schemeClr val="tx2"/>
          </a:solidFill>
          <a:ln/>
        </p:spPr>
      </p:sp>
      <p:sp>
        <p:nvSpPr>
          <p:cNvPr id="7" name="Text 4"/>
          <p:cNvSpPr txBox="1"/>
          <p:nvPr/>
        </p:nvSpPr>
        <p:spPr>
          <a:xfrm>
            <a:off x="457200" y="3429000"/>
            <a:ext cx="3931920" cy="640080"/>
          </a:xfrm>
          <a:prstGeom prst="rect">
            <a:avLst/>
          </a:prstGeom>
          <a:noFill/>
          <a:ln/>
        </p:spPr>
        <p:txBody>
          <a:bodyPr wrap="square" lIns="635" tIns="635" rIns="635" bIns="635"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Gain = 1 + Rf / R1</a:t>
            </a:r>
            <a:endParaRPr lang="en-US" sz="2000" dirty="0"/>
          </a:p>
        </p:txBody>
      </p:sp>
      <p:sp>
        <p:nvSpPr>
          <p:cNvPr id="8" name="Text 5"/>
          <p:cNvSpPr txBox="1"/>
          <p:nvPr/>
        </p:nvSpPr>
        <p:spPr>
          <a:xfrm>
            <a:off x="457200" y="4114800"/>
            <a:ext cx="3931920" cy="365760"/>
          </a:xfrm>
          <a:prstGeom prst="rect">
            <a:avLst/>
          </a:prstGeom>
          <a:noFill/>
          <a:ln/>
        </p:spPr>
        <p:txBody>
          <a:bodyPr wrap="square" lIns="0" tIns="0" rIns="0" bIns="0" rtlCol="0" anchor="ctr"/>
          <a:lstStyle/>
          <a:p>
            <a:pPr indent="0" marL="0">
              <a:buNone/>
            </a:pPr>
            <a:r>
              <a:rPr lang="en-US" sz="1400" i="1" dirty="0">
                <a:solidFill>
                  <a:schemeClr val="accent4"/>
                </a:solidFill>
              </a:rPr>
              <a:t>Output is in phase with the input.</a:t>
            </a:r>
            <a:endParaRPr lang="en-US" sz="1400" dirty="0"/>
          </a:p>
        </p:txBody>
      </p:sp>
      <p:sp>
        <p:nvSpPr>
          <p:cNvPr id="9" name="Card"/>
          <p:cNvSpPr/>
          <p:nvPr/>
        </p:nvSpPr>
        <p:spPr>
          <a:xfrm>
            <a:off x="4663440" y="1143000"/>
            <a:ext cx="4023360" cy="3337560"/>
          </a:xfrm>
          <a:prstGeom prst="roundRect">
            <a:avLst>
              <a:gd name="adj" fmla="val 2192"/>
            </a:avLst>
          </a:prstGeom>
          <a:solidFill>
            <a:schemeClr val="bg2"/>
          </a:solidFill>
          <a:ln/>
        </p:spPr>
      </p:sp>
      <p:sp>
        <p:nvSpPr>
          <p:cNvPr id="10" name="Text 7"/>
          <p:cNvSpPr txBox="1"/>
          <p:nvPr/>
        </p:nvSpPr>
        <p:spPr>
          <a:xfrm>
            <a:off x="4800600" y="1234440"/>
            <a:ext cx="3749040" cy="365760"/>
          </a:xfrm>
          <a:prstGeom prst="rect">
            <a:avLst/>
          </a:prstGeom>
          <a:noFill/>
          <a:ln/>
        </p:spPr>
        <p:txBody>
          <a:bodyPr wrap="square" lIns="0" tIns="0" rIns="0" bIns="0" rtlCol="0" anchor="ctr"/>
          <a:lstStyle/>
          <a:p>
            <a:pPr indent="0" marL="0">
              <a:buNone/>
            </a:pPr>
            <a:r>
              <a:rPr lang="en-US" sz="1700" b="1" dirty="0">
                <a:solidFill>
                  <a:schemeClr val="tx2"/>
                </a:solidFill>
              </a:rPr>
              <a:t>Summing amplifier</a:t>
            </a:r>
            <a:endParaRPr lang="en-US" sz="1700" dirty="0"/>
          </a:p>
        </p:txBody>
      </p:sp>
      <p:sp>
        <p:nvSpPr>
          <p:cNvPr id="11" name="Text 8"/>
          <p:cNvSpPr txBox="1"/>
          <p:nvPr/>
        </p:nvSpPr>
        <p:spPr>
          <a:xfrm>
            <a:off x="4800600" y="1618488"/>
            <a:ext cx="3749040" cy="2788920"/>
          </a:xfrm>
          <a:prstGeom prst="rect">
            <a:avLst/>
          </a:prstGeom>
          <a:noFill/>
          <a:ln/>
        </p:spPr>
        <p:txBody>
          <a:bodyPr wrap="square" lIns="0" tIns="0" rIns="0" bIns="0" rtlCol="0" anchor="t"/>
          <a:lstStyle/>
          <a:p>
            <a:pPr indent="0" marL="0">
              <a:spcAft>
                <a:spcPts val="300"/>
              </a:spcAft>
              <a:buNone/>
            </a:pPr>
            <a:r>
              <a:rPr lang="en-US" sz="1600" dirty="0">
                <a:solidFill>
                  <a:schemeClr val="tx1"/>
                </a:solidFill>
              </a:rPr>
              <a:t>Inputs v1, v2, v3 enter the inverting node through R1, R2, R3, so if = i1 + i2 + i3.</a:t>
            </a:r>
            <a:endParaRPr lang="en-US" sz="1600" dirty="0"/>
          </a:p>
          <a:p>
            <a:pPr indent="0" marL="0">
              <a:spcAft>
                <a:spcPts val="300"/>
              </a:spcAft>
              <a:buNone/>
            </a:pPr>
            <a:endParaRPr lang="en-US" sz="1600" dirty="0"/>
          </a:p>
          <a:p>
            <a:pPr indent="0" marL="0">
              <a:spcAft>
                <a:spcPts val="300"/>
              </a:spcAft>
              <a:buNone/>
            </a:pPr>
            <a:r>
              <a:rPr lang="en-US" sz="1600" dirty="0">
                <a:solidFill>
                  <a:schemeClr val="tx1"/>
                </a:solidFill>
              </a:rPr>
              <a:t>vo = −[ (Rf/R1) v1 + (Rf/R2) v2 + (Rf/R3) v3 ]</a:t>
            </a:r>
            <a:endParaRPr lang="en-US" sz="1600" dirty="0"/>
          </a:p>
          <a:p>
            <a:pPr indent="0" marL="0">
              <a:spcAft>
                <a:spcPts val="300"/>
              </a:spcAft>
              <a:buNone/>
            </a:pPr>
            <a:endParaRPr lang="en-US" sz="1600" dirty="0"/>
          </a:p>
          <a:p>
            <a:pPr indent="0" marL="0">
              <a:spcAft>
                <a:spcPts val="300"/>
              </a:spcAft>
              <a:buNone/>
            </a:pPr>
            <a:r>
              <a:rPr lang="en-US" sz="1600" dirty="0">
                <a:solidFill>
                  <a:schemeClr val="tx1"/>
                </a:solidFill>
              </a:rPr>
              <a:t>If R1 = R2 = R3 = R and Rf = R/3, vo = −(v1 + v2 + v3)/3: an inverting averager.</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Integrator and differentiator</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U5</a:t>
            </a:r>
            <a:endParaRPr lang="en-US" sz="1600" dirty="0"/>
          </a:p>
        </p:txBody>
      </p:sp>
      <p:pic>
        <p:nvPicPr>
          <p:cNvPr id="5" name="Image 0" descr="intdiff diagram">    </p:cNvPr>
          <p:cNvPicPr>
            <a:picLocks noChangeAspect="1"/>
          </p:cNvPicPr>
          <p:nvPr/>
        </p:nvPicPr>
        <p:blipFill>
          <a:blip r:embed="rId1"/>
          <a:stretch>
            <a:fillRect/>
          </a:stretch>
        </p:blipFill>
        <p:spPr>
          <a:xfrm>
            <a:off x="457200" y="1097280"/>
            <a:ext cx="8229600" cy="2560320"/>
          </a:xfrm>
          <a:prstGeom prst="rect">
            <a:avLst/>
          </a:prstGeom>
        </p:spPr>
      </p:pic>
      <p:sp>
        <p:nvSpPr>
          <p:cNvPr id="6" name="Formula"/>
          <p:cNvSpPr/>
          <p:nvPr/>
        </p:nvSpPr>
        <p:spPr>
          <a:xfrm>
            <a:off x="457200" y="3794760"/>
            <a:ext cx="3977640" cy="731520"/>
          </a:xfrm>
          <a:prstGeom prst="roundRect">
            <a:avLst>
              <a:gd name="adj" fmla="val 10000"/>
            </a:avLst>
          </a:prstGeom>
          <a:solidFill>
            <a:schemeClr val="tx2"/>
          </a:solidFill>
          <a:ln/>
        </p:spPr>
      </p:sp>
      <p:sp>
        <p:nvSpPr>
          <p:cNvPr id="7" name="Text 4"/>
          <p:cNvSpPr txBox="1"/>
          <p:nvPr/>
        </p:nvSpPr>
        <p:spPr>
          <a:xfrm>
            <a:off x="457200" y="3794760"/>
            <a:ext cx="3977640" cy="731520"/>
          </a:xfrm>
          <a:prstGeom prst="rect">
            <a:avLst/>
          </a:prstGeom>
          <a:noFill/>
          <a:ln/>
        </p:spPr>
        <p:txBody>
          <a:bodyPr wrap="square" lIns="635" tIns="635" rIns="635" bIns="635"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vo = −(1/CR) ∫ vi dt</a:t>
            </a:r>
            <a:endParaRPr lang="en-US" sz="2000" dirty="0"/>
          </a:p>
        </p:txBody>
      </p:sp>
      <p:sp>
        <p:nvSpPr>
          <p:cNvPr id="8" name="Formula"/>
          <p:cNvSpPr/>
          <p:nvPr/>
        </p:nvSpPr>
        <p:spPr>
          <a:xfrm>
            <a:off x="4709160" y="3794760"/>
            <a:ext cx="3977640" cy="731520"/>
          </a:xfrm>
          <a:prstGeom prst="roundRect">
            <a:avLst>
              <a:gd name="adj" fmla="val 10000"/>
            </a:avLst>
          </a:prstGeom>
          <a:solidFill>
            <a:schemeClr val="tx2"/>
          </a:solidFill>
          <a:ln/>
        </p:spPr>
      </p:sp>
      <p:sp>
        <p:nvSpPr>
          <p:cNvPr id="9" name="Text 6"/>
          <p:cNvSpPr txBox="1"/>
          <p:nvPr/>
        </p:nvSpPr>
        <p:spPr>
          <a:xfrm>
            <a:off x="4709160" y="3794760"/>
            <a:ext cx="3977640" cy="731520"/>
          </a:xfrm>
          <a:prstGeom prst="rect">
            <a:avLst/>
          </a:prstGeom>
          <a:noFill/>
          <a:ln/>
        </p:spPr>
        <p:txBody>
          <a:bodyPr wrap="square" lIns="635" tIns="635" rIns="635" bIns="635"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vo = −CR dvi/dt</a:t>
            </a:r>
            <a:endParaRPr lang="en-US" sz="2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Key results to remember</a:t>
            </a:r>
            <a:endParaRPr lang="en-US" sz="2800" dirty="0"/>
          </a:p>
        </p:txBody>
      </p:sp>
      <p:sp>
        <p:nvSpPr>
          <p:cNvPr id="3" name="Unit badge"/>
          <p:cNvSpPr/>
          <p:nvPr/>
        </p:nvSpPr>
        <p:spPr>
          <a:xfrm>
            <a:off x="457200" y="365760"/>
            <a:ext cx="548640" cy="548640"/>
          </a:xfrm>
          <a:prstGeom prst="ellipse">
            <a:avLst/>
          </a:prstGeom>
          <a:solidFill>
            <a:schemeClr val="accent1"/>
          </a:solidFill>
          <a:ln/>
        </p:spPr>
      </p:sp>
      <p:pic>
        <p:nvPicPr>
          <p:cNvPr id="4" name="Image 0" descr="check">    </p:cNvPr>
          <p:cNvPicPr>
            <a:picLocks noChangeAspect="1"/>
          </p:cNvPicPr>
          <p:nvPr/>
        </p:nvPicPr>
        <p:blipFill>
          <a:blip r:embed="rId1"/>
          <a:stretch>
            <a:fillRect/>
          </a:stretch>
        </p:blipFill>
        <p:spPr>
          <a:xfrm>
            <a:off x="594360" y="502920"/>
            <a:ext cx="274320" cy="274320"/>
          </a:xfrm>
          <a:prstGeom prst="rect">
            <a:avLst/>
          </a:prstGeom>
        </p:spPr>
      </p:pic>
      <p:sp>
        <p:nvSpPr>
          <p:cNvPr id="5" name="Unit chip"/>
          <p:cNvSpPr/>
          <p:nvPr/>
        </p:nvSpPr>
        <p:spPr>
          <a:xfrm>
            <a:off x="457200" y="1143000"/>
            <a:ext cx="1280160" cy="566928"/>
          </a:xfrm>
          <a:prstGeom prst="roundRect">
            <a:avLst>
              <a:gd name="adj" fmla="val 12903"/>
            </a:avLst>
          </a:prstGeom>
          <a:solidFill>
            <a:schemeClr val="tx2"/>
          </a:solidFill>
          <a:ln/>
        </p:spPr>
      </p:sp>
      <p:sp>
        <p:nvSpPr>
          <p:cNvPr id="6" name="Text 3"/>
          <p:cNvSpPr txBox="1"/>
          <p:nvPr/>
        </p:nvSpPr>
        <p:spPr>
          <a:xfrm>
            <a:off x="457200" y="1143000"/>
            <a:ext cx="1280160" cy="566928"/>
          </a:xfrm>
          <a:prstGeom prst="rect">
            <a:avLst/>
          </a:prstGeom>
          <a:noFill/>
          <a:ln/>
        </p:spPr>
        <p:txBody>
          <a:bodyPr wrap="square" lIns="0" tIns="0" rIns="0" bIns="0" rtlCol="0" anchor="ctr"/>
          <a:lstStyle/>
          <a:p>
            <a:pPr algn="ctr" indent="0" marL="0">
              <a:buNone/>
            </a:pPr>
            <a:r>
              <a:rPr lang="en-US" sz="1600" b="1" dirty="0">
                <a:solidFill>
                  <a:schemeClr val="bg1"/>
                </a:solidFill>
              </a:rPr>
              <a:t>Unit 1</a:t>
            </a:r>
            <a:endParaRPr lang="en-US" sz="1600" dirty="0"/>
          </a:p>
        </p:txBody>
      </p:sp>
      <p:sp>
        <p:nvSpPr>
          <p:cNvPr id="7" name="Result card"/>
          <p:cNvSpPr/>
          <p:nvPr/>
        </p:nvSpPr>
        <p:spPr>
          <a:xfrm>
            <a:off x="1828800" y="1143000"/>
            <a:ext cx="6858000" cy="566928"/>
          </a:xfrm>
          <a:prstGeom prst="roundRect">
            <a:avLst>
              <a:gd name="adj" fmla="val 12903"/>
            </a:avLst>
          </a:prstGeom>
          <a:solidFill>
            <a:schemeClr val="bg2"/>
          </a:solidFill>
          <a:ln/>
        </p:spPr>
      </p:sp>
      <p:sp>
        <p:nvSpPr>
          <p:cNvPr id="8" name="Text 5"/>
          <p:cNvSpPr txBox="1"/>
          <p:nvPr/>
        </p:nvSpPr>
        <p:spPr>
          <a:xfrm>
            <a:off x="2011680" y="1143000"/>
            <a:ext cx="6583680" cy="566928"/>
          </a:xfrm>
          <a:prstGeom prst="rect">
            <a:avLst/>
          </a:prstGeom>
          <a:noFill/>
          <a:ln/>
        </p:spPr>
        <p:txBody>
          <a:bodyPr wrap="square" lIns="0" tIns="0" rIns="0" bIns="0" rtlCol="0" anchor="ctr"/>
          <a:lstStyle/>
          <a:p>
            <a:pPr indent="0" marL="0">
              <a:buNone/>
            </a:pPr>
            <a:r>
              <a:rPr lang="en-US" sz="1500" dirty="0">
                <a:solidFill>
                  <a:schemeClr val="tx1"/>
                </a:solidFill>
              </a:rPr>
              <a:t>Vrms = 0.707 Vm,  P = VI cos φ,  Z = √(R² + X²)</a:t>
            </a:r>
            <a:endParaRPr lang="en-US" sz="1500" dirty="0"/>
          </a:p>
        </p:txBody>
      </p:sp>
      <p:sp>
        <p:nvSpPr>
          <p:cNvPr id="9" name="Unit chip"/>
          <p:cNvSpPr/>
          <p:nvPr/>
        </p:nvSpPr>
        <p:spPr>
          <a:xfrm>
            <a:off x="457200" y="1828800"/>
            <a:ext cx="1280160" cy="566928"/>
          </a:xfrm>
          <a:prstGeom prst="roundRect">
            <a:avLst>
              <a:gd name="adj" fmla="val 12903"/>
            </a:avLst>
          </a:prstGeom>
          <a:solidFill>
            <a:schemeClr val="tx2"/>
          </a:solidFill>
          <a:ln/>
        </p:spPr>
      </p:sp>
      <p:sp>
        <p:nvSpPr>
          <p:cNvPr id="10" name="Text 7"/>
          <p:cNvSpPr txBox="1"/>
          <p:nvPr/>
        </p:nvSpPr>
        <p:spPr>
          <a:xfrm>
            <a:off x="457200" y="1828800"/>
            <a:ext cx="1280160" cy="566928"/>
          </a:xfrm>
          <a:prstGeom prst="rect">
            <a:avLst/>
          </a:prstGeom>
          <a:noFill/>
          <a:ln/>
        </p:spPr>
        <p:txBody>
          <a:bodyPr wrap="square" lIns="0" tIns="0" rIns="0" bIns="0" rtlCol="0" anchor="ctr"/>
          <a:lstStyle/>
          <a:p>
            <a:pPr algn="ctr" indent="0" marL="0">
              <a:buNone/>
            </a:pPr>
            <a:r>
              <a:rPr lang="en-US" sz="1600" b="1" dirty="0">
                <a:solidFill>
                  <a:schemeClr val="bg1"/>
                </a:solidFill>
              </a:rPr>
              <a:t>Unit 2</a:t>
            </a:r>
            <a:endParaRPr lang="en-US" sz="1600" dirty="0"/>
          </a:p>
        </p:txBody>
      </p:sp>
      <p:sp>
        <p:nvSpPr>
          <p:cNvPr id="11" name="Result card"/>
          <p:cNvSpPr/>
          <p:nvPr/>
        </p:nvSpPr>
        <p:spPr>
          <a:xfrm>
            <a:off x="1828800" y="1828800"/>
            <a:ext cx="6858000" cy="566928"/>
          </a:xfrm>
          <a:prstGeom prst="roundRect">
            <a:avLst>
              <a:gd name="adj" fmla="val 12903"/>
            </a:avLst>
          </a:prstGeom>
          <a:solidFill>
            <a:schemeClr val="bg2"/>
          </a:solidFill>
          <a:ln/>
        </p:spPr>
      </p:sp>
      <p:sp>
        <p:nvSpPr>
          <p:cNvPr id="12" name="Text 9"/>
          <p:cNvSpPr txBox="1"/>
          <p:nvPr/>
        </p:nvSpPr>
        <p:spPr>
          <a:xfrm>
            <a:off x="2011680" y="1828800"/>
            <a:ext cx="6583680" cy="566928"/>
          </a:xfrm>
          <a:prstGeom prst="rect">
            <a:avLst/>
          </a:prstGeom>
          <a:noFill/>
          <a:ln/>
        </p:spPr>
        <p:txBody>
          <a:bodyPr wrap="square" lIns="0" tIns="0" rIns="0" bIns="0" rtlCol="0" anchor="ctr"/>
          <a:lstStyle/>
          <a:p>
            <a:pPr indent="0" marL="0">
              <a:buNone/>
            </a:pPr>
            <a:r>
              <a:rPr lang="en-US" sz="1500" dirty="0">
                <a:solidFill>
                  <a:schemeClr val="tx1"/>
                </a:solidFill>
              </a:rPr>
              <a:t>E = 4.44 f φm N,  V = Eb + Ia Ra,  Ns = 120 f / P</a:t>
            </a:r>
            <a:endParaRPr lang="en-US" sz="1500" dirty="0"/>
          </a:p>
        </p:txBody>
      </p:sp>
      <p:sp>
        <p:nvSpPr>
          <p:cNvPr id="13" name="Unit chip"/>
          <p:cNvSpPr/>
          <p:nvPr/>
        </p:nvSpPr>
        <p:spPr>
          <a:xfrm>
            <a:off x="457200" y="2514600"/>
            <a:ext cx="1280160" cy="566928"/>
          </a:xfrm>
          <a:prstGeom prst="roundRect">
            <a:avLst>
              <a:gd name="adj" fmla="val 12903"/>
            </a:avLst>
          </a:prstGeom>
          <a:solidFill>
            <a:schemeClr val="tx2"/>
          </a:solidFill>
          <a:ln/>
        </p:spPr>
      </p:sp>
      <p:sp>
        <p:nvSpPr>
          <p:cNvPr id="14" name="Text 11"/>
          <p:cNvSpPr txBox="1"/>
          <p:nvPr/>
        </p:nvSpPr>
        <p:spPr>
          <a:xfrm>
            <a:off x="457200" y="2514600"/>
            <a:ext cx="1280160" cy="566928"/>
          </a:xfrm>
          <a:prstGeom prst="rect">
            <a:avLst/>
          </a:prstGeom>
          <a:noFill/>
          <a:ln/>
        </p:spPr>
        <p:txBody>
          <a:bodyPr wrap="square" lIns="0" tIns="0" rIns="0" bIns="0" rtlCol="0" anchor="ctr"/>
          <a:lstStyle/>
          <a:p>
            <a:pPr algn="ctr" indent="0" marL="0">
              <a:buNone/>
            </a:pPr>
            <a:r>
              <a:rPr lang="en-US" sz="1600" b="1" dirty="0">
                <a:solidFill>
                  <a:schemeClr val="bg1"/>
                </a:solidFill>
              </a:rPr>
              <a:t>Unit 3</a:t>
            </a:r>
            <a:endParaRPr lang="en-US" sz="1600" dirty="0"/>
          </a:p>
        </p:txBody>
      </p:sp>
      <p:sp>
        <p:nvSpPr>
          <p:cNvPr id="15" name="Result card"/>
          <p:cNvSpPr/>
          <p:nvPr/>
        </p:nvSpPr>
        <p:spPr>
          <a:xfrm>
            <a:off x="1828800" y="2514600"/>
            <a:ext cx="6858000" cy="566928"/>
          </a:xfrm>
          <a:prstGeom prst="roundRect">
            <a:avLst>
              <a:gd name="adj" fmla="val 12903"/>
            </a:avLst>
          </a:prstGeom>
          <a:solidFill>
            <a:schemeClr val="bg2"/>
          </a:solidFill>
          <a:ln/>
        </p:spPr>
      </p:sp>
      <p:sp>
        <p:nvSpPr>
          <p:cNvPr id="16" name="Text 13"/>
          <p:cNvSpPr txBox="1"/>
          <p:nvPr/>
        </p:nvSpPr>
        <p:spPr>
          <a:xfrm>
            <a:off x="2011680" y="2514600"/>
            <a:ext cx="6583680" cy="566928"/>
          </a:xfrm>
          <a:prstGeom prst="rect">
            <a:avLst/>
          </a:prstGeom>
          <a:noFill/>
          <a:ln/>
        </p:spPr>
        <p:txBody>
          <a:bodyPr wrap="square" lIns="0" tIns="0" rIns="0" bIns="0" rtlCol="0" anchor="ctr"/>
          <a:lstStyle/>
          <a:p>
            <a:pPr indent="0" marL="0">
              <a:buNone/>
            </a:pPr>
            <a:r>
              <a:rPr lang="en-US" sz="1500" dirty="0">
                <a:solidFill>
                  <a:schemeClr val="tx1"/>
                </a:solidFill>
              </a:rPr>
              <a:t>Ripple: HWR 1.21, FWR 0.482;  Zener Rs = (VI − VZ)/IZ</a:t>
            </a:r>
            <a:endParaRPr lang="en-US" sz="1500" dirty="0"/>
          </a:p>
        </p:txBody>
      </p:sp>
      <p:sp>
        <p:nvSpPr>
          <p:cNvPr id="17" name="Unit chip"/>
          <p:cNvSpPr/>
          <p:nvPr/>
        </p:nvSpPr>
        <p:spPr>
          <a:xfrm>
            <a:off x="457200" y="3200400"/>
            <a:ext cx="1280160" cy="566928"/>
          </a:xfrm>
          <a:prstGeom prst="roundRect">
            <a:avLst>
              <a:gd name="adj" fmla="val 12903"/>
            </a:avLst>
          </a:prstGeom>
          <a:solidFill>
            <a:schemeClr val="tx2"/>
          </a:solidFill>
          <a:ln/>
        </p:spPr>
      </p:sp>
      <p:sp>
        <p:nvSpPr>
          <p:cNvPr id="18" name="Text 15"/>
          <p:cNvSpPr txBox="1"/>
          <p:nvPr/>
        </p:nvSpPr>
        <p:spPr>
          <a:xfrm>
            <a:off x="457200" y="3200400"/>
            <a:ext cx="1280160" cy="566928"/>
          </a:xfrm>
          <a:prstGeom prst="rect">
            <a:avLst/>
          </a:prstGeom>
          <a:noFill/>
          <a:ln/>
        </p:spPr>
        <p:txBody>
          <a:bodyPr wrap="square" lIns="0" tIns="0" rIns="0" bIns="0" rtlCol="0" anchor="ctr"/>
          <a:lstStyle/>
          <a:p>
            <a:pPr algn="ctr" indent="0" marL="0">
              <a:buNone/>
            </a:pPr>
            <a:r>
              <a:rPr lang="en-US" sz="1600" b="1" dirty="0">
                <a:solidFill>
                  <a:schemeClr val="bg1"/>
                </a:solidFill>
              </a:rPr>
              <a:t>Unit 4</a:t>
            </a:r>
            <a:endParaRPr lang="en-US" sz="1600" dirty="0"/>
          </a:p>
        </p:txBody>
      </p:sp>
      <p:sp>
        <p:nvSpPr>
          <p:cNvPr id="19" name="Result card"/>
          <p:cNvSpPr/>
          <p:nvPr/>
        </p:nvSpPr>
        <p:spPr>
          <a:xfrm>
            <a:off x="1828800" y="3200400"/>
            <a:ext cx="6858000" cy="566928"/>
          </a:xfrm>
          <a:prstGeom prst="roundRect">
            <a:avLst>
              <a:gd name="adj" fmla="val 12903"/>
            </a:avLst>
          </a:prstGeom>
          <a:solidFill>
            <a:schemeClr val="bg2"/>
          </a:solidFill>
          <a:ln/>
        </p:spPr>
      </p:sp>
      <p:sp>
        <p:nvSpPr>
          <p:cNvPr id="20" name="Text 17"/>
          <p:cNvSpPr txBox="1"/>
          <p:nvPr/>
        </p:nvSpPr>
        <p:spPr>
          <a:xfrm>
            <a:off x="2011680" y="3200400"/>
            <a:ext cx="6583680" cy="566928"/>
          </a:xfrm>
          <a:prstGeom prst="rect">
            <a:avLst/>
          </a:prstGeom>
          <a:noFill/>
          <a:ln/>
        </p:spPr>
        <p:txBody>
          <a:bodyPr wrap="square" lIns="0" tIns="0" rIns="0" bIns="0" rtlCol="0" anchor="ctr"/>
          <a:lstStyle/>
          <a:p>
            <a:pPr indent="0" marL="0">
              <a:buNone/>
            </a:pPr>
            <a:r>
              <a:rPr lang="en-US" sz="1500" dirty="0">
                <a:solidFill>
                  <a:schemeClr val="tx1"/>
                </a:solidFill>
              </a:rPr>
              <a:t>IE = IB + IC,  β = α/(1 − α);  CMOS inverts the input</a:t>
            </a:r>
            <a:endParaRPr lang="en-US" sz="1500" dirty="0"/>
          </a:p>
        </p:txBody>
      </p:sp>
      <p:sp>
        <p:nvSpPr>
          <p:cNvPr id="21" name="Unit chip"/>
          <p:cNvSpPr/>
          <p:nvPr/>
        </p:nvSpPr>
        <p:spPr>
          <a:xfrm>
            <a:off x="457200" y="3886200"/>
            <a:ext cx="1280160" cy="566928"/>
          </a:xfrm>
          <a:prstGeom prst="roundRect">
            <a:avLst>
              <a:gd name="adj" fmla="val 12903"/>
            </a:avLst>
          </a:prstGeom>
          <a:solidFill>
            <a:schemeClr val="tx2"/>
          </a:solidFill>
          <a:ln/>
        </p:spPr>
      </p:sp>
      <p:sp>
        <p:nvSpPr>
          <p:cNvPr id="22" name="Text 19"/>
          <p:cNvSpPr txBox="1"/>
          <p:nvPr/>
        </p:nvSpPr>
        <p:spPr>
          <a:xfrm>
            <a:off x="457200" y="3886200"/>
            <a:ext cx="1280160" cy="566928"/>
          </a:xfrm>
          <a:prstGeom prst="rect">
            <a:avLst/>
          </a:prstGeom>
          <a:noFill/>
          <a:ln/>
        </p:spPr>
        <p:txBody>
          <a:bodyPr wrap="square" lIns="0" tIns="0" rIns="0" bIns="0" rtlCol="0" anchor="ctr"/>
          <a:lstStyle/>
          <a:p>
            <a:pPr algn="ctr" indent="0" marL="0">
              <a:buNone/>
            </a:pPr>
            <a:r>
              <a:rPr lang="en-US" sz="1600" b="1" dirty="0">
                <a:solidFill>
                  <a:schemeClr val="bg1"/>
                </a:solidFill>
              </a:rPr>
              <a:t>Unit 5</a:t>
            </a:r>
            <a:endParaRPr lang="en-US" sz="1600" dirty="0"/>
          </a:p>
        </p:txBody>
      </p:sp>
      <p:sp>
        <p:nvSpPr>
          <p:cNvPr id="23" name="Result card"/>
          <p:cNvSpPr/>
          <p:nvPr/>
        </p:nvSpPr>
        <p:spPr>
          <a:xfrm>
            <a:off x="1828800" y="3886200"/>
            <a:ext cx="6858000" cy="566928"/>
          </a:xfrm>
          <a:prstGeom prst="roundRect">
            <a:avLst>
              <a:gd name="adj" fmla="val 12903"/>
            </a:avLst>
          </a:prstGeom>
          <a:solidFill>
            <a:schemeClr val="bg2"/>
          </a:solidFill>
          <a:ln/>
        </p:spPr>
      </p:sp>
      <p:sp>
        <p:nvSpPr>
          <p:cNvPr id="24" name="Text 21"/>
          <p:cNvSpPr txBox="1"/>
          <p:nvPr/>
        </p:nvSpPr>
        <p:spPr>
          <a:xfrm>
            <a:off x="2011680" y="3886200"/>
            <a:ext cx="6583680" cy="566928"/>
          </a:xfrm>
          <a:prstGeom prst="rect">
            <a:avLst/>
          </a:prstGeom>
          <a:noFill/>
          <a:ln/>
        </p:spPr>
        <p:txBody>
          <a:bodyPr wrap="square" lIns="0" tIns="0" rIns="0" bIns="0" rtlCol="0" anchor="ctr"/>
          <a:lstStyle/>
          <a:p>
            <a:pPr indent="0" marL="0">
              <a:buNone/>
            </a:pPr>
            <a:r>
              <a:rPr lang="en-US" sz="1500" dirty="0">
                <a:solidFill>
                  <a:schemeClr val="tx1"/>
                </a:solidFill>
              </a:rPr>
              <a:t>Inverting −Rf/R1;  non-inverting 1 + Rf/R1;  virtual ground</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Icon circle"/>
          <p:cNvSpPr/>
          <p:nvPr/>
        </p:nvSpPr>
        <p:spPr>
          <a:xfrm>
            <a:off x="731520" y="1371600"/>
            <a:ext cx="1463040" cy="1463040"/>
          </a:xfrm>
          <a:prstGeom prst="ellipse">
            <a:avLst/>
          </a:prstGeom>
          <a:solidFill>
            <a:schemeClr val="accent1"/>
          </a:solidFill>
          <a:ln/>
        </p:spPr>
      </p:sp>
      <p:pic>
        <p:nvPicPr>
          <p:cNvPr id="3" name="Image 0" descr="lightning bolt">    </p:cNvPr>
          <p:cNvPicPr>
            <a:picLocks noChangeAspect="1"/>
          </p:cNvPicPr>
          <p:nvPr/>
        </p:nvPicPr>
        <p:blipFill>
          <a:blip r:embed="rId1"/>
          <a:stretch>
            <a:fillRect/>
          </a:stretch>
        </p:blipFill>
        <p:spPr>
          <a:xfrm>
            <a:off x="1143000" y="1783080"/>
            <a:ext cx="640080" cy="640080"/>
          </a:xfrm>
          <a:prstGeom prst="rect">
            <a:avLst/>
          </a:prstGeom>
        </p:spPr>
      </p:pic>
      <p:sp>
        <p:nvSpPr>
          <p:cNvPr id="4" name="Text 1"/>
          <p:cNvSpPr txBox="1"/>
          <p:nvPr/>
        </p:nvSpPr>
        <p:spPr>
          <a:xfrm>
            <a:off x="2743200" y="1234440"/>
            <a:ext cx="5943600" cy="91440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Thank you</a:t>
            </a:r>
            <a:endParaRPr lang="en-US" sz="4400" dirty="0"/>
          </a:p>
        </p:txBody>
      </p:sp>
      <p:sp>
        <p:nvSpPr>
          <p:cNvPr id="5" name="Text 2"/>
          <p:cNvSpPr txBox="1"/>
          <p:nvPr/>
        </p:nvSpPr>
        <p:spPr>
          <a:xfrm>
            <a:off x="2743200" y="2194560"/>
            <a:ext cx="5760720" cy="731520"/>
          </a:xfrm>
          <a:prstGeom prst="rect">
            <a:avLst/>
          </a:prstGeom>
          <a:noFill/>
          <a:ln/>
        </p:spPr>
        <p:txBody>
          <a:bodyPr wrap="square" lIns="0" tIns="0" rIns="0" bIns="0" rtlCol="0" anchor="t"/>
          <a:lstStyle/>
          <a:p>
            <a:pPr indent="0" marL="0">
              <a:buNone/>
            </a:pPr>
            <a:r>
              <a:rPr lang="en-US" sz="1800" dirty="0">
                <a:solidFill>
                  <a:srgbClr val="D5E0EE"/>
                </a:solidFill>
              </a:rPr>
              <a:t>Practise the numericals in your unit notes, then attempt the exercise problems.</a:t>
            </a:r>
            <a:endParaRPr lang="en-US" sz="1800" dirty="0"/>
          </a:p>
        </p:txBody>
      </p:sp>
      <p:sp>
        <p:nvSpPr>
          <p:cNvPr id="6" name="Text 3"/>
          <p:cNvSpPr txBox="1"/>
          <p:nvPr/>
        </p:nvSpPr>
        <p:spPr>
          <a:xfrm>
            <a:off x="2743200" y="3291840"/>
            <a:ext cx="5943600" cy="822960"/>
          </a:xfrm>
          <a:prstGeom prst="rect">
            <a:avLst/>
          </a:prstGeom>
          <a:noFill/>
          <a:ln/>
        </p:spPr>
        <p:txBody>
          <a:bodyPr wrap="square" lIns="0" tIns="0" rIns="0" bIns="0" rtlCol="0" anchor="t"/>
          <a:lstStyle/>
          <a:p>
            <a:pPr indent="0" marL="0">
              <a:buNone/>
            </a:pPr>
            <a:r>
              <a:rPr lang="en-US" sz="1600" b="1" dirty="0">
                <a:solidFill>
                  <a:schemeClr val="accent1"/>
                </a:solidFill>
              </a:rPr>
              <a:t>Dr. Mitesh Astik</a:t>
            </a:r>
            <a:endParaRPr lang="en-US" sz="1600" dirty="0"/>
          </a:p>
          <a:p>
            <a:pPr indent="0" marL="0">
              <a:buNone/>
            </a:pPr>
            <a:r>
              <a:rPr lang="en-US" sz="1600" dirty="0">
                <a:solidFill>
                  <a:srgbClr val="D5E0EE"/>
                </a:solidFill>
              </a:rPr>
              <a:t>Dept. of Electrical and Electronics Engineering, NMAMIT, Nitte</a:t>
            </a:r>
            <a:endParaRPr lang="en-US" sz="1600" dirty="0"/>
          </a:p>
        </p:txBody>
      </p:sp>
    </p:spTree>
  </p:cSld>
  <p:clrMapOvr>
    <a:masterClrMapping/>
  </p:clrMapOvr>
</p:sld>
</file>

<file path=ppt/theme/theme1.xml><?xml version="1.0" encoding="utf-8"?>
<a:theme xmlns:a="http://schemas.openxmlformats.org/drawingml/2006/main" name="BEEE Lecture">
  <a:themeElements>
    <a:clrScheme name="BEEE Lecture">
      <a:dk1>
        <a:srgbClr val="0B1F3A"/>
      </a:dk1>
      <a:lt1>
        <a:srgbClr val="FFFFFF"/>
      </a:lt1>
      <a:dk2>
        <a:srgbClr val="16396B"/>
      </a:dk2>
      <a:lt2>
        <a:srgbClr val="EDF2F8"/>
      </a:lt2>
      <a:accent1>
        <a:srgbClr val="F5A623"/>
      </a:accent1>
      <a:accent2>
        <a:srgbClr val="14777B"/>
      </a:accent2>
      <a:accent3>
        <a:srgbClr val="C93C20"/>
      </a:accent3>
      <a:accent4>
        <a:srgbClr val="5B6B7F"/>
      </a:accent4>
      <a:accent5>
        <a:srgbClr val="3E7CB1"/>
      </a:accent5>
      <a:accent6>
        <a:srgbClr val="7A4FD6"/>
      </a:accent6>
      <a:hlink>
        <a:srgbClr val="3E7CB1"/>
      </a:hlink>
      <a:folHlink>
        <a:srgbClr val="5B6B7F"/>
      </a:folHlink>
    </a:clrScheme>
    <a:fontScheme name="BEEE Lectur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Dept. of EEE, NMAMIT, Nitte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BEEE (EEE103) – Units 1 to 5</dc:title>
  <dc:subject>PptxGenJS Presentation</dc:subject>
  <dc:creator>Dr. Mitesh Astik</dc:creator>
  <cp:lastModifiedBy>Dr. Mitesh Astik</cp:lastModifiedBy>
  <cp:revision>1</cp:revision>
  <dcterms:created xsi:type="dcterms:W3CDTF">2026-10-29T08:56:20Z</dcterms:created>
  <dcterms:modified xsi:type="dcterms:W3CDTF">2026-10-29T08:56:20Z</dcterms:modified>
</cp:coreProperties>
</file>