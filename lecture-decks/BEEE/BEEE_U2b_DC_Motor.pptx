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Principle, back EMF, torque equation, characteristics and speed control of DC shunt motor. It belongs to Unit 2: Transformers and Electrical Machines.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CO2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conductor carrying current in a magnetic field experiences a force. Its direction is given by Fleming's left-hand rule, with the thumb for force, the forefinger for field and the middle finger for current. The same conductor, when moving in a field, also has an EMF induced in it. Both facts are used in the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 motors are used wherever precise and wide-range speed control is needed, such as in electric traction, cranes and rolling mills. Small permanent-magnet DC motors drive toys, wipers and robots. Today we study the shunt type, in which the field winding is connected in parallel with the armature.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stator consists of the yoke and the field poles carrying the field winding. The rotor is the armature, a laminated cylinder with slots that hold the armature conductors. The commutator is a ring of copper segments connected to the armature coils and the carbon brushes press against it. The commutator reverses the current in each coil as it passes the neutral axis, so that the torque stays in one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supply is connected, current flows in the armature conductors which lie in the field of the main poles. Each conductor experiences a force, and the forces on the two sides of a coil produce a turning moment. As the coil turns, the commutator reverses the current so the force on each side stays in the same direction. The result is continuous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shunt motor the field winding has many turns of thin wire and is connected in parallel with the armature across the supply voltage. The field current is small and stays practically constant, so the flux is constant. The armature current changes with the load. The line current is the sum of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armature is a conductor moving in a magnetic field, so an EMF is induced in it which opposes the supply voltage, hence the name back EMF. The net voltage across the armature resistance is V minus Eb, so it controls the current. At standstill the back EMF is zero and the current can be very large, so a starter resistance is needed. When load increases, the speed falls slightly, Eb falls and more current flows: this is the self-regulating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torque developed depends on the flux per pole and on the armature current. For the shunt motor the flux is constant, so the torque is proportional to the armature current. The electrical power converted into mechanical power is the back EMF times the armature current, which also equals torque times angular speed. Use this to find torque from power and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flux is constant and the armature resistance drop is small, the speed of a shunt motor falls only a few per cent from no load to full load. The torque is proportional to the armature current. This near-constant speed makes it suitable for lathes, fans, and pumps. If the field circuit opens, the flux nearly vanishes and the speed can rise dangerously.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back EMF equation, speed is proportional to the armature voltage drop divided by flux. We can change the voltage applied to the armature, usually with a series resistance, which lowers the speed below the base value. Or we can weaken the field with a rheostat in series with the field winding, which raises the speed above the base value. Field control is more efficient, since the field current is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Subtract the armature resistance drop from the supply to get the back EMF. The electrical power converted to mechanical power is Eb times Ia, and dividing by the angular speed gives the torque. Finally note that at standstill the back EMF is zero, so the current would be 440 amperes, twenty-two times the rated value. That is why a starter is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first case the load torque and flux are unchanged, so the armature current stays at 20 amperes, but the extra resistor lowers the back EMF and therefore the speed. In the second case a weaker field needs a higher armature current to give the same torque. Then use the ratio of back EMFs and the inverse ratio of fluxes. Field weakening raises speed above the base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DC motors.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DC motors are within reach. Next lecture: three-phase induction motor.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DC motors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DC motors.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Basic Electrical and Electronics Engineering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0B3C49"/>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Basic Electrical and Electronics Engineering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DC Motor</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Basic Electrical and Electronics Engineering</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2: Transformers and Electrical Machines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Principle, back EMF, torque equation, characteristics and speed control of DC shunt motor</a:t>
            </a:r>
            <a:endParaRPr lang="en-US" sz="1500" dirty="0"/>
          </a:p>
          <a:p>
            <a:pPr indent="0" marL="0">
              <a:spcAft>
                <a:spcPts val="800"/>
              </a:spcAft>
              <a:buNone/>
            </a:pPr>
            <a:r>
              <a:rPr lang="en-US" sz="1500" b="1" dirty="0">
                <a:solidFill>
                  <a:srgbClr val="FF8A5B"/>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Explain the principle and parts of a DC motor.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State the significance of back EMF.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Use the torque equation and characteristics.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Control the speed of a shunt motor.</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Linked to CO2</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Describe construction and operating principle of DC motors.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Magnetic field B around a magnet.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Force on a current-carrying conductor.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Fleming's left-hand rule gives direction.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Faraday: moving conductor in a field induces EMF.</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F = B·I·l (N);   e = B·l·v (V)</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B tesla, I ampere, l metre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Motivation: Where DC Motors Are Used</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Electric vehicles and trains.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Cranes, lifts, rolling mills.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Fans, toys, robotics, wipers.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Easy and wide speed control.</a:t>
            </a:r>
            <a:endParaRPr lang="en-US" sz="1400" dirty="0"/>
          </a:p>
        </p:txBody>
      </p:sp>
      <p:pic>
        <p:nvPicPr>
          <p:cNvPr id="4" name="Diagram" descr="Motivation: Where DC Motors Are Used">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DC motor: converts electrical power into mechanical power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Construction of a DC Motor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Yoke: outer frame; carries flux.</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Field poles with field winding.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Armature: laminated core with slots.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Commutator: copper segments on the shaft.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Brushes: carbon, supply current to armature.</a:t>
            </a:r>
            <a:endParaRPr lang="en-US" sz="1400" dirty="0"/>
          </a:p>
        </p:txBody>
      </p:sp>
      <p:pic>
        <p:nvPicPr>
          <p:cNvPr id="4" name="Diagram" descr="Construction of a DC Mo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Main parts: stator (yoke + poles), rotor (armature + commutator), brushes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Principle of Operation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Armature conductors carry current in the field.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Each conductor feels a force F = B·I·l.</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Forces on the two sides form a couple.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The couple rotates the armature.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Commutator keeps the torque unidirectional.</a:t>
            </a:r>
            <a:endParaRPr lang="en-US" sz="1400" dirty="0"/>
          </a:p>
        </p:txBody>
      </p:sp>
      <p:pic>
        <p:nvPicPr>
          <p:cNvPr id="4" name="Diagram" descr="Principle of Opera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F = B·I·l;   Torque T = F × r (N·m)</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DC Shunt Motor Circuit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Field winding connected across the supply.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Field current If is nearly constant.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Flux Φ is therefore constant.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Armature draws Ia from the supply.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Line current I = Ia + If.</a:t>
            </a:r>
            <a:endParaRPr lang="en-US" sz="1400" dirty="0"/>
          </a:p>
        </p:txBody>
      </p:sp>
      <p:pic>
        <p:nvPicPr>
          <p:cNvPr id="4" name="Diagram" descr="DC Shunt Motor Circui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I = Ia + If;   If = V/Rsh</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Back EMF and Its Significance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Rotating conductors cut the field: EMF induced.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This EMF opposes the supply: back EMF Eb.</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Ia = (V − Eb)/Ra.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At start Eb = 0: very large current.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Eb adjusts the current to the load: self-regulation.</a:t>
            </a:r>
            <a:endParaRPr lang="en-US" sz="1400" dirty="0"/>
          </a:p>
        </p:txBody>
      </p:sp>
      <p:pic>
        <p:nvPicPr>
          <p:cNvPr id="4" name="Diagram" descr="Back EMF and Its Significanc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Eb = V − Ia·Ra = (P·Φ·Z·N)/(60·A);   Pm = Eb·Ia</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N speed rpm, Z conductors, P poles, A parallel paths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Torque Equation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Torque comes from flux × armature current.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Shunt motor: Φ constant, T ∝ Ia.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Series motor: Φ ∝ Ia, T ∝ Ia².</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Mechanical power = Eb·Ia = ω·T.</a:t>
            </a:r>
            <a:endParaRPr lang="en-US" sz="1400" dirty="0"/>
          </a:p>
        </p:txBody>
      </p:sp>
      <p:pic>
        <p:nvPicPr>
          <p:cNvPr id="4" name="Diagram" descr="Torque Equa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T = (P·Z/2πA)·Φ·Ia = Kt·Φ·Ia (N·m);   Pm = Eb·Ia = 2πN·T/60</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Φ weber, Ia ampere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Characteristics of a Shunt Motor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Speed falls only slightly with load.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Torque rises linearly with armature current.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Practically constant-speed motor.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Never run without field: speed runs away.</a:t>
            </a:r>
            <a:endParaRPr lang="en-US" sz="1400" dirty="0"/>
          </a:p>
        </p:txBody>
      </p:sp>
      <p:pic>
        <p:nvPicPr>
          <p:cNvPr id="4" name="Diagram" descr="Characteristics of a Shunt Mo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 ∝ Eb/Φ;   T ∝ Ia (Φ constant)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Speed Control of a Shunt Motor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Speed N ∝ (V − IaRa)/Φ.</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Armature control: vary voltage or add series 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Field control: weaken Φ with a field rheostat.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Armature control gives speeds below base.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Field control gives speeds above base.</a:t>
            </a:r>
            <a:endParaRPr lang="en-US" sz="1400" dirty="0"/>
          </a:p>
        </p:txBody>
      </p:sp>
      <p:pic>
        <p:nvPicPr>
          <p:cNvPr id="4" name="Diagram" descr="Speed Control of a Shunt Mo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 = K (V − Ia·Ra)/Φ;   N2/N1 = (Eb2/Eb1)·(Φ1/Φ2)</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K machine constant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1: Torque and Starting</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220 V shunt motor, Ra = 0.5 Ω, runs at 1000 rpm taking Ia = 20 A. Find Eb, Pm, T and starting current without starter.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Eb = 220 − 20 × 0.5 = 210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Pm = Eb·Ia = 4200 W.</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ω = 2π × 1000/60 = 104.7 rad/s.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T = 4200/104.7 = 40.1 N·m.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 Starting current = V/Ra = 220/0.5 = 440 A (22 × rated).</a:t>
            </a:r>
            <a:endParaRPr lang="en-US" sz="1400" dirty="0"/>
          </a:p>
        </p:txBody>
      </p:sp>
      <p:pic>
        <p:nvPicPr>
          <p:cNvPr id="4" name="Diagram" descr="Solved Example 1: Torque and Starting">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Eb = 210 V, Pm = 4.2 kW, T = 40.1 N·m, Ist = 440 A without a starter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2: Speed Control</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For the same motor with constant load torque, find the speed (a) with a 1 Ω resistance added in series with the armature, (b) with the field weakened to 80 %.</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Ia = 20 A: Eb = 220 − 20 × 1.5 = 190 V; N = 1000 × 190/210 = 905 rpm.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 T ∝ Φ·Ia: Ia = 20/0.8 = 25 A; Eb = 220 − 25 × 0.5 = 207.5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 = 1000 × (207.5/210) × (1/0.8) = 1235 rpm.</a:t>
            </a:r>
            <a:endParaRPr lang="en-US" sz="1400" dirty="0"/>
          </a:p>
        </p:txBody>
      </p:sp>
      <p:pic>
        <p:nvPicPr>
          <p:cNvPr id="4" name="Diagram" descr="Solved Example 2: Speed Control">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(a) 905 rpm,  (b) 1235 rpm</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1F8F8"/>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V instead of Eb in P = Eb·Ia.</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Forgetting that Eb = 0 at start.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Saying T ∝ Ia for a series motor.</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Opening the shunt field of a running motor.</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Mixing rpm with rad/s in T = P/ω.</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1F8F8"/>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Compute Eb = V − IaRa first.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Convert N to ω = 2πN/60.</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Use ratios for speed-change problems.</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Remember: field control raises speed.</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Motor action: force on a current-carrying conductor in a field.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Back EMF: Eb = V − Ia·Ra opposes the supply.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 = Kt·Φ·Ia;  Pm = Eb·Ia.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Shunt motor: nearly constant speed.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Speed control: armature voltage (below), field flux (above).</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 ∝ (V − IaRa)/Φ;   T ∝ Φ·Ia</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1F8F8"/>
          </a:solidFill>
          <a:ln w="9525">
            <a:solidFill>
              <a:srgbClr val="DDF0F0"/>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Q1. At the instant of starting, back EMF is: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maximum  (b) zero  (c) equal to V  (d) half of V</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DDF0F0"/>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Q2. Torque of a shunt motor is proportional to:</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Ia²  (b) Ia  (c) 1/Ia  (d) N</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1F8F8"/>
          </a:solidFill>
          <a:ln w="9525">
            <a:solidFill>
              <a:srgbClr val="DDF0F0"/>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Q3. Field control gives speeds: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below base  (b) above base  (c) zero  (d) negative</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DDF0F0"/>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Q4. V = 200 V, Ia = 10 A, Ra = 1 Ω gives Eb =</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210 V  (b) 190 V  (c) 200 V  (d) 10 V</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9" name="Q5 row"/>
          <p:cNvSpPr/>
          <p:nvPr/>
        </p:nvSpPr>
        <p:spPr>
          <a:xfrm>
            <a:off x="457200" y="4023360"/>
            <a:ext cx="8229600" cy="658368"/>
          </a:xfrm>
          <a:prstGeom prst="roundRect">
            <a:avLst>
              <a:gd name="adj" fmla="val 11111"/>
            </a:avLst>
          </a:prstGeom>
          <a:solidFill>
            <a:srgbClr val="F1F8F8"/>
          </a:solidFill>
          <a:ln w="9525">
            <a:solidFill>
              <a:srgbClr val="DDF0F0"/>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Q5. The commutator in a motor:</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cools the machine  (b) keeps torque unidirectional  (c) increases flux  (d) is a brake</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0B3C49"/>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Hughes Edward,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10th Ed., Pearson Education, 2010 (Units 1, 2 textbook)</a:t>
            </a:r>
            <a:endParaRPr lang="en-US" sz="1400" dirty="0"/>
          </a:p>
        </p:txBody>
      </p:sp>
      <p:sp>
        <p:nvSpPr>
          <p:cNvPr id="6" name="Ref 2 badge"/>
          <p:cNvSpPr/>
          <p:nvPr/>
        </p:nvSpPr>
        <p:spPr>
          <a:xfrm>
            <a:off x="457200" y="1801368"/>
            <a:ext cx="420624" cy="420624"/>
          </a:xfrm>
          <a:prstGeom prst="ellipse">
            <a:avLst/>
          </a:prstGeom>
          <a:solidFill>
            <a:srgbClr val="0B3C49"/>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 Cotton,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7th Ed., CBS Publishers, 2005 (reference)</a:t>
            </a:r>
            <a:endParaRPr lang="en-US" sz="1400" dirty="0"/>
          </a:p>
        </p:txBody>
      </p:sp>
      <p:sp>
        <p:nvSpPr>
          <p:cNvPr id="9" name="Key strip"/>
          <p:cNvSpPr/>
          <p:nvPr/>
        </p:nvSpPr>
        <p:spPr>
          <a:xfrm>
            <a:off x="457200" y="4343400"/>
            <a:ext cx="8229600" cy="411480"/>
          </a:xfrm>
          <a:prstGeom prst="roundRect">
            <a:avLst>
              <a:gd name="adj" fmla="val 17778"/>
            </a:avLst>
          </a:prstGeom>
          <a:solidFill>
            <a:srgbClr val="DDF0F0"/>
          </a:solidFill>
          <a:ln/>
        </p:spPr>
      </p:sp>
      <p:sp>
        <p:nvSpPr>
          <p:cNvPr id="10"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Next lecture: three-phase induction motor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1B2A30"/>
      </a:dk1>
      <a:lt1>
        <a:srgbClr val="FFFFFF"/>
      </a:lt1>
      <a:dk2>
        <a:srgbClr val="0B3C49"/>
      </a:dk2>
      <a:lt2>
        <a:srgbClr val="F1F8F8"/>
      </a:lt2>
      <a:accent1>
        <a:srgbClr val="0E7C86"/>
      </a:accent1>
      <a:accent2>
        <a:srgbClr val="E4572E"/>
      </a:accent2>
      <a:accent3>
        <a:srgbClr val="2E8B57"/>
      </a:accent3>
      <a:accent4>
        <a:srgbClr val="C0392B"/>
      </a:accent4>
      <a:accent5>
        <a:srgbClr val="5B6B72"/>
      </a:accent5>
      <a:accent6>
        <a:srgbClr val="FF8A5B"/>
      </a:accent6>
      <a:hlink>
        <a:srgbClr val="0E7C86"/>
      </a:hlink>
      <a:folHlink>
        <a:srgbClr val="5B6B72"/>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 — Unit 2: DC Motor</dc:title>
  <dc:subject>PptxGenJS Presentation</dc:subject>
  <dc:creator>Prof. Mitesh Astik</dc:creator>
  <cp:lastModifiedBy>Prof. Mitesh Astik</cp:lastModifiedBy>
  <cp:revision>1</cp:revision>
  <dcterms:created xsi:type="dcterms:W3CDTF">2026-10-28T16:42:30Z</dcterms:created>
  <dcterms:modified xsi:type="dcterms:W3CDTF">2026-10-28T16:42:30Z</dcterms:modified>
</cp:coreProperties>
</file>