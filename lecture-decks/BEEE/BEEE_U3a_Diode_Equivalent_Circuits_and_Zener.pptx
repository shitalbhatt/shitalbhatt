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Semiconductor diode, diode equivalent circuits, Zener diode as voltage regulator. It belongs to Unit 3: Diodes, Transistors and their Applications.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CO3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Silicon and germanium are semiconductors that can be doped to make p-type material with excess holes and n-type with excess electrons. Joining the two forms a p-n junction, which is the heart of the diode. The resistor circuit analysis we did in Unit 1 will help us solve diode circuits.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power adapter contains diodes to turn the AC mains into DC. A diode acts like a one-way valve for current. This property also protects equipment from a wrongly connected battery. Zener diodes, a special type, give a steady voltage reference, which we study in the second half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p and n materials are joined, holes diffuse into the n side and electrons into the p side. They recombine, leaving a region with no mobile carriers, called the depletion region. The fixed ions create an electric field that opposes further diffusion. The potential across it is the barrier potential, about 0.7 volts in silicon.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forward bias the external voltage opposes the barrier, the depletion region shrinks and a large current flows once the voltage exceeds about 0.7 volts. In reverse bias the external voltage adds to the barrier, so the region widens and only a very small leakage current of minority carriers flows. Always use a series resistor with a forward-biased diode to limit the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Shockley equation describes the characteristic. Below the knee, about 0.5 volts for silicon, the current is negligible. Above the knee the current rises very rapidly, so the voltage across a conducting diode stays near 0.7 volts. In reverse the current is a tiny saturation current, until the breakdown voltage is reached. Temperature affects both the knee and the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Solving with the exponential equation is difficult, so we replace the diode by a simple equivalent circuit. The ideal model is a perfect switch. The practical model adds a 0.7 volt battery to represent the knee. The third model adds a small resistance for the slope of the characteristic. For most problems in this course the practical model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guess the state of the diode. If the source drives current from anode to cathode with more than 0.7 volts, assume it conducts. Replace it by a 0.7 volt drop, write Kirchhoff's voltage law and find the current. Then check: the current must be positive, otherwise the diode is off and the current is zero. Here the current is 9.3 milliamperes.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Zener diode is made for operation in the reverse breakdown region. In breakdown the voltage across it stays almost constant at Vz while the current may change widely. This makes it ideal as a reference or a simple voltage regulator. The current must stay above a minimum to remain in breakdown and below a maximum set by the power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Zener is connected in parallel with the load, in reverse, with a series resistor from the supply. The output voltage is held at Vz. The current through Rs is fixed by the difference between input and Zener voltage. That current divides between the load and the Zener, so if the load current changes, the Zener current changes by the opposite amount and the output stays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input voltage rises, the Zener takes more current and the output stays at Vz. As the load draws more current, the Zener current falls. The limit comes when the Zener current drops to its minimum, since then it leaves breakdown and regulation is lost. At no load all the series current flows through the Zener, which must not exceed its power rating. The choice of Rs balances these two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Kirchhoff's voltage law using the practical model for part a. The result is 9.3 milliamperes. For the ideal diode there is no 0.7 volt drop, so the current is a little larger: 10 milliamperes. If the diode is reversed it blocks, no current flows and the whole supply voltage appears across the diode. The comparison shows when the ideal model is accurate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series current depends only on the input voltage, the Zener voltage and Rs, so it is the same in both cases. With a light load the Zener carries most of it. With a heavier load the load current rises and the Zener current drops. The minimum load resistance is found by letting the Zener keep only its minimum current: all the remainder goes to the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diodes and Zener regulation.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diodes and Zener regulation are within reach. Next lecture: rectifiers: half-wave and full-wave bridge.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diodes and Zener regulation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diodes and Zener regulation.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Diode, Equivalent Circuits and Zener Diode</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3: Diodes, Transistors and their Applications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Semiconductor diode, diode equivalent circuits, Zener diode as voltage regulator</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the p-n junction and its biasing.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Read the diode V–I characteristic.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 ideal and practical diode models.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Design a simple Zener voltage regulator.</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CO3</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Analyse characteristics of the p-n junction diode and Zener diode.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Semiconductors: silicon and germanium.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Doping makes p-type (holes) and n-type (electrons).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Majority and minority carriers.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Ohm's law and resistor circuits.</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p-type: trivalent dopant (holes);   n-type: pentavalent dopant (electrons)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A One-Way Valve for Current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Mobile charger converts AC to DC with diodes.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LED lights, radios, solar panels.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Protects circuits from reverse polarity.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Zener diodes give a steady reference voltage.</a:t>
            </a:r>
            <a:endParaRPr lang="en-US" sz="1400" dirty="0"/>
          </a:p>
        </p:txBody>
      </p:sp>
      <p:pic>
        <p:nvPicPr>
          <p:cNvPr id="4" name="Diagram" descr="Motivation: A One-Way Valve for Curren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 diode conducts in one direction and blocks in the other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The p-n Junction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Holes and electrons diffuse across the junction.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They recombine, leaving fixed ions.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Depletion region forms; a built-in field appears.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Barrier potential opposes further diffusion.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Si ≈ 0.7 V; Ge ≈ 0.3 V.</a:t>
            </a:r>
            <a:endParaRPr lang="en-US" sz="1400" dirty="0"/>
          </a:p>
        </p:txBody>
      </p:sp>
      <p:pic>
        <p:nvPicPr>
          <p:cNvPr id="4" name="Diagram" descr="The p-n Junc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Barrier potential: Si ≈ 0.7 V, Ge ≈ 0.3 V at room temperature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Forward and Reverse Bias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Forward: p to +, n to − of the source.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Depletion narrows; current flows above 0.7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Reverse: p to −, n to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Depletion widens; only a tiny leakage flows.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Resistor in series limits forward current.</a:t>
            </a:r>
            <a:endParaRPr lang="en-US" sz="1400" dirty="0"/>
          </a:p>
        </p:txBody>
      </p:sp>
      <p:pic>
        <p:nvPicPr>
          <p:cNvPr id="4" name="Diagram" descr="Forward and Reverse Bia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Forward: conducts when V &gt; Vγ;   reverse: I ≈ Is (nA–µA) until breakdown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Diode V–I Characteristic</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Forward: exponential rise after the knee.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Knee voltage Vγ ≈ 0.7 V (Si).</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Reverse: small, nearly constant leakage.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Breakdown at high reverse voltage.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Leakage doubles about every 10 °C.</a:t>
            </a:r>
            <a:endParaRPr lang="en-US" sz="1400" dirty="0"/>
          </a:p>
        </p:txBody>
      </p:sp>
      <p:pic>
        <p:nvPicPr>
          <p:cNvPr id="4" name="Diagram" descr="Diode V–I Characteristic">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 = Is·(e^(V/(n·VT)) − 1);   VT = kT/q ≈ 26 mV at 300 K</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Is reverse saturation current, n ideality factor (1–2)</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Diode Equivalent Circuits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Ideal: a switch, no drop.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Practical: ideal diode plus 0.7 V battery.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Piecewise linear: add a small resistance rd.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Choose the simplest model that is accurate enough.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Reverse: open circuit in all models.</a:t>
            </a:r>
            <a:endParaRPr lang="en-US" sz="1400" dirty="0"/>
          </a:p>
        </p:txBody>
      </p:sp>
      <p:pic>
        <p:nvPicPr>
          <p:cNvPr id="4" name="Diagram" descr="Diode Equivalent Circuit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Ideal: V = 0 if on;   Practical: V = Vγ;   Linear: V = Vγ + I·rd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Analysing a Diode Circuit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Decide: forward or reverse biased?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Replace the diode by its equivalent circuit.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Apply KVL around the loop.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Solve for the current.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Check the assumption.</a:t>
            </a:r>
            <a:endParaRPr lang="en-US" sz="1400" dirty="0"/>
          </a:p>
        </p:txBody>
      </p:sp>
      <p:pic>
        <p:nvPicPr>
          <p:cNvPr id="4" name="Diagram" descr="Analysing a Diode Circui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Series diode–resistor:  I = (V − Vγ)/R   (V &gt; Vγ);   I ≈ 0 if reverse biased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Zener Diode</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Heavily doped diode designed to operate in breakdown.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Reverse breakdown voltage Vz is sharp and stable.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Voltage stays near Vz over a wide current range.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Safe current limited by power rating.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Symbol: diode with bent bar.</a:t>
            </a:r>
            <a:endParaRPr lang="en-US" sz="1400" dirty="0"/>
          </a:p>
        </p:txBody>
      </p:sp>
      <p:pic>
        <p:nvPicPr>
          <p:cNvPr id="4" name="Diagram" descr="Zener Diode">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Operation: reverse biased, Iz,min &lt; Iz &lt; Iz,max;   Pz = Vz·Iz ≤ Pz,max</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Zener Voltage Regulator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Series resistor Rs, Zener in parallel with load.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Vo = Vz while the Zener is in breakdown.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Source current splits: Iz and IL.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Iz absorbs changes in Vin or load.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Need Iz,min ≤ Iz ≤ Iz,max.</a:t>
            </a:r>
            <a:endParaRPr lang="en-US" sz="1400" dirty="0"/>
          </a:p>
        </p:txBody>
      </p:sp>
      <p:pic>
        <p:nvPicPr>
          <p:cNvPr id="4" name="Diagram" descr="Zener Voltage Regula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Is = (Vin − Vz)/Rs;   IL = Vz/RL;   Iz = Is − IL</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Regulator Behaviour and Limits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Line regulation: Vin changes, Vo steady.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Load regulation: RL changes, Vo steady.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Regulation fails when Iz &lt; Iz,min.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No-load case: Iz = Is must be ≤ Iz,max.</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Choose Rs to meet both limits.</a:t>
            </a:r>
            <a:endParaRPr lang="en-US" sz="1400" dirty="0"/>
          </a:p>
        </p:txBody>
      </p:sp>
      <p:pic>
        <p:nvPicPr>
          <p:cNvPr id="4" name="Diagram" descr="Regulator Behaviour and Limit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Rs,max = (Vin,min − Vz)/(Iz,min + IL,max);   Rs,min = (Vin,max − Vz)/(Iz,max + IL,min)</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Series Diode</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10 V source, 1 kΩ resistor, silicon diode. Find the current for (a) forward bias with the practical model, (b) ideal diode, (c) reversed diode.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I = (10 − 0.7)/1 kΩ = 9.3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 Ideal: I = 10/1 kΩ = 10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 Reverse: diode off, I ≈ 0, all 10 V across the diode.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Power in the diode (a): P = 0.7 × 9.3 mA = 6.5 mW.</a:t>
            </a:r>
            <a:endParaRPr lang="en-US" sz="1400" dirty="0"/>
          </a:p>
        </p:txBody>
      </p:sp>
      <p:pic>
        <p:nvPicPr>
          <p:cNvPr id="4" name="Diagram" descr="Solved Example 1: Series Diode">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9.3 mA (practical), 10 mA (ideal), ≈ 0 (reversed)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Zener Regulator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Vin = 20 V, Rs = 200 Ω, Vz = 10 V. Find Is, IL, Iz for RL = 1 kΩ and for RL = 250 Ω. Find RL,min if Iz,min = 5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Is = (20 − 10)/200 = 50 mA (both cases).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RL = 1 kΩ: IL = 10 mA, Iz = 40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RL = 250 Ω: IL = 40 mA, Iz = 10 mA.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IL,max = Is − Iz,min = 45 mA → RL,min = 10/0.045 = 222 Ω.</a:t>
            </a:r>
            <a:endParaRPr lang="en-US" sz="1400" dirty="0"/>
          </a:p>
        </p:txBody>
      </p:sp>
      <p:pic>
        <p:nvPicPr>
          <p:cNvPr id="4" name="Diagram" descr="Solved Example 2: Zener Regulato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Iz = 40 mA and 10 mA; regulation holds for RL ≥ 222 Ω</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0.7 V for a Zener in breakdown.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Connecting the Zener forward-biased.</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No series resistor with the Zener or diode.</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Ignoring the minimum Zener current.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Assuming the diode is on without checking.</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forward or reverse bias first.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Always include Rs.</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Verify Iz,min ≤ Iz ≤ Iz,max.</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Verify the current sign after solving.</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p-n junction: depletion region, barrier 0.7 V (Si).</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Forward conducts above Vγ; reverse blocks.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Models: ideal, ideal + Vγ, + rd.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Zener operates in reverse breakdown at Vz.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Regulator: Iz = Is − IL stays within limits.</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I = (V − Vγ)/R;   Is = (Vin − Vz)/Rs;   Iz = Is − IL</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Barrier potential of silicon is about:</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0.3 V  (b) 0.7 V  (c) 1.2 V  (d) 5 V</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A diode is forward biased when:</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p to −, n to +  (b) p to +, n to −  (c) both to +  (d) open</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10 V, 1 kΩ, Si diode: I =</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10 mA  (b) 9.3 mA  (c) 0.7 mA  (d) 0</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Zener diode works in:</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forward region  (b) reverse breakdown  (c) cut-off only  (d) saturation</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Zener regulator: Iz equals: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Is + IL  (b) Is − IL  (c) IL − Is  (d) Vz/Rs</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Boylestad Robert L. and Nashelsky Louis, Electronic Devices and Circuit Theory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11th Ed., PHI, 2016 (Units 3, 4, 5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rectifiers: half-wave and full-wave bridge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3: Diode, Equivalent Circuits and Zener Regulation</dc:title>
  <dc:subject>PptxGenJS Presentation</dc:subject>
  <dc:creator>Prof. Mitesh Astik</dc:creator>
  <cp:lastModifiedBy>Prof. Mitesh Astik</cp:lastModifiedBy>
  <cp:revision>1</cp:revision>
  <dcterms:created xsi:type="dcterms:W3CDTF">2026-10-28T16:42:33Z</dcterms:created>
  <dcterms:modified xsi:type="dcterms:W3CDTF">2026-10-28T16:42:33Z</dcterms:modified>
</cp:coreProperties>
</file>