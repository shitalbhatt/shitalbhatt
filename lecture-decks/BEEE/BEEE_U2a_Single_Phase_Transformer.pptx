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Today's topic is Necessity, principle, types, construction, EMF equation, losses and efficiency. It belongs to Unit 2: Transformers and Electrical Machines. By the end of this session you will be able to use it in numerical problems. Keep your notebooks ready because we will solve 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aloud. They map to CO2 of the syllabus. Tell students that these are examinable and that the two solved examples follow the same pattern. Ask them to tick off each outcome at the end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Faraday's law says that the EMF induced in a coil equals the number of turns times the rate of change of flux. For a sinusoidal flux the EMF is sinusoidal and lags the flux by ninety degrees. If two coils share the same changing flux, an EMF appears in each one. That is mutual induction, and it is the principle of the transformer.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power chain has several transformers: a step-up near the generator, step-down transformers near the load, and a tiny one inside the phone charger. They allow each part of the system to work at the most suitable voltage. Without transformers, long-distance AC transmission would be impractical.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given power the current is inversely proportional to the voltage. Since the loss in the line is I squared R, raising the voltage ten times reduces the loss to one hundredth. This is why transmission uses very high voltage. At the consumer end the voltage must be reduced again to a safe level. Only a transformer can do this efficiently for 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winding carries an alternating current that sets up an alternating flux in the iron core. Almost all the flux passes through the secondary winding and induces an EMF there by mutual induction. Because the same flux links both windings, the ratio of the induced voltages equals the ratio of the numbers of turns. The frequency is unchanged and there are no moving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core-type transformer the windings are placed on two limbs of a rectangular core. In the shell type both windings are on the central limb of a three-limbed core, which gives a better magnetic path. The core is built from thin insulated laminations of silicon steel to reduce losses. Large transformers are immersed in oil for insulation and cooling.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ideal transformer to understand the relations. The voltage ratio equals the turns ratio K. Since an ideal transformer has no loss, input volt-amperes equal output volt-amperes, so the current ratio is the inverse of the turns ratio. If K is greater than one the transformer steps the voltage up, otherwise it steps it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flux varies sinusoidally with peak value Φm. Differentiating gives an EMF of peak omega N Φm. Dividing by root two for the RMS value and putting omega equal to two pi f gives 4.44 f N Φm. The same expression holds for both primary and secondary windings, each with its own N. This equation is used to calculate the turns or flux for a given voltage.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transformer has two types of loss. The iron loss in the core depends on voltage and frequency, not on the load, so it is constant. The copper loss in the windings depends on the current and varies as the square of the load. These two determine the efficiency. Because there are no moving parts, a transformer is very efficient, typically above 95 per 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Efficiency is the ratio of output to input power, and the input equals the output plus the losses. As the load increases, the output rises faster than the losses at first, then the copper loss takes over. The maximum occurs when the variable copper loss equals the constant iron loss. Distribution transformers that are lightly loaded most of the day are designed with a low iron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turns ratio is the voltage ratio, so the primary has ten times more turns. The flux follows from the EMF equation applied to the secondary. Rated currents are the kVA rating divided by the respective voltages. Check that the currents are in the inverse ratio of the voltages: 22.7 over 2.27 is 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Efficiency is calculated from output over output plus losses. At full load the copper loss is its rated value, at half load it falls to one quarter. For the maximum efficiency we find the load fraction at which the copper loss equals the iron loss, which is the square root of the loss ratio. Notice that the efficiency curve is very flat near the maximum.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points where marks are lost most often in transformers. Give one quick example for each mistake. Remind students that writing the formula, substitution and the unit earns method marks even if the arithmetic slips. Encourage them to check the answer for reasonableness.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minute. Say each point and ask the class to recall the formula for it. If they remember these ideas, most numerical problems on transformers are within reach. Next lecture: DC motor: principle, back EMF, torque and speed control. Revise the two solved examples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about one minute per question and take a show of hands. Discuss why the wrong options are tempting, especially the one that uses a wrong formula. Use the quiz as a quick check on transformers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textbooks listed in the syllabus for transformers. Ask them to solve at least three textbook problems on this topic before the next class. Thank the class and preview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C49"/>
        </a:solidFill>
      </p:bgPr>
    </p:bg>
    <p:spTree>
      <p:nvGrpSpPr>
        <p:cNvPr id="1" name=""/>
        <p:cNvGrpSpPr/>
        <p:nvPr/>
      </p:nvGrpSpPr>
      <p:grpSpPr>
        <a:xfrm>
          <a:off x="0" y="0"/>
          <a:ext cx="0" cy="0"/>
          <a:chOff x="0" y="0"/>
          <a:chExt cx="0" cy="0"/>
        </a:xfrm>
      </p:grpSpPr>
      <p:sp>
        <p:nvSpPr>
          <p:cNvPr id="2" name="Text 0"/>
          <p:cNvSpPr/>
          <p:nvPr/>
        </p:nvSpPr>
        <p:spPr>
          <a:xfrm>
            <a:off x="548640" y="4754880"/>
            <a:ext cx="5486400" cy="228600"/>
          </a:xfrm>
          <a:prstGeom prst="rect">
            <a:avLst/>
          </a:prstGeom>
          <a:noFill/>
          <a:ln/>
        </p:spPr>
        <p:txBody>
          <a:bodyPr wrap="square" lIns="0" tIns="0" rIns="0" bIns="0" rtlCol="0" anchor="ctr"/>
          <a:lstStyle/>
          <a:p>
            <a:pPr indent="0" marL="0">
              <a:buNone/>
            </a:pPr>
            <a:r>
              <a:rPr lang="en-US" sz="1000" dirty="0">
                <a:solidFill>
                  <a:srgbClr val="C9D3E3"/>
                </a:solidFill>
                <a:latin typeface="Calibri" pitchFamily="34" charset="0"/>
                <a:ea typeface="Calibri" pitchFamily="34" charset="-122"/>
                <a:cs typeface="Calibri" pitchFamily="34" charset="-120"/>
              </a:rPr>
              <a:t>Basic Electrical and Electronics Engineering  |  Prof. Mitesh Astik</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rgbClr val="0B3C49"/>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846320"/>
            <a:ext cx="6400800" cy="22860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Basic Electrical and Electronics Engineering  |  Prof. Mitesh Astik</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art" descr="preencoded.png">    </p:cNvPr>
          <p:cNvPicPr>
            <a:picLocks noChangeAspect="1"/>
          </p:cNvPicPr>
          <p:nvPr/>
        </p:nvPicPr>
        <p:blipFill>
          <a:blip r:embed="rId1"/>
          <a:stretch>
            <a:fillRect/>
          </a:stretch>
        </p:blipFill>
        <p:spPr>
          <a:xfrm>
            <a:off x="4572000" y="822960"/>
            <a:ext cx="4206240" cy="3383280"/>
          </a:xfrm>
          <a:prstGeom prst="rect">
            <a:avLst/>
          </a:prstGeom>
        </p:spPr>
      </p:pic>
      <p:sp>
        <p:nvSpPr>
          <p:cNvPr id="3" name="Text 0"/>
          <p:cNvSpPr txBox="1"/>
          <p:nvPr/>
        </p:nvSpPr>
        <p:spPr>
          <a:xfrm>
            <a:off x="548640" y="822960"/>
            <a:ext cx="4023360" cy="15544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Single-Phase Transformer</a:t>
            </a:r>
            <a:endParaRPr lang="en-US" sz="3200" dirty="0"/>
          </a:p>
        </p:txBody>
      </p:sp>
      <p:sp>
        <p:nvSpPr>
          <p:cNvPr id="4" name="Text 1"/>
          <p:cNvSpPr txBox="1"/>
          <p:nvPr/>
        </p:nvSpPr>
        <p:spPr>
          <a:xfrm>
            <a:off x="548640" y="2514600"/>
            <a:ext cx="3931920" cy="1920240"/>
          </a:xfrm>
          <a:prstGeom prst="rect">
            <a:avLst/>
          </a:prstGeom>
          <a:noFill/>
          <a:ln/>
        </p:spPr>
        <p:txBody>
          <a:bodyPr wrap="square" lIns="0" tIns="0" rIns="0" bIns="0" rtlCol="0" anchor="t"/>
          <a:lstStyle/>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Basic Electrical and Electronics Engineering</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Unit 2: Transformers and Electrical Machines</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Topic: Necessity, principle, types, construction, EMF equation, losses and efficiency</a:t>
            </a:r>
            <a:endParaRPr lang="en-US" sz="1500" dirty="0"/>
          </a:p>
          <a:p>
            <a:pPr indent="0" marL="0">
              <a:spcAft>
                <a:spcPts val="800"/>
              </a:spcAft>
              <a:buNone/>
            </a:pPr>
            <a:r>
              <a:rPr lang="en-US" sz="1500" b="1" dirty="0">
                <a:solidFill>
                  <a:srgbClr val="FF8A5B"/>
                </a:solidFill>
                <a:latin typeface="Calibri" pitchFamily="34" charset="0"/>
                <a:ea typeface="Calibri" pitchFamily="34" charset="-122"/>
                <a:cs typeface="Calibri" pitchFamily="34" charset="-120"/>
              </a:rPr>
              <a:t>Prof. Mitesh Astik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Learning Outcomes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Explain why transformers are needed.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Describe principle, construction and types.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Use the EMF equation and turns ratio.</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Calculate losses and efficiency.</a:t>
            </a:r>
            <a:endParaRPr lang="en-US" sz="1400" dirty="0"/>
          </a:p>
        </p:txBody>
      </p:sp>
      <p:pic>
        <p:nvPicPr>
          <p:cNvPr id="4" name="Diagram" descr="Learning Outcom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Linked to CO2</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Describe the construction and operating principle of transformers.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Recap: What You Already Know</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Faraday: e = −N·dΦ/dt.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Changing flux induces EMF in a coil.</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Sinusoidal flux gives sinusoidal EMF.</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Mutual induction: flux linking two coils.</a:t>
            </a:r>
            <a:endParaRPr lang="en-US" sz="1400" dirty="0"/>
          </a:p>
        </p:txBody>
      </p:sp>
      <p:pic>
        <p:nvPicPr>
          <p:cNvPr id="4" name="Diagram" descr="Recap: What You Already Know">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e = −N·dΦ/dt;   RMS = peak/√2</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Motivation: The Phone Charger to the Power Grid</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Charger: 230 V AC → 5 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Generators produce about 11 kV.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Transmission at 132 kV and above.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Distribution at 11 kV, then 415/230 V.</a:t>
            </a:r>
            <a:endParaRPr lang="en-US" sz="1400" dirty="0"/>
          </a:p>
        </p:txBody>
      </p:sp>
      <p:pic>
        <p:nvPicPr>
          <p:cNvPr id="4" name="Diagram" descr="Motivation: The Phone Charger to the Power Grid">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Transformers connect all the voltage levels of the grid</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Necessity of Transformers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Power P = V·I stays the same.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Higher voltage means lower current.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Line loss is I²R: it falls sharply.</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Smaller conductors, higher efficiency.</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Safe voltage at the consumer end.</a:t>
            </a:r>
            <a:endParaRPr lang="en-US" sz="1400" dirty="0"/>
          </a:p>
        </p:txBody>
      </p:sp>
      <p:pic>
        <p:nvPicPr>
          <p:cNvPr id="4" name="Diagram" descr="Necessity of Transformer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Ploss = I²R = (P/V)²R   →   10× voltage gives 1/100 loss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Principle of Operation</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Primary winding connected to AC supply.</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Alternating flux Φ forms in the core.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Flux links the secondary winding.</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Mutual induction produces EMF E2.</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Frequency stays the same; no moving parts.</a:t>
            </a:r>
            <a:endParaRPr lang="en-US" sz="1400" dirty="0"/>
          </a:p>
        </p:txBody>
      </p:sp>
      <p:pic>
        <p:nvPicPr>
          <p:cNvPr id="4" name="Diagram" descr="Principle of Operation">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E1 = −N1·dΦ/dt,   E2 = −N2·dΦ/dt   →   E2/E1 = N2/N1</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Types and Construction</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Core type: windings surround the core limbs.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Shell type: core surrounds the windings.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Core of thin silicon-steel laminations.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Windings: insulated copper or aluminium.</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Oil or air cooling.</a:t>
            </a:r>
            <a:endParaRPr lang="en-US" sz="1400" dirty="0"/>
          </a:p>
        </p:txBody>
      </p:sp>
      <p:pic>
        <p:nvPicPr>
          <p:cNvPr id="4" name="Diagram" descr="Types and Construction">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Laminations (0.3–0.5 mm) cut eddy-current loss; silicon steel cuts hysteresis loss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Ideal Transformer and Turns Ratio</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No winding resistance, no leakage.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Core has zero loss and infinite permeability.</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Voltage ratio equals turns ratio.</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Current ratio is the inverse.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Input power equals output power.</a:t>
            </a:r>
            <a:endParaRPr lang="en-US" sz="1400" dirty="0"/>
          </a:p>
        </p:txBody>
      </p:sp>
      <p:pic>
        <p:nvPicPr>
          <p:cNvPr id="4" name="Diagram" descr="Ideal Transformer and Turns Ratio">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V2/V1 = N2/N1 = I1/I2 = K;   V1I1 = V2I2</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K transformation ratio</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EMF Equation</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Flux Φ = Φm sin ωt in the core.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Induced EMF = N·dΦ/dt, peak ωNΦm.</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RMS value = peak/√2.</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Substitute ω = 2πf.</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Φm = Bm × A.</a:t>
            </a:r>
            <a:endParaRPr lang="en-US" sz="1400" dirty="0"/>
          </a:p>
        </p:txBody>
      </p:sp>
      <p:pic>
        <p:nvPicPr>
          <p:cNvPr id="4" name="Diagram" descr="EMF Equation">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E = 4.44·f·N·Φm = 4.44·f·N·Bm·A  (V)</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f Hz, N turns, Φm Wb, Bm T, A m²</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Losses in a Transformer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Iron loss: hysteresis plus eddy current.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Constant at rated voltage and frequency.</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Copper loss: I²R in the windings.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Varies as the square of the load current.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No rotating parts: no friction loss.</a:t>
            </a:r>
            <a:endParaRPr lang="en-US" sz="1400" dirty="0"/>
          </a:p>
        </p:txBody>
      </p:sp>
      <p:pic>
        <p:nvPicPr>
          <p:cNvPr id="4" name="Diagram" descr="Losses in a Transforme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Total loss = Pi + x²·Pcu,fl   (x = load fraction)</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Efficiency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Efficiency = output power / input power.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Output = x·S·cos φ.</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Maximum efficiency: iron loss = copper loss.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Load fraction at ηmax: x = √(Pi/Pcu,fl).</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Power transformers: designed for ηmax near full load.</a:t>
            </a:r>
            <a:endParaRPr lang="en-US" sz="1400" dirty="0"/>
          </a:p>
        </p:txBody>
      </p:sp>
      <p:pic>
        <p:nvPicPr>
          <p:cNvPr id="4" name="Diagram" descr="Efficienc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η = x·S·cos φ / (x·S·cos φ + Pi + x²·Pcu,fl);   ηmax at x = √(Pi/Pcu,fl)</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Solved Example 1: Turns and Flux</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 5 kVA, 2200/220 V, 50 Hz transformer has 60 secondary turns. Find N1, Φm, I1 and I2.</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1. K = 220/2200 = 0.1.</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2. N1 = N2/K = 600 turns.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3. Φm = E2/(4.44·f·N2) = 220/(4.44 × 50 × 60) = 16.5 mWb.</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4. I1 = 5000/2200 = 2.27 A.</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5. I2 = 5000/220 = 22.7 A.</a:t>
            </a:r>
            <a:endParaRPr lang="en-US" sz="1400" dirty="0"/>
          </a:p>
        </p:txBody>
      </p:sp>
      <p:pic>
        <p:nvPicPr>
          <p:cNvPr id="4" name="Diagram" descr="Solved Example 1: Turns and Flux">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Answer: N1 = 600, Φm = 16.5 mWb, I1 = 2.27 A, I2 = 22.7 A</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Solved Example 2: Efficiency</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 25 kVA transformer has iron loss 300 W and full-load copper loss 600 W. For pf 0.8 find η at full load, half load and maximum.</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1. Full load: output 20 kW; losses 0.9 kW; η = 20/20.9 = 95.69 %.</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2. Half load: output 10 kW; Pcu = 150 W; η = 10/10.45 = 95.69 %.</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3. x for ηmax = √(300/600) = 0.707.</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4. At x = 0.707: output 14.14 kW, losses 0.6 kW, η = 95.93 %.</a:t>
            </a:r>
            <a:endParaRPr lang="en-US" sz="1400" dirty="0"/>
          </a:p>
        </p:txBody>
      </p:sp>
      <p:pic>
        <p:nvPicPr>
          <p:cNvPr id="4" name="Diagram" descr="Solved Example 2: Efficiency">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Answer: 95.69 % (full), 95.69 % (half), ηmax = 95.93 % at 70.7 % load</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Common Mistakes and Exam Tips</a:t>
            </a:r>
            <a:endParaRPr lang="en-US" sz="2800" dirty="0"/>
          </a:p>
        </p:txBody>
      </p:sp>
      <p:sp>
        <p:nvSpPr>
          <p:cNvPr id="3" name="Common mistakes card"/>
          <p:cNvSpPr/>
          <p:nvPr/>
        </p:nvSpPr>
        <p:spPr>
          <a:xfrm>
            <a:off x="457200" y="1143000"/>
            <a:ext cx="4023360" cy="3566160"/>
          </a:xfrm>
          <a:prstGeom prst="roundRect">
            <a:avLst>
              <a:gd name="adj" fmla="val 2564"/>
            </a:avLst>
          </a:prstGeom>
          <a:solidFill>
            <a:srgbClr val="F1F8F8"/>
          </a:solidFill>
          <a:ln/>
        </p:spPr>
      </p:sp>
      <p:sp>
        <p:nvSpPr>
          <p:cNvPr id="4" name="Common mistakes icon"/>
          <p:cNvSpPr/>
          <p:nvPr/>
        </p:nvSpPr>
        <p:spPr>
          <a:xfrm>
            <a:off x="640080" y="1280160"/>
            <a:ext cx="411480" cy="411480"/>
          </a:xfrm>
          <a:prstGeom prst="ellipse">
            <a:avLst/>
          </a:prstGeom>
          <a:solidFill>
            <a:srgbClr val="C0392B"/>
          </a:solidFill>
          <a:ln/>
        </p:spPr>
      </p:sp>
      <p:sp>
        <p:nvSpPr>
          <p:cNvPr id="5" name="Text 3"/>
          <p:cNvSpPr txBox="1"/>
          <p:nvPr/>
        </p:nvSpPr>
        <p:spPr>
          <a:xfrm>
            <a:off x="64008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6" name="Text 4"/>
          <p:cNvSpPr txBox="1"/>
          <p:nvPr/>
        </p:nvSpPr>
        <p:spPr>
          <a:xfrm>
            <a:off x="1188720" y="1280160"/>
            <a:ext cx="3108960" cy="411480"/>
          </a:xfrm>
          <a:prstGeom prst="rect">
            <a:avLst/>
          </a:prstGeom>
          <a:noFill/>
          <a:ln/>
        </p:spPr>
        <p:txBody>
          <a:bodyPr wrap="square" lIns="0" tIns="0" rIns="0" bIns="0" rtlCol="0" anchor="ctr"/>
          <a:lstStyle/>
          <a:p>
            <a:pPr indent="0" marL="0">
              <a:buNone/>
            </a:pPr>
            <a:r>
              <a:rPr lang="en-US" sz="2000" b="1" dirty="0">
                <a:solidFill>
                  <a:srgbClr val="0B3C49"/>
                </a:solidFill>
                <a:latin typeface="Cambria" pitchFamily="34" charset="0"/>
                <a:ea typeface="Cambria" pitchFamily="34" charset="-122"/>
                <a:cs typeface="Cambria" pitchFamily="34" charset="-120"/>
              </a:rPr>
              <a:t>Common mistakes</a:t>
            </a:r>
            <a:endParaRPr lang="en-US" sz="2000" dirty="0"/>
          </a:p>
        </p:txBody>
      </p:sp>
      <p:sp>
        <p:nvSpPr>
          <p:cNvPr id="7" name="Text 5"/>
          <p:cNvSpPr txBox="1"/>
          <p:nvPr/>
        </p:nvSpPr>
        <p:spPr>
          <a:xfrm>
            <a:off x="68580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Using the primary turns for E2 in 4.44fNΦm.</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Mixing kVA with kW.</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Taking copper loss as constant.</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Forgetting x² in the copper loss at partial load.</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Applying a DC supply to a transformer.</a:t>
            </a:r>
            <a:endParaRPr lang="en-US" sz="1600" dirty="0"/>
          </a:p>
        </p:txBody>
      </p:sp>
      <p:sp>
        <p:nvSpPr>
          <p:cNvPr id="8" name="Exam tips card"/>
          <p:cNvSpPr/>
          <p:nvPr/>
        </p:nvSpPr>
        <p:spPr>
          <a:xfrm>
            <a:off x="4663440" y="1143000"/>
            <a:ext cx="4023360" cy="3566160"/>
          </a:xfrm>
          <a:prstGeom prst="roundRect">
            <a:avLst>
              <a:gd name="adj" fmla="val 2564"/>
            </a:avLst>
          </a:prstGeom>
          <a:solidFill>
            <a:srgbClr val="F1F8F8"/>
          </a:solidFill>
          <a:ln/>
        </p:spPr>
      </p:sp>
      <p:sp>
        <p:nvSpPr>
          <p:cNvPr id="9" name="Exam tips icon"/>
          <p:cNvSpPr/>
          <p:nvPr/>
        </p:nvSpPr>
        <p:spPr>
          <a:xfrm>
            <a:off x="4846320" y="1280160"/>
            <a:ext cx="411480" cy="411480"/>
          </a:xfrm>
          <a:prstGeom prst="ellipse">
            <a:avLst/>
          </a:prstGeom>
          <a:solidFill>
            <a:srgbClr val="2E8B57"/>
          </a:solidFill>
          <a:ln/>
        </p:spPr>
      </p:sp>
      <p:sp>
        <p:nvSpPr>
          <p:cNvPr id="10" name="Text 8"/>
          <p:cNvSpPr txBox="1"/>
          <p:nvPr/>
        </p:nvSpPr>
        <p:spPr>
          <a:xfrm>
            <a:off x="484632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ext 9"/>
          <p:cNvSpPr txBox="1"/>
          <p:nvPr/>
        </p:nvSpPr>
        <p:spPr>
          <a:xfrm>
            <a:off x="5394960" y="1280160"/>
            <a:ext cx="3108960" cy="411480"/>
          </a:xfrm>
          <a:prstGeom prst="rect">
            <a:avLst/>
          </a:prstGeom>
          <a:noFill/>
          <a:ln/>
        </p:spPr>
        <p:txBody>
          <a:bodyPr wrap="square" lIns="0" tIns="0" rIns="0" bIns="0" rtlCol="0" anchor="ctr"/>
          <a:lstStyle/>
          <a:p>
            <a:pPr indent="0" marL="0">
              <a:buNone/>
            </a:pPr>
            <a:r>
              <a:rPr lang="en-US" sz="2000" b="1" dirty="0">
                <a:solidFill>
                  <a:srgbClr val="0B3C49"/>
                </a:solidFill>
                <a:latin typeface="Cambria" pitchFamily="34" charset="0"/>
                <a:ea typeface="Cambria" pitchFamily="34" charset="-122"/>
                <a:cs typeface="Cambria" pitchFamily="34" charset="-120"/>
              </a:rPr>
              <a:t>Exam tips</a:t>
            </a:r>
            <a:endParaRPr lang="en-US" sz="2000" dirty="0"/>
          </a:p>
        </p:txBody>
      </p:sp>
      <p:sp>
        <p:nvSpPr>
          <p:cNvPr id="12" name="Text 10"/>
          <p:cNvSpPr txBox="1"/>
          <p:nvPr/>
        </p:nvSpPr>
        <p:spPr>
          <a:xfrm>
            <a:off x="489204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Use E = 4.44 f N Φm with the right N.</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Output power = kVA × pf.</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Iron loss: fixed; copper loss: x²·Pcu.</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Check that V·I is the same on both sides.</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Summary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Transformers change AC voltage with the same frequency.</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Principle: mutual induction in a laminated core.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V2/V1 = N2/N1 = I1/I2.</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 = 4.44·f·N·Φm.</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ηmax when iron loss = copper loss.</a:t>
            </a:r>
            <a:endParaRPr lang="en-US" sz="1400" dirty="0"/>
          </a:p>
        </p:txBody>
      </p:sp>
      <p:pic>
        <p:nvPicPr>
          <p:cNvPr id="4" name="Diagram" descr="Summar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E = 4.44 f N Φm;   η = output/(output + Pi + x²Pcu)</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Quick Quiz</a:t>
            </a:r>
            <a:endParaRPr lang="en-US" sz="2800" dirty="0"/>
          </a:p>
        </p:txBody>
      </p:sp>
      <p:sp>
        <p:nvSpPr>
          <p:cNvPr id="3" name="Q1 row"/>
          <p:cNvSpPr/>
          <p:nvPr/>
        </p:nvSpPr>
        <p:spPr>
          <a:xfrm>
            <a:off x="457200" y="1097280"/>
            <a:ext cx="8229600" cy="658368"/>
          </a:xfrm>
          <a:prstGeom prst="roundRect">
            <a:avLst>
              <a:gd name="adj" fmla="val 11111"/>
            </a:avLst>
          </a:prstGeom>
          <a:solidFill>
            <a:srgbClr val="F1F8F8"/>
          </a:solidFill>
          <a:ln w="9525">
            <a:solidFill>
              <a:srgbClr val="DDF0F0"/>
            </a:solidFill>
            <a:prstDash val="solid"/>
          </a:ln>
        </p:spPr>
      </p:sp>
      <p:sp>
        <p:nvSpPr>
          <p:cNvPr id="4" name="Text 2"/>
          <p:cNvSpPr txBox="1"/>
          <p:nvPr/>
        </p:nvSpPr>
        <p:spPr>
          <a:xfrm>
            <a:off x="594360" y="109728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Q1. A transformer works on:</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self induction  (b) mutual induction  (c) static friction  (d) DC supply</a:t>
            </a:r>
            <a:endParaRPr lang="en-US" sz="1400" dirty="0"/>
          </a:p>
        </p:txBody>
      </p:sp>
      <p:sp>
        <p:nvSpPr>
          <p:cNvPr id="5" name="Q1 answer"/>
          <p:cNvSpPr/>
          <p:nvPr/>
        </p:nvSpPr>
        <p:spPr>
          <a:xfrm>
            <a:off x="7269480" y="1225296"/>
            <a:ext cx="1280160" cy="402336"/>
          </a:xfrm>
          <a:prstGeom prst="roundRect">
            <a:avLst>
              <a:gd name="adj" fmla="val 22727"/>
            </a:avLst>
          </a:prstGeom>
          <a:solidFill>
            <a:srgbClr val="2E8B57"/>
          </a:solidFill>
          <a:ln/>
        </p:spPr>
      </p:sp>
      <p:sp>
        <p:nvSpPr>
          <p:cNvPr id="6" name="Text 4"/>
          <p:cNvSpPr txBox="1"/>
          <p:nvPr/>
        </p:nvSpPr>
        <p:spPr>
          <a:xfrm>
            <a:off x="7269480" y="122529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7" name="Q2 row"/>
          <p:cNvSpPr/>
          <p:nvPr/>
        </p:nvSpPr>
        <p:spPr>
          <a:xfrm>
            <a:off x="457200" y="1828800"/>
            <a:ext cx="8229600" cy="658368"/>
          </a:xfrm>
          <a:prstGeom prst="roundRect">
            <a:avLst>
              <a:gd name="adj" fmla="val 11111"/>
            </a:avLst>
          </a:prstGeom>
          <a:solidFill>
            <a:srgbClr val="FFFFFF"/>
          </a:solidFill>
          <a:ln w="9525">
            <a:solidFill>
              <a:srgbClr val="DDF0F0"/>
            </a:solidFill>
            <a:prstDash val="solid"/>
          </a:ln>
        </p:spPr>
      </p:sp>
      <p:sp>
        <p:nvSpPr>
          <p:cNvPr id="8" name="Text 6"/>
          <p:cNvSpPr txBox="1"/>
          <p:nvPr/>
        </p:nvSpPr>
        <p:spPr>
          <a:xfrm>
            <a:off x="594360" y="182880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Q2. N1 = 500, N2 = 100, V1 = 230 V gives V2 =</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46 V  (b) 1150 V  (c) 23 V  (d) 100 V</a:t>
            </a:r>
            <a:endParaRPr lang="en-US" sz="1400" dirty="0"/>
          </a:p>
        </p:txBody>
      </p:sp>
      <p:sp>
        <p:nvSpPr>
          <p:cNvPr id="9" name="Q2 answer"/>
          <p:cNvSpPr/>
          <p:nvPr/>
        </p:nvSpPr>
        <p:spPr>
          <a:xfrm>
            <a:off x="7269480" y="1956816"/>
            <a:ext cx="1280160" cy="402336"/>
          </a:xfrm>
          <a:prstGeom prst="roundRect">
            <a:avLst>
              <a:gd name="adj" fmla="val 22727"/>
            </a:avLst>
          </a:prstGeom>
          <a:solidFill>
            <a:srgbClr val="2E8B57"/>
          </a:solidFill>
          <a:ln/>
        </p:spPr>
      </p:sp>
      <p:sp>
        <p:nvSpPr>
          <p:cNvPr id="10" name="Text 8"/>
          <p:cNvSpPr txBox="1"/>
          <p:nvPr/>
        </p:nvSpPr>
        <p:spPr>
          <a:xfrm>
            <a:off x="7269480" y="195681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(a)</a:t>
            </a:r>
            <a:endParaRPr lang="en-US" sz="1400" dirty="0"/>
          </a:p>
        </p:txBody>
      </p:sp>
      <p:sp>
        <p:nvSpPr>
          <p:cNvPr id="11" name="Q3 row"/>
          <p:cNvSpPr/>
          <p:nvPr/>
        </p:nvSpPr>
        <p:spPr>
          <a:xfrm>
            <a:off x="457200" y="2560320"/>
            <a:ext cx="8229600" cy="658368"/>
          </a:xfrm>
          <a:prstGeom prst="roundRect">
            <a:avLst>
              <a:gd name="adj" fmla="val 11111"/>
            </a:avLst>
          </a:prstGeom>
          <a:solidFill>
            <a:srgbClr val="F1F8F8"/>
          </a:solidFill>
          <a:ln w="9525">
            <a:solidFill>
              <a:srgbClr val="DDF0F0"/>
            </a:solidFill>
            <a:prstDash val="solid"/>
          </a:ln>
        </p:spPr>
      </p:sp>
      <p:sp>
        <p:nvSpPr>
          <p:cNvPr id="12" name="Text 10"/>
          <p:cNvSpPr txBox="1"/>
          <p:nvPr/>
        </p:nvSpPr>
        <p:spPr>
          <a:xfrm>
            <a:off x="594360" y="256032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Q3. Eddy-current loss is reduced by:</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thick core  (b) laminations  (c) air gap  (d) more turns</a:t>
            </a:r>
            <a:endParaRPr lang="en-US" sz="1400" dirty="0"/>
          </a:p>
        </p:txBody>
      </p:sp>
      <p:sp>
        <p:nvSpPr>
          <p:cNvPr id="13" name="Q3 answer"/>
          <p:cNvSpPr/>
          <p:nvPr/>
        </p:nvSpPr>
        <p:spPr>
          <a:xfrm>
            <a:off x="7269480" y="2688336"/>
            <a:ext cx="1280160" cy="402336"/>
          </a:xfrm>
          <a:prstGeom prst="roundRect">
            <a:avLst>
              <a:gd name="adj" fmla="val 22727"/>
            </a:avLst>
          </a:prstGeom>
          <a:solidFill>
            <a:srgbClr val="2E8B57"/>
          </a:solidFill>
          <a:ln/>
        </p:spPr>
      </p:sp>
      <p:sp>
        <p:nvSpPr>
          <p:cNvPr id="14" name="Text 12"/>
          <p:cNvSpPr txBox="1"/>
          <p:nvPr/>
        </p:nvSpPr>
        <p:spPr>
          <a:xfrm>
            <a:off x="7269480" y="268833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5" name="Q4 row"/>
          <p:cNvSpPr/>
          <p:nvPr/>
        </p:nvSpPr>
        <p:spPr>
          <a:xfrm>
            <a:off x="457200" y="3291840"/>
            <a:ext cx="8229600" cy="658368"/>
          </a:xfrm>
          <a:prstGeom prst="roundRect">
            <a:avLst>
              <a:gd name="adj" fmla="val 11111"/>
            </a:avLst>
          </a:prstGeom>
          <a:solidFill>
            <a:srgbClr val="FFFFFF"/>
          </a:solidFill>
          <a:ln w="9525">
            <a:solidFill>
              <a:srgbClr val="DDF0F0"/>
            </a:solidFill>
            <a:prstDash val="solid"/>
          </a:ln>
        </p:spPr>
      </p:sp>
      <p:sp>
        <p:nvSpPr>
          <p:cNvPr id="16" name="Text 14"/>
          <p:cNvSpPr txBox="1"/>
          <p:nvPr/>
        </p:nvSpPr>
        <p:spPr>
          <a:xfrm>
            <a:off x="594360" y="329184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Q4. Maximum efficiency occurs when:</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Pi = Pcu  (b) Pi = 0  (c) Pcu = 0  (d) no load</a:t>
            </a:r>
            <a:endParaRPr lang="en-US" sz="1400" dirty="0"/>
          </a:p>
        </p:txBody>
      </p:sp>
      <p:sp>
        <p:nvSpPr>
          <p:cNvPr id="17" name="Q4 answer"/>
          <p:cNvSpPr/>
          <p:nvPr/>
        </p:nvSpPr>
        <p:spPr>
          <a:xfrm>
            <a:off x="7269480" y="3419856"/>
            <a:ext cx="1280160" cy="402336"/>
          </a:xfrm>
          <a:prstGeom prst="roundRect">
            <a:avLst>
              <a:gd name="adj" fmla="val 22727"/>
            </a:avLst>
          </a:prstGeom>
          <a:solidFill>
            <a:srgbClr val="2E8B57"/>
          </a:solidFill>
          <a:ln/>
        </p:spPr>
      </p:sp>
      <p:sp>
        <p:nvSpPr>
          <p:cNvPr id="18" name="Text 16"/>
          <p:cNvSpPr txBox="1"/>
          <p:nvPr/>
        </p:nvSpPr>
        <p:spPr>
          <a:xfrm>
            <a:off x="7269480" y="341985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(a)</a:t>
            </a:r>
            <a:endParaRPr lang="en-US" sz="1400" dirty="0"/>
          </a:p>
        </p:txBody>
      </p:sp>
      <p:sp>
        <p:nvSpPr>
          <p:cNvPr id="19" name="Q5 row"/>
          <p:cNvSpPr/>
          <p:nvPr/>
        </p:nvSpPr>
        <p:spPr>
          <a:xfrm>
            <a:off x="457200" y="4023360"/>
            <a:ext cx="8229600" cy="658368"/>
          </a:xfrm>
          <a:prstGeom prst="roundRect">
            <a:avLst>
              <a:gd name="adj" fmla="val 11111"/>
            </a:avLst>
          </a:prstGeom>
          <a:solidFill>
            <a:srgbClr val="F1F8F8"/>
          </a:solidFill>
          <a:ln w="9525">
            <a:solidFill>
              <a:srgbClr val="DDF0F0"/>
            </a:solidFill>
            <a:prstDash val="solid"/>
          </a:ln>
        </p:spPr>
      </p:sp>
      <p:sp>
        <p:nvSpPr>
          <p:cNvPr id="20" name="Text 18"/>
          <p:cNvSpPr txBox="1"/>
          <p:nvPr/>
        </p:nvSpPr>
        <p:spPr>
          <a:xfrm>
            <a:off x="594360" y="402336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Q5. Core loss is:</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load dependent  (b) constant  (c) zero  (d) ∝ I²</a:t>
            </a:r>
            <a:endParaRPr lang="en-US" sz="1400" dirty="0"/>
          </a:p>
        </p:txBody>
      </p:sp>
      <p:sp>
        <p:nvSpPr>
          <p:cNvPr id="21" name="Q5 answer"/>
          <p:cNvSpPr/>
          <p:nvPr/>
        </p:nvSpPr>
        <p:spPr>
          <a:xfrm>
            <a:off x="7269480" y="4151376"/>
            <a:ext cx="1280160" cy="402336"/>
          </a:xfrm>
          <a:prstGeom prst="roundRect">
            <a:avLst>
              <a:gd name="adj" fmla="val 22727"/>
            </a:avLst>
          </a:prstGeom>
          <a:solidFill>
            <a:srgbClr val="2E8B57"/>
          </a:solidFill>
          <a:ln/>
        </p:spPr>
      </p:sp>
      <p:sp>
        <p:nvSpPr>
          <p:cNvPr id="22" name="Text 20"/>
          <p:cNvSpPr txBox="1"/>
          <p:nvPr/>
        </p:nvSpPr>
        <p:spPr>
          <a:xfrm>
            <a:off x="7269480" y="415137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References</a:t>
            </a:r>
            <a:endParaRPr lang="en-US" sz="2800" dirty="0"/>
          </a:p>
        </p:txBody>
      </p:sp>
      <p:sp>
        <p:nvSpPr>
          <p:cNvPr id="3" name="Ref 1 badge"/>
          <p:cNvSpPr/>
          <p:nvPr/>
        </p:nvSpPr>
        <p:spPr>
          <a:xfrm>
            <a:off x="457200" y="1197864"/>
            <a:ext cx="420624" cy="420624"/>
          </a:xfrm>
          <a:prstGeom prst="ellipse">
            <a:avLst/>
          </a:prstGeom>
          <a:solidFill>
            <a:srgbClr val="0B3C49"/>
          </a:solidFill>
          <a:ln/>
        </p:spPr>
      </p:sp>
      <p:sp>
        <p:nvSpPr>
          <p:cNvPr id="4" name="Text 2"/>
          <p:cNvSpPr txBox="1"/>
          <p:nvPr/>
        </p:nvSpPr>
        <p:spPr>
          <a:xfrm>
            <a:off x="457200" y="11978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051560" y="1143000"/>
            <a:ext cx="7635240" cy="54864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Hughes Edward, Electrical Technology</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10th Ed., Pearson Education, 2010 (Units 1, 2 textbook)</a:t>
            </a:r>
            <a:endParaRPr lang="en-US" sz="1400" dirty="0"/>
          </a:p>
        </p:txBody>
      </p:sp>
      <p:sp>
        <p:nvSpPr>
          <p:cNvPr id="6" name="Ref 2 badge"/>
          <p:cNvSpPr/>
          <p:nvPr/>
        </p:nvSpPr>
        <p:spPr>
          <a:xfrm>
            <a:off x="457200" y="1801368"/>
            <a:ext cx="420624" cy="420624"/>
          </a:xfrm>
          <a:prstGeom prst="ellipse">
            <a:avLst/>
          </a:prstGeom>
          <a:solidFill>
            <a:srgbClr val="0B3C49"/>
          </a:solidFill>
          <a:ln/>
        </p:spPr>
      </p:sp>
      <p:sp>
        <p:nvSpPr>
          <p:cNvPr id="7" name="Text 5"/>
          <p:cNvSpPr txBox="1"/>
          <p:nvPr/>
        </p:nvSpPr>
        <p:spPr>
          <a:xfrm>
            <a:off x="457200" y="1801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6"/>
          <p:cNvSpPr txBox="1"/>
          <p:nvPr/>
        </p:nvSpPr>
        <p:spPr>
          <a:xfrm>
            <a:off x="1051560" y="1746504"/>
            <a:ext cx="7635240" cy="54864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H. Cotton, Electrical Technology</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7th Ed., CBS Publishers, 2005 (reference)</a:t>
            </a:r>
            <a:endParaRPr lang="en-US" sz="1400" dirty="0"/>
          </a:p>
        </p:txBody>
      </p:sp>
      <p:sp>
        <p:nvSpPr>
          <p:cNvPr id="9" name="Key strip"/>
          <p:cNvSpPr/>
          <p:nvPr/>
        </p:nvSpPr>
        <p:spPr>
          <a:xfrm>
            <a:off x="457200" y="4343400"/>
            <a:ext cx="8229600" cy="411480"/>
          </a:xfrm>
          <a:prstGeom prst="roundRect">
            <a:avLst>
              <a:gd name="adj" fmla="val 17778"/>
            </a:avLst>
          </a:prstGeom>
          <a:solidFill>
            <a:srgbClr val="DDF0F0"/>
          </a:solidFill>
          <a:ln/>
        </p:spPr>
      </p:sp>
      <p:sp>
        <p:nvSpPr>
          <p:cNvPr id="10" name="Key strip text"/>
          <p:cNvSpPr txBox="1"/>
          <p:nvPr/>
        </p:nvSpPr>
        <p:spPr>
          <a:xfrm>
            <a:off x="594360" y="4343400"/>
            <a:ext cx="7955280" cy="41148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Next lecture: DC motor</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BEEE">
  <a:themeElements>
    <a:clrScheme name="BEEE">
      <a:dk1>
        <a:srgbClr val="1B2A30"/>
      </a:dk1>
      <a:lt1>
        <a:srgbClr val="FFFFFF"/>
      </a:lt1>
      <a:dk2>
        <a:srgbClr val="0B3C49"/>
      </a:dk2>
      <a:lt2>
        <a:srgbClr val="F1F8F8"/>
      </a:lt2>
      <a:accent1>
        <a:srgbClr val="0E7C86"/>
      </a:accent1>
      <a:accent2>
        <a:srgbClr val="E4572E"/>
      </a:accent2>
      <a:accent3>
        <a:srgbClr val="2E8B57"/>
      </a:accent3>
      <a:accent4>
        <a:srgbClr val="C0392B"/>
      </a:accent4>
      <a:accent5>
        <a:srgbClr val="5B6B72"/>
      </a:accent5>
      <a:accent6>
        <a:srgbClr val="FF8A5B"/>
      </a:accent6>
      <a:hlink>
        <a:srgbClr val="0E7C86"/>
      </a:hlink>
      <a:folHlink>
        <a:srgbClr val="5B6B72"/>
      </a:folHlink>
    </a:clrScheme>
    <a:fontScheme name="BE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BEEE — Unit 2: Single-Phase Transformer</dc:title>
  <dc:subject>PptxGenJS Presentation</dc:subject>
  <dc:creator>Prof. Mitesh Astik</dc:creator>
  <cp:lastModifiedBy>Prof. Mitesh Astik</cp:lastModifiedBy>
  <cp:revision>1</cp:revision>
  <dcterms:created xsi:type="dcterms:W3CDTF">2026-10-28T16:42:29Z</dcterms:created>
  <dcterms:modified xsi:type="dcterms:W3CDTF">2026-10-28T16:42:29Z</dcterms:modified>
</cp:coreProperties>
</file>