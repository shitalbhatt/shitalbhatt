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Today's topic is Op-amp specifications, differential and common-mode operation, inverting, non-inverting and summing amplifiers. It belongs to Unit 5: Op-Amp and Linear IC Applications. By the end of this session you will be able to use it in numerical problems. Keep your notebooks ready because we will solve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aloud. They map to CO5 of the syllabus. Tell students that these are examinable and that the two solved examples follow the same pattern. Ask them to tick off each outcome at the end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idea of gain and the decibel scale. Feedback means that a fraction of the output is fed back to the input. We shall see that feedback with a very high gain amplifier makes its overall gain depend only on the external resistors. For the analysis we need only Ohm's law and Kirchhoff's current law.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amplifier is a small integrated circuit that can be configured with a few external components to perform many functions. It is used in measuring instruments, audio amplifiers, active filters and signal processing. The name comes from analog computers, where it performed mathematical operations such as adding and integrating.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op-amp amplifies the difference between its two inputs. The ideal op-amp has infinite open-loop gain, infinite input resistance, zero output resistance, infinite bandwidth and infinite common-mode rejection. A real device like the 741 is very close in the quantities that matter for our calculations, so the ideal assumptions give very good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sheet lists practical limitations. The offset voltage shifts the output away from zero. The bias currents flow into the input terminals. The slew rate is the maximum rate at which the output voltage can change, which limits the frequency of large signals. The gain bandwidth product tells us that if we choose a gain of 10 the bandwidth is one hundred kilohertz for the 741.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 pair of inputs can be split into a differential part and a common part. A good op-amp amplifies the difference by Ad and nearly ignores the common part, which is amplified by only a tiny gain Ac. The ratio of the two is the common-mode rejection ratio, 90 dB for the 741, meaning the common signal is reduced thirty thousand times relative to the difference. This is what allows small sensor signals to be recovered from noisy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negative feedback the closed-loop gain depends only on the feedback network when the open-loop gain is very large. The output tries to keep the difference between the inputs at nearly zero, so the two input voltages are almost equal: this is the virtual short. Since the input resistance is very large, no current flows into the input terminals. With these two rules we can analyse any op-amp circuit with a few lines of algebra.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the non-inverting input is at ground, the virtual short makes the inverting input also zero volts: a virtual ground. The input current is Vin over R1 and, since no current enters the op-amp, the same current flows through Rf. The voltage across Rf is then the output voltage with a minus sign. The gain is the ratio Rf over R1 and the output is inverted.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non-inverting amplifier the input signal goes to the non-inverting terminal, so the input resistance is extremely high. The feedback resistors form a voltage divider on the output, and the virtual short forces the divided voltage to equal Vin. Solving gives a gain of one plus Rf over R1. If Rf is zero the circuit becomes a voltage follower, a buffer with gain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input drives a current through its own resistor into the virtual ground, and these currents add without interacting. The sum flows through the feedback resistor, producing a voltage with a negative sign. By choosing different resistor values we give each input its own weight. This circuit is used in audio mixers and in digital-to-analog converters.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inverting amplifier the gain is minus Rf over R1, minus ten. For the non-inverting amplifier it is one plus Rf over R1, plus ten. Check that the outputs are within the saturation limits of the op-amp, about 13 volts for a 15 volt supply. Note that the input resistance of the inverting circuit is R1 while that of the non-inverting circuit is very large.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each input's weight as the ratio of the feedback resistor to its input resistor. Multiply by the input voltage and add, remembering the sign of V3. The total is plus two, and the output is its inverse, minus two volts. A final check on the output swing confirms that the op-amp is not saturated.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points where marks are lost most often in op-amp amplifiers. Give one quick example for each mistake. Remind students that writing the formula, substitution and the unit earns method marks even if the arithmetic slips. Encourage them to check the answer for reasonableness.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in one minute. Say each point and ask the class to recall the formula for it. If they remember these ideas, most numerical problems on op-amp amplifiers are within reach. Next lecture: integrator, differentiator and comparator. Revise the two solved examples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about one minute per question and take a show of hands. Discuss why the wrong options are tempting, especially the one that uses a wrong formula. Use the quiz as a quick check on op-amp amplifiers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students to the textbooks listed in the syllabus for op-amp amplifiers. Ask them to solve at least three textbook problems on this topic before the next class. Thank the class and preview the next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3C49"/>
        </a:solidFill>
      </p:bgPr>
    </p:bg>
    <p:spTree>
      <p:nvGrpSpPr>
        <p:cNvPr id="1" name=""/>
        <p:cNvGrpSpPr/>
        <p:nvPr/>
      </p:nvGrpSpPr>
      <p:grpSpPr>
        <a:xfrm>
          <a:off x="0" y="0"/>
          <a:ext cx="0" cy="0"/>
          <a:chOff x="0" y="0"/>
          <a:chExt cx="0" cy="0"/>
        </a:xfrm>
      </p:grpSpPr>
      <p:sp>
        <p:nvSpPr>
          <p:cNvPr id="2" name="Text 0"/>
          <p:cNvSpPr/>
          <p:nvPr/>
        </p:nvSpPr>
        <p:spPr>
          <a:xfrm>
            <a:off x="548640" y="4754880"/>
            <a:ext cx="5486400" cy="228600"/>
          </a:xfrm>
          <a:prstGeom prst="rect">
            <a:avLst/>
          </a:prstGeom>
          <a:noFill/>
          <a:ln/>
        </p:spPr>
        <p:txBody>
          <a:bodyPr wrap="square" lIns="0" tIns="0" rIns="0" bIns="0" rtlCol="0" anchor="ctr"/>
          <a:lstStyle/>
          <a:p>
            <a:pPr indent="0" marL="0">
              <a:buNone/>
            </a:pPr>
            <a:r>
              <a:rPr lang="en-US" sz="1000" dirty="0">
                <a:solidFill>
                  <a:srgbClr val="C9D3E3"/>
                </a:solidFill>
                <a:latin typeface="Calibri" pitchFamily="34" charset="0"/>
                <a:ea typeface="Calibri" pitchFamily="34" charset="-122"/>
                <a:cs typeface="Calibri" pitchFamily="34" charset="-120"/>
              </a:rPr>
              <a:t>Basic Electrical and Electronics Engineering  |  Prof. Mitesh Astik</a:t>
            </a:r>
            <a:endParaRPr lang="en-US" sz="1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2800" b="1" dirty="0">
                <a:solidFill>
                  <a:srgbClr val="0B3C49"/>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457200" y="4846320"/>
            <a:ext cx="6400800" cy="228600"/>
          </a:xfrm>
          <a:prstGeom prst="rect">
            <a:avLst/>
          </a:prstGeom>
          <a:noFill/>
          <a:ln/>
        </p:spPr>
        <p:txBody>
          <a:bodyPr wrap="square" lIns="0" tIns="0" rIns="0" bIns="0" rtlCol="0" anchor="ctr"/>
          <a:lstStyle/>
          <a:p>
            <a:pPr indent="0" marL="0">
              <a:buNone/>
            </a:pPr>
            <a:r>
              <a:rPr lang="en-US" sz="1000" dirty="0">
                <a:solidFill>
                  <a:srgbClr val="5B6B72"/>
                </a:solidFill>
                <a:latin typeface="Calibri" pitchFamily="34" charset="0"/>
                <a:ea typeface="Calibri" pitchFamily="34" charset="-122"/>
                <a:cs typeface="Calibri" pitchFamily="34" charset="-120"/>
              </a:rPr>
              <a:t>Basic Electrical and Electronics Engineering  |  Prof. Mitesh Astik</a:t>
            </a:r>
            <a:endParaRPr lang="en-US" sz="10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Title art" descr="preencoded.png">    </p:cNvPr>
          <p:cNvPicPr>
            <a:picLocks noChangeAspect="1"/>
          </p:cNvPicPr>
          <p:nvPr/>
        </p:nvPicPr>
        <p:blipFill>
          <a:blip r:embed="rId1"/>
          <a:stretch>
            <a:fillRect/>
          </a:stretch>
        </p:blipFill>
        <p:spPr>
          <a:xfrm>
            <a:off x="4572000" y="822960"/>
            <a:ext cx="4206240" cy="3383280"/>
          </a:xfrm>
          <a:prstGeom prst="rect">
            <a:avLst/>
          </a:prstGeom>
        </p:spPr>
      </p:pic>
      <p:sp>
        <p:nvSpPr>
          <p:cNvPr id="3" name="Text 0"/>
          <p:cNvSpPr txBox="1"/>
          <p:nvPr/>
        </p:nvSpPr>
        <p:spPr>
          <a:xfrm>
            <a:off x="548640" y="822960"/>
            <a:ext cx="4023360" cy="155448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Op-Amp Basics and Amplifier Circuits</a:t>
            </a:r>
            <a:endParaRPr lang="en-US" sz="3200" dirty="0"/>
          </a:p>
        </p:txBody>
      </p:sp>
      <p:sp>
        <p:nvSpPr>
          <p:cNvPr id="4" name="Text 1"/>
          <p:cNvSpPr txBox="1"/>
          <p:nvPr/>
        </p:nvSpPr>
        <p:spPr>
          <a:xfrm>
            <a:off x="548640" y="2514600"/>
            <a:ext cx="3931920" cy="1920240"/>
          </a:xfrm>
          <a:prstGeom prst="rect">
            <a:avLst/>
          </a:prstGeom>
          <a:noFill/>
          <a:ln/>
        </p:spPr>
        <p:txBody>
          <a:bodyPr wrap="square" lIns="0" tIns="0" rIns="0" bIns="0" rtlCol="0" anchor="t"/>
          <a:lstStyle/>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Basic Electrical and Electronics Engineering</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Unit 5: Op-Amp and Linear IC Applications</a:t>
            </a:r>
            <a:endParaRPr lang="en-US" sz="1500" dirty="0"/>
          </a:p>
          <a:p>
            <a:pPr indent="0" marL="0">
              <a:spcAft>
                <a:spcPts val="800"/>
              </a:spcAft>
              <a:buNone/>
            </a:pPr>
            <a:r>
              <a:rPr lang="en-US" sz="1500" dirty="0">
                <a:solidFill>
                  <a:srgbClr val="E5EAF3"/>
                </a:solidFill>
                <a:latin typeface="Calibri" pitchFamily="34" charset="0"/>
                <a:ea typeface="Calibri" pitchFamily="34" charset="-122"/>
                <a:cs typeface="Calibri" pitchFamily="34" charset="-120"/>
              </a:rPr>
              <a:t>Topic: Op-amp specifications, differential and common-mode operation, inverting, non-inverting and summing amplifiers</a:t>
            </a:r>
            <a:endParaRPr lang="en-US" sz="1500" dirty="0"/>
          </a:p>
          <a:p>
            <a:pPr indent="0" marL="0">
              <a:spcAft>
                <a:spcPts val="800"/>
              </a:spcAft>
              <a:buNone/>
            </a:pPr>
            <a:r>
              <a:rPr lang="en-US" sz="1500" b="1" dirty="0">
                <a:solidFill>
                  <a:srgbClr val="FF8A5B"/>
                </a:solidFill>
                <a:latin typeface="Calibri" pitchFamily="34" charset="0"/>
                <a:ea typeface="Calibri" pitchFamily="34" charset="-122"/>
                <a:cs typeface="Calibri" pitchFamily="34" charset="-120"/>
              </a:rPr>
              <a:t>Prof. Mitesh Astik</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Learning Outcomes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State the ideal op-amp characteristics.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Explain differential and common-mode operation and CMRR.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Analyse inverting and non-inverting amplifiers.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Design a summing amplifier.</a:t>
            </a:r>
            <a:endParaRPr lang="en-US" sz="1400" dirty="0"/>
          </a:p>
        </p:txBody>
      </p:sp>
      <p:pic>
        <p:nvPicPr>
          <p:cNvPr id="4" name="Diagram" descr="Learning Outcome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Linked to CO5</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Describe the working principles of op-amp and signal processing circuits.</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Recap: What You Already Know</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Amplifier gain: A = Vo/Vin.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Decibel: dB = 20 log₁₀ A.</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Feedback: part of the output returned to the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Kirchhoff's laws and Ohm's law.</a:t>
            </a:r>
            <a:endParaRPr lang="en-US" sz="1400" dirty="0"/>
          </a:p>
        </p:txBody>
      </p:sp>
      <p:pic>
        <p:nvPicPr>
          <p:cNvPr id="4" name="Diagram" descr="Recap: What You Already Know">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Gain in dB = 20 log₁₀ |Vo/Vin|;   40 dB = ×100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Motivation: The Universal Building Block</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Sensor amplifiers and audio equipment.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Filters, oscillators, comparators.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Analog computers: add, integrate, differentiate.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One chip, many functions set by resistors.</a:t>
            </a:r>
            <a:endParaRPr lang="en-US" sz="1400" dirty="0"/>
          </a:p>
        </p:txBody>
      </p:sp>
      <p:pic>
        <p:nvPicPr>
          <p:cNvPr id="4" name="Diagram" descr="Motivation: The Universal Building Block">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Op-amp: a high-gain differential amplifier, usually with two supplies ±VCC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Op-Amp Symbol and Ideal Characteristics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Two inputs: inverting (−) and non-inverting (+).</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One output; dual supply ±VCC.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Ideal: infinite gain, infinite input resistance.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Ideal: zero output resistance, infinite bandwidth.</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Ideal: infinite CMRR, zero offset.</a:t>
            </a:r>
            <a:endParaRPr lang="en-US" sz="1400" dirty="0"/>
          </a:p>
        </p:txBody>
      </p:sp>
      <p:pic>
        <p:nvPicPr>
          <p:cNvPr id="4" name="Diagram" descr="Op-Amp Symbol and Ideal Characteristic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A·(V+ − V−);   practical µA741: A ≈ 2×10⁵, Rin ≈ 2 MΩ, Ro ≈ 75 Ω</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Op-Amp Specifications</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offset voltage: output error with zero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bias current: small base currents of input stage.</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Slew rate: limits output speed, V/µs.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CMRR: ability to reject common signals.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Gain–bandwidth product: A × f = constant.</a:t>
            </a:r>
            <a:endParaRPr lang="en-US" sz="1400" dirty="0"/>
          </a:p>
        </p:txBody>
      </p:sp>
      <p:pic>
        <p:nvPicPr>
          <p:cNvPr id="4" name="Diagram" descr="Op-Amp Specifications">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Slew rate SR = dVo/dt|max (V/µs);   fmax = SR/(2π·Vp) for an undistorted sine of peak Vp</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Differential and Common-Mode Operation</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Differential signal: Vd = V1 − V2.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Common-mode signal: Vc = (V1 + V2)/2.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Op-amp amplifies Vd by Ad, Vc by Ac (small).</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CMRR measures how well Vc is rejected.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High CMRR rejects noise picked up on both inputs.</a:t>
            </a:r>
            <a:endParaRPr lang="en-US" sz="1400" dirty="0"/>
          </a:p>
        </p:txBody>
      </p:sp>
      <p:pic>
        <p:nvPicPr>
          <p:cNvPr id="4" name="Diagram" descr="Differential and Common-Mode Operation">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Ad·Vd + Ac·Vc;   CMRR = |Ad/Ac|;   CMRR(dB) = 20 log₁₀|Ad/Ac|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Negative Feedback and the Virtual Short</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fed back to the inverting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Closed-loop gain ≈ 1/β, set by resistors.</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Because A is huge, V+ − V− ≈ 0: virtual short.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current into the op-amp ≈ 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Use these two rules for every circuit.</a:t>
            </a:r>
            <a:endParaRPr lang="en-US" sz="1400" dirty="0"/>
          </a:p>
        </p:txBody>
      </p:sp>
      <p:pic>
        <p:nvPicPr>
          <p:cNvPr id="4" name="Diagram" descr="Negative Feedback and the Virtual Short">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Vo/Vin = A/(1 + Aβ) ≈ 1/β;   rules: V+ = V−,  I(in) = 0</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Inverting Amplifier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applied through R1 to the (−)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Non-inverting input grounded.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Virtual ground at the (−)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 through R1 flows through Rf.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inverted.</a:t>
            </a:r>
            <a:endParaRPr lang="en-US" sz="1400" dirty="0"/>
          </a:p>
        </p:txBody>
      </p:sp>
      <p:pic>
        <p:nvPicPr>
          <p:cNvPr id="4" name="Diagram" descr="Inverting Amplifi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−(Rf/R1)·Vin;   Av = −Rf/R1;   Rin = R1</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Non-Inverting Amplifier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Input applied directly to the (+) input.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R1 and Rf form a divider from the output.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 = Vo·R1/(R1 + Rf) = Vin.</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Gain is 1 + Rf/R1, at least 1.</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Very high input resistance.</a:t>
            </a:r>
            <a:endParaRPr lang="en-US" sz="1400" dirty="0"/>
          </a:p>
        </p:txBody>
      </p:sp>
      <p:pic>
        <p:nvPicPr>
          <p:cNvPr id="4" name="Diagram" descr="Non-Inverting Amplifi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(1 + Rf/R1)·Vin;   Av = 1 + Rf/R1</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Voltage follower: Rf = 0, Av = 1</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Summing Amplifier</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Several inputs, each through its own resistor.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All join at the virtual ground.</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Currents add: I = V1/R1 + V2/R2 + V3/R3.</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Total current flows through Rf.</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Output is the inverted weighted sum.</a:t>
            </a:r>
            <a:endParaRPr lang="en-US" sz="1400" dirty="0"/>
          </a:p>
        </p:txBody>
      </p:sp>
      <p:pic>
        <p:nvPicPr>
          <p:cNvPr id="4" name="Diagram" descr="Summing Amplifier">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Vo = −Rf·(V1/R1 + V2/R2 + V3/R3)</a:t>
            </a:r>
            <a:endParaRPr lang="en-US" sz="1400" dirty="0"/>
          </a:p>
          <a:p>
            <a:pPr indent="0" marL="0">
              <a:buNone/>
            </a:pPr>
            <a:r>
              <a:rPr lang="en-US" sz="1400" dirty="0">
                <a:solidFill>
                  <a:srgbClr val="1B2A30"/>
                </a:solidFill>
                <a:latin typeface="Calibri" pitchFamily="34" charset="0"/>
                <a:ea typeface="Calibri" pitchFamily="34" charset="-122"/>
                <a:cs typeface="Calibri" pitchFamily="34" charset="-120"/>
              </a:rPr>
              <a:t>R1 = R2 = R3 = Rf: Vo = −(V1 + V2 + V3)</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1: Inverting and Non-Inverting</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(a) Inverting: R1 = 10 kΩ, Rf = 100 kΩ, Vin = 0.2 V. (b) Non-inverting: R1 = 1 kΩ, Rf = 9 kΩ, Vin = 0.5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Inverting gain = −Rf/R1 = −10.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Vo = −10 × 0.2 = −2 V; Rin = 10 kΩ.</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Non-inverting gain = 1 + Rf/R1 = 1 + 9 = 10.</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Vo = 10 × 0.5 = +5 V.</a:t>
            </a:r>
            <a:endParaRPr lang="en-US" sz="1400" dirty="0"/>
          </a:p>
        </p:txBody>
      </p:sp>
      <p:pic>
        <p:nvPicPr>
          <p:cNvPr id="4" name="Diagram" descr="Solved Example 1: Inverting and Non-Inverting">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(a) Vo = −2 V;  (b) Vo = +5 V;  both within ±13 V swing</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Solved Example 2: Summing Amplifier</a:t>
            </a:r>
            <a:endParaRPr lang="en-US" sz="2800" dirty="0"/>
          </a:p>
        </p:txBody>
      </p:sp>
      <p:sp>
        <p:nvSpPr>
          <p:cNvPr id="3" name="Bullets"/>
          <p:cNvSpPr txBox="1"/>
          <p:nvPr/>
        </p:nvSpPr>
        <p:spPr>
          <a:xfrm>
            <a:off x="457200" y="1143000"/>
            <a:ext cx="466344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Rf = 10 kΩ, R1 = 5 kΩ, R2 = 10 kΩ, R3 = 20 kΩ; V1 = 1 V, V2 = 2 V, V3 = −4 V. Find Vo.</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1. Weights: Rf/R1 = 2, Rf/R2 = 1, Rf/R3 = 0.5.</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2. Sum = 2 × 1 + 1 × 2 + 0.5 × (−4) = 2 + 2 − 2 = 2.</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3. Vo = −2 V.</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4. Check: output within ±13 V.</a:t>
            </a:r>
            <a:endParaRPr lang="en-US" sz="1400" dirty="0"/>
          </a:p>
        </p:txBody>
      </p:sp>
      <p:pic>
        <p:nvPicPr>
          <p:cNvPr id="4" name="Diagram" descr="Solved Example 2: Summing Amplifier">    </p:cNvPr>
          <p:cNvPicPr>
            <a:picLocks noChangeAspect="1"/>
          </p:cNvPicPr>
          <p:nvPr/>
        </p:nvPicPr>
        <p:blipFill>
          <a:blip r:embed="rId1"/>
          <a:stretch>
            <a:fillRect/>
          </a:stretch>
        </p:blipFill>
        <p:spPr>
          <a:xfrm>
            <a:off x="5257800" y="1392199"/>
            <a:ext cx="3429000" cy="2336242"/>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Answer: Vo = −2 V</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Common Mistakes and Exam Tips</a:t>
            </a:r>
            <a:endParaRPr lang="en-US" sz="2800" dirty="0"/>
          </a:p>
        </p:txBody>
      </p:sp>
      <p:sp>
        <p:nvSpPr>
          <p:cNvPr id="3" name="Common mistakes card"/>
          <p:cNvSpPr/>
          <p:nvPr/>
        </p:nvSpPr>
        <p:spPr>
          <a:xfrm>
            <a:off x="457200" y="1143000"/>
            <a:ext cx="4023360" cy="3566160"/>
          </a:xfrm>
          <a:prstGeom prst="roundRect">
            <a:avLst>
              <a:gd name="adj" fmla="val 2564"/>
            </a:avLst>
          </a:prstGeom>
          <a:solidFill>
            <a:srgbClr val="F1F8F8"/>
          </a:solidFill>
          <a:ln/>
        </p:spPr>
      </p:sp>
      <p:sp>
        <p:nvSpPr>
          <p:cNvPr id="4" name="Common mistakes icon"/>
          <p:cNvSpPr/>
          <p:nvPr/>
        </p:nvSpPr>
        <p:spPr>
          <a:xfrm>
            <a:off x="640080" y="1280160"/>
            <a:ext cx="411480" cy="411480"/>
          </a:xfrm>
          <a:prstGeom prst="ellipse">
            <a:avLst/>
          </a:prstGeom>
          <a:solidFill>
            <a:srgbClr val="C0392B"/>
          </a:solidFill>
          <a:ln/>
        </p:spPr>
      </p:sp>
      <p:sp>
        <p:nvSpPr>
          <p:cNvPr id="5" name="Text 3"/>
          <p:cNvSpPr txBox="1"/>
          <p:nvPr/>
        </p:nvSpPr>
        <p:spPr>
          <a:xfrm>
            <a:off x="64008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6" name="Text 4"/>
          <p:cNvSpPr txBox="1"/>
          <p:nvPr/>
        </p:nvSpPr>
        <p:spPr>
          <a:xfrm>
            <a:off x="118872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Common mistakes</a:t>
            </a:r>
            <a:endParaRPr lang="en-US" sz="2000" dirty="0"/>
          </a:p>
        </p:txBody>
      </p:sp>
      <p:sp>
        <p:nvSpPr>
          <p:cNvPr id="7" name="Text 5"/>
          <p:cNvSpPr txBox="1"/>
          <p:nvPr/>
        </p:nvSpPr>
        <p:spPr>
          <a:xfrm>
            <a:off x="68580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Forgetting the sign in the inverting gain.</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Using 1 + Rf/R1 for the inverting amplifier.</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Ignoring op-amp saturation (±VCC).</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Treating Rin of the inverting amplifier as infinite.</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Applying virtual ground without negative feedback.</a:t>
            </a:r>
            <a:endParaRPr lang="en-US" sz="1600" dirty="0"/>
          </a:p>
        </p:txBody>
      </p:sp>
      <p:sp>
        <p:nvSpPr>
          <p:cNvPr id="8" name="Exam tips card"/>
          <p:cNvSpPr/>
          <p:nvPr/>
        </p:nvSpPr>
        <p:spPr>
          <a:xfrm>
            <a:off x="4663440" y="1143000"/>
            <a:ext cx="4023360" cy="3566160"/>
          </a:xfrm>
          <a:prstGeom prst="roundRect">
            <a:avLst>
              <a:gd name="adj" fmla="val 2564"/>
            </a:avLst>
          </a:prstGeom>
          <a:solidFill>
            <a:srgbClr val="F1F8F8"/>
          </a:solidFill>
          <a:ln/>
        </p:spPr>
      </p:sp>
      <p:sp>
        <p:nvSpPr>
          <p:cNvPr id="9" name="Exam tips icon"/>
          <p:cNvSpPr/>
          <p:nvPr/>
        </p:nvSpPr>
        <p:spPr>
          <a:xfrm>
            <a:off x="4846320" y="1280160"/>
            <a:ext cx="411480" cy="411480"/>
          </a:xfrm>
          <a:prstGeom prst="ellipse">
            <a:avLst/>
          </a:prstGeom>
          <a:solidFill>
            <a:srgbClr val="2E8B57"/>
          </a:solidFill>
          <a:ln/>
        </p:spPr>
      </p:sp>
      <p:sp>
        <p:nvSpPr>
          <p:cNvPr id="10" name="Text 8"/>
          <p:cNvSpPr txBox="1"/>
          <p:nvPr/>
        </p:nvSpPr>
        <p:spPr>
          <a:xfrm>
            <a:off x="4846320" y="128016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rPr>
              <a:t>✓</a:t>
            </a:r>
            <a:endParaRPr lang="en-US" sz="1600" dirty="0"/>
          </a:p>
        </p:txBody>
      </p:sp>
      <p:sp>
        <p:nvSpPr>
          <p:cNvPr id="11" name="Text 9"/>
          <p:cNvSpPr txBox="1"/>
          <p:nvPr/>
        </p:nvSpPr>
        <p:spPr>
          <a:xfrm>
            <a:off x="5394960" y="1280160"/>
            <a:ext cx="3108960" cy="41148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Exam tips</a:t>
            </a:r>
            <a:endParaRPr lang="en-US" sz="2000" dirty="0"/>
          </a:p>
        </p:txBody>
      </p:sp>
      <p:sp>
        <p:nvSpPr>
          <p:cNvPr id="12" name="Text 10"/>
          <p:cNvSpPr txBox="1"/>
          <p:nvPr/>
        </p:nvSpPr>
        <p:spPr>
          <a:xfrm>
            <a:off x="4892040" y="1874520"/>
            <a:ext cx="3611880" cy="2743200"/>
          </a:xfrm>
          <a:prstGeom prst="rect">
            <a:avLst/>
          </a:prstGeom>
          <a:noFill/>
          <a:ln/>
        </p:spPr>
        <p:txBody>
          <a:bodyPr wrap="square" lIns="0" tIns="0" rIns="0" bIns="0" rtlCol="0" anchor="t"/>
          <a:lstStyle/>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Use V+ = V− and I(in) = 0.</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Check that |Vo| &lt; supply voltage.</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Inverting: Rin = R1.</a:t>
            </a:r>
            <a:endParaRPr lang="en-US" sz="1600" dirty="0"/>
          </a:p>
          <a:p>
            <a:pPr marL="342900" indent="-342900">
              <a:spcAft>
                <a:spcPts val="700"/>
              </a:spcAft>
              <a:buSzPct val="100000"/>
              <a:buChar char="•"/>
            </a:pPr>
            <a:r>
              <a:rPr lang="en-US" sz="1600" dirty="0">
                <a:solidFill>
                  <a:srgbClr val="1B2A30"/>
                </a:solidFill>
                <a:latin typeface="Calibri" pitchFamily="34" charset="0"/>
                <a:ea typeface="Calibri" pitchFamily="34" charset="-122"/>
                <a:cs typeface="Calibri" pitchFamily="34" charset="-120"/>
              </a:rPr>
              <a:t>Name the configuration before writing the formula.</a:t>
            </a:r>
            <a:endParaRPr lang="en-US" sz="16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Summary</a:t>
            </a:r>
            <a:endParaRPr lang="en-US" sz="2800" dirty="0"/>
          </a:p>
        </p:txBody>
      </p:sp>
      <p:sp>
        <p:nvSpPr>
          <p:cNvPr id="3" name="Bullets"/>
          <p:cNvSpPr txBox="1"/>
          <p:nvPr/>
        </p:nvSpPr>
        <p:spPr>
          <a:xfrm>
            <a:off x="457200" y="1143000"/>
            <a:ext cx="3931920" cy="283464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Ideal op-amp: A = ∞, Rin = ∞, Ro = 0, infinite CMRR.</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Differential gain Ad, common-mode gain Ac, CMRR = Ad/Ac.</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Negative feedback gives the virtual short.</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Inverting: −Rf/R1; non-inverting: 1 + Rf/R1.</a:t>
            </a:r>
            <a:endParaRPr lang="en-US" sz="1400" dirty="0"/>
          </a:p>
          <a:p>
            <a:pPr marL="342900" indent="-342900">
              <a:spcAft>
                <a:spcPts val="700"/>
              </a:spcAft>
              <a:buSzPct val="100000"/>
              <a:buChar char="•"/>
            </a:pPr>
            <a:r>
              <a:rPr lang="en-US" sz="1400" dirty="0">
                <a:solidFill>
                  <a:srgbClr val="1B2A30"/>
                </a:solidFill>
                <a:latin typeface="Calibri" pitchFamily="34" charset="0"/>
                <a:ea typeface="Calibri" pitchFamily="34" charset="-122"/>
                <a:cs typeface="Calibri" pitchFamily="34" charset="-120"/>
              </a:rPr>
              <a:t>Summing: Vo = −Rf ΣVi/Ri.</a:t>
            </a:r>
            <a:endParaRPr lang="en-US" sz="1400" dirty="0"/>
          </a:p>
        </p:txBody>
      </p:sp>
      <p:pic>
        <p:nvPicPr>
          <p:cNvPr id="4" name="Diagram" descr="Summary">    </p:cNvPr>
          <p:cNvPicPr>
            <a:picLocks noChangeAspect="1"/>
          </p:cNvPicPr>
          <p:nvPr/>
        </p:nvPicPr>
        <p:blipFill>
          <a:blip r:embed="rId1"/>
          <a:stretch>
            <a:fillRect/>
          </a:stretch>
        </p:blipFill>
        <p:spPr>
          <a:xfrm>
            <a:off x="4526280" y="1143000"/>
            <a:ext cx="4160520" cy="2834640"/>
          </a:xfrm>
          <a:prstGeom prst="rect">
            <a:avLst/>
          </a:prstGeom>
        </p:spPr>
      </p:pic>
      <p:sp>
        <p:nvSpPr>
          <p:cNvPr id="5" name="Key strip"/>
          <p:cNvSpPr/>
          <p:nvPr/>
        </p:nvSpPr>
        <p:spPr>
          <a:xfrm>
            <a:off x="457200" y="4069080"/>
            <a:ext cx="8229600" cy="658368"/>
          </a:xfrm>
          <a:prstGeom prst="roundRect">
            <a:avLst>
              <a:gd name="adj" fmla="val 11111"/>
            </a:avLst>
          </a:prstGeom>
          <a:solidFill>
            <a:srgbClr val="DDF0F0"/>
          </a:solidFill>
          <a:ln/>
        </p:spPr>
      </p:sp>
      <p:sp>
        <p:nvSpPr>
          <p:cNvPr id="6" name="Key strip text"/>
          <p:cNvSpPr txBox="1"/>
          <p:nvPr/>
        </p:nvSpPr>
        <p:spPr>
          <a:xfrm>
            <a:off x="594360" y="4069080"/>
            <a:ext cx="795528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Rules: V+ = V−,  no input current</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Quick Quiz</a:t>
            </a:r>
            <a:endParaRPr lang="en-US" sz="2800" dirty="0"/>
          </a:p>
        </p:txBody>
      </p:sp>
      <p:sp>
        <p:nvSpPr>
          <p:cNvPr id="3" name="Q1 row"/>
          <p:cNvSpPr/>
          <p:nvPr/>
        </p:nvSpPr>
        <p:spPr>
          <a:xfrm>
            <a:off x="457200" y="1097280"/>
            <a:ext cx="8229600" cy="658368"/>
          </a:xfrm>
          <a:prstGeom prst="roundRect">
            <a:avLst>
              <a:gd name="adj" fmla="val 11111"/>
            </a:avLst>
          </a:prstGeom>
          <a:solidFill>
            <a:srgbClr val="F1F8F8"/>
          </a:solidFill>
          <a:ln w="9525">
            <a:solidFill>
              <a:srgbClr val="DDF0F0"/>
            </a:solidFill>
            <a:prstDash val="solid"/>
          </a:ln>
        </p:spPr>
      </p:sp>
      <p:sp>
        <p:nvSpPr>
          <p:cNvPr id="4" name="Text 2"/>
          <p:cNvSpPr txBox="1"/>
          <p:nvPr/>
        </p:nvSpPr>
        <p:spPr>
          <a:xfrm>
            <a:off x="594360" y="109728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Q1. Voltage gain of an inverting amplifier with R1 = 2 kΩ, Rf = 20 kΩ:</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10  (b) −10  (c) 11  (d) −0.1</a:t>
            </a:r>
            <a:endParaRPr lang="en-US" sz="1400" dirty="0"/>
          </a:p>
        </p:txBody>
      </p:sp>
      <p:sp>
        <p:nvSpPr>
          <p:cNvPr id="5" name="Q1 answer"/>
          <p:cNvSpPr/>
          <p:nvPr/>
        </p:nvSpPr>
        <p:spPr>
          <a:xfrm>
            <a:off x="7269480" y="1225296"/>
            <a:ext cx="1280160" cy="402336"/>
          </a:xfrm>
          <a:prstGeom prst="roundRect">
            <a:avLst>
              <a:gd name="adj" fmla="val 22727"/>
            </a:avLst>
          </a:prstGeom>
          <a:solidFill>
            <a:srgbClr val="2E8B57"/>
          </a:solidFill>
          <a:ln/>
        </p:spPr>
      </p:sp>
      <p:sp>
        <p:nvSpPr>
          <p:cNvPr id="6" name="Text 4"/>
          <p:cNvSpPr txBox="1"/>
          <p:nvPr/>
        </p:nvSpPr>
        <p:spPr>
          <a:xfrm>
            <a:off x="7269480" y="122529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7" name="Q2 row"/>
          <p:cNvSpPr/>
          <p:nvPr/>
        </p:nvSpPr>
        <p:spPr>
          <a:xfrm>
            <a:off x="457200" y="1828800"/>
            <a:ext cx="8229600" cy="658368"/>
          </a:xfrm>
          <a:prstGeom prst="roundRect">
            <a:avLst>
              <a:gd name="adj" fmla="val 11111"/>
            </a:avLst>
          </a:prstGeom>
          <a:solidFill>
            <a:srgbClr val="FFFFFF"/>
          </a:solidFill>
          <a:ln w="9525">
            <a:solidFill>
              <a:srgbClr val="DDF0F0"/>
            </a:solidFill>
            <a:prstDash val="solid"/>
          </a:ln>
        </p:spPr>
      </p:sp>
      <p:sp>
        <p:nvSpPr>
          <p:cNvPr id="8" name="Text 6"/>
          <p:cNvSpPr txBox="1"/>
          <p:nvPr/>
        </p:nvSpPr>
        <p:spPr>
          <a:xfrm>
            <a:off x="594360" y="182880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Q2. Non-inverting gain with Rf = 9 kΩ, R1 = 1 kΩ:</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9  (b) 10  (c) −9  (d) 1</a:t>
            </a:r>
            <a:endParaRPr lang="en-US" sz="1400" dirty="0"/>
          </a:p>
        </p:txBody>
      </p:sp>
      <p:sp>
        <p:nvSpPr>
          <p:cNvPr id="9" name="Q2 answer"/>
          <p:cNvSpPr/>
          <p:nvPr/>
        </p:nvSpPr>
        <p:spPr>
          <a:xfrm>
            <a:off x="7269480" y="1956816"/>
            <a:ext cx="1280160" cy="402336"/>
          </a:xfrm>
          <a:prstGeom prst="roundRect">
            <a:avLst>
              <a:gd name="adj" fmla="val 22727"/>
            </a:avLst>
          </a:prstGeom>
          <a:solidFill>
            <a:srgbClr val="2E8B57"/>
          </a:solidFill>
          <a:ln/>
        </p:spPr>
      </p:sp>
      <p:sp>
        <p:nvSpPr>
          <p:cNvPr id="10" name="Text 8"/>
          <p:cNvSpPr txBox="1"/>
          <p:nvPr/>
        </p:nvSpPr>
        <p:spPr>
          <a:xfrm>
            <a:off x="7269480" y="195681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1" name="Q3 row"/>
          <p:cNvSpPr/>
          <p:nvPr/>
        </p:nvSpPr>
        <p:spPr>
          <a:xfrm>
            <a:off x="457200" y="2560320"/>
            <a:ext cx="8229600" cy="658368"/>
          </a:xfrm>
          <a:prstGeom prst="roundRect">
            <a:avLst>
              <a:gd name="adj" fmla="val 11111"/>
            </a:avLst>
          </a:prstGeom>
          <a:solidFill>
            <a:srgbClr val="F1F8F8"/>
          </a:solidFill>
          <a:ln w="9525">
            <a:solidFill>
              <a:srgbClr val="DDF0F0"/>
            </a:solidFill>
            <a:prstDash val="solid"/>
          </a:ln>
        </p:spPr>
      </p:sp>
      <p:sp>
        <p:nvSpPr>
          <p:cNvPr id="12" name="Text 10"/>
          <p:cNvSpPr txBox="1"/>
          <p:nvPr/>
        </p:nvSpPr>
        <p:spPr>
          <a:xfrm>
            <a:off x="594360" y="256032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Q3. CMRR of 100 dB means |Ad/Ac| =</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100  (b) 10⁵  (c) 10²  (d) 1000</a:t>
            </a:r>
            <a:endParaRPr lang="en-US" sz="1400" dirty="0"/>
          </a:p>
        </p:txBody>
      </p:sp>
      <p:sp>
        <p:nvSpPr>
          <p:cNvPr id="13" name="Q3 answer"/>
          <p:cNvSpPr/>
          <p:nvPr/>
        </p:nvSpPr>
        <p:spPr>
          <a:xfrm>
            <a:off x="7269480" y="2688336"/>
            <a:ext cx="1280160" cy="402336"/>
          </a:xfrm>
          <a:prstGeom prst="roundRect">
            <a:avLst>
              <a:gd name="adj" fmla="val 22727"/>
            </a:avLst>
          </a:prstGeom>
          <a:solidFill>
            <a:srgbClr val="2E8B57"/>
          </a:solidFill>
          <a:ln/>
        </p:spPr>
      </p:sp>
      <p:sp>
        <p:nvSpPr>
          <p:cNvPr id="14" name="Text 12"/>
          <p:cNvSpPr txBox="1"/>
          <p:nvPr/>
        </p:nvSpPr>
        <p:spPr>
          <a:xfrm>
            <a:off x="7269480" y="268833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5" name="Q4 row"/>
          <p:cNvSpPr/>
          <p:nvPr/>
        </p:nvSpPr>
        <p:spPr>
          <a:xfrm>
            <a:off x="457200" y="3291840"/>
            <a:ext cx="8229600" cy="658368"/>
          </a:xfrm>
          <a:prstGeom prst="roundRect">
            <a:avLst>
              <a:gd name="adj" fmla="val 11111"/>
            </a:avLst>
          </a:prstGeom>
          <a:solidFill>
            <a:srgbClr val="FFFFFF"/>
          </a:solidFill>
          <a:ln w="9525">
            <a:solidFill>
              <a:srgbClr val="DDF0F0"/>
            </a:solidFill>
            <a:prstDash val="solid"/>
          </a:ln>
        </p:spPr>
      </p:sp>
      <p:sp>
        <p:nvSpPr>
          <p:cNvPr id="16" name="Text 14"/>
          <p:cNvSpPr txBox="1"/>
          <p:nvPr/>
        </p:nvSpPr>
        <p:spPr>
          <a:xfrm>
            <a:off x="594360" y="329184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Q4. Voltage follower has gain:</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0  (b) 1  (c) 10  (d) ∞</a:t>
            </a:r>
            <a:endParaRPr lang="en-US" sz="1400" dirty="0"/>
          </a:p>
        </p:txBody>
      </p:sp>
      <p:sp>
        <p:nvSpPr>
          <p:cNvPr id="17" name="Q4 answer"/>
          <p:cNvSpPr/>
          <p:nvPr/>
        </p:nvSpPr>
        <p:spPr>
          <a:xfrm>
            <a:off x="7269480" y="3419856"/>
            <a:ext cx="1280160" cy="402336"/>
          </a:xfrm>
          <a:prstGeom prst="roundRect">
            <a:avLst>
              <a:gd name="adj" fmla="val 22727"/>
            </a:avLst>
          </a:prstGeom>
          <a:solidFill>
            <a:srgbClr val="2E8B57"/>
          </a:solidFill>
          <a:ln/>
        </p:spPr>
      </p:sp>
      <p:sp>
        <p:nvSpPr>
          <p:cNvPr id="18" name="Text 16"/>
          <p:cNvSpPr txBox="1"/>
          <p:nvPr/>
        </p:nvSpPr>
        <p:spPr>
          <a:xfrm>
            <a:off x="7269480" y="341985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(b)</a:t>
            </a:r>
            <a:endParaRPr lang="en-US" sz="1400" dirty="0"/>
          </a:p>
        </p:txBody>
      </p:sp>
      <p:sp>
        <p:nvSpPr>
          <p:cNvPr id="19" name="Q5 row"/>
          <p:cNvSpPr/>
          <p:nvPr/>
        </p:nvSpPr>
        <p:spPr>
          <a:xfrm>
            <a:off x="457200" y="4023360"/>
            <a:ext cx="8229600" cy="658368"/>
          </a:xfrm>
          <a:prstGeom prst="roundRect">
            <a:avLst>
              <a:gd name="adj" fmla="val 11111"/>
            </a:avLst>
          </a:prstGeom>
          <a:solidFill>
            <a:srgbClr val="F1F8F8"/>
          </a:solidFill>
          <a:ln w="9525">
            <a:solidFill>
              <a:srgbClr val="DDF0F0"/>
            </a:solidFill>
            <a:prstDash val="solid"/>
          </a:ln>
        </p:spPr>
      </p:sp>
      <p:sp>
        <p:nvSpPr>
          <p:cNvPr id="20" name="Text 18"/>
          <p:cNvSpPr txBox="1"/>
          <p:nvPr/>
        </p:nvSpPr>
        <p:spPr>
          <a:xfrm>
            <a:off x="594360" y="4023360"/>
            <a:ext cx="6492240" cy="658368"/>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Q5. At the inverting input of an inverting amplifier the voltage is: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(a) Vin  (b) Vo  (c) ≈ 0 (virtual ground)  (d) VCC</a:t>
            </a:r>
            <a:endParaRPr lang="en-US" sz="1400" dirty="0"/>
          </a:p>
        </p:txBody>
      </p:sp>
      <p:sp>
        <p:nvSpPr>
          <p:cNvPr id="21" name="Q5 answer"/>
          <p:cNvSpPr/>
          <p:nvPr/>
        </p:nvSpPr>
        <p:spPr>
          <a:xfrm>
            <a:off x="7269480" y="4151376"/>
            <a:ext cx="1280160" cy="402336"/>
          </a:xfrm>
          <a:prstGeom prst="roundRect">
            <a:avLst>
              <a:gd name="adj" fmla="val 22727"/>
            </a:avLst>
          </a:prstGeom>
          <a:solidFill>
            <a:srgbClr val="2E8B57"/>
          </a:solidFill>
          <a:ln/>
        </p:spPr>
      </p:sp>
      <p:sp>
        <p:nvSpPr>
          <p:cNvPr id="22" name="Text 20"/>
          <p:cNvSpPr txBox="1"/>
          <p:nvPr/>
        </p:nvSpPr>
        <p:spPr>
          <a:xfrm>
            <a:off x="7269480" y="4151376"/>
            <a:ext cx="1280160" cy="402336"/>
          </a:xfrm>
          <a:prstGeom prst="rect">
            <a:avLst/>
          </a:prstGeom>
          <a:noFill/>
          <a:ln/>
        </p:spPr>
        <p:txBody>
          <a:bodyPr wrap="square" lIns="0" tIns="0" rIns="0" bIns="0" rtlCol="0" anchor="ctr"/>
          <a:lstStyle/>
          <a:p>
            <a:pPr algn="ctr" indent="0" marL="0">
              <a:buNone/>
            </a:pPr>
            <a:r>
              <a:rPr lang="en-US" sz="1400" b="1" dirty="0">
                <a:solidFill>
                  <a:srgbClr val="FFFFFF"/>
                </a:solidFill>
              </a:rPr>
              <a:t>Ans: (c)</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2800" b="1" dirty="0">
                <a:solidFill>
                  <a:srgbClr val="0B3C49"/>
                </a:solidFill>
                <a:latin typeface="Cambria" pitchFamily="34" charset="0"/>
                <a:ea typeface="Cambria" pitchFamily="34" charset="-122"/>
                <a:cs typeface="Cambria" pitchFamily="34" charset="-120"/>
              </a:rPr>
              <a:t>References</a:t>
            </a:r>
            <a:endParaRPr lang="en-US" sz="2800" dirty="0"/>
          </a:p>
        </p:txBody>
      </p:sp>
      <p:sp>
        <p:nvSpPr>
          <p:cNvPr id="3" name="Ref 1 badge"/>
          <p:cNvSpPr/>
          <p:nvPr/>
        </p:nvSpPr>
        <p:spPr>
          <a:xfrm>
            <a:off x="457200" y="1197864"/>
            <a:ext cx="420624" cy="420624"/>
          </a:xfrm>
          <a:prstGeom prst="ellipse">
            <a:avLst/>
          </a:prstGeom>
          <a:solidFill>
            <a:srgbClr val="0B3C49"/>
          </a:solidFill>
          <a:ln/>
        </p:spPr>
      </p:sp>
      <p:sp>
        <p:nvSpPr>
          <p:cNvPr id="4" name="Text 2"/>
          <p:cNvSpPr txBox="1"/>
          <p:nvPr/>
        </p:nvSpPr>
        <p:spPr>
          <a:xfrm>
            <a:off x="457200" y="119786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051560" y="1143000"/>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Boylestad Robert L. and Nashelsky Louis, Electronic Devices and Circuit Theory</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11th Ed., PHI, 2016 (Units 3, 4, 5 textbook)</a:t>
            </a:r>
            <a:endParaRPr lang="en-US" sz="1400" dirty="0"/>
          </a:p>
        </p:txBody>
      </p:sp>
      <p:sp>
        <p:nvSpPr>
          <p:cNvPr id="6" name="Ref 2 badge"/>
          <p:cNvSpPr/>
          <p:nvPr/>
        </p:nvSpPr>
        <p:spPr>
          <a:xfrm>
            <a:off x="457200" y="1801368"/>
            <a:ext cx="420624" cy="420624"/>
          </a:xfrm>
          <a:prstGeom prst="ellipse">
            <a:avLst/>
          </a:prstGeom>
          <a:solidFill>
            <a:srgbClr val="0B3C49"/>
          </a:solidFill>
          <a:ln/>
        </p:spPr>
      </p:sp>
      <p:sp>
        <p:nvSpPr>
          <p:cNvPr id="7" name="Text 5"/>
          <p:cNvSpPr txBox="1"/>
          <p:nvPr/>
        </p:nvSpPr>
        <p:spPr>
          <a:xfrm>
            <a:off x="457200" y="180136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8" name="Text 6"/>
          <p:cNvSpPr txBox="1"/>
          <p:nvPr/>
        </p:nvSpPr>
        <p:spPr>
          <a:xfrm>
            <a:off x="1051560" y="1746504"/>
            <a:ext cx="7635240" cy="54864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David A. Bell, Operational Amplifier and Linear ICs</a:t>
            </a:r>
            <a:endParaRPr lang="en-US" sz="1400" dirty="0"/>
          </a:p>
          <a:p>
            <a:pPr indent="0" marL="0">
              <a:buNone/>
            </a:pPr>
            <a:r>
              <a:rPr lang="en-US" sz="1400" dirty="0">
                <a:solidFill>
                  <a:srgbClr val="5B6B72"/>
                </a:solidFill>
                <a:latin typeface="Calibri" pitchFamily="34" charset="0"/>
                <a:ea typeface="Calibri" pitchFamily="34" charset="-122"/>
                <a:cs typeface="Calibri" pitchFamily="34" charset="-120"/>
              </a:rPr>
              <a:t>3rd Ed., Oxford University Press, 2011 (reference, Unit 5)</a:t>
            </a:r>
            <a:endParaRPr lang="en-US" sz="1400" dirty="0"/>
          </a:p>
        </p:txBody>
      </p:sp>
      <p:sp>
        <p:nvSpPr>
          <p:cNvPr id="9" name="Key strip"/>
          <p:cNvSpPr/>
          <p:nvPr/>
        </p:nvSpPr>
        <p:spPr>
          <a:xfrm>
            <a:off x="457200" y="4343400"/>
            <a:ext cx="8229600" cy="411480"/>
          </a:xfrm>
          <a:prstGeom prst="roundRect">
            <a:avLst>
              <a:gd name="adj" fmla="val 17778"/>
            </a:avLst>
          </a:prstGeom>
          <a:solidFill>
            <a:srgbClr val="DDF0F0"/>
          </a:solidFill>
          <a:ln/>
        </p:spPr>
      </p:sp>
      <p:sp>
        <p:nvSpPr>
          <p:cNvPr id="10" name="Key strip text"/>
          <p:cNvSpPr txBox="1"/>
          <p:nvPr/>
        </p:nvSpPr>
        <p:spPr>
          <a:xfrm>
            <a:off x="594360" y="4343400"/>
            <a:ext cx="7955280" cy="411480"/>
          </a:xfrm>
          <a:prstGeom prst="rect">
            <a:avLst/>
          </a:prstGeom>
          <a:noFill/>
          <a:ln/>
        </p:spPr>
        <p:txBody>
          <a:bodyPr wrap="square" lIns="0" tIns="0" rIns="0" bIns="0" rtlCol="0" anchor="ctr"/>
          <a:lstStyle/>
          <a:p>
            <a:pPr indent="0" marL="0">
              <a:buNone/>
            </a:pPr>
            <a:r>
              <a:rPr lang="en-US" sz="1400" b="1" dirty="0">
                <a:solidFill>
                  <a:srgbClr val="1B2A30"/>
                </a:solidFill>
                <a:latin typeface="Calibri" pitchFamily="34" charset="0"/>
                <a:ea typeface="Calibri" pitchFamily="34" charset="-122"/>
                <a:cs typeface="Calibri" pitchFamily="34" charset="-120"/>
              </a:rPr>
              <a:t>Next lecture: integrator, differentiator and comparator</a:t>
            </a:r>
            <a:endParaRPr lang="en-US" sz="1400" dirty="0"/>
          </a:p>
        </p:txBody>
      </p:sp>
      <p:sp>
        <p:nvSpPr>
          <p:cNvPr id="25" name="Slide Number Placeholder 0"/>
          <p:cNvSpPr>
            <a:spLocks noGrp="1"/>
          </p:cNvSpPr>
          <p:nvPr>
            <p:ph type="sldNum" sz="quarter" idx="4294967295"/>
          </p:nvPr>
        </p:nvSpPr>
        <p:spPr>
          <a:xfrm>
            <a:off x="8229600" y="4846320"/>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5B6B72"/>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BEEE">
  <a:themeElements>
    <a:clrScheme name="BEEE">
      <a:dk1>
        <a:srgbClr val="1B2A30"/>
      </a:dk1>
      <a:lt1>
        <a:srgbClr val="FFFFFF"/>
      </a:lt1>
      <a:dk2>
        <a:srgbClr val="0B3C49"/>
      </a:dk2>
      <a:lt2>
        <a:srgbClr val="F1F8F8"/>
      </a:lt2>
      <a:accent1>
        <a:srgbClr val="0E7C86"/>
      </a:accent1>
      <a:accent2>
        <a:srgbClr val="E4572E"/>
      </a:accent2>
      <a:accent3>
        <a:srgbClr val="2E8B57"/>
      </a:accent3>
      <a:accent4>
        <a:srgbClr val="C0392B"/>
      </a:accent4>
      <a:accent5>
        <a:srgbClr val="5B6B72"/>
      </a:accent5>
      <a:accent6>
        <a:srgbClr val="FF8A5B"/>
      </a:accent6>
      <a:hlink>
        <a:srgbClr val="0E7C86"/>
      </a:hlink>
      <a:folHlink>
        <a:srgbClr val="5B6B72"/>
      </a:folHlink>
    </a:clrScheme>
    <a:fontScheme name="BEE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BEEE — Unit 5: Op-Amp Basics, Inverting, Non-Inverting and Summing Amplifiers</dc:title>
  <dc:subject>PptxGenJS Presentation</dc:subject>
  <dc:creator>Prof. Mitesh Astik</dc:creator>
  <cp:lastModifiedBy>Prof. Mitesh Astik</cp:lastModifiedBy>
  <cp:revision>1</cp:revision>
  <dcterms:created xsi:type="dcterms:W3CDTF">2026-10-28T16:42:39Z</dcterms:created>
  <dcterms:modified xsi:type="dcterms:W3CDTF">2026-10-28T16:42:39Z</dcterms:modified>
</cp:coreProperties>
</file>