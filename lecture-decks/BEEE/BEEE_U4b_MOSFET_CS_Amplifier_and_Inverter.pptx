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n-channel enhancement MOSFET, characteristics, common-source amplifier, DC load line, MOS inverter. It belongs to Unit 4: Transistors.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CO4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last lecture we saw that the BJT is controlled by the base current. The MOSFET is controlled by a voltage at the gate, with practically no gate current. The load-line method that we learned for the BJT works in the same way here. We simply replace the collector quantities by the drain quantities.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 integrated circuit uses MOSFETs. Because the gate is insulated by an oxide layer, the input resistance is extremely high and the device takes almost no input power. They are small and easy to fabricate in large numbers. In this lecture we learn the n-channel enhancement MOSFET and two key circuits, the common-source amplifier and the inverter.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n-channel MOSFET is built on a p-type substrate in which two heavily doped n regions form the source and drain. Between them, a thin insulating layer of silicon dioxide separates the metal gate from the substrate. Since the gate is insulated, no current flows into it. In the enhancement type there is no channel between source and drain until a gate voltage is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zero gate voltage the two n regions are separated by the p region, so no current flows. When the gate voltage exceeds the threshold voltage, the positive field attracts electrons to the surface and forms an n-type channel linking source and drain. For small drain voltage the channel behaves as a resistor. At larger drain voltage the channel narrows near the drain and the current levels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curve is for a fixed gate voltage. In the triode region the current increases roughly linearly at first, then the curve bends. At the boundary VDS equals VGS minus Vt the current reaches its saturation value. The saturation current grows with the square of VGS minus Vt, so the spacing of the curves increases. The MOSFET is OFF when VGS is below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saturation the drain current is half kn times the square of the gate overdrive voltage. The parameter kn depends on the width to length ratio of the channel, which the designer chooses, and on process constants. The transfer curve starts at the threshold voltage and rises as a parabola. In the triode region the current also depends on the drain voltage.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Kirchhoff's voltage law around the drain circuit to get the load line. Its end points are the cut-off point at VDS equal to VDD, and the point where the drain current is VDD over RD. The intersection with the curve for the chosen gate voltage is the quiescent point. For an amplifier we place Q in the middle of the saturation region so the signal swing is symmetric.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common-source amplifier the input goes to the gate and the output is taken from the drain; the source is grounded. The DC bias voltage places the Q-point in saturation, and the small input signal changes the gate voltage a little. The drain current follows and the voltage drop across RD changes, so the drain voltage moves in the opposite direction. The output is an amplified, inverted copy of the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transconductance is the slope of the transfer curve at the Q-point. A small gate voltage change gives a drain current change equal to gm times that voltage. The drain current change flowing through RD produces the output voltage change, so the voltage gain is minus gm times RD. The negative sign means that the output is inverted.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simplest inverter is an NMOS transistor with a load resistor. When the input is low the transistor is off, no current flows, so the output is pulled up to VDD. When the input is high the transistor conducts and pulls the output close to ground. So the circuit inverts logic levels. Modern chips use CMOS, where a pMOS transistor replaces the resistor and no static current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saturation and apply the square-law formula to find the drain current. Then use the drain loop equation to get VDS. Finally verify that the assumption was right: VDS is greater than the overdrive voltage. If it were not, we would have to redo the calculation with the triode equation. The gain is minus gm times RD, so the stage amplifies four times and inverts.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zero input the MOSFET is off and the output rises to VDD. For a high input assume triode operation and write the drain current in terms of the output voltage. Equating it with the current through the load resistor gives a quadratic equation, of which only the small root is valid. The output is about 0.12 volts, a clean logic zero, and the triode assumption is confirmed because 0.12 is much less than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MOSFET circuits.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MOSFET circuits are within reach. Next lecture: operational amplifiers and linear ICs.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MOSFET circuits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MOSFET circuits.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Basic Electrical and Electronics Engineering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0B3C49"/>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Basic Electrical and Electronics Engineering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MOSFET, CS Amplifier and MOS Inverter</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Basic Electrical and Electronics Engineering</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4: Transistors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n-channel enhancement MOSFET, characteristics, common-source amplifier, DC load line, MOS inverter</a:t>
            </a:r>
            <a:endParaRPr lang="en-US" sz="1500" dirty="0"/>
          </a:p>
          <a:p>
            <a:pPr indent="0" marL="0">
              <a:spcAft>
                <a:spcPts val="800"/>
              </a:spcAft>
              <a:buNone/>
            </a:pPr>
            <a:r>
              <a:rPr lang="en-US" sz="1500" b="1" dirty="0">
                <a:solidFill>
                  <a:srgbClr val="FF8A5B"/>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Describe the structure and working of an n-channel enhancement MOSFET.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Read the output and transfer characteristics.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Find the Q-point using the DC load line.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Explain the common-source amplifier and MOS inverter.</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Linked to CO4</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Describe the construction and operation of FET to operate as a switch.</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BJT: current-controlled (IB controls IC).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Load line: VCC = IC·RC + VCE.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Q-point sets the DC bias.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Switch: cut-off and saturation.</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MOSFET: voltage-controlled (VGS controls ID);  load line: VDD = ID·RD + VDS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Motivation: The Transistor of Modern Electronics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Billions in a processor or phone.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Very high input resistance; low power.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Small, easy to integrate.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Basic building block of logic gates.</a:t>
            </a:r>
            <a:endParaRPr lang="en-US" sz="1400" dirty="0"/>
          </a:p>
        </p:txBody>
      </p:sp>
      <p:pic>
        <p:nvPicPr>
          <p:cNvPr id="4" name="Diagram" descr="Motivation: The Transistor of Modern Electronic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MOSFET dominates ICs: amplifiers, memories, processors, power switches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Structure of the n-Channel Enhancement MOSFET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p-type substrate (body).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Two n+ regions: source and drain.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Thin SiO₂ insulating layer over the channel region.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Metal gate on the oxide.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No channel exists at VGS = 0.</a:t>
            </a:r>
            <a:endParaRPr lang="en-US" sz="1400" dirty="0"/>
          </a:p>
        </p:txBody>
      </p:sp>
      <p:pic>
        <p:nvPicPr>
          <p:cNvPr id="4" name="Diagram" descr="Structure of the n-Channel Enhancement MOSFE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Terminals: Gate (G), Drain (D), Source (S), Body (B, tied to S);  L channel length, W width</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Working of the MOSFET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VGS &lt; Vt: no channel; ID ≈ 0 (OFF).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VGS &gt; Vt: positive gate attracts electrons: n-channel forms.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Small VDS: channel acts as a resistor (triode).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Large VDS: channel pinches off near the drain.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Beyond pinch-off ID is nearly constant (saturation).</a:t>
            </a:r>
            <a:endParaRPr lang="en-US" sz="1400" dirty="0"/>
          </a:p>
        </p:txBody>
      </p:sp>
      <p:pic>
        <p:nvPicPr>
          <p:cNvPr id="4" name="Diagram" descr="Working of the MOSFE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Channel induced when VGS &gt; Vt;  pinch-off when VDS = VGS − Vt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Output Characteristics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ID against VDS for fixed VGS values.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Triode region: ID rises with VDS (resistor-like).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Saturation: ID nearly flat; used for amplification.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Cut-off: VGS &lt; Vt, ID = 0.</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Boundary: VDS = VGS − Vt.</a:t>
            </a:r>
            <a:endParaRPr lang="en-US" sz="1400" dirty="0"/>
          </a:p>
        </p:txBody>
      </p:sp>
      <p:pic>
        <p:nvPicPr>
          <p:cNvPr id="4" name="Diagram" descr="Output Characteristic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Triode: VDS &lt; VGS − Vt;   saturation: VDS ≥ VGS − Vt;   cut-off: VGS &lt; Vt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Square-Law Equations and Transfer Curve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Saturation: ID depends only on VGS.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Square-law relation with threshold Vt.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kn depends on W/L and process.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Transfer curve: ID against VGS.</a:t>
            </a:r>
            <a:endParaRPr lang="en-US" sz="1400" dirty="0"/>
          </a:p>
        </p:txBody>
      </p:sp>
      <p:pic>
        <p:nvPicPr>
          <p:cNvPr id="4" name="Diagram" descr="Square-Law Equations and Transfer Curv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ID = ½·kn·(VGS − Vt)² (saturation);   kn = μn·Cox·W/L (mA/V²)</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Triode: ID = kn[(VGS − Vt)VDS − VDS²/2]</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DC Load Line and Q-Point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Drain circuit: VDD = ID·RD + VDS.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Load line joins (VDD, 0) and (0, VDD/RD).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Q-point: intersection with the VGS curve.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Amplifier: Q in the saturation region.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Switch: operate at the two ends.</a:t>
            </a:r>
            <a:endParaRPr lang="en-US" sz="1400" dirty="0"/>
          </a:p>
        </p:txBody>
      </p:sp>
      <p:pic>
        <p:nvPicPr>
          <p:cNvPr id="4" name="Diagram" descr="DC Load Line and Q-Poin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VDS = VDD − ID·RD;   example VDD = 12 V, RD = 1 kΩ, VGS = 3 V: Q = (8 V, 4 mA)</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Common-Source Amplifier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Source is the common terminal.</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DC bias VGG sets the Q-point.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Small input signal vi rides on VGG.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Drain voltage varies inversely: vo opposite to vi.</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Gain larger than 1, phase 180°.</a:t>
            </a:r>
            <a:endParaRPr lang="en-US" sz="1400" dirty="0"/>
          </a:p>
        </p:txBody>
      </p:sp>
      <p:pic>
        <p:nvPicPr>
          <p:cNvPr id="4" name="Diagram" descr="Common-Source Amplifi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Bias: ID = ½·kn(VGG − Vt)²;   VDS = VDD − ID·RD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Small-Signal Gain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Transconductance gm: change in ID per VGS.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change: −gm·vgs·RD.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Gain magnitude grows with RD and gm.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Input resistance is very high.</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is 180° out of phase.</a:t>
            </a:r>
            <a:endParaRPr lang="en-US" sz="1400" dirty="0"/>
          </a:p>
        </p:txBody>
      </p:sp>
      <p:pic>
        <p:nvPicPr>
          <p:cNvPr id="4" name="Diagram" descr="Small-Signal Gai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gm = kn(VGS − Vt) = 2·ID/(VGS − Vt);   Av = −gm·RD</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gm in mS (mA/V)</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MOS Inverter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NMOS with a drain resistor RD.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Vin low (&lt; Vt): MOSFET OFF → Vout = VDD (logic 1).</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Vin high: MOSFET ON, triode → Vout ≈ 0 (logic 0).</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is the logical NOT of the input.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CMOS version replaces RD by a pMOS: no static power.</a:t>
            </a:r>
            <a:endParaRPr lang="en-US" sz="1400" dirty="0"/>
          </a:p>
        </p:txBody>
      </p:sp>
      <p:pic>
        <p:nvPicPr>
          <p:cNvPr id="4" name="Diagram" descr="MOS Invert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Vin &lt; Vt: Vout = VDD;   Vin = VDD: Vout = VDD − ID·RD ≈ VOL</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1: Bias and Gain</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NMOS: Vt = 1 V, kn = 2 mA/V², VDD = 12 V, RD = 1 kΩ, VGS = 3 V. Find ID, VDS, region, gm and Av.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ID = ½ × 2 × (3 − 1)² = 4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VDS = 12 − 4 × 1 = 8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VDS (8 V) &gt; VGS − Vt (2 V): saturation, as assumed.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gm = kn(VGS − Vt) = 2 × 2 = 4 mS.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 Av = −gm·RD = −4.</a:t>
            </a:r>
            <a:endParaRPr lang="en-US" sz="1400" dirty="0"/>
          </a:p>
        </p:txBody>
      </p:sp>
      <p:pic>
        <p:nvPicPr>
          <p:cNvPr id="4" name="Diagram" descr="Solved Example 1: Bias and Gain">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ID = 4 mA, VDS = 8 V (saturation), gm = 4 mS, Av = −4</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2: MOS Inverter</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VDD = 5 V, RD = 10 kΩ, Vt = 1 V, kn = 1 mA/V². Find Vout for Vin = 0 V and for Vin = 5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Vin = 0 &lt; Vt: MOSFET off, Vout = 5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Vin = 5 V: assume triode: ID = 1·(4Vo − Vo²/2)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Vo = 5 − 10·ID → 5Vo² − 41Vo + 5 = 0.</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Vo = (41 − √1581)/10 = 0.124 V (&lt; 4 V: triode ✓).</a:t>
            </a:r>
            <a:endParaRPr lang="en-US" sz="1400" dirty="0"/>
          </a:p>
        </p:txBody>
      </p:sp>
      <p:pic>
        <p:nvPicPr>
          <p:cNvPr id="4" name="Diagram" descr="Solved Example 2: MOS Inverter">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Vout = 5 V for Vin = 0;  Vout ≈ 0.12 V for Vin = 5 V</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1F8F8"/>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the saturation formula in the triode region.</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Forgetting to check VDS ≥ VGS − Vt.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VGS &lt; Vt and expecting current.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Treating the gate as drawing current.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Forgetting the minus sign in Av.</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1F8F8"/>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State the assumed region, then check it.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ID = ½ kn (VGS − Vt)² only in saturation.</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Use ID = VDD-based load line for Q.</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Av = −gm·RD (inverting).</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Enhancement MOSFET: channel induced when VGS &gt; Vt.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Regions: cut-off, triode, saturation.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Saturation: ID = ½·kn·(VGS − Vt)².</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CS amplifier: Av = −gm·RD (inverting).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MOS inverter: Vin low → Vout high, Vin high → Vout low.</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gm = kn(VGS − Vt);   Av = −gm·RD;   VDS = VDD − ID·RD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1F8F8"/>
          </a:solidFill>
          <a:ln w="9525">
            <a:solidFill>
              <a:srgbClr val="DDF0F0"/>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Q1. An n-channel enhancement MOSFET is OFF when:</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VGS &gt; Vt  (b) VGS &lt; Vt  (c) VDS &gt; 0  (d) VDS = 0</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DDF0F0"/>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Q2. Saturation ID for kn = 2 mA/V², VGS − Vt = 2 V:</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2 mA  (b) 4 mA  (c) 8 mA  (d) 1 mA</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1F8F8"/>
          </a:solidFill>
          <a:ln w="9525">
            <a:solidFill>
              <a:srgbClr val="DDF0F0"/>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Q3. The common-source amplifier output is: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in phase  (b) 180° out of phase  (c) 90° shifted  (d) zero</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DDF0F0"/>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Q4. gm for kn = 2 mA/V², overdrive 2 V:</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1 mS  (b) 2 mS  (c) 4 mS  (d) 8 mS</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9" name="Q5 row"/>
          <p:cNvSpPr/>
          <p:nvPr/>
        </p:nvSpPr>
        <p:spPr>
          <a:xfrm>
            <a:off x="457200" y="4023360"/>
            <a:ext cx="8229600" cy="658368"/>
          </a:xfrm>
          <a:prstGeom prst="roundRect">
            <a:avLst>
              <a:gd name="adj" fmla="val 11111"/>
            </a:avLst>
          </a:prstGeom>
          <a:solidFill>
            <a:srgbClr val="F1F8F8"/>
          </a:solidFill>
          <a:ln w="9525">
            <a:solidFill>
              <a:srgbClr val="DDF0F0"/>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Q5. In an NMOS inverter, Vin = low gives: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Vout low  (b) Vout high  (c) Vout = 0 always  (d) undefined</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0B3C49"/>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Boylestad Robert L. and Nashelsky Louis, Electronic Devices and Circuit Theory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11th Ed., PHI, 2016 (Units 3, 4, 5 textbook)</a:t>
            </a:r>
            <a:endParaRPr lang="en-US" sz="1400" dirty="0"/>
          </a:p>
        </p:txBody>
      </p:sp>
      <p:sp>
        <p:nvSpPr>
          <p:cNvPr id="6" name="Ref 2 badge"/>
          <p:cNvSpPr/>
          <p:nvPr/>
        </p:nvSpPr>
        <p:spPr>
          <a:xfrm>
            <a:off x="457200" y="1801368"/>
            <a:ext cx="420624" cy="420624"/>
          </a:xfrm>
          <a:prstGeom prst="ellipse">
            <a:avLst/>
          </a:prstGeom>
          <a:solidFill>
            <a:srgbClr val="0B3C49"/>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 Cotton,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7th Ed., CBS Publishers, 2005 (reference)</a:t>
            </a:r>
            <a:endParaRPr lang="en-US" sz="1400" dirty="0"/>
          </a:p>
        </p:txBody>
      </p:sp>
      <p:sp>
        <p:nvSpPr>
          <p:cNvPr id="9" name="Key strip"/>
          <p:cNvSpPr/>
          <p:nvPr/>
        </p:nvSpPr>
        <p:spPr>
          <a:xfrm>
            <a:off x="457200" y="4343400"/>
            <a:ext cx="8229600" cy="411480"/>
          </a:xfrm>
          <a:prstGeom prst="roundRect">
            <a:avLst>
              <a:gd name="adj" fmla="val 17778"/>
            </a:avLst>
          </a:prstGeom>
          <a:solidFill>
            <a:srgbClr val="DDF0F0"/>
          </a:solidFill>
          <a:ln/>
        </p:spPr>
      </p:sp>
      <p:sp>
        <p:nvSpPr>
          <p:cNvPr id="10"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Next lecture: Unit 5: operational amplifiers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1B2A30"/>
      </a:dk1>
      <a:lt1>
        <a:srgbClr val="FFFFFF"/>
      </a:lt1>
      <a:dk2>
        <a:srgbClr val="0B3C49"/>
      </a:dk2>
      <a:lt2>
        <a:srgbClr val="F1F8F8"/>
      </a:lt2>
      <a:accent1>
        <a:srgbClr val="0E7C86"/>
      </a:accent1>
      <a:accent2>
        <a:srgbClr val="E4572E"/>
      </a:accent2>
      <a:accent3>
        <a:srgbClr val="2E8B57"/>
      </a:accent3>
      <a:accent4>
        <a:srgbClr val="C0392B"/>
      </a:accent4>
      <a:accent5>
        <a:srgbClr val="5B6B72"/>
      </a:accent5>
      <a:accent6>
        <a:srgbClr val="FF8A5B"/>
      </a:accent6>
      <a:hlink>
        <a:srgbClr val="0E7C86"/>
      </a:hlink>
      <a:folHlink>
        <a:srgbClr val="5B6B72"/>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 — Unit 4: MOSFET, Common-Source Amplifier and MOS Inverter</dc:title>
  <dc:subject>PptxGenJS Presentation</dc:subject>
  <dc:creator>Prof. Mitesh Astik</dc:creator>
  <cp:lastModifiedBy>Prof. Mitesh Astik</cp:lastModifiedBy>
  <cp:revision>1</cp:revision>
  <dcterms:created xsi:type="dcterms:W3CDTF">2026-10-28T16:42:37Z</dcterms:created>
  <dcterms:modified xsi:type="dcterms:W3CDTF">2026-10-28T16:42:37Z</dcterms:modified>
</cp:coreProperties>
</file>