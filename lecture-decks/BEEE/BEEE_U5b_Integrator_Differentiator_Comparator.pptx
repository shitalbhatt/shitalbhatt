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Op-amp integrator, differentiator and comparator. It belongs to Unit 5: Op-Amp and Linear IC Applications.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CO5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for an ideal op-amp with negative feedback, namely the virtual short and zero input current, still apply. The inverting amplifier formula holds with impedances in place of resistances. If we replace one resistor by a capacitor, the circuit performs calculus. Recall that the current through a capacitor is C times the derivative of its voltage.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op-amp with a capacitor can integrate or differentiate a signal. These circuits were used in analog computers and are still used in controllers, wave shapers and data converters. The comparator on the other hand converts an analog signal into a digital decision. Together they form the basis for oscillators and analog-to-digital converters.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 current is Vin divided by R because the inverting input is at virtual ground. All of it flows into the feedback capacitor, so the voltage on the capacitor is the time integral of the current divided by C. The output equals minus that voltage. For a constant input the output is therefore a ramp, whose slope is minus Vin over 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constant input produces a straight-line output, and a square wave therefore gives a triangular wave. The slope of each segment is minus the input amplitude over RC. A practical integrator has a problem with small DC offsets, which are integrated until the output saturates. A resistor across the capacitor limits the DC gain and avoids this drift, at the cost of a lower accuracy at very low frequencies.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differentiator the positions of R and C are swapped. The current through the input capacitor is C times the rate of change of the input voltage, and since there is virtual ground the same current flows through the feedback resistor. The output is therefore minus RC times the derivative of the input. A rising input produces a negative output and a falling input produces a positive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Differentiating a triangular wave gives a square wave, because the slope is constant on each segment. For a sine input the output amplitude is RC omega times the input amplitude, so high frequencies are amplified more, including noise. To make the circuit practical we add a small resistor in series with the input capacitor and a small capacitor across the feedback resistor to limit the high-frequency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comparator there is no feedback, so the huge open-loop gain drives the output to a saturation level for even a tiny difference between inputs. If the signal is at the non-inverting input and the reference at the inverting input, the output is high when the signal exceeds the reference and low otherwise. With zero reference the circuit detects zero crossings and converts a sine wave to a square wave.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voltage other than zero shifts the switching instants. The output goes high when the sine passes the reference on the rising side and low when it falls below. The width of the output pulse therefore depends on the reference level, which is the basis of pulse-width control. In noisy environments a Schmitt trigger, which uses positive feedback to create two thresholds, avoids false switching.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compute the time constant, 1 millisecond. For a constant input of 2 volts the output slope is minus two volts per millisecond. Since each half-period lasts one millisecond, the output changes by two volts, giving a triangular wave of two volts peak to peak centred on zero. Check that this does not exceed the saturation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Differentiate the sine to get omega times cosine and multiply by minus RC. The output amplitude is 3.14 volts, more than three times the input, because the frequency is high enough that omega times RC is about three. At lower frequencies the gain would be smaller. The output is a cosine, so it is shifted by 90 degrees, and inverted.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switches at the points where the input equals the reference. For a 5 volt sine and a 2 volt reference, the sine of the switching angle is 0.4, which is 23.6 degrees. By symmetry the falling crossing is at 156.4 degrees. The output is high between those two angles, so the positive pulse is about 133 degrees long in each cycle, a duty cycle of 36.9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op-amp applications.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op-amp applications are within reach. Next lecture: 555 timer and 78xx voltage regulators.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op-amp applications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op-amp applications.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Basic Electrical and Electronics Engineering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0B3C49"/>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Basic Electrical and Electronics Engineering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Integrator, Differentiator and Comparator</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Basic Electrical and Electronics Engineering</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5: Op-Amp and Linear IC Applications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Op-amp integrator, differentiator and comparator</a:t>
            </a:r>
            <a:endParaRPr lang="en-US" sz="1500" dirty="0"/>
          </a:p>
          <a:p>
            <a:pPr indent="0" marL="0">
              <a:spcAft>
                <a:spcPts val="800"/>
              </a:spcAft>
              <a:buNone/>
            </a:pPr>
            <a:r>
              <a:rPr lang="en-US" sz="1500" b="1" dirty="0">
                <a:solidFill>
                  <a:srgbClr val="FF8A5B"/>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Derive the output of the integrator and differentiator.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Predict output waveforms for square and sine inputs.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Explain the comparator and level detection.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Calculate output voltages and timing.</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Linked to CO5</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Describe the working principles of op-amp and signal-processing circuits.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Virtual ground at the inverting input.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No current enters the op-amp.</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Capacitor: i = C·dv/dt;  v = (1/C)∫i dt.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Inverting amplifier: Vo = −(Zf/Z1)·Vin.</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Generalised inverting amplifier:  Vo = −(Zf/Z1)·Vin;   capacitor impedance 1/(sC)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Motivation: Calculus with Circuits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Analog computers solve differential equations.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Integrators in ADCs and PID controllers.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Differentiators detect edges and rate of change.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Comparators turn analog levels into logic.</a:t>
            </a:r>
            <a:endParaRPr lang="en-US" sz="1400" dirty="0"/>
          </a:p>
        </p:txBody>
      </p:sp>
      <p:pic>
        <p:nvPicPr>
          <p:cNvPr id="4" name="Diagram" descr="Motivation: Calculus with Circuit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Three basic functions: ∫, d/dt and decision (comparison)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Op-Amp Integrator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Resistor R at the input; capacitor C in feedback.</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Input current Vin/R charges the capacitor.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Capacitor voltage is the integral of that current.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is minus the integral of the input.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Gain falls with frequency: low-pass.</a:t>
            </a:r>
            <a:endParaRPr lang="en-US" sz="1400" dirty="0"/>
          </a:p>
        </p:txBody>
      </p:sp>
      <p:pic>
        <p:nvPicPr>
          <p:cNvPr id="4" name="Diagram" descr="Op-Amp Integra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Vo(t) = −(1/RC)·∫Vin dt + Vo(0);   RC time constant (s)</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In s-domain: Vo/Vin = −1/(sRC)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Integrator: Waveforms and Limitations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DC input → linear ramp.</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Square-wave input → triangular output.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Sine input → cosine (90° shifted).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Offset causes drift until saturation.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Fix: resistor Rf across C limits DC gain.</a:t>
            </a:r>
            <a:endParaRPr lang="en-US" sz="1400" dirty="0"/>
          </a:p>
        </p:txBody>
      </p:sp>
      <p:pic>
        <p:nvPicPr>
          <p:cNvPr id="4" name="Diagram" descr="Integrator: Waveforms and Limitation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Square ±V, half-period T/2: output swing = V·T/(2RC) (peak-to-peak)</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Practical integrator: Rf ≈ 10 R in parallel with 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Op-Amp Differentiator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Capacitor C at the input; resistor R in feedback.</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Capacitor current = C·dVin/dt.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That current flows through 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is minus RC times the rate of change.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Gain rises with frequency: high-pass.</a:t>
            </a:r>
            <a:endParaRPr lang="en-US" sz="1400" dirty="0"/>
          </a:p>
        </p:txBody>
      </p:sp>
      <p:pic>
        <p:nvPicPr>
          <p:cNvPr id="4" name="Diagram" descr="Op-Amp Differentia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Vo(t) = −R·C·dVin/dt;   in s-domain: Vo/Vin = −sRC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Differentiator: Waveforms and Limitations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Triangular input → square output.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Sine input → cosine output (amplitude × RCω).</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Amplifies high-frequency noise strongly.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Can become unstable.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Practical: series Rs with C and Cf across R.</a:t>
            </a:r>
            <a:endParaRPr lang="en-US" sz="1400" dirty="0"/>
          </a:p>
        </p:txBody>
      </p:sp>
      <p:pic>
        <p:nvPicPr>
          <p:cNvPr id="4" name="Diagram" descr="Differentiator: Waveforms and Limitation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Vin = Vm sin ωt  →  Vo = −RC·ωVm cos ωt</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Practical differentiator: add Rs (series with C) and Cf (across Rf)</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Op-Amp Comparator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Op-amp used without feedback (open loop).</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Compares Vin with a reference Vref.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Vin &gt; Vref: output +Vsat.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Vin &lt; Vref: output −Vsat.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Zero-crossing detector: Vref = 0.</a:t>
            </a:r>
            <a:endParaRPr lang="en-US" sz="1400" dirty="0"/>
          </a:p>
        </p:txBody>
      </p:sp>
      <p:pic>
        <p:nvPicPr>
          <p:cNvPr id="4" name="Diagram" descr="Op-Amp Compara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Vo = +Vsat if V+ &gt; V−;   Vo = −Vsat if V+ &lt; V−;   Vsat ≈ VCC − 1.5 V</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Level Detector and Hysteresis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Non-zero Vref sets the trigger level.</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is high only while Vin &gt; Vref.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Pulse width depends on Vref.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Noise near the threshold causes chatter.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Positive feedback (Schmitt trigger) adds hysteresis.</a:t>
            </a:r>
            <a:endParaRPr lang="en-US" sz="1400" dirty="0"/>
          </a:p>
        </p:txBody>
      </p:sp>
      <p:pic>
        <p:nvPicPr>
          <p:cNvPr id="4" name="Diagram" descr="Level Detector and Hysteresi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Switching angle: θ = sin⁻¹(Vref/Vm);   high for 180° − 2θ each cycle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1: Integrator</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 = 10 kΩ, C = 0.1 µF. Input: ±2 V square wave, frequency 500 Hz (half-period 1 ms). Find the output.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RC = 10 kΩ × 0.1 µF = 1 ms.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Slope = −Vin/RC = −2 V/1 ms = −2 V/ms (for +2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In 1 ms the output falls by 2 V; with −2 V it rises by 2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Output: triangular wave, 2 V peak-to-peak.</a:t>
            </a:r>
            <a:endParaRPr lang="en-US" sz="1400" dirty="0"/>
          </a:p>
        </p:txBody>
      </p:sp>
      <p:pic>
        <p:nvPicPr>
          <p:cNvPr id="4" name="Diagram" descr="Solved Example 1: Integrator">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triangular output, slope ∓2 V/ms, 2 V peak-to-peak (±1 V)</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2: Differentiator</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 = 10 kΩ, C = 0.1 µF, Vin = 1·sin(2π × 500t) V. Find Vo.</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RC = 1 ms; ω = 2π × 500 = 3142 rad/s.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dVin/dt = 1 × ω·cos ωt = 3142 cos ωt V/s.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Vo = −RC·dVin/dt = −10⁻³ × 3142 cos ωt.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Vo = −3.14 cos(2π × 500t) V.</a:t>
            </a:r>
            <a:endParaRPr lang="en-US" sz="1400" dirty="0"/>
          </a:p>
        </p:txBody>
      </p:sp>
      <p:pic>
        <p:nvPicPr>
          <p:cNvPr id="4" name="Diagram" descr="Solved Example 2: Differentiator">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Vo = −3.14 cos ωt V (amplitude 3.14 V, 90° shifted, inverted)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3: Level Detector</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Vin = 5 sin ωt at the (+) input, Vref = +2 V at the (−) input, Vsat = ±13 V. Find the switching angles and the duty cycle.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Output high when 5 sin ωt &gt; 2.</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sin θ = 2/5 = 0.4 → θ1 = 23.6°.</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θ2 = 180° − 23.6° = 156.4°.</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High for 156.4° − 23.6° = 132.8° per cycle.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 Duty = 132.8/360 = 36.9 %.</a:t>
            </a:r>
            <a:endParaRPr lang="en-US" sz="1400" dirty="0"/>
          </a:p>
        </p:txBody>
      </p:sp>
      <p:pic>
        <p:nvPicPr>
          <p:cNvPr id="4" name="Diagram" descr="Solved Example 3: Level Detector">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Vo = +13 V for 23.6° &lt; ωt &lt; 156.4°, else −13 V; duty 36.9 %</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1F8F8"/>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Forgetting the minus sign in the integrator and differentiator.</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RC in the wrong units (µF, kΩ).</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Expecting a stable differentiator at high frequency.</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Ignoring op-amp saturation in the integrator.</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feedback in a comparator.</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1F8F8"/>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Vo = −(1/RC)∫Vin dt;  Vo = −RC·dVin/dt.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Write RC in seconds first.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Check that |Vo| &lt; Vsat.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Comparator: no feedback; output ±Vsat.</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Integrator: Vo = −(1/RC)∫Vin dt (low-pass).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Differentiator: Vo = −RC dVin/dt (high-pass).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Square → triangle (integrator); triangle → square (differentiator).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Comparator: Vo = ±Vsat depending on Vin ≷ Vref.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Practical versions need Rf / Rs and Cf.</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 slope = −Vin/RC;   d/dt: amplitude = RC·ω·Vm</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1F8F8"/>
          </a:solidFill>
          <a:ln w="9525">
            <a:solidFill>
              <a:srgbClr val="DDF0F0"/>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Q1. Integrator with square-wave input gives: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square  (b) triangular  (c) sine  (d) DC</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DDF0F0"/>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Q2. In a differentiator the capacitor is: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in feedback  (b) at the input  (c) to ground  (d) absent</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1F8F8"/>
          </a:solidFill>
          <a:ln w="9525">
            <a:solidFill>
              <a:srgbClr val="DDF0F0"/>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Q3. RC = 1 ms, Vin = 5 V DC: integrator slope =</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−5 V/ms  (b) +5 V/ms  (c) −5 mV/ms  (d) 0</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DDF0F0"/>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Q4. A comparator with Vin &gt; Vref (Vin at +) gives: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0 V  (b) −Vsat  (c) +Vsat  (d) Vref</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9" name="Q5 row"/>
          <p:cNvSpPr/>
          <p:nvPr/>
        </p:nvSpPr>
        <p:spPr>
          <a:xfrm>
            <a:off x="457200" y="4023360"/>
            <a:ext cx="8229600" cy="658368"/>
          </a:xfrm>
          <a:prstGeom prst="roundRect">
            <a:avLst>
              <a:gd name="adj" fmla="val 11111"/>
            </a:avLst>
          </a:prstGeom>
          <a:solidFill>
            <a:srgbClr val="F1F8F8"/>
          </a:solidFill>
          <a:ln w="9525">
            <a:solidFill>
              <a:srgbClr val="DDF0F0"/>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Q5. Differentiator output for sin input is: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sine  (b) cosine  (c) DC  (d) triangular</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0B3C49"/>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Boylestad Robert L. and Nashelsky Louis, Electronic Devices and Circuit Theory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11th Ed., PHI, 2016 (Units 3, 4, 5 textbook)</a:t>
            </a:r>
            <a:endParaRPr lang="en-US" sz="1400" dirty="0"/>
          </a:p>
        </p:txBody>
      </p:sp>
      <p:sp>
        <p:nvSpPr>
          <p:cNvPr id="6" name="Ref 2 badge"/>
          <p:cNvSpPr/>
          <p:nvPr/>
        </p:nvSpPr>
        <p:spPr>
          <a:xfrm>
            <a:off x="457200" y="1801368"/>
            <a:ext cx="420624" cy="420624"/>
          </a:xfrm>
          <a:prstGeom prst="ellipse">
            <a:avLst/>
          </a:prstGeom>
          <a:solidFill>
            <a:srgbClr val="0B3C49"/>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David A. Bell, Operational Amplifier and Linear ICs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3rd Ed., Oxford University Press, 2011 (reference, Unit 5)</a:t>
            </a:r>
            <a:endParaRPr lang="en-US" sz="1400" dirty="0"/>
          </a:p>
        </p:txBody>
      </p:sp>
      <p:sp>
        <p:nvSpPr>
          <p:cNvPr id="9" name="Key strip"/>
          <p:cNvSpPr/>
          <p:nvPr/>
        </p:nvSpPr>
        <p:spPr>
          <a:xfrm>
            <a:off x="457200" y="4343400"/>
            <a:ext cx="8229600" cy="411480"/>
          </a:xfrm>
          <a:prstGeom prst="roundRect">
            <a:avLst>
              <a:gd name="adj" fmla="val 17778"/>
            </a:avLst>
          </a:prstGeom>
          <a:solidFill>
            <a:srgbClr val="DDF0F0"/>
          </a:solidFill>
          <a:ln/>
        </p:spPr>
      </p:sp>
      <p:sp>
        <p:nvSpPr>
          <p:cNvPr id="10"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Next lecture: 555 timer and 78xx voltage regulators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1B2A30"/>
      </a:dk1>
      <a:lt1>
        <a:srgbClr val="FFFFFF"/>
      </a:lt1>
      <a:dk2>
        <a:srgbClr val="0B3C49"/>
      </a:dk2>
      <a:lt2>
        <a:srgbClr val="F1F8F8"/>
      </a:lt2>
      <a:accent1>
        <a:srgbClr val="0E7C86"/>
      </a:accent1>
      <a:accent2>
        <a:srgbClr val="E4572E"/>
      </a:accent2>
      <a:accent3>
        <a:srgbClr val="2E8B57"/>
      </a:accent3>
      <a:accent4>
        <a:srgbClr val="C0392B"/>
      </a:accent4>
      <a:accent5>
        <a:srgbClr val="5B6B72"/>
      </a:accent5>
      <a:accent6>
        <a:srgbClr val="FF8A5B"/>
      </a:accent6>
      <a:hlink>
        <a:srgbClr val="0E7C86"/>
      </a:hlink>
      <a:folHlink>
        <a:srgbClr val="5B6B72"/>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 — Unit 5: Integrator, Differentiator and Comparator</dc:title>
  <dc:subject>PptxGenJS Presentation</dc:subject>
  <dc:creator>Prof. Mitesh Astik</dc:creator>
  <cp:lastModifiedBy>Prof. Mitesh Astik</cp:lastModifiedBy>
  <cp:revision>1</cp:revision>
  <dcterms:created xsi:type="dcterms:W3CDTF">2026-10-28T16:42:40Z</dcterms:created>
  <dcterms:modified xsi:type="dcterms:W3CDTF">2026-10-28T16:42:40Z</dcterms:modified>
</cp:coreProperties>
</file>