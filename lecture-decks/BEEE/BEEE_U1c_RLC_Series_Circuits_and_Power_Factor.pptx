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R, L, C, RL, RC, RLC series circuits; real, reactive, apparent power; power factor. It belongs to Unit 1: Circuit Fundamentals.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CO1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previous lecture we represented sinusoids as phasors. The symbol j rotates a phasor by ninety degrees, which is what makes inductors and capacitors easy to handle. Today we apply that idea to series circuits, where the same current flows through every element.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factory with many induction motors draws more current than needed for its useful power. That extra current is reactive current. It increases cable loss and may force the supply company to install bigger equipment, so low power factor attracts a penalty on the electricity bill. To understand why, we need the phase relationships of R, L and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resistor the instantaneous current is simply the voltage divided by R. They rise and fall together, so the phase angle is zero. The power is always positive and is dissipated as heat. A resistor is the only one of the three elements that consumes real power on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voltage across an inductor is L times the rate of change of current. When the current is increasing fastest the voltage is highest, so the current peak comes a quarter cycle later: the current lags by ninety degrees. Reactance grows with frequency, so an inductor passes low frequencies easily. It stores energy in the magnetic field and returns it, so the average power is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capacitor the current is proportional to the rate of change of voltage, so the current peaks a quarter cycle before the voltage. Capacitive reactance falls as frequency rises, the opposite of the inductor. Like an inductor, an ideal capacitor stores and returns energy, so no real power is consumed. A useful memory aid is CIVIL: in a capacitor I leads V, in an inductor V leads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current as the reference phasor. The resistor voltage is in phase with it and the inductor voltage leads it by ninety degrees, so the supply voltage is their phasor sum. Dividing by the current gives the impedance triangle with R on the base and X L as the height. The phase angle is the arctangent of X L over R, and the current lags the supply.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capacitor voltage lags the current by ninety degrees, so the reactance is drawn downward in the impedance triangle. The total current leads the supply voltage by the angle phi. Series RC networks are common in filters and timing circuits. You will see the same RC network again when we meet the 555 timer.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RLC circuit the inductor and capacitor voltages are opposite in direction, so their reactances subtract. If the inductive reactance is larger the circuit behaves like an RL circuit, otherwise like an RC circuit. When the two are equal the reactive parts cancel, the impedance is just R and the current is maximum. That is series resonance at f naught equal to one over two pi root L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Multiplying the impedance triangle by the square of the current gives the power triangle. The base is the real power in watts that does useful work. The vertical side is the reactive power in var that merely oscillates between the source and the field. The hypotenuse is the apparent power in volt-amperes, which determines the size of the cables and transformers.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factor is the cosine of the phase angle, or the ratio of real to apparent power. For the same real power the current is inversely proportional to the power factor, so half the power factor doubles the current and quadruples the I squared R loss in the lines. A capacitor connected across the inductive load supplies the reactive power locally, which raises the power factor.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 the reactance first and then the impedance magnitude using the three-four-five triangle with a multiplier of ten. The current is the supply voltage over the impedance. Power factor is R over Z, 0.6. Compute P, Q and S, and verify that S squared equals P squared plus Q squared: about 1058 squared against 635 squared plus 846 squared.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inductive reactance exceeds the capacitive reactance, the circuit is inductive and the current lags. Notice that VL and VC are both larger than the supply voltage, since they are almost opposite in phase and cancel in the sum. The real power is only dissipated in the resistor. Resonance would occur at 39.8 hertz, below the supply frequency.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series AC circuits.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AC series circuits are within reach. Next lecture: transformers.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series AC circuits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series AC circuits.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49"/>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Basic Electrical and Electronics Engineering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0B3C49"/>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Basic Electrical and Electronics Engineering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R, L, C Series Circuits and Power</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Basic Electrical and Electronics Engineering</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1: Circuit Fundamentals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R, L, C, RL, RC, RLC series circuits; real, reactive, apparent power; power factor</a:t>
            </a:r>
            <a:endParaRPr lang="en-US" sz="1500" dirty="0"/>
          </a:p>
          <a:p>
            <a:pPr indent="0" marL="0">
              <a:spcAft>
                <a:spcPts val="800"/>
              </a:spcAft>
              <a:buNone/>
            </a:pPr>
            <a:r>
              <a:rPr lang="en-US" sz="1500" b="1" dirty="0">
                <a:solidFill>
                  <a:srgbClr val="FF8A5B"/>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Find current and phase angle in series R, L, C circuits.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Draw impedance triangles and phasor diagrams.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Calculate P, Q, S and power factor.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Explain why power factor matters.</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Linked to CO1</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Analyse DC and AC electrical circuits to determine circuit parameters.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Phasor V = V∠φ with RMS magnitude.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j rotates a phasor by +90°.</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Add phasors in rectangular form.</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ω = 2πf; 50 Hz mains.</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 = Vm/√2;   j = √−1 = 1∠90°</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Phasor: RMS length and phase angle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Motivation: Why Power Factor?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Motors and tube lights are inductive loads.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Reactive current heats lines but does no work.</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Utilities penalise low power factor.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Capacitors in the panel correct it.</a:t>
            </a:r>
            <a:endParaRPr lang="en-US" sz="1400" dirty="0"/>
          </a:p>
        </p:txBody>
      </p:sp>
      <p:pic>
        <p:nvPicPr>
          <p:cNvPr id="4" name="Diagram" descr="Motivation: Why Power Fac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For the same real power, lower pf means more current and bigger losses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Pure Resistor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 = Vm sin ωt gives i = (Vm/R) sin ωt.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Voltage and current are in phase.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Impedance equals R, independent of frequency.</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Average power P = VI = I²R.</a:t>
            </a:r>
            <a:endParaRPr lang="en-US" sz="1400" dirty="0"/>
          </a:p>
        </p:txBody>
      </p:sp>
      <p:pic>
        <p:nvPicPr>
          <p:cNvPr id="4" name="Diagram" descr="Pure Resis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 = I·R,   φ = 0°,   P = V·I = I²R</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Pure Inductor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 = L·di/dt, so current lags voltage.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Current lags by 90°.</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Inductive reactance XL = ωL = 2πfL.</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Average power is zero; energy is stored and returned.</a:t>
            </a:r>
            <a:endParaRPr lang="en-US" sz="1400" dirty="0"/>
          </a:p>
        </p:txBody>
      </p:sp>
      <p:pic>
        <p:nvPicPr>
          <p:cNvPr id="4" name="Diagram" descr="Pure Induc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XL = 2πfL (Ω);   I = V/XL;   φ = −90°</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L henry, f hertz</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Pure Capacitor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 = C·dv/dt, so current leads voltage.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Current leads by 90°.</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Capacitive reactance XC = 1/(2πfC).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Average power is zero.</a:t>
            </a:r>
            <a:endParaRPr lang="en-US" sz="1400" dirty="0"/>
          </a:p>
        </p:txBody>
      </p:sp>
      <p:pic>
        <p:nvPicPr>
          <p:cNvPr id="4" name="Diagram" descr="Pure Capaci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XC = 1/(2πfC) (Ω);   I = V/XC;   φ = +90°</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C farad, f hertz</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Series RL Circuit</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Same current flows through R and L.</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VR in phase with I; VL leads I by 90°.</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Impedance Z = R + jXL.</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Current lags the supply voltage by φ.</a:t>
            </a:r>
            <a:endParaRPr lang="en-US" sz="1400" dirty="0"/>
          </a:p>
        </p:txBody>
      </p:sp>
      <p:pic>
        <p:nvPicPr>
          <p:cNvPr id="4" name="Diagram" descr="Series RL Circuit">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|Z| = √(R² + XL²);   φ = tan⁻¹(XL/R);   I = V/|Z|</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V² = VR² + VL²</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Series RC Circuit</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VR in phase with I; VC lags I by 90°.</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Impedance Z = R − jXC.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Current leads the supply voltage by φ.</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Used in lag compensators and filters.</a:t>
            </a:r>
            <a:endParaRPr lang="en-US" sz="1400" dirty="0"/>
          </a:p>
        </p:txBody>
      </p:sp>
      <p:pic>
        <p:nvPicPr>
          <p:cNvPr id="4" name="Diagram" descr="Series RC Circuit">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|Z| = √(R² + XC²);   φ = tan⁻¹(XC/R);   I = V/|Z|</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Series RLC Circuit</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Z = R + j(XL − XC).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XL &gt; XC: inductive, current lags.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XL &lt; XC: capacitive, current leads.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XL = XC: resonance, Z = R, I maximum.</a:t>
            </a:r>
            <a:endParaRPr lang="en-US" sz="1400" dirty="0"/>
          </a:p>
        </p:txBody>
      </p:sp>
      <p:pic>
        <p:nvPicPr>
          <p:cNvPr id="4" name="Diagram" descr="Series RLC Circuit">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|Z| = √[R² + (XL − XC)²];   φ = tan⁻¹[(XL − XC)/R];   f₀ = 1/(2π√LC)</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Real, Reactive and Apparent Power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Real power P is dissipated in 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Reactive power Q is exchanged with L and 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Apparent power S = V·I is the rating of equipment.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Power triangle: P, Q, S.</a:t>
            </a:r>
            <a:endParaRPr lang="en-US" sz="1400" dirty="0"/>
          </a:p>
        </p:txBody>
      </p:sp>
      <p:pic>
        <p:nvPicPr>
          <p:cNvPr id="4" name="Diagram" descr="Real, Reactive and Apparent Powe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P = VI cos φ = I²R (W);   Q = VI sin φ = I²X (var);   S = VI (VA)</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S² = P² + Q²</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Power Factor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pf = cos φ = P/S.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Lagging for RL loads, leading for RC loads.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Low pf: more current for the same P.</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Correction: add a capacitor in parallel.</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Utility tariffs reward pf near 1.</a:t>
            </a:r>
            <a:endParaRPr lang="en-US" sz="1400" dirty="0"/>
          </a:p>
        </p:txBody>
      </p:sp>
      <p:pic>
        <p:nvPicPr>
          <p:cNvPr id="4" name="Diagram" descr="Power Facto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pf = cos φ = R/|Z|;   I = P/(V·pf)</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1: Series RL</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 = 30 Ω in series with L = 0.1273 H on 230 V, 50 Hz. Find Z, I, φ, pf, P, Q, 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XL = 2π·50·0.1273 = 40 Ω.</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Z = 30 + j40 → |Z| = 50 Ω.</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I = 230/50 = 4.6 A;  φ = tan⁻¹(40/30) = 53.1°.</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pf = cos 53.1° = 0.6 lagging.</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5. P = I²R = 634.8 W;  Q = I²XL = 846.4 var.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6. S = VI = 1058 VA.</a:t>
            </a:r>
            <a:endParaRPr lang="en-US" sz="1400" dirty="0"/>
          </a:p>
        </p:txBody>
      </p:sp>
      <p:pic>
        <p:nvPicPr>
          <p:cNvPr id="4" name="Diagram" descr="Solved Example 1: Series RL">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I = 4.6 A lagging by 53.1°, pf = 0.6, P = 635 W, Q = 846 var, S = 1058 VA</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2: Series RLC</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 = 20 Ω, L = 0.2 H, C = 80 µF on 230 V, 50 Hz. Find I, voltages, pf, P and f₀.</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XL = 2π·50·0.2 = 62.83 Ω;  XC = 1/(2π·50·80×10⁻⁶) = 39.79 Ω.</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Z = 20 + j23.04 → |Z| = 30.5 Ω;  I = 7.54 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φ = tan⁻¹(23.04/20) = 49.0°, pf = 0.656 lagging.</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VR = 150.8 V, VL = 473.6 V, VC = 299.9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5. P = I²R = 1137 W.</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6. f₀ = 1/(2π√LC) = 39.8 Hz.</a:t>
            </a:r>
            <a:endParaRPr lang="en-US" sz="1400" dirty="0"/>
          </a:p>
        </p:txBody>
      </p:sp>
      <p:pic>
        <p:nvPicPr>
          <p:cNvPr id="4" name="Diagram" descr="Solved Example 2: Series RLC">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I = 7.54 A, pf = 0.656 lag, P = 1137 W, f₀ = 39.8 Hz</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1F8F8"/>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Adding VR, VL and VC arithmetically.</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Using XC = 2πfC.</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Taking pf = sin φ.</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Forgetting lead or lag with pf.</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Mixing peak and RMS values.</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1F8F8"/>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Draw the phasor diagram first.</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ELI the ICE man: V leads I in an inductor.</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pf = cos φ = R/|Z|.</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Check S² = P² + Q².</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XL = 2πfL (I lags); XC = 1/(2πfC) (I leads).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Z = R + j(XL − XC); I = V/|Z|.</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 = VI cos φ; Q = VI sin φ; S = VI.</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pf = cos φ = R/|Z|.</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Resonance when XL = XC: f₀ = 1/(2π√LC).</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φ = tan⁻¹(X/R);   pf = cos φ;   S² = P² + Q²</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1F8F8"/>
          </a:solidFill>
          <a:ln w="9525">
            <a:solidFill>
              <a:srgbClr val="DDF0F0"/>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Q1. In a pure inductor, current:</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leads V by 90°  (b) lags V by 90°  (c) is in phase  (d) leads by 45°</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DDF0F0"/>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Q2. XC at 50 Hz for C = 100 µF is about:</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3.18 Ω  (b) 31.8 Ω  (c) 318 Ω  (d) 0.03 Ω</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1" name="Q3 row"/>
          <p:cNvSpPr/>
          <p:nvPr/>
        </p:nvSpPr>
        <p:spPr>
          <a:xfrm>
            <a:off x="457200" y="2560320"/>
            <a:ext cx="8229600" cy="658368"/>
          </a:xfrm>
          <a:prstGeom prst="roundRect">
            <a:avLst>
              <a:gd name="adj" fmla="val 11111"/>
            </a:avLst>
          </a:prstGeom>
          <a:solidFill>
            <a:srgbClr val="F1F8F8"/>
          </a:solidFill>
          <a:ln w="9525">
            <a:solidFill>
              <a:srgbClr val="DDF0F0"/>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Q3. R = 6 Ω, XL = 8 Ω: |Z| =</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14 Ω  (b) 10 Ω  (c) 2 Ω  (d) 48 Ω</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DDF0F0"/>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Q4. Power factor of the same circuit:</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0.6  (b) 0.8  (c) 1.0  (d) 0.75</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(a)</a:t>
            </a:r>
            <a:endParaRPr lang="en-US" sz="1400" dirty="0"/>
          </a:p>
        </p:txBody>
      </p:sp>
      <p:sp>
        <p:nvSpPr>
          <p:cNvPr id="19" name="Q5 row"/>
          <p:cNvSpPr/>
          <p:nvPr/>
        </p:nvSpPr>
        <p:spPr>
          <a:xfrm>
            <a:off x="457200" y="4023360"/>
            <a:ext cx="8229600" cy="658368"/>
          </a:xfrm>
          <a:prstGeom prst="roundRect">
            <a:avLst>
              <a:gd name="adj" fmla="val 11111"/>
            </a:avLst>
          </a:prstGeom>
          <a:solidFill>
            <a:srgbClr val="F1F8F8"/>
          </a:solidFill>
          <a:ln w="9525">
            <a:solidFill>
              <a:srgbClr val="DDF0F0"/>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Q5. At series resonance:</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Z is maximum  (b) Z = R  (c) I is minimum  (d) φ = 90°</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0B3C49"/>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Hughes Edward, Electrical Technology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10th Ed., Pearson Education, 2010 (Units 1, 2 textbook)</a:t>
            </a:r>
            <a:endParaRPr lang="en-US" sz="1400" dirty="0"/>
          </a:p>
        </p:txBody>
      </p:sp>
      <p:sp>
        <p:nvSpPr>
          <p:cNvPr id="6" name="Ref 2 badge"/>
          <p:cNvSpPr/>
          <p:nvPr/>
        </p:nvSpPr>
        <p:spPr>
          <a:xfrm>
            <a:off x="457200" y="1801368"/>
            <a:ext cx="420624" cy="420624"/>
          </a:xfrm>
          <a:prstGeom prst="ellipse">
            <a:avLst/>
          </a:prstGeom>
          <a:solidFill>
            <a:srgbClr val="0B3C49"/>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H. Cotton, Electrical Technology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7th Ed., CBS Publishers, 2005 (reference)</a:t>
            </a:r>
            <a:endParaRPr lang="en-US" sz="1400" dirty="0"/>
          </a:p>
        </p:txBody>
      </p:sp>
      <p:sp>
        <p:nvSpPr>
          <p:cNvPr id="9" name="Key strip"/>
          <p:cNvSpPr/>
          <p:nvPr/>
        </p:nvSpPr>
        <p:spPr>
          <a:xfrm>
            <a:off x="457200" y="4343400"/>
            <a:ext cx="8229600" cy="411480"/>
          </a:xfrm>
          <a:prstGeom prst="roundRect">
            <a:avLst>
              <a:gd name="adj" fmla="val 17778"/>
            </a:avLst>
          </a:prstGeom>
          <a:solidFill>
            <a:srgbClr val="DDF0F0"/>
          </a:solidFill>
          <a:ln/>
        </p:spPr>
      </p:sp>
      <p:sp>
        <p:nvSpPr>
          <p:cNvPr id="10"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Next lecture: Unit 2: single-phase transformers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1B2A30"/>
      </a:dk1>
      <a:lt1>
        <a:srgbClr val="FFFFFF"/>
      </a:lt1>
      <a:dk2>
        <a:srgbClr val="0B3C49"/>
      </a:dk2>
      <a:lt2>
        <a:srgbClr val="F1F8F8"/>
      </a:lt2>
      <a:accent1>
        <a:srgbClr val="0E7C86"/>
      </a:accent1>
      <a:accent2>
        <a:srgbClr val="E4572E"/>
      </a:accent2>
      <a:accent3>
        <a:srgbClr val="2E8B57"/>
      </a:accent3>
      <a:accent4>
        <a:srgbClr val="C0392B"/>
      </a:accent4>
      <a:accent5>
        <a:srgbClr val="5B6B72"/>
      </a:accent5>
      <a:accent6>
        <a:srgbClr val="FF8A5B"/>
      </a:accent6>
      <a:hlink>
        <a:srgbClr val="0E7C86"/>
      </a:hlink>
      <a:folHlink>
        <a:srgbClr val="5B6B72"/>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BEEE — Unit 1: R, L, C Series Circuits and Power</dc:title>
  <dc:subject>PptxGenJS Presentation</dc:subject>
  <dc:creator>Prof. Mitesh Astik</dc:creator>
  <cp:lastModifiedBy>Prof. Mitesh Astik</cp:lastModifiedBy>
  <cp:revision>1</cp:revision>
  <dcterms:created xsi:type="dcterms:W3CDTF">2026-10-28T16:42:27Z</dcterms:created>
  <dcterms:modified xsi:type="dcterms:W3CDTF">2026-10-28T16:42:27Z</dcterms:modified>
</cp:coreProperties>
</file>