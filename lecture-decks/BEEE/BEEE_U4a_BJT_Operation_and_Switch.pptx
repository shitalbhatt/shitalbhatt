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topic is BJT construction and operation, characteristics, DC load line, BJT as a switch. It belongs to Unit 4: Transistors. By the end of this session you will be able to use it in numerical problems. Keep your notebooks ready because we will solve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They map to CO4 of the syllabus. Tell students that these are examinable and that the two solved examples follow the same pattern. Ask them to tick off each outcome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BJT is two p-n junctions back to back, so everything we learned about diodes applies: a forward-biased junction conducts above about 0.7 volts and a reverse-biased junction blocks. Kirchhoff's current law applied to the transistor gives the emitter current as the sum of base and collector currents. Keep these two ideas in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transistor can act as an amplifier or as a switch. In both roles a small current at the base controls a larger current in the collector. As a switch it lets a five volt logic signal turn on a lamp, a relay or a motor. Digital circuits use transistors purely as switches, billions of them in a modern processor.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bipolar junction transistor has three regions. The emitter is heavily doped so it can inject many carriers. The base is very thin and lightly doped so that almost all of those carriers get through it. The collector is physically the largest because it must dissipate heat. The arrow on the emitter of the symbol shows the direction of conventional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emitter-base junction forward biased and the collector-base junction reverse biased, electrons flow from the emitter into the base. Since the base is very thin, only a few recombine with holes and form the base current. The reverse-biased collector junction pulls the other electrons across into the collector, forming the collector current. A tiny change in the base current changes the collector current by a factor beta.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Beta is the ratio of collector to base current. It varies from one transistor to another and with temperature, so design should not depend on its exact value. The emitter current is the sum of the base and collector currents, so it is slightly larger than the collector current. Alpha, the ratio IC over IE, is close to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common-emitter configuration the base is the input and the collector the output. Each curve is for a fixed base current. For VCE above a few tenths of a volt the curve is nearly flat, so the collector current is set by the base current. At very low VCE the transistor is saturated and the current drops. When the base current is zero only a negligible leakage current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of the two junctions defines the operating region. In cut-off both are reverse biased, so no current flows and the switch is open. In the active region the emitter junction is forward and the collector junction reverse biased, the condition for amplification. In saturation both are forward biased, the collector voltage is only a fraction of a volt, and the switch is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Kirchhoff's voltage law round the collector circuit gives a straight line relation between IC and VCE. Its end points are the cut-off point, where VCE equals VCC, and the saturation point, where IC equals VCC over RC. The transistor must operate on this line, at the point where it crosses the curve of the chosen base current. This is the Q-point and it fixes the DC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transistor switch is operated at the two ends of the load line. With zero input voltage the base current is zero and the transistor is cut off: the collector is at VCC and the lamp is off. With a high input voltage a large base current drives the transistor into saturation, the collector voltage falls to about 0.2 volts and the lamp gets nearly the whole supply. The device acts as a fast electronic switch with no moving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the load: the collector current in saturation is set by the supply and the load resistor. The base current must be large enough to keep the transistor saturated even for the lowest possible beta, so divide by beta and multiply by an overdrive factor. Then compute the base resistor from the input voltage minus the 0.7 volt base-emitter drop.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collector current is beta times the base current. The emitter current is the sum of base and collector currents, which is a little more than the collector current. The ratio of IC to IE is alpha, which agrees with beta over beta plus one. Always keep units consistent: microamperes and milliamperes.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find how much collector current the load needs when the transistor is fully on. Divide by the minimum beta to get the minimum base current, then double it to be safe. The base resistor follows from Ohm's law with the 0.7 volt drop. Picking the next lower standard value, 3.3 kilo-ohms, gives slightly more base current, which keeps the transistor firmly in saturation.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where marks are lost most often in BJTs. Give one quick example for each mistake. Remind students that writing the formula, substitution and the unit earns method marks even if the arithmetic slips. Encourage them to check the answer for reasonableness.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minute. Say each point and ask the class to recall the formula for it. If they remember these ideas, most numerical problems on BJTs are within reach. Next lecture: MOSFET, common-source amplifier and MOS inverter. Revise the two solved examples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one minute per question and take a show of hands. Discuss why the wrong options are tempting, especially the one that uses a wrong formula. Use the quiz as a quick check on BJTs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textbooks listed in the syllabus for BJTs. Ask them to solve at least three textbook problems on this topic before the next class. Thank the class and preview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C49"/>
        </a:solidFill>
      </p:bgPr>
    </p:bg>
    <p:spTree>
      <p:nvGrpSpPr>
        <p:cNvPr id="1" name=""/>
        <p:cNvGrpSpPr/>
        <p:nvPr/>
      </p:nvGrpSpPr>
      <p:grpSpPr>
        <a:xfrm>
          <a:off x="0" y="0"/>
          <a:ext cx="0" cy="0"/>
          <a:chOff x="0" y="0"/>
          <a:chExt cx="0" cy="0"/>
        </a:xfrm>
      </p:grpSpPr>
      <p:sp>
        <p:nvSpPr>
          <p:cNvPr id="2"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rgbClr val="C9D3E3"/>
                </a:solidFill>
                <a:latin typeface="Calibri" pitchFamily="34" charset="0"/>
                <a:ea typeface="Calibri" pitchFamily="34" charset="-122"/>
                <a:cs typeface="Calibri" pitchFamily="34" charset="-120"/>
              </a:rPr>
              <a:t>Basic Electrical and Electronics Engineering  |  Prof. Mitesh Astik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0B3C49"/>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Basic Electrical and Electronics Engineering  |  Prof. Mitesh Astik</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 descr="preencoded.png">    </p:cNvPr>
          <p:cNvPicPr>
            <a:picLocks noChangeAspect="1"/>
          </p:cNvPicPr>
          <p:nvPr/>
        </p:nvPicPr>
        <p:blipFill>
          <a:blip r:embed="rId1"/>
          <a:stretch>
            <a:fillRect/>
          </a:stretch>
        </p:blipFill>
        <p:spPr>
          <a:xfrm>
            <a:off x="4572000" y="822960"/>
            <a:ext cx="4206240" cy="3383280"/>
          </a:xfrm>
          <a:prstGeom prst="rect">
            <a:avLst/>
          </a:prstGeom>
        </p:spPr>
      </p:pic>
      <p:sp>
        <p:nvSpPr>
          <p:cNvPr id="3" name="Text 0"/>
          <p:cNvSpPr txBox="1"/>
          <p:nvPr/>
        </p:nvSpPr>
        <p:spPr>
          <a:xfrm>
            <a:off x="548640" y="822960"/>
            <a:ext cx="40233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BJT: Operation, Load Line and Switch</a:t>
            </a:r>
            <a:endParaRPr lang="en-US" sz="3200" dirty="0"/>
          </a:p>
        </p:txBody>
      </p:sp>
      <p:sp>
        <p:nvSpPr>
          <p:cNvPr id="4" name="Text 1"/>
          <p:cNvSpPr txBox="1"/>
          <p:nvPr/>
        </p:nvSpPr>
        <p:spPr>
          <a:xfrm>
            <a:off x="548640" y="2514600"/>
            <a:ext cx="3931920" cy="1920240"/>
          </a:xfrm>
          <a:prstGeom prst="rect">
            <a:avLst/>
          </a:prstGeom>
          <a:noFill/>
          <a:ln/>
        </p:spPr>
        <p:txBody>
          <a:bodyPr wrap="square" lIns="0" tIns="0" rIns="0" bIns="0" rtlCol="0" anchor="t"/>
          <a:lstStyle/>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Basic Electrical and Electronics Engineering</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Unit 4: Transistors</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Topic: BJT construction and operation, characteristics, DC load line, BJT as a switch</a:t>
            </a:r>
            <a:endParaRPr lang="en-US" sz="1500" dirty="0"/>
          </a:p>
          <a:p>
            <a:pPr indent="0" marL="0">
              <a:spcAft>
                <a:spcPts val="800"/>
              </a:spcAft>
              <a:buNone/>
            </a:pPr>
            <a:r>
              <a:rPr lang="en-US" sz="1500" b="1" dirty="0">
                <a:solidFill>
                  <a:srgbClr val="FF8A5B"/>
                </a:solidFill>
                <a:latin typeface="Calibri" pitchFamily="34" charset="0"/>
                <a:ea typeface="Calibri" pitchFamily="34" charset="-122"/>
                <a:cs typeface="Calibri" pitchFamily="34" charset="-120"/>
              </a:rPr>
              <a:t>Prof. Mitesh Astik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Learning Outcomes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Describe BJT construction and operation.</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Use IC = βIB and IE = IB + IC.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Read output characteristics and the DC load line.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Design a BJT switch.</a:t>
            </a:r>
            <a:endParaRPr lang="en-US" sz="1400" dirty="0"/>
          </a:p>
        </p:txBody>
      </p:sp>
      <p:pic>
        <p:nvPicPr>
          <p:cNvPr id="4" name="Diagram" descr="Learning Outcom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Linked to CO4</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Describe the construction and operation of BJT to operate as a switch.</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Recap: What You Already Know</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p-n junction: forward and reverse bias.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Majority and minority carriers.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Forward bias lowers the barrier.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Kirchhoff's current law at a node.</a:t>
            </a:r>
            <a:endParaRPr lang="en-US" sz="1400" dirty="0"/>
          </a:p>
        </p:txBody>
      </p:sp>
      <p:pic>
        <p:nvPicPr>
          <p:cNvPr id="4" name="Diagram" descr="Recap: What You Already Know">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KCL: IE = IB + IC;   Vγ ≈ 0.7 V for a forward-biased silicon junction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Motivation: One Device, Two Jobs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Amplifier: small signal controls big current.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Switch: turns lamps, relays and motors on and off.</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Processors use millions of switches.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Interface between logic and power.</a:t>
            </a:r>
            <a:endParaRPr lang="en-US" sz="1400" dirty="0"/>
          </a:p>
        </p:txBody>
      </p:sp>
      <p:pic>
        <p:nvPicPr>
          <p:cNvPr id="4" name="Diagram" descr="Motivation: One Device, Two Job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 small base current controls a much larger collector current</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BJT Construction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Three layers: emitter, base, collector.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npn: n–p–n sandwich; pnp: p–n–p.</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Emitter: heavily doped, emits carriers.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Base: very thin, lightly doped.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Collector: largest, collects carriers.</a:t>
            </a:r>
            <a:endParaRPr lang="en-US" sz="1400" dirty="0"/>
          </a:p>
        </p:txBody>
      </p:sp>
      <p:pic>
        <p:nvPicPr>
          <p:cNvPr id="4" name="Diagram" descr="BJT Constructio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Arrow on the emitter shows conventional current direction (out for npn, in for pnp)</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Operation of an npn Transistor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Active mode: EB forward, CB reverse.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Emitter injects electrons into the base.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Base is thin: only about 1 % recombine → IB.</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Reverse CB field sweeps the rest to the collector.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Small IB controls large IC.</a:t>
            </a:r>
            <a:endParaRPr lang="en-US" sz="1400" dirty="0"/>
          </a:p>
        </p:txBody>
      </p:sp>
      <p:pic>
        <p:nvPicPr>
          <p:cNvPr id="4" name="Diagram" descr="Operation of an npn Transisto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IE = IB + IC;   IC ≈ IE (α ≈ 0.99)</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Current Relations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β (hFE): current gain, typically 50–300.</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α: fraction of IE reaching the collector.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IC = β·IB in the active region.</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Emitter current is the largest.</a:t>
            </a:r>
            <a:endParaRPr lang="en-US" sz="1400" dirty="0"/>
          </a:p>
        </p:txBody>
      </p:sp>
      <p:pic>
        <p:nvPicPr>
          <p:cNvPr id="4" name="Diagram" descr="Current Relation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IC = β·IB;   IE = IB + IC = (β + 1)·IB;   α = β/(β + 1)</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β dimensionless, currents in A or mA</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Common-Emitter Output Characteristics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IC against VCE for different base currents.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Active region: curves nearly flat, IC ≈ β·IB.</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Saturation: small VCE, IC rises steeply.</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Cut-off: IB = 0, IC ≈ 0.</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Spacing of curves reflects β.</a:t>
            </a:r>
            <a:endParaRPr lang="en-US" sz="1400" dirty="0"/>
          </a:p>
        </p:txBody>
      </p:sp>
      <p:pic>
        <p:nvPicPr>
          <p:cNvPr id="4" name="Diagram" descr="Common-Emitter Output Characteristic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Active: IC ≈ β·IB;   saturation: VCE(sat) ≈ 0.2 V;   cut-off: IC ≈ ICEO (tiny)</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Regions of Operation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Cut-off: both junctions reverse biased.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Active: EB forward, CB reverse.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Saturation: both junctions forward biased.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Amplifier works in the active region.</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Switch works between cut-off and saturation.</a:t>
            </a:r>
            <a:endParaRPr lang="en-US" sz="1400" dirty="0"/>
          </a:p>
        </p:txBody>
      </p:sp>
      <p:pic>
        <p:nvPicPr>
          <p:cNvPr id="4" name="Diagram" descr="Regions of Operatio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Cut-off: IB = 0, switch OFF;   Saturation: IC = IC(sat), switch ON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DC Load Line</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Collector circuit: VCC = IC·RC + VCE.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Straight line on the output characteristics.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End points: (VCE = VCC, IC = 0) and (0, VCC/RC).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Operating (Q) point lies on the load line.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Q is set by the base current.</a:t>
            </a:r>
            <a:endParaRPr lang="en-US" sz="1400" dirty="0"/>
          </a:p>
        </p:txBody>
      </p:sp>
      <p:pic>
        <p:nvPicPr>
          <p:cNvPr id="4" name="Diagram" descr="DC Load Line">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IC = (VCC − VCE)/RC;   example VCC = 12 V, RC = 2 kΩ: (12 V, 0) and (0, 6 mA)</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Q: IB = 40 µA → IC = 4 mA, VCE = 4 V</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BJT as a Switch</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Input low: cut-off, transistor OFF.</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Input high: saturation, transistor ON.</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Load gets full VCC when ON, nothing when OFF.</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VCE(sat) ≈ 0.2 V: nearly an ideal closed switch.</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Used for LEDs, relays, motors and logic gates.</a:t>
            </a:r>
            <a:endParaRPr lang="en-US" sz="1400" dirty="0"/>
          </a:p>
        </p:txBody>
      </p:sp>
      <p:pic>
        <p:nvPicPr>
          <p:cNvPr id="4" name="Diagram" descr="BJT as a Switch">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OFF: IC ≈ 0, VCE ≈ VCC;   ON: IC = (VCC − VCE(sat))/RC, VCE ≈ 0.2 V</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Designing a BJT Switch</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Find IC(sat) from the load.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Required IB(min) = IC(sat)/βmin.</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Overdrive: use 2–5 × IB(min).</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Calculate RB from the input voltage.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Choose the nearest standard value.</a:t>
            </a:r>
            <a:endParaRPr lang="en-US" sz="1400" dirty="0"/>
          </a:p>
        </p:txBody>
      </p:sp>
      <p:pic>
        <p:nvPicPr>
          <p:cNvPr id="4" name="Diagram" descr="Designing a BJT Switch">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IC(sat) = (VCC − VCE(sat))/RC;   IB ≥ IC(sat)/β;   RB = (Vin − VBE)/IB</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1: BJT Currents</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 transistor with β = 100 has IB = 40 µA in the active region. Find IC, IE and α.</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IC = β·IB = 100 × 40 µA = 4 mA.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IE = IB + IC = 0.04 + 4 = 4.04 mA.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α = IC/IE = 4/4.04 = 0.990.</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Check: α = β/(β + 1) = 100/101 = 0.990.</a:t>
            </a:r>
            <a:endParaRPr lang="en-US" sz="1400" dirty="0"/>
          </a:p>
        </p:txBody>
      </p:sp>
      <p:pic>
        <p:nvPicPr>
          <p:cNvPr id="4" name="Diagram" descr="Solved Example 1: BJT Currents">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IC = 4 mA, IE = 4.04 mA, α = 0.990</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2: Switch Design</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Drive a 200 Ω load from 12 V using a 5 V logic signal. βmin = 100, VBE = 0.7 V, VCE(sat) = 0.2 V. Find RB.</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IC(sat) = (12 − 0.2)/200 = 59 mA.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IB(min) = 59 mA/100 = 0.59 mA.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Overdrive × 2: IB = 1.18 mA.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RB = (5 − 0.7)/1.18 mA = 3.64 kΩ.</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5. Choose RB = 3.3 kΩ: IB = 1.30 mA, which saturates the transistor.</a:t>
            </a:r>
            <a:endParaRPr lang="en-US" sz="1400" dirty="0"/>
          </a:p>
        </p:txBody>
      </p:sp>
      <p:pic>
        <p:nvPicPr>
          <p:cNvPr id="4" name="Diagram" descr="Solved Example 2: Switch Design">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RB ≈ 3.3 kΩ (standard), IC(sat) = 59 mA</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Common Mistakes and Exam Tips</a:t>
            </a:r>
            <a:endParaRPr lang="en-US" sz="2800" dirty="0"/>
          </a:p>
        </p:txBody>
      </p:sp>
      <p:sp>
        <p:nvSpPr>
          <p:cNvPr id="3" name="Common mistakes card"/>
          <p:cNvSpPr/>
          <p:nvPr/>
        </p:nvSpPr>
        <p:spPr>
          <a:xfrm>
            <a:off x="457200" y="1143000"/>
            <a:ext cx="4023360" cy="3566160"/>
          </a:xfrm>
          <a:prstGeom prst="roundRect">
            <a:avLst>
              <a:gd name="adj" fmla="val 2564"/>
            </a:avLst>
          </a:prstGeom>
          <a:solidFill>
            <a:srgbClr val="F1F8F8"/>
          </a:solidFill>
          <a:ln/>
        </p:spPr>
      </p:sp>
      <p:sp>
        <p:nvSpPr>
          <p:cNvPr id="4" name="Common mistakes icon"/>
          <p:cNvSpPr/>
          <p:nvPr/>
        </p:nvSpPr>
        <p:spPr>
          <a:xfrm>
            <a:off x="640080" y="1280160"/>
            <a:ext cx="411480" cy="411480"/>
          </a:xfrm>
          <a:prstGeom prst="ellipse">
            <a:avLst/>
          </a:prstGeom>
          <a:solidFill>
            <a:srgbClr val="C0392B"/>
          </a:solidFill>
          <a:ln/>
        </p:spPr>
      </p:sp>
      <p:sp>
        <p:nvSpPr>
          <p:cNvPr id="5" name="Text 3"/>
          <p:cNvSpPr txBox="1"/>
          <p:nvPr/>
        </p:nvSpPr>
        <p:spPr>
          <a:xfrm>
            <a:off x="6400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18872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Common mistakes</a:t>
            </a:r>
            <a:endParaRPr lang="en-US" sz="2000" dirty="0"/>
          </a:p>
        </p:txBody>
      </p:sp>
      <p:sp>
        <p:nvSpPr>
          <p:cNvPr id="7" name="Text 5"/>
          <p:cNvSpPr txBox="1"/>
          <p:nvPr/>
        </p:nvSpPr>
        <p:spPr>
          <a:xfrm>
            <a:off x="68580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Using IC = β·IB in saturation.</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Forgetting VBE = 0.7 V in the RB calculation.</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Designing the switch with typical β instead of minimum.</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Connecting a pnp with npn polarity.</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No base resistor (damages the junction).</a:t>
            </a:r>
            <a:endParaRPr lang="en-US" sz="1600" dirty="0"/>
          </a:p>
        </p:txBody>
      </p:sp>
      <p:sp>
        <p:nvSpPr>
          <p:cNvPr id="8" name="Exam tips card"/>
          <p:cNvSpPr/>
          <p:nvPr/>
        </p:nvSpPr>
        <p:spPr>
          <a:xfrm>
            <a:off x="4663440" y="1143000"/>
            <a:ext cx="4023360" cy="3566160"/>
          </a:xfrm>
          <a:prstGeom prst="roundRect">
            <a:avLst>
              <a:gd name="adj" fmla="val 2564"/>
            </a:avLst>
          </a:prstGeom>
          <a:solidFill>
            <a:srgbClr val="F1F8F8"/>
          </a:solidFill>
          <a:ln/>
        </p:spPr>
      </p:sp>
      <p:sp>
        <p:nvSpPr>
          <p:cNvPr id="9" name="Exam tips icon"/>
          <p:cNvSpPr/>
          <p:nvPr/>
        </p:nvSpPr>
        <p:spPr>
          <a:xfrm>
            <a:off x="4846320" y="1280160"/>
            <a:ext cx="411480" cy="411480"/>
          </a:xfrm>
          <a:prstGeom prst="ellipse">
            <a:avLst/>
          </a:prstGeom>
          <a:solidFill>
            <a:srgbClr val="2E8B57"/>
          </a:solidFill>
          <a:ln/>
        </p:spPr>
      </p:sp>
      <p:sp>
        <p:nvSpPr>
          <p:cNvPr id="10" name="Text 8"/>
          <p:cNvSpPr txBox="1"/>
          <p:nvPr/>
        </p:nvSpPr>
        <p:spPr>
          <a:xfrm>
            <a:off x="484632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Exam tips</a:t>
            </a:r>
            <a:endParaRPr lang="en-US" sz="2000" dirty="0"/>
          </a:p>
        </p:txBody>
      </p:sp>
      <p:sp>
        <p:nvSpPr>
          <p:cNvPr id="12" name="Text 10"/>
          <p:cNvSpPr txBox="1"/>
          <p:nvPr/>
        </p:nvSpPr>
        <p:spPr>
          <a:xfrm>
            <a:off x="489204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Check the region before using IC = βIB.</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Overdrive the base for a switch.</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Use the minimum β from the data sheet.</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Check power rating of the transistor.</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Summary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BJT: emitter, base, collector; two junctions.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Active: EB forward, CB reverse.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IC = β·IB;  IE = IB + IC.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DC load line joins (VCC, 0) and (0, VCC/RC).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Switch: cut-off = OFF, saturation = ON.</a:t>
            </a:r>
            <a:endParaRPr lang="en-US" sz="1400" dirty="0"/>
          </a:p>
        </p:txBody>
      </p:sp>
      <p:pic>
        <p:nvPicPr>
          <p:cNvPr id="4" name="Diagram" descr="Summa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RB = (Vin − VBE)/IB,  IB ≥ IC(sat)/β</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Quick Quiz</a:t>
            </a:r>
            <a:endParaRPr lang="en-US" sz="2800" dirty="0"/>
          </a:p>
        </p:txBody>
      </p:sp>
      <p:sp>
        <p:nvSpPr>
          <p:cNvPr id="3" name="Q1 row"/>
          <p:cNvSpPr/>
          <p:nvPr/>
        </p:nvSpPr>
        <p:spPr>
          <a:xfrm>
            <a:off x="457200" y="1097280"/>
            <a:ext cx="8229600" cy="658368"/>
          </a:xfrm>
          <a:prstGeom prst="roundRect">
            <a:avLst>
              <a:gd name="adj" fmla="val 11111"/>
            </a:avLst>
          </a:prstGeom>
          <a:solidFill>
            <a:srgbClr val="F1F8F8"/>
          </a:solidFill>
          <a:ln w="9525">
            <a:solidFill>
              <a:srgbClr val="DDF0F0"/>
            </a:solidFill>
            <a:prstDash val="solid"/>
          </a:ln>
        </p:spPr>
      </p:sp>
      <p:sp>
        <p:nvSpPr>
          <p:cNvPr id="4" name="Text 2"/>
          <p:cNvSpPr txBox="1"/>
          <p:nvPr/>
        </p:nvSpPr>
        <p:spPr>
          <a:xfrm>
            <a:off x="594360" y="109728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Q1. In active mode the junctions are:</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EB forward, CB reverse  (b) both forward  (c) both reverse  (d) EB reverse, CB forward</a:t>
            </a:r>
            <a:endParaRPr lang="en-US" sz="1400" dirty="0"/>
          </a:p>
        </p:txBody>
      </p:sp>
      <p:sp>
        <p:nvSpPr>
          <p:cNvPr id="5" name="Q1 answer"/>
          <p:cNvSpPr/>
          <p:nvPr/>
        </p:nvSpPr>
        <p:spPr>
          <a:xfrm>
            <a:off x="7269480" y="1225296"/>
            <a:ext cx="1280160" cy="402336"/>
          </a:xfrm>
          <a:prstGeom prst="roundRect">
            <a:avLst>
              <a:gd name="adj" fmla="val 22727"/>
            </a:avLst>
          </a:prstGeom>
          <a:solidFill>
            <a:srgbClr val="2E8B57"/>
          </a:solidFill>
          <a:ln/>
        </p:spPr>
      </p:sp>
      <p:sp>
        <p:nvSpPr>
          <p:cNvPr id="6" name="Text 4"/>
          <p:cNvSpPr txBox="1"/>
          <p:nvPr/>
        </p:nvSpPr>
        <p:spPr>
          <a:xfrm>
            <a:off x="7269480" y="122529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(a)</a:t>
            </a:r>
            <a:endParaRPr lang="en-US" sz="1400" dirty="0"/>
          </a:p>
        </p:txBody>
      </p:sp>
      <p:sp>
        <p:nvSpPr>
          <p:cNvPr id="7" name="Q2 row"/>
          <p:cNvSpPr/>
          <p:nvPr/>
        </p:nvSpPr>
        <p:spPr>
          <a:xfrm>
            <a:off x="457200" y="1828800"/>
            <a:ext cx="8229600" cy="658368"/>
          </a:xfrm>
          <a:prstGeom prst="roundRect">
            <a:avLst>
              <a:gd name="adj" fmla="val 11111"/>
            </a:avLst>
          </a:prstGeom>
          <a:solidFill>
            <a:srgbClr val="FFFFFF"/>
          </a:solidFill>
          <a:ln w="9525">
            <a:solidFill>
              <a:srgbClr val="DDF0F0"/>
            </a:solidFill>
            <a:prstDash val="solid"/>
          </a:ln>
        </p:spPr>
      </p:sp>
      <p:sp>
        <p:nvSpPr>
          <p:cNvPr id="8" name="Text 6"/>
          <p:cNvSpPr txBox="1"/>
          <p:nvPr/>
        </p:nvSpPr>
        <p:spPr>
          <a:xfrm>
            <a:off x="594360" y="182880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Q2. β = 100, IB = 20 µA gives IC =</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0.2 mA  (b) 2 mA  (c) 20 mA  (d) 2 µA</a:t>
            </a:r>
            <a:endParaRPr lang="en-US" sz="1400" dirty="0"/>
          </a:p>
        </p:txBody>
      </p:sp>
      <p:sp>
        <p:nvSpPr>
          <p:cNvPr id="9" name="Q2 answer"/>
          <p:cNvSpPr/>
          <p:nvPr/>
        </p:nvSpPr>
        <p:spPr>
          <a:xfrm>
            <a:off x="7269480" y="1956816"/>
            <a:ext cx="1280160" cy="402336"/>
          </a:xfrm>
          <a:prstGeom prst="roundRect">
            <a:avLst>
              <a:gd name="adj" fmla="val 22727"/>
            </a:avLst>
          </a:prstGeom>
          <a:solidFill>
            <a:srgbClr val="2E8B57"/>
          </a:solidFill>
          <a:ln/>
        </p:spPr>
      </p:sp>
      <p:sp>
        <p:nvSpPr>
          <p:cNvPr id="10" name="Text 8"/>
          <p:cNvSpPr txBox="1"/>
          <p:nvPr/>
        </p:nvSpPr>
        <p:spPr>
          <a:xfrm>
            <a:off x="7269480" y="195681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1" name="Q3 row"/>
          <p:cNvSpPr/>
          <p:nvPr/>
        </p:nvSpPr>
        <p:spPr>
          <a:xfrm>
            <a:off x="457200" y="2560320"/>
            <a:ext cx="8229600" cy="658368"/>
          </a:xfrm>
          <a:prstGeom prst="roundRect">
            <a:avLst>
              <a:gd name="adj" fmla="val 11111"/>
            </a:avLst>
          </a:prstGeom>
          <a:solidFill>
            <a:srgbClr val="F1F8F8"/>
          </a:solidFill>
          <a:ln w="9525">
            <a:solidFill>
              <a:srgbClr val="DDF0F0"/>
            </a:solidFill>
            <a:prstDash val="solid"/>
          </a:ln>
        </p:spPr>
      </p:sp>
      <p:sp>
        <p:nvSpPr>
          <p:cNvPr id="12" name="Text 10"/>
          <p:cNvSpPr txBox="1"/>
          <p:nvPr/>
        </p:nvSpPr>
        <p:spPr>
          <a:xfrm>
            <a:off x="594360" y="256032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Q3. BJT switch is ON in:</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cut-off  (b) active  (c) saturation  (d) breakdown</a:t>
            </a:r>
            <a:endParaRPr lang="en-US" sz="1400" dirty="0"/>
          </a:p>
        </p:txBody>
      </p:sp>
      <p:sp>
        <p:nvSpPr>
          <p:cNvPr id="13" name="Q3 answer"/>
          <p:cNvSpPr/>
          <p:nvPr/>
        </p:nvSpPr>
        <p:spPr>
          <a:xfrm>
            <a:off x="7269480" y="2688336"/>
            <a:ext cx="1280160" cy="402336"/>
          </a:xfrm>
          <a:prstGeom prst="roundRect">
            <a:avLst>
              <a:gd name="adj" fmla="val 22727"/>
            </a:avLst>
          </a:prstGeom>
          <a:solidFill>
            <a:srgbClr val="2E8B57"/>
          </a:solidFill>
          <a:ln/>
        </p:spPr>
      </p:sp>
      <p:sp>
        <p:nvSpPr>
          <p:cNvPr id="14" name="Text 12"/>
          <p:cNvSpPr txBox="1"/>
          <p:nvPr/>
        </p:nvSpPr>
        <p:spPr>
          <a:xfrm>
            <a:off x="7269480" y="268833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(c)</a:t>
            </a:r>
            <a:endParaRPr lang="en-US" sz="1400" dirty="0"/>
          </a:p>
        </p:txBody>
      </p:sp>
      <p:sp>
        <p:nvSpPr>
          <p:cNvPr id="15" name="Q4 row"/>
          <p:cNvSpPr/>
          <p:nvPr/>
        </p:nvSpPr>
        <p:spPr>
          <a:xfrm>
            <a:off x="457200" y="3291840"/>
            <a:ext cx="8229600" cy="658368"/>
          </a:xfrm>
          <a:prstGeom prst="roundRect">
            <a:avLst>
              <a:gd name="adj" fmla="val 11111"/>
            </a:avLst>
          </a:prstGeom>
          <a:solidFill>
            <a:srgbClr val="FFFFFF"/>
          </a:solidFill>
          <a:ln w="9525">
            <a:solidFill>
              <a:srgbClr val="DDF0F0"/>
            </a:solidFill>
            <a:prstDash val="solid"/>
          </a:ln>
        </p:spPr>
      </p:sp>
      <p:sp>
        <p:nvSpPr>
          <p:cNvPr id="16" name="Text 14"/>
          <p:cNvSpPr txBox="1"/>
          <p:nvPr/>
        </p:nvSpPr>
        <p:spPr>
          <a:xfrm>
            <a:off x="594360" y="329184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Q4. Load-line saturation point for VCC = 10 V, RC = 1 kΩ:</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10 mA  (b) 1 mA  (c) 100 mA  (d) 10 V</a:t>
            </a:r>
            <a:endParaRPr lang="en-US" sz="1400" dirty="0"/>
          </a:p>
        </p:txBody>
      </p:sp>
      <p:sp>
        <p:nvSpPr>
          <p:cNvPr id="17" name="Q4 answer"/>
          <p:cNvSpPr/>
          <p:nvPr/>
        </p:nvSpPr>
        <p:spPr>
          <a:xfrm>
            <a:off x="7269480" y="3419856"/>
            <a:ext cx="1280160" cy="402336"/>
          </a:xfrm>
          <a:prstGeom prst="roundRect">
            <a:avLst>
              <a:gd name="adj" fmla="val 22727"/>
            </a:avLst>
          </a:prstGeom>
          <a:solidFill>
            <a:srgbClr val="2E8B57"/>
          </a:solidFill>
          <a:ln/>
        </p:spPr>
      </p:sp>
      <p:sp>
        <p:nvSpPr>
          <p:cNvPr id="18" name="Text 16"/>
          <p:cNvSpPr txBox="1"/>
          <p:nvPr/>
        </p:nvSpPr>
        <p:spPr>
          <a:xfrm>
            <a:off x="7269480" y="341985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(a)</a:t>
            </a:r>
            <a:endParaRPr lang="en-US" sz="1400" dirty="0"/>
          </a:p>
        </p:txBody>
      </p:sp>
      <p:sp>
        <p:nvSpPr>
          <p:cNvPr id="19" name="Q5 row"/>
          <p:cNvSpPr/>
          <p:nvPr/>
        </p:nvSpPr>
        <p:spPr>
          <a:xfrm>
            <a:off x="457200" y="4023360"/>
            <a:ext cx="8229600" cy="658368"/>
          </a:xfrm>
          <a:prstGeom prst="roundRect">
            <a:avLst>
              <a:gd name="adj" fmla="val 11111"/>
            </a:avLst>
          </a:prstGeom>
          <a:solidFill>
            <a:srgbClr val="F1F8F8"/>
          </a:solidFill>
          <a:ln w="9525">
            <a:solidFill>
              <a:srgbClr val="DDF0F0"/>
            </a:solidFill>
            <a:prstDash val="solid"/>
          </a:ln>
        </p:spPr>
      </p:sp>
      <p:sp>
        <p:nvSpPr>
          <p:cNvPr id="20" name="Text 18"/>
          <p:cNvSpPr txBox="1"/>
          <p:nvPr/>
        </p:nvSpPr>
        <p:spPr>
          <a:xfrm>
            <a:off x="594360" y="402336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Q5. The base of a BJT is: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thick, heavily doped  (b) thin, lightly doped  (c) the largest region  (d) metal</a:t>
            </a:r>
            <a:endParaRPr lang="en-US" sz="1400" dirty="0"/>
          </a:p>
        </p:txBody>
      </p:sp>
      <p:sp>
        <p:nvSpPr>
          <p:cNvPr id="21" name="Q5 answer"/>
          <p:cNvSpPr/>
          <p:nvPr/>
        </p:nvSpPr>
        <p:spPr>
          <a:xfrm>
            <a:off x="7269480" y="4151376"/>
            <a:ext cx="1280160" cy="402336"/>
          </a:xfrm>
          <a:prstGeom prst="roundRect">
            <a:avLst>
              <a:gd name="adj" fmla="val 22727"/>
            </a:avLst>
          </a:prstGeom>
          <a:solidFill>
            <a:srgbClr val="2E8B57"/>
          </a:solidFill>
          <a:ln/>
        </p:spPr>
      </p:sp>
      <p:sp>
        <p:nvSpPr>
          <p:cNvPr id="22" name="Text 20"/>
          <p:cNvSpPr txBox="1"/>
          <p:nvPr/>
        </p:nvSpPr>
        <p:spPr>
          <a:xfrm>
            <a:off x="7269480" y="415137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References</a:t>
            </a:r>
            <a:endParaRPr lang="en-US" sz="2800" dirty="0"/>
          </a:p>
        </p:txBody>
      </p:sp>
      <p:sp>
        <p:nvSpPr>
          <p:cNvPr id="3" name="Ref 1 badge"/>
          <p:cNvSpPr/>
          <p:nvPr/>
        </p:nvSpPr>
        <p:spPr>
          <a:xfrm>
            <a:off x="457200" y="1197864"/>
            <a:ext cx="420624" cy="420624"/>
          </a:xfrm>
          <a:prstGeom prst="ellipse">
            <a:avLst/>
          </a:prstGeom>
          <a:solidFill>
            <a:srgbClr val="0B3C49"/>
          </a:solidFill>
          <a:ln/>
        </p:spPr>
      </p:sp>
      <p:sp>
        <p:nvSpPr>
          <p:cNvPr id="4" name="Text 2"/>
          <p:cNvSpPr txBox="1"/>
          <p:nvPr/>
        </p:nvSpPr>
        <p:spPr>
          <a:xfrm>
            <a:off x="457200" y="1197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51560" y="1143000"/>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Boylestad Robert L. and Nashelsky Louis, Electronic Devices and Circuit Theory</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11th Ed., PHI, 2016 (Units 3, 4, 5 textbook)</a:t>
            </a:r>
            <a:endParaRPr lang="en-US" sz="1400" dirty="0"/>
          </a:p>
        </p:txBody>
      </p:sp>
      <p:sp>
        <p:nvSpPr>
          <p:cNvPr id="6" name="Ref 2 badge"/>
          <p:cNvSpPr/>
          <p:nvPr/>
        </p:nvSpPr>
        <p:spPr>
          <a:xfrm>
            <a:off x="457200" y="1801368"/>
            <a:ext cx="420624" cy="420624"/>
          </a:xfrm>
          <a:prstGeom prst="ellipse">
            <a:avLst/>
          </a:prstGeom>
          <a:solidFill>
            <a:srgbClr val="0B3C49"/>
          </a:solidFill>
          <a:ln/>
        </p:spPr>
      </p:sp>
      <p:sp>
        <p:nvSpPr>
          <p:cNvPr id="7" name="Text 5"/>
          <p:cNvSpPr txBox="1"/>
          <p:nvPr/>
        </p:nvSpPr>
        <p:spPr>
          <a:xfrm>
            <a:off x="4572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051560" y="1746504"/>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H. Cotton, Electrical Technology</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7th Ed., CBS Publishers, 2005 (reference)</a:t>
            </a:r>
            <a:endParaRPr lang="en-US" sz="1400" dirty="0"/>
          </a:p>
        </p:txBody>
      </p:sp>
      <p:sp>
        <p:nvSpPr>
          <p:cNvPr id="9" name="Key strip"/>
          <p:cNvSpPr/>
          <p:nvPr/>
        </p:nvSpPr>
        <p:spPr>
          <a:xfrm>
            <a:off x="457200" y="4343400"/>
            <a:ext cx="8229600" cy="411480"/>
          </a:xfrm>
          <a:prstGeom prst="roundRect">
            <a:avLst>
              <a:gd name="adj" fmla="val 17778"/>
            </a:avLst>
          </a:prstGeom>
          <a:solidFill>
            <a:srgbClr val="DDF0F0"/>
          </a:solidFill>
          <a:ln/>
        </p:spPr>
      </p:sp>
      <p:sp>
        <p:nvSpPr>
          <p:cNvPr id="10" name="Key strip text"/>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Next lecture: MOSFET, common-source amplifier and MOS inverter</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BEEE">
  <a:themeElements>
    <a:clrScheme name="BEEE">
      <a:dk1>
        <a:srgbClr val="1B2A30"/>
      </a:dk1>
      <a:lt1>
        <a:srgbClr val="FFFFFF"/>
      </a:lt1>
      <a:dk2>
        <a:srgbClr val="0B3C49"/>
      </a:dk2>
      <a:lt2>
        <a:srgbClr val="F1F8F8"/>
      </a:lt2>
      <a:accent1>
        <a:srgbClr val="0E7C86"/>
      </a:accent1>
      <a:accent2>
        <a:srgbClr val="E4572E"/>
      </a:accent2>
      <a:accent3>
        <a:srgbClr val="2E8B57"/>
      </a:accent3>
      <a:accent4>
        <a:srgbClr val="C0392B"/>
      </a:accent4>
      <a:accent5>
        <a:srgbClr val="5B6B72"/>
      </a:accent5>
      <a:accent6>
        <a:srgbClr val="FF8A5B"/>
      </a:accent6>
      <a:hlink>
        <a:srgbClr val="0E7C86"/>
      </a:hlink>
      <a:folHlink>
        <a:srgbClr val="5B6B72"/>
      </a:folHlink>
    </a:clrScheme>
    <a:fontScheme name="B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BEEE — Unit 4: BJT Operation, Load Line and Switch</dc:title>
  <dc:subject>PptxGenJS Presentation</dc:subject>
  <dc:creator>Prof. Mitesh Astik</dc:creator>
  <cp:lastModifiedBy>Prof. Mitesh Astik</cp:lastModifiedBy>
  <cp:revision>1</cp:revision>
  <dcterms:created xsi:type="dcterms:W3CDTF">2026-10-28T16:42:36Z</dcterms:created>
  <dcterms:modified xsi:type="dcterms:W3CDTF">2026-10-28T16:42:36Z</dcterms:modified>
</cp:coreProperties>
</file>