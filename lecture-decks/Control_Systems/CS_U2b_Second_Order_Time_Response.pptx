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study how a second-order system reacts when we apply a step input. This is the most important system in Unit 2, because almost every real system is approximated by it for design. By the end, you will predict overshoot and settling time from just two numbers, ζ and ωn.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and tell students that all four are examinable. They map directly to Course Outcome 2 in the syllabus. Point out the picture: the pole location gives the curve, and the curve gives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remembers the first-order step response and let two students answer. Remind them that C(s) equals G(s) times R(s) is the whole game. We will use partial fractions, but I give the final results to save time. First order had one pole; second order has two, and that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lift that overshoots the floor level is uncomfortable and unsafe. A disk head that rings for too long wastes read time. All of these are second-order position servos. Our job today is to turn words like fast and smooth into numbers, which you will check in Experiment 8 using MATLAB.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standard form. Every second-order problem in the exam is first rewritten into this form. Compare coefficients: the s term gives 2ζωn and the constant gives ωn squared. Remember the open-loop form as well, because a servo gives it directly. Keep this on the board all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roots of the denominator decide everything. When ζ is zero the poles sit on the imaginary axis and the output never dies out. As ζ increases the poles move into the left half-plane and the oscillation decays. At ζ equal to one they meet on the real axis, and beyond that they split apart and there is no oscillation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from the inverse Laplace transform of C(s) equal to ωn squared over s times the denominator. The sine term gives the oscillation and the exponential term gives the decay. The dashed envelope shows how fast the swings shrink. Remember the structure for the exam; the specification formulas come from this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curves on one graph. Undamped never settles, like a frictionless swing. Critical damping reaches the final value fastest without crossing it. Overdamped is safe but slow. In practice we choose slightly underdamped, because a small overshoot buys us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rise time by setting c(t) equal to 1, which gives sine of ωd·tr plus φ equal to zero. For peak time we set dc/dt to zero, and the first solution is ωd·tp equal to π. So the peak is exactly half a damped cycle. Be careful: use ωd, not ωn.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Substitute tp into the response and you get this neat formula. Notice ωn has disappeared, so overshoot is fixed by the damping ratio alone. In design questions we are given Mp and must find ζ, so remember the inverse formula as well. For example, ζ of 0.5 gives about 16 per cent overshoot.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decays as e to the minus ζωn t. We ask when it falls to 2 per cent, and that gives ζωn·ts about 4. The 5 per cent band gives 3. Always say which criterion you use in the exam. Delay time is the time to reach half the final value and is only a rough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everything together. Any pole pair on the s-plane tells you the specifications at a glance. Poles further left settle faster. Poles with a steeper angle from the real axis oscillate more and overshoot more. We shall use exactly this picture again in root locus in Unit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picture in your head. Damping ratio changes the shape of the curve, and natural frequency only stretches it in time. If a designer wants a faster response without more overshoot, raise ωn and keep ζ fixed. In practice that costs more control effort, so there is always a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transient part to the steady-state part of Unit 2. Our servo has one integrator, so it follows a step exactly. For a ramp it follows with a constant lag of 2ζ over ωn. Notice the tension: raising ζ reduces overshoot but increases ramp error. We will meet static error constants in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slowly. Step one: close the loop and compare with the standard form. Steps two and three give ωn and ζ directly, and after that every specification is a single formula. Ask the class to compute tp themselves before showing it. Finally, verify with MATLAB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reverse problem and examiners love it. Overshoot gives the damping ratio. Peak time and ζ together give ωn. Then match the closed-loop denominator s squared plus a·s plus K with the standard form. Notice the poles sit at minus 1.15 plus or minus j1.57, which we can plot. Always check by computing 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most common marks lost in the exam. Setting the calculator to radians for φ is a classic one. Also remember that the closed-loop standard form needs the constant term to match ωn squared, so check the gain. Writing units and the formula earns method marks even if the arithmetic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Reduce to standard form, read ζ and ωn, and then every specification follows from the formulas. Pole position tells you the specification, and the specification tells you the pole position. Next class: static error constants and the generalized error series. Revise the two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ask for a show of hands. Question 4 is the trap: people divide by ωn and choose option (a). Discuss why the wrong options are attractive. Use the quiz as a quick check of understanding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chapters on second-order time response in the Unit 2 textbook. Encourage solving the textbook problems on time-domain specifications. Remind them to use MATLAB to check their answers. Thank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Time Response of Second-Order Systems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Time Domain Analysis of Control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Second-order response and time-domain specifications</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the standard second-order transfer function; locate its poles.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Classify damping and sketch the unit-step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Calculate tr, tp, Mp, ts from ζ and ωn.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ζ and ωn from given specifications.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first- and second-order systems' response to standard test signals.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Laplace transform of unit step is 1/s.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are roots of the denominator.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Partial fractions give the time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First-order step: c(t) = 1 − e^(−t/τ).</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C(s) = G(s)·R(s)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C(s) output, G(s) transfer function, R(s) input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Why Overshoot Matters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lift must stop at the floor without bouncing.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disk-drive head must settle in milliseconds.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Antenna and robot arm: fast but not shaky.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Lab link: DC position control (Experiment 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Specs: how fast, how much overshoot, how long to settle.</a:t>
            </a:r>
            <a:endParaRPr lang="en-US" sz="1400" dirty="0"/>
          </a:p>
        </p:txBody>
      </p:sp>
      <p:pic>
        <p:nvPicPr>
          <p:cNvPr id="4" name="Diagram" descr="Motivation: Why Overshoot Matte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Design goal: fast rise, small overshoot, short settling time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Standard Second-Order Model</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servo with unity feedback gives this form.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Two parameters decide the whole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ωn: how fast the system oscillates.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how quickly oscillations die out.</a:t>
            </a:r>
            <a:endParaRPr lang="en-US" sz="1400" dirty="0"/>
          </a:p>
        </p:txBody>
      </p:sp>
      <p:pic>
        <p:nvPicPr>
          <p:cNvPr id="4" name="Diagram" descr="Standard Second-Order Model">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C(s)/R(s) = ωn² / (s² + 2ζωn·s + ωn²)     G(s) = ωn² / [s(s + 2ζωn)]</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ωn natural frequency (rad/s), ζ damping ratio (no unit)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Poles and Damping Cases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 0: poles on the imaginary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0 &lt; ζ &lt; 1: complex-conjugate pair.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 1: repeated real pole.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&gt; 1: two distinct real poles.</a:t>
            </a:r>
            <a:endParaRPr lang="en-US" sz="1400" dirty="0"/>
          </a:p>
        </p:txBody>
      </p:sp>
      <p:pic>
        <p:nvPicPr>
          <p:cNvPr id="4" name="Diagram" descr="Poles and Damping Cas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s1,2 = −ζωn ± jωd,   ωd = ωn√(1 − ζ²)</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ωd damped natural frequency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Underdamped Step Response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Most useful case for design and exams.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Response oscillates and settles at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Envelope decays as e^(−ζωn·t).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Damped frequency ωd is below ωn.</a:t>
            </a:r>
            <a:endParaRPr lang="en-US" sz="1400" dirty="0"/>
          </a:p>
        </p:txBody>
      </p:sp>
      <p:pic>
        <p:nvPicPr>
          <p:cNvPr id="4" name="Diagram" descr="Underdamped Step Respons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1 − [e^(−ζωn·t)/√(1 − ζ²)]·sin(ωd·t + φ)</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φ = cos⁻¹ζ (rad),  ωd = ωn√(1 − ζ²)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Other Damping Cases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 0: c(t) = 1 − cos ωn·t, sustained oscillation.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 1: c(t) = 1 − (1 + ωn·t)e^(−ωn·t).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&gt; 1: slow, no overshoot.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Critical damping: fastest without overshoot.</a:t>
            </a:r>
            <a:endParaRPr lang="en-US" sz="1400" dirty="0"/>
          </a:p>
        </p:txBody>
      </p:sp>
      <p:pic>
        <p:nvPicPr>
          <p:cNvPr id="4" name="Diagram" descr="Other Damping Cas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Poles for ζ &gt; 1:  s = −ζωn ± ωn√(ζ² − 1)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Rise Time and Peak Time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 time to go from 0 to 100 % of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tp: time to reach the first peak.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Both depend on ωd; larger ωd is faster.</a:t>
            </a:r>
            <a:endParaRPr lang="en-US" sz="1400" dirty="0"/>
          </a:p>
        </p:txBody>
      </p:sp>
      <p:pic>
        <p:nvPicPr>
          <p:cNvPr id="4" name="Diagram" descr="Rise Time and Peak Tim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tr = (π − φ)/ωd,  φ = cos⁻¹ζ in rad          tp = π/ωd</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tr, tp in s; ωd in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Peak Overshoot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Mp: how far the peak rises above the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Depends only on ζ, not on ωn.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Smaller ζ gives larger overshoot.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Typical: ζ 0.5→16.3 %, 0.6→9.5 %, 0.7→4.6 %.</a:t>
            </a:r>
            <a:endParaRPr lang="en-US" sz="1400" dirty="0"/>
          </a:p>
        </p:txBody>
      </p:sp>
      <p:pic>
        <p:nvPicPr>
          <p:cNvPr id="4" name="Diagram" descr="Peak Overshoo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Mp = e^(−πζ/√(1 − ζ²)),  %Mp = 100·Mp</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ζ = ln(1/Mp) / √(π² + ln²(1/Mp))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Settling Time and Delay Time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ts: time after which response stays in a band.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Band: ±2 % (or ±5 %) of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Set by the real part of the poles, σ = ζωn.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td: time to reach 50 % of final value.</a:t>
            </a:r>
            <a:endParaRPr lang="en-US" sz="1400" dirty="0"/>
          </a:p>
        </p:txBody>
      </p:sp>
      <p:pic>
        <p:nvPicPr>
          <p:cNvPr id="4" name="Diagram" descr="Settling Time and Delay Tim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ts ≈ 4/(ζωn) for 2 % band;   ts ≈ 3/(ζωn) for 5 % band</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td ≈ (1 + 0.7ζ)/ωn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Pole Location and Specifications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ωn = distance of the pole from the origin.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 cos θ, θ measured from negative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Real part σ sets settling time.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Imaginary part ωd sets peak time.</a:t>
            </a:r>
            <a:endParaRPr lang="en-US" sz="1400" dirty="0"/>
          </a:p>
        </p:txBody>
      </p:sp>
      <p:pic>
        <p:nvPicPr>
          <p:cNvPr id="4" name="Diagram" descr="Pole Location and Specific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ωn = √(σ² + ωd²);   ζ = σ/ωn = cos θ</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Effect of ζ and ωn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Increase ζ: overshoot falls, peak comes later.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Increase ωn: all times shrink; overshoot unchanged.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Typical design choice: 0.4 ≤ ζ ≤ 0.8.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Trade-off: speed against smoothness.</a:t>
            </a:r>
            <a:endParaRPr lang="en-US" sz="1400" dirty="0"/>
          </a:p>
        </p:txBody>
      </p:sp>
      <p:pic>
        <p:nvPicPr>
          <p:cNvPr id="4" name="Diagram" descr="Effect of ζ and ω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ζ changes the shape of the response; ωn changes its speed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Steady-State Link (Type 1)</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G(s) = ωn²/[s(s + 2ζωn)] is Type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 step input: ess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 ramp input: finite error ess = 1/Kv.</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Raising ζ increases the ramp error.</a:t>
            </a:r>
            <a:endParaRPr lang="en-US" sz="1400" dirty="0"/>
          </a:p>
        </p:txBody>
      </p:sp>
      <p:pic>
        <p:nvPicPr>
          <p:cNvPr id="4" name="Diagram" descr="Steady-State Link (Type 1)">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Kv = lim s→0 s·G(s) = ωn/(2ζ);   ess(ramp) = 2ζ/ωn</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Kv velocity error constant (1/s), ess steady-state error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Find the Specs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G(s) = 25/[s(s + 6)], unity feedback, unit step.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T(s) = 25/(s² + 6s + 25), so ωn = 5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2ζωn = 6, so ζ = 0.6; ωd = 5√0.64 = 4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φ = cos⁻¹0.6 = 0.927 rad; tr = (π − 0.927)/4 = 0.554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tp = π/4 = 0.785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Mp = e^(−π·0.6/0.8) = 0.0948, i.e. 9.5 %.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ts = 4/3 = 1.33 s (2 %); 3/3 = 1.0 s (5 %).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7. Kv = 25/6; ess(ramp) = 2ζ/ωn = 0.24.</a:t>
            </a:r>
            <a:endParaRPr lang="en-US" sz="1400" dirty="0"/>
          </a:p>
        </p:txBody>
      </p:sp>
      <p:pic>
        <p:nvPicPr>
          <p:cNvPr id="4" name="Diagram" descr="Solved Example 1: Find the Specs">    </p:cNvPr>
          <p:cNvPicPr>
            <a:picLocks noChangeAspect="1"/>
          </p:cNvPicPr>
          <p:nvPr/>
        </p:nvPicPr>
        <p:blipFill>
          <a:blip r:embed="rId1"/>
          <a:stretch>
            <a:fillRect/>
          </a:stretch>
        </p:blipFill>
        <p:spPr>
          <a:xfrm>
            <a:off x="5257800" y="1231583"/>
            <a:ext cx="3429000" cy="2657475"/>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ωn = 5, ζ = 0.6, tr = 0.554 s, tp = 0.785 s, Mp = 9.5 %, ts = 1.33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Design from Specs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G(s) = K/[s(s + a)], unity feedback. Need Mp = 10 %, tp = 2 s. Find K, a, 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ζ = ln10/√(π² + ln²10) = 2.303/3.895 = 0.591.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ωd = π/tp = 1.571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ωn = ωd/√(1 − ζ²) = 1.571/0.807 = 1.947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K = ωn² = 3.79.</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a = 2ζωn = 2.30.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ts = 4/(ζωn) = 4/1.151 = 3.47 s (2 %).</a:t>
            </a:r>
            <a:endParaRPr lang="en-US" sz="1400" dirty="0"/>
          </a:p>
        </p:txBody>
      </p:sp>
      <p:pic>
        <p:nvPicPr>
          <p:cNvPr id="4" name="Diagram" descr="Solved Example 2: Design from Specs">    </p:cNvPr>
          <p:cNvPicPr>
            <a:picLocks noChangeAspect="1"/>
          </p:cNvPicPr>
          <p:nvPr/>
        </p:nvPicPr>
        <p:blipFill>
          <a:blip r:embed="rId1"/>
          <a:stretch>
            <a:fillRect/>
          </a:stretch>
        </p:blipFill>
        <p:spPr>
          <a:xfrm>
            <a:off x="5257800" y="1231583"/>
            <a:ext cx="3429000" cy="2657475"/>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K = 3.79, a = 2.30, ts = 3.47 s; poles at −1.15 ± j1.57</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ωn instead of ωd in tr and tp.</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degrees and radians for φ.</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Writing Mp as a fraction but quoting it as %.</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Quoting ts without stating the 2 % or 5 % band.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the overshoot formula outside 0 &lt; ζ &lt; 1.</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Rewrite into standard form first.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Compare coefficients to get ωn and ζ.</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that ζ lies between 0 and 1.</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Set the calculator to radians for φ.</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Show formula, substitution, answer with unit.</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Standard form: ωn²/(s² + 2ζωn·s + ωn²).</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ζ decides response type; poles −ζωn ± jωd.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tp = π/ωd;  tr = (π − φ)/ωd.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Mp = e^(−πζ/√(1 − ζ²)); depends on ζ only.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ts ≈ 4/(ζωn) for a 2 % band.</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Pole position gives the specs; the specs give the pole position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A system with ζ = 0.4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undamped  (b) underdamped  (c) critically damped  (d) overdamped</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Peak overshoot depends only on: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ωn  (b) ζ  (c) K only  (d) ts</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ζ = 0.5, ωn = 4 rad/s: ts (2 % band) =</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0.5 s  (b) 1 s  (c) 2 s  (d) 4 s</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ωn = 10 rad/s, ζ = 0.6: peak time tp =</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0.314 s  (b) 0.393 s  (c) 0.524 s  (d) 0.785 s</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Peak overshoot for ζ = 0.5 is about: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5 %  (b) 16.3 %  (c) 25 %  (d) 50 %</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 J. Nagrath and M. Gopal, Control Systems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New Age International (P) Ltd., 2008 (Unit 2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3–5 textbook)</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12" name="Ref 4 badge"/>
          <p:cNvSpPr/>
          <p:nvPr/>
        </p:nvSpPr>
        <p:spPr>
          <a:xfrm>
            <a:off x="457200" y="3008376"/>
            <a:ext cx="420624" cy="420624"/>
          </a:xfrm>
          <a:prstGeom prst="ellipse">
            <a:avLst/>
          </a:prstGeom>
          <a:solidFill>
            <a:srgbClr val="14213D"/>
          </a:solidFill>
          <a:ln/>
        </p:spPr>
      </p:sp>
      <p:sp>
        <p:nvSpPr>
          <p:cNvPr id="13" name="Text 11"/>
          <p:cNvSpPr txBox="1"/>
          <p:nvPr/>
        </p:nvSpPr>
        <p:spPr>
          <a:xfrm>
            <a:off x="457200" y="30083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2"/>
          <p:cNvSpPr txBox="1"/>
          <p:nvPr/>
        </p:nvSpPr>
        <p:spPr>
          <a:xfrm>
            <a:off x="1051560" y="2953512"/>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5" name="Ref 5 badge"/>
          <p:cNvSpPr/>
          <p:nvPr/>
        </p:nvSpPr>
        <p:spPr>
          <a:xfrm>
            <a:off x="457200" y="3611880"/>
            <a:ext cx="420624" cy="420624"/>
          </a:xfrm>
          <a:prstGeom prst="ellipse">
            <a:avLst/>
          </a:prstGeom>
          <a:solidFill>
            <a:srgbClr val="14213D"/>
          </a:solidFill>
          <a:ln/>
        </p:spPr>
      </p:sp>
      <p:sp>
        <p:nvSpPr>
          <p:cNvPr id="16" name="Text 14"/>
          <p:cNvSpPr txBox="1"/>
          <p:nvPr/>
        </p:nvSpPr>
        <p:spPr>
          <a:xfrm>
            <a:off x="457200" y="3611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7" name="Text 15"/>
          <p:cNvSpPr txBox="1"/>
          <p:nvPr/>
        </p:nvSpPr>
        <p:spPr>
          <a:xfrm>
            <a:off x="1051560" y="3557016"/>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Lab: MATLAB / Simulink</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Experiments 1, 3 and 8: step response, time-domain specifications, DC position control</a:t>
            </a:r>
            <a:endParaRPr lang="en-US" sz="1400" dirty="0"/>
          </a:p>
        </p:txBody>
      </p:sp>
      <p:sp>
        <p:nvSpPr>
          <p:cNvPr id="18" name="Key strip"/>
          <p:cNvSpPr/>
          <p:nvPr/>
        </p:nvSpPr>
        <p:spPr>
          <a:xfrm>
            <a:off x="457200" y="4343400"/>
            <a:ext cx="8229600" cy="411480"/>
          </a:xfrm>
          <a:prstGeom prst="roundRect">
            <a:avLst>
              <a:gd name="adj" fmla="val 17778"/>
            </a:avLst>
          </a:prstGeom>
          <a:solidFill>
            <a:srgbClr val="E8EEF9"/>
          </a:solidFill>
          <a:ln/>
        </p:spPr>
      </p:sp>
      <p:sp>
        <p:nvSpPr>
          <p:cNvPr id="19"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static error constants and generalized error series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2: Second-Order Time Response</dc:title>
  <dc:subject>PptxGenJS Presentation</dc:subject>
  <dc:creator>Prof. Mitesh Astik</dc:creator>
  <cp:lastModifiedBy>Prof. Mitesh Astik</cp:lastModifiedBy>
  <cp:revision>1</cp:revision>
  <dcterms:created xsi:type="dcterms:W3CDTF">2026-10-28T16:42:59Z</dcterms:created>
  <dcterms:modified xsi:type="dcterms:W3CDTF">2026-10-28T16:42:59Z</dcterms:modified>
</cp:coreProperties>
</file>