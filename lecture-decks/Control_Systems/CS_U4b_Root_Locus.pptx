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Today's topic is Root locus concept and rules for construction. It belongs to Unit 4: Stability of Systems. By the end of this session you will be able to use it in numerical problems. Keep your notebooks ready because we will solve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aloud. They map to CO4 of the syllabus. Tell students that these are examinable and that the two solved examples follow the same pattern. Ask them to tick off each outcome at the end of the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poles of the closed loop are the roots of one plus K G H. Routh's test told us for which K all roots are in the left half-plane, but not where they are. The root locus shows the path of every closed-loop pole as K goes from zero to infinity, so we see ζ, ωn and stability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designer may want a damping ratio of 0.5 and a given settling time. Rather than solving the characteristic equation for many values of K, we draw the root locus once. Then we pick the point on the locus that meets the specification and read the gain from it. This is the standard method used with MATLAB's rlocus.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K equal to zero the closed-loop poles are the open-loop poles. As K grows, they move along branches. For the example, the poles at zero and minus two move toward each other, meet at minus one when K is one, then split into a complex pair with constant real part minus one. All design information is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K G H equal to minus one we get two conditions. The angle of G H must be an odd multiple of 180 degrees, which tests whether the point is on the locus. The magnitude of K G H must equal one, which gives the value of K at that point. The magnitude is the ratio of products of distances measured from the point to the poles and zeros.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the poles and zeros of the open-loop transfer function. Each branch starts at a pole. P minus Z of the branches go to infinity, the others terminate at the zeros. Since complex roots occur in conjugate pairs, the locus is symmetric about the real axis, so we only need to draw one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any point on the real axis and count the poles and zeros to its right. Complex ones cancel in pairs, so only the real ones matter. If the total is odd, the angle condition is met and the point is on the locus. For our three poles, the intervals between 0 and minus 2, and to the left of minus 4 qualify.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large K the branches that do not end at finite zeros become straight lines. Their angles are odd multiples of 180 degrees divided by P minus Z. They all radiate from the centroid, which is the sum of the poles minus the sum of the zeros divided by P minus Z. In the example the centroid is minus two and the angles are 60, 180 and 300 degrees.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two adjacent poles on the real axis the locus must break away into the complex plane. The break point is where K has a maximum along the real axis, so we set dK by ds to zero. Solve the quadratic, and keep only roots that lie on valid real-axis segments. Here minus 0.845 is on the locus, while minus 3.155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poles are complex, the direction in which the branch leaves can be found from the angle condition at that pole. The imaginary-axis crossing is most easily found using Routh's test: at the critical gain a row of zeros appears and the auxiliary polynomial gives the frequency. For our example K equals 48 and the crossing is at j 2.83, as we found in the previous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rules in order and collect numbers before sketching. The breakaway point gives K equal to the product of the distances, which is 0.845 times 1.155 times 3.155, about 3.08. The imaginary-axis crossing comes from Routh. With these points and the asymptotes, the sketch is almost automatic; verify with MATLAB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damping ratio of 0.5 means the pole lies on a radial line at 60 degrees from the negative real axis. Where this line crosses the locus gives the dominant pair of poles. The third pole follows from the fact that the sum of the roots is minus six. The magnitude condition then gives K of about 8.3. The dominant pair is slow, so the real pole at minus 4.67 is far away and can be neglected.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points where marks are lost most often in root locus. Give one quick example for each mistake. Remind students that writing the formula, substitution and the unit earns method marks even if the arithmetic slips. Encourage them to check the answer for reasonableness.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minute. Say each point and ask the class to recall the formula for it. If they remember these ideas, most numerical problems on root locus are within reach. Next lecture: compensators and controllers (lag, lead, PID). Revise the two solved examples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about one minute per question and take a show of hands. Discuss why the wrong options are tempting, especially the one that uses a wrong formula. Use the quiz as a quick check on root locus before leaving.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students to the textbooks listed in the syllabus for root locus. Ask them to solve at least three textbook problems on this topic before the next class. Thank the class and preview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548640" y="4754880"/>
            <a:ext cx="5486400" cy="228600"/>
          </a:xfrm>
          <a:prstGeom prst="rect">
            <a:avLst/>
          </a:prstGeom>
          <a:noFill/>
          <a:ln/>
        </p:spPr>
        <p:txBody>
          <a:bodyPr wrap="square" lIns="0" tIns="0" rIns="0" bIns="0" rtlCol="0" anchor="ctr"/>
          <a:lstStyle/>
          <a:p>
            <a:pPr indent="0" marL="0">
              <a:buNone/>
            </a:pPr>
            <a:r>
              <a:rPr lang="en-US" sz="1000" dirty="0">
                <a:solidFill>
                  <a:srgbClr val="C9D3E3"/>
                </a:solidFill>
                <a:latin typeface="Calibri" pitchFamily="34" charset="0"/>
                <a:ea typeface="Calibri" pitchFamily="34" charset="-122"/>
                <a:cs typeface="Calibri" pitchFamily="34" charset="-120"/>
              </a:rPr>
              <a:t>Control Systems (22EEG53)  |  Prof. Mitesh Astik</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2800" b="1" dirty="0">
                <a:solidFill>
                  <a:srgbClr val="14213D"/>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46320"/>
            <a:ext cx="6400800" cy="228600"/>
          </a:xfrm>
          <a:prstGeom prst="rect">
            <a:avLst/>
          </a:prstGeom>
          <a:noFill/>
          <a:ln/>
        </p:spPr>
        <p:txBody>
          <a:bodyPr wrap="square" lIns="0" tIns="0" rIns="0" bIns="0" rtlCol="0" anchor="ctr"/>
          <a:lstStyle/>
          <a:p>
            <a:pPr indent="0" marL="0">
              <a:buNone/>
            </a:pPr>
            <a:r>
              <a:rPr lang="en-US" sz="1000" dirty="0">
                <a:solidFill>
                  <a:srgbClr val="5B6472"/>
                </a:solidFill>
                <a:latin typeface="Calibri" pitchFamily="34" charset="0"/>
                <a:ea typeface="Calibri" pitchFamily="34" charset="-122"/>
                <a:cs typeface="Calibri" pitchFamily="34" charset="-120"/>
              </a:rPr>
              <a:t>Control Systems (22EEG53)  |  Prof. Mitesh Astik</a:t>
            </a:r>
            <a:endParaRPr lang="en-US" sz="10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art" descr="preencoded.png">    </p:cNvPr>
          <p:cNvPicPr>
            <a:picLocks noChangeAspect="1"/>
          </p:cNvPicPr>
          <p:nvPr/>
        </p:nvPicPr>
        <p:blipFill>
          <a:blip r:embed="rId1"/>
          <a:stretch>
            <a:fillRect/>
          </a:stretch>
        </p:blipFill>
        <p:spPr>
          <a:xfrm>
            <a:off x="4572000" y="822960"/>
            <a:ext cx="4206240" cy="3383280"/>
          </a:xfrm>
          <a:prstGeom prst="rect">
            <a:avLst/>
          </a:prstGeom>
        </p:spPr>
      </p:pic>
      <p:sp>
        <p:nvSpPr>
          <p:cNvPr id="3" name="Text 0"/>
          <p:cNvSpPr txBox="1"/>
          <p:nvPr/>
        </p:nvSpPr>
        <p:spPr>
          <a:xfrm>
            <a:off x="548640" y="822960"/>
            <a:ext cx="4023360" cy="155448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Root Locus Technique</a:t>
            </a:r>
            <a:endParaRPr lang="en-US" sz="3200" dirty="0"/>
          </a:p>
        </p:txBody>
      </p:sp>
      <p:sp>
        <p:nvSpPr>
          <p:cNvPr id="4" name="Text 1"/>
          <p:cNvSpPr txBox="1"/>
          <p:nvPr/>
        </p:nvSpPr>
        <p:spPr>
          <a:xfrm>
            <a:off x="548640" y="2514600"/>
            <a:ext cx="3931920" cy="1920240"/>
          </a:xfrm>
          <a:prstGeom prst="rect">
            <a:avLst/>
          </a:prstGeom>
          <a:noFill/>
          <a:ln/>
        </p:spPr>
        <p:txBody>
          <a:bodyPr wrap="square" lIns="0" tIns="0" rIns="0" bIns="0" rtlCol="0" anchor="t"/>
          <a:lstStyle/>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Control Systems (22EEG53)</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Unit 4: Stability of Systems</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Topic: Root locus concept and rules for construction</a:t>
            </a:r>
            <a:endParaRPr lang="en-US" sz="1500" dirty="0"/>
          </a:p>
          <a:p>
            <a:pPr indent="0" marL="0">
              <a:spcAft>
                <a:spcPts val="800"/>
              </a:spcAft>
              <a:buNone/>
            </a:pPr>
            <a:r>
              <a:rPr lang="en-US" sz="1500" b="1" dirty="0">
                <a:solidFill>
                  <a:srgbClr val="FCA311"/>
                </a:solidFill>
                <a:latin typeface="Calibri" pitchFamily="34" charset="0"/>
                <a:ea typeface="Calibri" pitchFamily="34" charset="-122"/>
                <a:cs typeface="Calibri" pitchFamily="34" charset="-120"/>
              </a:rPr>
              <a:t>Prof. Mitesh Astik</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Learning Outcomes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State the root-locus idea and its conditions.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Apply the construction rules step by step.</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Find breakaway points and the jω-axis crossing.</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Pick the gain K for a desired damping ratio.</a:t>
            </a:r>
            <a:endParaRPr lang="en-US" sz="1400" dirty="0"/>
          </a:p>
        </p:txBody>
      </p:sp>
      <p:pic>
        <p:nvPicPr>
          <p:cNvPr id="4" name="Diagram" descr="Learning Outcome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Linked to CO4</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Understand stability using Routh–Hurwitz and root locus.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Recap: What You Already Know</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Closed-loop poles solve 1 + GH = 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Pole position sets the transient response.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Gain K changes the pole positions.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Routh gives the stable range of K.</a:t>
            </a:r>
            <a:endParaRPr lang="en-US" sz="1400" dirty="0"/>
          </a:p>
        </p:txBody>
      </p:sp>
      <p:pic>
        <p:nvPicPr>
          <p:cNvPr id="4" name="Diagram" descr="Recap: What You Already Know">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Closed-loop poles: roots of 1 + K·G(s)H(s) = 0,  with  K ≥ 0</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Motivation: Tuning the Gain</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Gain sets speed, overshoot and stability.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Trial and error with step tests is slow.</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The locus shows all designs in one picture.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Choose K to put poles where specs need them.</a:t>
            </a:r>
            <a:endParaRPr lang="en-US" sz="1400" dirty="0"/>
          </a:p>
        </p:txBody>
      </p:sp>
      <p:pic>
        <p:nvPicPr>
          <p:cNvPr id="4" name="Diagram" descr="Motivation: Tuning the Gain">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Root locus = plot of closed-loop poles as K varies from 0 to ∞</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Root Locus Concept</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Poles of G(s)H(s) are the starting points (K = 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Zeros of G(s)H(s) are the end points (K → ∞).</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Each pole traces a branch as K increases.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branch leaving to ∞ follows an asymptote.</a:t>
            </a:r>
            <a:endParaRPr lang="en-US" sz="1400" dirty="0"/>
          </a:p>
        </p:txBody>
      </p:sp>
      <p:pic>
        <p:nvPicPr>
          <p:cNvPr id="4" name="Diagram" descr="Root Locus Concept">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1 + K·G(s)H(s) = 0  ⇒  K·G(s)H(s) = −1</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G(s)H(s) = N(s)/D(s), K gain, K ≥ 0</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Magnitude and Angle Conditions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point s is on the locus if it satisfies both.</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Angle condition: ∠GH = ±180°(2q + 1).</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Magnitude condition gives the gain K at 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Measure with vectors from poles and zeros.</a:t>
            </a:r>
            <a:endParaRPr lang="en-US" sz="1400" dirty="0"/>
          </a:p>
        </p:txBody>
      </p:sp>
      <p:pic>
        <p:nvPicPr>
          <p:cNvPr id="4" name="Diagram" descr="Magnitude and Angle Condition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∠G(s)H(s) = ±180°(2q + 1);   K = 1/|G(s)H(s)| = (product of pole distances)/(product of zero distances)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Rules 1–2: Branches, Start, End, Symmetry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Number of branches = number of poles (if P ≥ Z).</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Branches start at poles, end at zeros or ∞.</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 − Z branches go to infinity.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The locus is symmetrical about the real axis.</a:t>
            </a:r>
            <a:endParaRPr lang="en-US" sz="1400" dirty="0"/>
          </a:p>
        </p:txBody>
      </p:sp>
      <p:pic>
        <p:nvPicPr>
          <p:cNvPr id="4" name="Diagram" descr="Rules 1–2: Branches, Start, End, Symmetr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 poles, Z zeros → P − Z asymptotic branches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Rule 3: Real-Axis Segments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Take a test point on the real axis.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Count poles and zeros to its right.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Odd count: the point is on the locus.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Even count: not on the locus.</a:t>
            </a:r>
            <a:endParaRPr lang="en-US" sz="1400" dirty="0"/>
          </a:p>
        </p:txBody>
      </p:sp>
      <p:pic>
        <p:nvPicPr>
          <p:cNvPr id="4" name="Diagram" descr="Rule 3: Real-Axis Segment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Example poles 0, −2, −4: locus on [−2, 0] and (−∞, −4]</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Rule 4: Asymptotes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 − Z branches approach straight lines.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Angles are equally spaced.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All asymptotes meet at the centroid σa on the real axis.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Example P = 3, Z = 0: 60°, 180°, 300°.</a:t>
            </a:r>
            <a:endParaRPr lang="en-US" sz="1400" dirty="0"/>
          </a:p>
        </p:txBody>
      </p:sp>
      <p:pic>
        <p:nvPicPr>
          <p:cNvPr id="4" name="Diagram" descr="Rule 4: Asymptote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θq = ±180°(2q + 1)/(P − Z);   σa = (Σ poles − Σ zeros)/(P − Z)</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Example: σa = (0 − 2 − 4)/3 = −2</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Rule 5: Breakaway and Break-in Points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Branches leave or join the real axis.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Write K = −1/(G H) as a function of 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Solve dK/ds = 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Accept roots lying on the locus (rule 3).</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Compute K at the point.</a:t>
            </a:r>
            <a:endParaRPr lang="en-US" sz="1400" dirty="0"/>
          </a:p>
        </p:txBody>
      </p:sp>
      <p:pic>
        <p:nvPicPr>
          <p:cNvPr id="4" name="Diagram" descr="Rule 5: Breakaway and Break-in Point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dK/ds = 0 with K = −D(s)/N(s)</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Example: K = −(s³ + 6s² + 8s) → 3s² + 12s + 8 = 0 → s = −0.845 (valid), −3.155 (not on locus)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Rules 6–7: Departure Angle and jω Crossing</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Departure angle from a complex pole: 180° − Σ(other angles).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Arrival angle at a complex zero: similar.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jω crossing: put s = jω or use Routh.</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Crossing gives K for marginal stability.</a:t>
            </a:r>
            <a:endParaRPr lang="en-US" sz="1400" dirty="0"/>
          </a:p>
        </p:txBody>
      </p:sp>
      <p:pic>
        <p:nvPicPr>
          <p:cNvPr id="4" name="Diagram" descr="Rules 6–7: Departure Angle and jω Crossing">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Departure angle = 180° − Σ ∠(poles) + Σ ∠(zeros)</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Crossing: Routh row of zeros → K = 48, ω = 2.83 rad/s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1: Sketch the Locus</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Sketch the locus of G(s)H(s) = K/[s(s + 2)(s + 4)].</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P = 3, Z = 0: three branches to ∞.</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Real axis: [−2, 0] and (−∞, −4].</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Asymptotes 60°, 180°, 300°; σa = −2.</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Breakaway: 3s² + 12s + 8 = 0 → s = −0.845, K = 3.08.</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5. jω crossing: K = 48, s = ±j2.83.</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6. Complete the sketch.</a:t>
            </a:r>
            <a:endParaRPr lang="en-US" sz="1400" dirty="0"/>
          </a:p>
        </p:txBody>
      </p:sp>
      <p:pic>
        <p:nvPicPr>
          <p:cNvPr id="4" name="Diagram" descr="Solved Example 1: Sketch the Locus">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breakaway −0.845 (K = 3.08); unstable for K &gt; 48</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2: Gain for ζ = 0.5</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For the same system find K for ζ = 0.5 and the closed-loop poles.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ζ = 0.5 → poles on the line at 60° from the negative real axis.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Intersection with the locus: s = −0.667 ± j1.155.</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Third pole: sum of poles = −6 → −4.67.</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K = |s||s + 2||s + 4| = 1.333 × 1.764 × 3.53 ≈ 8.3.</a:t>
            </a:r>
            <a:endParaRPr lang="en-US" sz="1400" dirty="0"/>
          </a:p>
        </p:txBody>
      </p:sp>
      <p:pic>
        <p:nvPicPr>
          <p:cNvPr id="4" name="Diagram" descr="Solved Example 2: Gain for ζ = 0.5">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K ≈ 8.3; poles −0.667 ± j1.155 and −4.67</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Common Mistakes and Exam Tips</a:t>
            </a:r>
            <a:endParaRPr lang="en-US" sz="2800" dirty="0"/>
          </a:p>
        </p:txBody>
      </p:sp>
      <p:sp>
        <p:nvSpPr>
          <p:cNvPr id="3" name="Common mistakes card"/>
          <p:cNvSpPr/>
          <p:nvPr/>
        </p:nvSpPr>
        <p:spPr>
          <a:xfrm>
            <a:off x="457200" y="1143000"/>
            <a:ext cx="4023360" cy="3566160"/>
          </a:xfrm>
          <a:prstGeom prst="roundRect">
            <a:avLst>
              <a:gd name="adj" fmla="val 2564"/>
            </a:avLst>
          </a:prstGeom>
          <a:solidFill>
            <a:srgbClr val="F3F6FB"/>
          </a:solidFill>
          <a:ln/>
        </p:spPr>
      </p:sp>
      <p:sp>
        <p:nvSpPr>
          <p:cNvPr id="4" name="Common mistakes icon"/>
          <p:cNvSpPr/>
          <p:nvPr/>
        </p:nvSpPr>
        <p:spPr>
          <a:xfrm>
            <a:off x="640080" y="1280160"/>
            <a:ext cx="411480" cy="411480"/>
          </a:xfrm>
          <a:prstGeom prst="ellipse">
            <a:avLst/>
          </a:prstGeom>
          <a:solidFill>
            <a:srgbClr val="C0392B"/>
          </a:solidFill>
          <a:ln/>
        </p:spPr>
      </p:sp>
      <p:sp>
        <p:nvSpPr>
          <p:cNvPr id="5" name="Text 3"/>
          <p:cNvSpPr txBox="1"/>
          <p:nvPr/>
        </p:nvSpPr>
        <p:spPr>
          <a:xfrm>
            <a:off x="64008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6" name="Text 4"/>
          <p:cNvSpPr txBox="1"/>
          <p:nvPr/>
        </p:nvSpPr>
        <p:spPr>
          <a:xfrm>
            <a:off x="118872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Common mistakes</a:t>
            </a:r>
            <a:endParaRPr lang="en-US" sz="2000" dirty="0"/>
          </a:p>
        </p:txBody>
      </p:sp>
      <p:sp>
        <p:nvSpPr>
          <p:cNvPr id="7" name="Text 5"/>
          <p:cNvSpPr txBox="1"/>
          <p:nvPr/>
        </p:nvSpPr>
        <p:spPr>
          <a:xfrm>
            <a:off x="68580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Counting only poles to the left for real-axis segments.</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Accepting a breakaway root that is not on the locus.</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Mixing up σa formula signs.</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Taking asymptote angles from the positive axis only.</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Drawing branches that cross each other.</a:t>
            </a:r>
            <a:endParaRPr lang="en-US" sz="1600" dirty="0"/>
          </a:p>
        </p:txBody>
      </p:sp>
      <p:sp>
        <p:nvSpPr>
          <p:cNvPr id="8" name="Exam tips card"/>
          <p:cNvSpPr/>
          <p:nvPr/>
        </p:nvSpPr>
        <p:spPr>
          <a:xfrm>
            <a:off x="4663440" y="1143000"/>
            <a:ext cx="4023360" cy="3566160"/>
          </a:xfrm>
          <a:prstGeom prst="roundRect">
            <a:avLst>
              <a:gd name="adj" fmla="val 2564"/>
            </a:avLst>
          </a:prstGeom>
          <a:solidFill>
            <a:srgbClr val="F3F6FB"/>
          </a:solidFill>
          <a:ln/>
        </p:spPr>
      </p:sp>
      <p:sp>
        <p:nvSpPr>
          <p:cNvPr id="9" name="Exam tips icon"/>
          <p:cNvSpPr/>
          <p:nvPr/>
        </p:nvSpPr>
        <p:spPr>
          <a:xfrm>
            <a:off x="4846320" y="1280160"/>
            <a:ext cx="411480" cy="411480"/>
          </a:xfrm>
          <a:prstGeom prst="ellipse">
            <a:avLst/>
          </a:prstGeom>
          <a:solidFill>
            <a:srgbClr val="2E8B57"/>
          </a:solidFill>
          <a:ln/>
        </p:spPr>
      </p:sp>
      <p:sp>
        <p:nvSpPr>
          <p:cNvPr id="10" name="Text 8"/>
          <p:cNvSpPr txBox="1"/>
          <p:nvPr/>
        </p:nvSpPr>
        <p:spPr>
          <a:xfrm>
            <a:off x="484632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1" name="Text 9"/>
          <p:cNvSpPr txBox="1"/>
          <p:nvPr/>
        </p:nvSpPr>
        <p:spPr>
          <a:xfrm>
            <a:off x="539496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Exam tips</a:t>
            </a:r>
            <a:endParaRPr lang="en-US" sz="2000" dirty="0"/>
          </a:p>
        </p:txBody>
      </p:sp>
      <p:sp>
        <p:nvSpPr>
          <p:cNvPr id="12" name="Text 10"/>
          <p:cNvSpPr txBox="1"/>
          <p:nvPr/>
        </p:nvSpPr>
        <p:spPr>
          <a:xfrm>
            <a:off x="489204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Follow the rules in order.</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Check each candidate point with the angle condition.</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Verify K at the jω crossing with Routh.</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Remember the locus is symmetric about the real axis.</a:t>
            </a:r>
            <a:endParaRPr lang="en-US" sz="16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Summary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Root locus = path of closed-loop poles for 0 ≤ K &lt; ∞.</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Angle condition finds the locus; magnitude gives K.</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Real-axis segments: odd number of poles + zeros to the right.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Asymptotes: angles 180°(2q + 1)/(P − Z), centroid σa.</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Breakaway: dK/ds = 0; jω crossing from Routh.</a:t>
            </a:r>
            <a:endParaRPr lang="en-US" sz="1400" dirty="0"/>
          </a:p>
        </p:txBody>
      </p:sp>
      <p:pic>
        <p:nvPicPr>
          <p:cNvPr id="4" name="Diagram" descr="Summar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Choose K from the locus to meet ζ, ts and stability requirements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Quick Quiz</a:t>
            </a:r>
            <a:endParaRPr lang="en-US" sz="2800" dirty="0"/>
          </a:p>
        </p:txBody>
      </p:sp>
      <p:sp>
        <p:nvSpPr>
          <p:cNvPr id="3" name="Q1 row"/>
          <p:cNvSpPr/>
          <p:nvPr/>
        </p:nvSpPr>
        <p:spPr>
          <a:xfrm>
            <a:off x="457200" y="1097280"/>
            <a:ext cx="8229600" cy="658368"/>
          </a:xfrm>
          <a:prstGeom prst="roundRect">
            <a:avLst>
              <a:gd name="adj" fmla="val 11111"/>
            </a:avLst>
          </a:prstGeom>
          <a:solidFill>
            <a:srgbClr val="F3F6FB"/>
          </a:solidFill>
          <a:ln w="9525">
            <a:solidFill>
              <a:srgbClr val="E8EEF9"/>
            </a:solidFill>
            <a:prstDash val="solid"/>
          </a:ln>
        </p:spPr>
      </p:sp>
      <p:sp>
        <p:nvSpPr>
          <p:cNvPr id="4" name="Text 2"/>
          <p:cNvSpPr txBox="1"/>
          <p:nvPr/>
        </p:nvSpPr>
        <p:spPr>
          <a:xfrm>
            <a:off x="594360" y="109728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Q1. Root locus branches start at:</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zeros  (b) poles of GH  (c) origin  (d) infinity</a:t>
            </a:r>
            <a:endParaRPr lang="en-US" sz="1400" dirty="0"/>
          </a:p>
        </p:txBody>
      </p:sp>
      <p:sp>
        <p:nvSpPr>
          <p:cNvPr id="5" name="Q1 answer"/>
          <p:cNvSpPr/>
          <p:nvPr/>
        </p:nvSpPr>
        <p:spPr>
          <a:xfrm>
            <a:off x="7269480" y="1225296"/>
            <a:ext cx="1280160" cy="402336"/>
          </a:xfrm>
          <a:prstGeom prst="roundRect">
            <a:avLst>
              <a:gd name="adj" fmla="val 22727"/>
            </a:avLst>
          </a:prstGeom>
          <a:solidFill>
            <a:srgbClr val="2E8B57"/>
          </a:solidFill>
          <a:ln/>
        </p:spPr>
      </p:sp>
      <p:sp>
        <p:nvSpPr>
          <p:cNvPr id="6" name="Text 4"/>
          <p:cNvSpPr txBox="1"/>
          <p:nvPr/>
        </p:nvSpPr>
        <p:spPr>
          <a:xfrm>
            <a:off x="7269480" y="122529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7" name="Q2 row"/>
          <p:cNvSpPr/>
          <p:nvPr/>
        </p:nvSpPr>
        <p:spPr>
          <a:xfrm>
            <a:off x="457200" y="1828800"/>
            <a:ext cx="8229600" cy="658368"/>
          </a:xfrm>
          <a:prstGeom prst="roundRect">
            <a:avLst>
              <a:gd name="adj" fmla="val 11111"/>
            </a:avLst>
          </a:prstGeom>
          <a:solidFill>
            <a:srgbClr val="FFFFFF"/>
          </a:solidFill>
          <a:ln w="9525">
            <a:solidFill>
              <a:srgbClr val="E8EEF9"/>
            </a:solidFill>
            <a:prstDash val="solid"/>
          </a:ln>
        </p:spPr>
      </p:sp>
      <p:sp>
        <p:nvSpPr>
          <p:cNvPr id="8" name="Text 6"/>
          <p:cNvSpPr txBox="1"/>
          <p:nvPr/>
        </p:nvSpPr>
        <p:spPr>
          <a:xfrm>
            <a:off x="594360" y="182880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Q2. Number of asymptotes for P = 4, Z = 1:</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1  (b) 3  (c) 4  (d) 5</a:t>
            </a:r>
            <a:endParaRPr lang="en-US" sz="1400" dirty="0"/>
          </a:p>
        </p:txBody>
      </p:sp>
      <p:sp>
        <p:nvSpPr>
          <p:cNvPr id="9" name="Q2 answer"/>
          <p:cNvSpPr/>
          <p:nvPr/>
        </p:nvSpPr>
        <p:spPr>
          <a:xfrm>
            <a:off x="7269480" y="1956816"/>
            <a:ext cx="1280160" cy="402336"/>
          </a:xfrm>
          <a:prstGeom prst="roundRect">
            <a:avLst>
              <a:gd name="adj" fmla="val 22727"/>
            </a:avLst>
          </a:prstGeom>
          <a:solidFill>
            <a:srgbClr val="2E8B57"/>
          </a:solidFill>
          <a:ln/>
        </p:spPr>
      </p:sp>
      <p:sp>
        <p:nvSpPr>
          <p:cNvPr id="10" name="Text 8"/>
          <p:cNvSpPr txBox="1"/>
          <p:nvPr/>
        </p:nvSpPr>
        <p:spPr>
          <a:xfrm>
            <a:off x="7269480" y="195681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1" name="Q3 row"/>
          <p:cNvSpPr/>
          <p:nvPr/>
        </p:nvSpPr>
        <p:spPr>
          <a:xfrm>
            <a:off x="457200" y="2560320"/>
            <a:ext cx="8229600" cy="658368"/>
          </a:xfrm>
          <a:prstGeom prst="roundRect">
            <a:avLst>
              <a:gd name="adj" fmla="val 11111"/>
            </a:avLst>
          </a:prstGeom>
          <a:solidFill>
            <a:srgbClr val="F3F6FB"/>
          </a:solidFill>
          <a:ln w="9525">
            <a:solidFill>
              <a:srgbClr val="E8EEF9"/>
            </a:solidFill>
            <a:prstDash val="solid"/>
          </a:ln>
        </p:spPr>
      </p:sp>
      <p:sp>
        <p:nvSpPr>
          <p:cNvPr id="12" name="Text 10"/>
          <p:cNvSpPr txBox="1"/>
          <p:nvPr/>
        </p:nvSpPr>
        <p:spPr>
          <a:xfrm>
            <a:off x="594360" y="256032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Q3. A real-axis point is on the locus if poles + zeros to its right is: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even  (b) odd  (c) zero  (d) any</a:t>
            </a:r>
            <a:endParaRPr lang="en-US" sz="1400" dirty="0"/>
          </a:p>
        </p:txBody>
      </p:sp>
      <p:sp>
        <p:nvSpPr>
          <p:cNvPr id="13" name="Q3 answer"/>
          <p:cNvSpPr/>
          <p:nvPr/>
        </p:nvSpPr>
        <p:spPr>
          <a:xfrm>
            <a:off x="7269480" y="2688336"/>
            <a:ext cx="1280160" cy="402336"/>
          </a:xfrm>
          <a:prstGeom prst="roundRect">
            <a:avLst>
              <a:gd name="adj" fmla="val 22727"/>
            </a:avLst>
          </a:prstGeom>
          <a:solidFill>
            <a:srgbClr val="2E8B57"/>
          </a:solidFill>
          <a:ln/>
        </p:spPr>
      </p:sp>
      <p:sp>
        <p:nvSpPr>
          <p:cNvPr id="14" name="Text 12"/>
          <p:cNvSpPr txBox="1"/>
          <p:nvPr/>
        </p:nvSpPr>
        <p:spPr>
          <a:xfrm>
            <a:off x="7269480" y="268833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5" name="Q4 row"/>
          <p:cNvSpPr/>
          <p:nvPr/>
        </p:nvSpPr>
        <p:spPr>
          <a:xfrm>
            <a:off x="457200" y="3291840"/>
            <a:ext cx="8229600" cy="658368"/>
          </a:xfrm>
          <a:prstGeom prst="roundRect">
            <a:avLst>
              <a:gd name="adj" fmla="val 11111"/>
            </a:avLst>
          </a:prstGeom>
          <a:solidFill>
            <a:srgbClr val="FFFFFF"/>
          </a:solidFill>
          <a:ln w="9525">
            <a:solidFill>
              <a:srgbClr val="E8EEF9"/>
            </a:solidFill>
            <a:prstDash val="solid"/>
          </a:ln>
        </p:spPr>
      </p:sp>
      <p:sp>
        <p:nvSpPr>
          <p:cNvPr id="16" name="Text 14"/>
          <p:cNvSpPr txBox="1"/>
          <p:nvPr/>
        </p:nvSpPr>
        <p:spPr>
          <a:xfrm>
            <a:off x="594360" y="329184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Q4. Centroid for poles 0, −2, −4 and no zeros: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−6  (b) −3  (c) −2  (d) 0</a:t>
            </a:r>
            <a:endParaRPr lang="en-US" sz="1400" dirty="0"/>
          </a:p>
        </p:txBody>
      </p:sp>
      <p:sp>
        <p:nvSpPr>
          <p:cNvPr id="17" name="Q4 answer"/>
          <p:cNvSpPr/>
          <p:nvPr/>
        </p:nvSpPr>
        <p:spPr>
          <a:xfrm>
            <a:off x="7269480" y="3419856"/>
            <a:ext cx="1280160" cy="402336"/>
          </a:xfrm>
          <a:prstGeom prst="roundRect">
            <a:avLst>
              <a:gd name="adj" fmla="val 22727"/>
            </a:avLst>
          </a:prstGeom>
          <a:solidFill>
            <a:srgbClr val="2E8B57"/>
          </a:solidFill>
          <a:ln/>
        </p:spPr>
      </p:sp>
      <p:sp>
        <p:nvSpPr>
          <p:cNvPr id="18" name="Text 16"/>
          <p:cNvSpPr txBox="1"/>
          <p:nvPr/>
        </p:nvSpPr>
        <p:spPr>
          <a:xfrm>
            <a:off x="7269480" y="341985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(c)</a:t>
            </a:r>
            <a:endParaRPr lang="en-US" sz="1400" dirty="0"/>
          </a:p>
        </p:txBody>
      </p:sp>
      <p:sp>
        <p:nvSpPr>
          <p:cNvPr id="19" name="Q5 row"/>
          <p:cNvSpPr/>
          <p:nvPr/>
        </p:nvSpPr>
        <p:spPr>
          <a:xfrm>
            <a:off x="457200" y="4023360"/>
            <a:ext cx="8229600" cy="658368"/>
          </a:xfrm>
          <a:prstGeom prst="roundRect">
            <a:avLst>
              <a:gd name="adj" fmla="val 11111"/>
            </a:avLst>
          </a:prstGeom>
          <a:solidFill>
            <a:srgbClr val="F3F6FB"/>
          </a:solidFill>
          <a:ln w="9525">
            <a:solidFill>
              <a:srgbClr val="E8EEF9"/>
            </a:solidFill>
            <a:prstDash val="solid"/>
          </a:ln>
        </p:spPr>
      </p:sp>
      <p:sp>
        <p:nvSpPr>
          <p:cNvPr id="20" name="Text 18"/>
          <p:cNvSpPr txBox="1"/>
          <p:nvPr/>
        </p:nvSpPr>
        <p:spPr>
          <a:xfrm>
            <a:off x="594360" y="402336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Q5. Breakaway points satisfy:</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dK/ds = 0  (b) K = 0  (c) |GH| = 0  (d) s = jω</a:t>
            </a:r>
            <a:endParaRPr lang="en-US" sz="1400" dirty="0"/>
          </a:p>
        </p:txBody>
      </p:sp>
      <p:sp>
        <p:nvSpPr>
          <p:cNvPr id="21" name="Q5 answer"/>
          <p:cNvSpPr/>
          <p:nvPr/>
        </p:nvSpPr>
        <p:spPr>
          <a:xfrm>
            <a:off x="7269480" y="4151376"/>
            <a:ext cx="1280160" cy="402336"/>
          </a:xfrm>
          <a:prstGeom prst="roundRect">
            <a:avLst>
              <a:gd name="adj" fmla="val 22727"/>
            </a:avLst>
          </a:prstGeom>
          <a:solidFill>
            <a:srgbClr val="2E8B57"/>
          </a:solidFill>
          <a:ln/>
        </p:spPr>
      </p:sp>
      <p:sp>
        <p:nvSpPr>
          <p:cNvPr id="22" name="Text 20"/>
          <p:cNvSpPr txBox="1"/>
          <p:nvPr/>
        </p:nvSpPr>
        <p:spPr>
          <a:xfrm>
            <a:off x="7269480" y="415137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(a)</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References</a:t>
            </a:r>
            <a:endParaRPr lang="en-US" sz="2800" dirty="0"/>
          </a:p>
        </p:txBody>
      </p:sp>
      <p:sp>
        <p:nvSpPr>
          <p:cNvPr id="3" name="Ref 1 badge"/>
          <p:cNvSpPr/>
          <p:nvPr/>
        </p:nvSpPr>
        <p:spPr>
          <a:xfrm>
            <a:off x="457200" y="1197864"/>
            <a:ext cx="420624" cy="420624"/>
          </a:xfrm>
          <a:prstGeom prst="ellipse">
            <a:avLst/>
          </a:prstGeom>
          <a:solidFill>
            <a:srgbClr val="14213D"/>
          </a:solidFill>
          <a:ln/>
        </p:spPr>
      </p:sp>
      <p:sp>
        <p:nvSpPr>
          <p:cNvPr id="4" name="Text 2"/>
          <p:cNvSpPr txBox="1"/>
          <p:nvPr/>
        </p:nvSpPr>
        <p:spPr>
          <a:xfrm>
            <a:off x="457200" y="11978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051560" y="1143000"/>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Benjamin C. Kuo, Automatic Control Systems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7th Ed., PHI, 2007 (Units 3, 4, 5 textbook)</a:t>
            </a:r>
            <a:endParaRPr lang="en-US" sz="1400" dirty="0"/>
          </a:p>
        </p:txBody>
      </p:sp>
      <p:sp>
        <p:nvSpPr>
          <p:cNvPr id="6" name="Ref 2 badge"/>
          <p:cNvSpPr/>
          <p:nvPr/>
        </p:nvSpPr>
        <p:spPr>
          <a:xfrm>
            <a:off x="457200" y="1801368"/>
            <a:ext cx="420624" cy="420624"/>
          </a:xfrm>
          <a:prstGeom prst="ellipse">
            <a:avLst/>
          </a:prstGeom>
          <a:solidFill>
            <a:srgbClr val="14213D"/>
          </a:solidFill>
          <a:ln/>
        </p:spPr>
      </p:sp>
      <p:sp>
        <p:nvSpPr>
          <p:cNvPr id="7" name="Text 5"/>
          <p:cNvSpPr txBox="1"/>
          <p:nvPr/>
        </p:nvSpPr>
        <p:spPr>
          <a:xfrm>
            <a:off x="457200"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051560" y="1746504"/>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M. Gopal, Control Systems Principles and Design</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4th Ed., TMH, 1999 (reference, Units 4, 5)</a:t>
            </a:r>
            <a:endParaRPr lang="en-US" sz="1400" dirty="0"/>
          </a:p>
        </p:txBody>
      </p:sp>
      <p:sp>
        <p:nvSpPr>
          <p:cNvPr id="9" name="Ref 3 badge"/>
          <p:cNvSpPr/>
          <p:nvPr/>
        </p:nvSpPr>
        <p:spPr>
          <a:xfrm>
            <a:off x="457200" y="2404872"/>
            <a:ext cx="420624" cy="420624"/>
          </a:xfrm>
          <a:prstGeom prst="ellipse">
            <a:avLst/>
          </a:prstGeom>
          <a:solidFill>
            <a:srgbClr val="14213D"/>
          </a:solidFill>
          <a:ln/>
        </p:spPr>
      </p:sp>
      <p:sp>
        <p:nvSpPr>
          <p:cNvPr id="10" name="Text 8"/>
          <p:cNvSpPr txBox="1"/>
          <p:nvPr/>
        </p:nvSpPr>
        <p:spPr>
          <a:xfrm>
            <a:off x="457200" y="2404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051560" y="2350008"/>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 Ogata, Modern Control Engineering</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5th Ed., Pearson Education Asia / PHI, 2009 (reference)</a:t>
            </a:r>
            <a:endParaRPr lang="en-US" sz="1400" dirty="0"/>
          </a:p>
        </p:txBody>
      </p:sp>
      <p:sp>
        <p:nvSpPr>
          <p:cNvPr id="12" name="Key strip"/>
          <p:cNvSpPr/>
          <p:nvPr/>
        </p:nvSpPr>
        <p:spPr>
          <a:xfrm>
            <a:off x="457200" y="4343400"/>
            <a:ext cx="8229600" cy="411480"/>
          </a:xfrm>
          <a:prstGeom prst="roundRect">
            <a:avLst>
              <a:gd name="adj" fmla="val 17778"/>
            </a:avLst>
          </a:prstGeom>
          <a:solidFill>
            <a:srgbClr val="E8EEF9"/>
          </a:solidFill>
          <a:ln/>
        </p:spPr>
      </p:sp>
      <p:sp>
        <p:nvSpPr>
          <p:cNvPr id="13" name="Key strip text"/>
          <p:cNvSpPr txBox="1"/>
          <p:nvPr/>
        </p:nvSpPr>
        <p:spPr>
          <a:xfrm>
            <a:off x="594360" y="4343400"/>
            <a:ext cx="7955280" cy="41148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Next lecture: Unit 5: compensators and controllers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Control Systems">
  <a:themeElements>
    <a:clrScheme name="Control Systems">
      <a:dk1>
        <a:srgbClr val="1B2430"/>
      </a:dk1>
      <a:lt1>
        <a:srgbClr val="FFFFFF"/>
      </a:lt1>
      <a:dk2>
        <a:srgbClr val="14213D"/>
      </a:dk2>
      <a:lt2>
        <a:srgbClr val="F3F6FB"/>
      </a:lt2>
      <a:accent1>
        <a:srgbClr val="1F5FBF"/>
      </a:accent1>
      <a:accent2>
        <a:srgbClr val="E08A00"/>
      </a:accent2>
      <a:accent3>
        <a:srgbClr val="2E8B57"/>
      </a:accent3>
      <a:accent4>
        <a:srgbClr val="C0392B"/>
      </a:accent4>
      <a:accent5>
        <a:srgbClr val="5B6472"/>
      </a:accent5>
      <a:accent6>
        <a:srgbClr val="FCA311"/>
      </a:accent6>
      <a:hlink>
        <a:srgbClr val="1F5FBF"/>
      </a:hlink>
      <a:folHlink>
        <a:srgbClr val="5B6472"/>
      </a:folHlink>
    </a:clrScheme>
    <a:fontScheme name="Control System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Systems — Unit 4: Root Locus</dc:title>
  <dc:subject>PptxGenJS Presentation</dc:subject>
  <dc:creator>Prof. Mitesh Astik</dc:creator>
  <cp:lastModifiedBy>Prof. Mitesh Astik</cp:lastModifiedBy>
  <cp:revision>1</cp:revision>
  <dcterms:created xsi:type="dcterms:W3CDTF">2026-10-28T16:42:54Z</dcterms:created>
  <dcterms:modified xsi:type="dcterms:W3CDTF">2026-10-28T16:42:54Z</dcterms:modified>
</cp:coreProperties>
</file>