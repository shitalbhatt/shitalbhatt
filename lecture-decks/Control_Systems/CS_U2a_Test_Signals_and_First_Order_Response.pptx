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Standard test signals; response of zero-order and first-order systems. It belongs to Unit 2: Time Domain Analysis of Control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CO2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how to invert a Laplace transform using partial fractions. A pole at minus a gives an exponential e to the minus a t in time. The unit step has transform 1 over s. We will apply these three facts to first-order systems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designer does not know the exact signal the system will see, so we choose simple signals as benchmarks. A step represents a sudden command change, a ramp represents a moving target such as a tracking antenna. If a system behaves well for these, we trust it in real use. Keep this picture in mind for the whole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signal is the integral of the previous one: impulse to step to ramp to parabola. This is why the Laplace transforms are one, one over s, one over s squared and one over s cubed. The sinusoid is the test signal for frequency-domain analysis in Unit 3. In time domain we mostly use the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applying a step, the output first shows a transient and finally settles to a constant value. For a stable system the transient term vanishes. Transient specifications are rise time, peak overshoot and settling time. The steady-state specification is the final error, which we study later in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zero-order system has no poles, so there is no transient at all. The output copies the input multiplied by the gain. Real devices approximate this when their dynamics are much faster than the signal. A potentiometer used as a position sensor is the classic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first-order system has one pole at minus one over tau. The farther the pole is from the origin, the faster the response. The time constant tau has a physical meaning: it is R C for an RC circuit and thermal capacity times resistance for a thermometer. Larger tau means a slower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fractions give c of t equals one minus e to the minus t over tau. After one time constant the output is 63.2 per cent of the final value, after four it is 98 per cent. The tangent at the origin hits the final value at t equal to tau. A first-order system has no overshoot, so its specifications are only rise, delay and settling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ramp the output eventually runs parallel to the input, shifted by the time constant. The gap is the steady-state error and is equal to tau. So a faster system follows a ramp more accurately. This idea leads to the velocity error constant, which we meet in the third lecture of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impulse response is the derivative of the step response and the step response is the derivative of the ramp response. This follows from linearity and is very useful: if you know one response you can obtain the others. The impulse response is also the inverse transform of G of 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 numerator and denominator by two to reach the standard form with unit coefficient of s in the denominator constant term. Read K and tau directly. The final value is K, so the output ends at 2 for a unit step. The settling time for 2 per cent is four time constants, which is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practical identification problem. The time at which the response reaches 63.2 per cent of its final value is the time constant, so we read tau straight from the data. The gain is one because the reading ends at the true temperature. Then every other quantity follows from the first-order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first-order systems.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first-order systems are within reach. Next lecture: second-order systems and time-domain specifications.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first-order systems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first-order systems.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Test Signals and First-Order Response</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Time Domain Analysis of Control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Standard test signals; response of zero-order and first-order systems</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Name the standard test signals and their Laplace transforms.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Separate transient and steady-state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the response of zero- and first-order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 the time constant τ to get specifications.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response of systems to standard test signals.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Laplace transform of unit step is 1/s.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Inverse transform by partial fractions.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Poles decide the form of the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Transfer function G(s) = C(s)/R(s).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C(s) = G(s)·R(s);   c(t) = L⁻¹{C(s)}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L{e^(−at)} = 1/(s + 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Why Standard Test Signals?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Real inputs are random and unknown.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Test signals give a fair comparison of systems.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Step tests sudden changes; ramp tests tracking.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Response to one signal predicts the others.</a:t>
            </a:r>
            <a:endParaRPr lang="en-US" sz="1400" dirty="0"/>
          </a:p>
        </p:txBody>
      </p:sp>
      <p:pic>
        <p:nvPicPr>
          <p:cNvPr id="4" name="Diagram" descr="Motivation: Why Standard Test Signal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Compare systems with the same input: step, ramp, parabola, impulse, sinusoid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Standard Test Signals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Step: sudden change of constant size.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Ramp: constant velocity input.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Parabola: constant acceleration input.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Impulse: very short, unit-area pulse.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Sinusoid: used for frequency response.</a:t>
            </a:r>
            <a:endParaRPr lang="en-US" sz="1400" dirty="0"/>
          </a:p>
        </p:txBody>
      </p:sp>
      <p:pic>
        <p:nvPicPr>
          <p:cNvPr id="4" name="Diagram" descr="Standard Test Signal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 = A u(t) → A/s;  A t → A/s²;  A t²/2 → A/s³;  δ(t) → 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 amplitude; unit signals use A = 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Transient and Steady-State Response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Total response = transient + steady state.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Transient dies out with time.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Steady state is the final behaviour.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Specifications describe both parts.</a:t>
            </a:r>
            <a:endParaRPr lang="en-US" sz="1400" dirty="0"/>
          </a:p>
        </p:txBody>
      </p:sp>
      <p:pic>
        <p:nvPicPr>
          <p:cNvPr id="4" name="Diagram" descr="Transient and Steady-State Respons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ctr(t) + css(t),   ctr → 0 as t → ∞</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css = lim c(t) as t → ∞ (stable systems)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Zero-Order System</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Transfer function is a pure gain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follows input instantly, scaled by 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 energy storage, no dynamics.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Example: potentiometer, ideal amplifier.</a:t>
            </a:r>
            <a:endParaRPr lang="en-US" sz="1400" dirty="0"/>
          </a:p>
        </p:txBody>
      </p:sp>
      <p:pic>
        <p:nvPicPr>
          <p:cNvPr id="4" name="Diagram" descr="Zero-Order System">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K   →   c(t) = K·r(t)</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K gain (output unit per input unit)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First-Order System</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Contains one energy-storage element.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Standard form has a time constant τ.</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Single pole on the negative real axis.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Examples: RC circuit, thermometer, tank filling.</a:t>
            </a:r>
            <a:endParaRPr lang="en-US" sz="1400" dirty="0"/>
          </a:p>
        </p:txBody>
      </p:sp>
      <p:pic>
        <p:nvPicPr>
          <p:cNvPr id="4" name="Diagram" descr="First-Order System">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K/(τ s + 1);   pole at s = −1/τ</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τ time constant (s), K DC gain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Unit Step Response of First Order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C(s) = K/[s(τs + 1)]; take K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rises exponentially to the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At t = τ it reaches 63.2 % of final value.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Initial slope is 1/τ.</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Settling: 4τ for 2 %, 3τ for 5 %.</a:t>
            </a:r>
            <a:endParaRPr lang="en-US" sz="1400" dirty="0"/>
          </a:p>
        </p:txBody>
      </p:sp>
      <p:pic>
        <p:nvPicPr>
          <p:cNvPr id="4" name="Diagram" descr="Unit Step Response of First Ord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1 − e^(−t/τ);   ts(2 %) = 4τ,  ts(5 %) = 3τ,  tr(10–90 %) = 2.2τ</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td = 0.69 τ (time to reach 50 %)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Unit Ramp Response of First Order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Input r(t) = t, so R(s) = 1/s².</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follows the ramp with a lag.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Steady-state error equals τ.</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Smaller τ gives smaller tracking error.</a:t>
            </a:r>
            <a:endParaRPr lang="en-US" sz="1400" dirty="0"/>
          </a:p>
        </p:txBody>
      </p:sp>
      <p:pic>
        <p:nvPicPr>
          <p:cNvPr id="4" name="Diagram" descr="Unit Ramp Response of First Ord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t − τ + τ e^(−t/τ);   ess = τ</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ess steady-state error (same unit as the input)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Impulse Response and Relationships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Impulse: R(s) = 1, so C(s) = 1/(τs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decays exponentially from 1/τ.</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Step response is the integral of impulse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Ramp response is the integral of step response.</a:t>
            </a:r>
            <a:endParaRPr lang="en-US" sz="1400" dirty="0"/>
          </a:p>
        </p:txBody>
      </p:sp>
      <p:pic>
        <p:nvPicPr>
          <p:cNvPr id="4" name="Diagram" descr="Impulse Response and Relationship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(1/τ) e^(−t/τ) (impulse);   d/dt(ramp response) = step response</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For an LTI system: derivative of input gives derivative of output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First-Order Step</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C/R = 4/(0.5s + 2). Find K, τ, c(t) for a unit step, tr and 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Standard form: 4/(0.5s + 2) = 2/(0.25s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K = 2, τ = 0.25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c(t) = 2(1 − e^(−4t)).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At t = τ: c = 2 × 0.632 = 1.264.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tr = 2.2τ = 0.55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ts(2 %) = 4τ = 1.0 s;  ts(5 %) = 0.75 s.</a:t>
            </a:r>
            <a:endParaRPr lang="en-US" sz="1400" dirty="0"/>
          </a:p>
        </p:txBody>
      </p:sp>
      <p:pic>
        <p:nvPicPr>
          <p:cNvPr id="4" name="Diagram" descr="Solved Example 1: First-Order Step">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K = 2, τ = 0.25 s, ts = 1.0 s (2 %), c(∞) = 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Thermometer Test</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thermometer is dipped in 100 °C water. It reads 63.2 °C after 12 s. Find τ, G(s), reading at 20 s, and 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63.2 % of final value occurs at t = τ, so τ = 12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K = 1 (reads 100 °C finally): G(s) = 1/(12s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T(20) = 100(1 − e^(−20/12)) = 100(1 − 0.189) = 81.1 °C.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ts(2 %) = 4τ = 48 s.</a:t>
            </a:r>
            <a:endParaRPr lang="en-US" sz="1400" dirty="0"/>
          </a:p>
        </p:txBody>
      </p:sp>
      <p:pic>
        <p:nvPicPr>
          <p:cNvPr id="4" name="Diagram" descr="Solved Example 2: Thermometer Test">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τ = 12 s, G(s) = 1/(12s + 1), T(20 s) = 81.1 °C, ts = 48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63.2 % of the input instead of the final output.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Taking ts = 4τ for a 5 % band.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the DC gain K in c(∞).</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τ with the pole value 1/τ.</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Expecting overshoot in a first-order system.</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Convert to the form K/(τs + 1) first.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Read K and τ, then use the formulas.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units of τ (seconds).</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Remember ess(ramp) = τ for unity-gain first order.</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Test signals: step, ramp, parabola, impulse, sinusoid.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Response = transient + steady state.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Zero order: c(t) = K·r(t).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First order: c(t) = 1 − e^(−t/τ); ts = 4τ (2 %).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Ramp error = τ; impulse is derivative of step response.</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G(s) = K/(τs + 1);   c(t) = K(1 − e^(−t/τ))</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Laplace transform of the unit ramp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1  (b) 1/s  (c) 1/s²  (d) 1/s³</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At t = τ a first-order step response reaches: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50 %  (b) 63.2 %  (c) 86.5 %  (d) 98 %</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ts (2 %) of a first-order system with τ = 3 s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3 s  (b) 9 s  (c) 12 s  (d) 6 s</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Steady-state error of 1/(τs+1) for a unit ramp 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  (b) τ  (c) 1/τ  (d) ∞</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A zero-order system has: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one pole  (b) two poles  (c) no poles  (d) a pole at origin</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 J. Nagrath and M. Gopal, Control Systems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New Age International (P) Ltd., 2008 (Units 1, 2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second-order response (done) and then static error constants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2: Test Signals and First-Order Response</dc:title>
  <dc:subject>PptxGenJS Presentation</dc:subject>
  <dc:creator>Prof. Mitesh Astik</dc:creator>
  <cp:lastModifiedBy>Prof. Mitesh Astik</cp:lastModifiedBy>
  <cp:revision>1</cp:revision>
  <dcterms:created xsi:type="dcterms:W3CDTF">2026-10-28T16:42:45Z</dcterms:created>
  <dcterms:modified xsi:type="dcterms:W3CDTF">2026-10-28T16:42:45Z</dcterms:modified>
</cp:coreProperties>
</file>