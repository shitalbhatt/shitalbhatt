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Open/closed loop systems, components, transfer functions of mechanical and electrical systems. It belongs to Unit 1: Mathematical Modelling of Physical Systems.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CO1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recall the Laplace transform of a derivative with zero initial conditions. That single rule is used in every model we derive today. Newton's law and Kirchhoff's voltage law are the two sources of equations. Revise partial fractions at home because we need them for time response in the next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toaster runs for a fixed time regardless of the bread colour, which is open-loop. A thermostat measures the room and switches the compressor, which is closed-loop. Feedback lets the system correct itself when conditions change. This is the central idea of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diagrams. The only difference is the feedback path and the summing junction. Open-loop systems are accurate only if the plant is well known and there is no disturbance. Closed-loop systems reduce the effect of disturbance and parameter changes, but poorly chosen feedback can cause oscillation, which we study under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from left to right. The error detector subtracts the measured value from the reference. The controller shapes the signal and the actuator supplies power to the plant. The sensor closes the loop. In the lab you will use a synchro pair as an error detector and a DC motor as the actuator.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function is the output over the input after taking Laplace transforms with zero initial conditions. It depends only on the system and not on the input signal. The poles decide how the system behaves in time, so we study their locations carefully. It is defined only for linear time-invariant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free body diagram of the mass. The spring and damper forces act against the motion, and the applied force acts along it. Newton's law gives the second-order equation. After Laplace transform with zero initial conditions we get one over M s squared plus B s plus K. Notice the standard second-order form from the previous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Rotational systems follow the same pattern with torque instead of force and angle instead of displacement. J plays the role of mass, B of viscous friction and K of the torsional spring. Use SI units throughout, for example kg·m² for inertia. A servo motor driving a load is the common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series RLC circuit, Kirchhoff's voltage law gives the sum of the three drops equal to the source. The current is C times the derivative of the capacitor voltage, so we can write everything in terms of vC. Taking the Laplace transform gives one over L C s squared plus R C s plus one. This is again a second-order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differential equations term by term. Mass corresponds to inductance, damper to resistance and spring to the reciprocal of capacitance. This is the force–voltage analogy. The force–current analogy exists too, with a different mapping. The practical value is that a circuit is easy to build and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transfer function first, then compare with the standard form by dividing numerator and denominator by M. The natural frequency is the square root of K over M and the damping ratio is B over twice the square root of K M. The final value theorem or simply F over K gives the steady displacement. Because zeta is 0.5 the response overshoots by about 16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 out the denominator, L C is 0.25 and R C is 0.5, then divide by 0.25 to reach the standard form. The result has the same ωn and ζ as Example 1, which shows that two different physical systems can behave identically. Using the force–voltage analogy we read off mass, damper and spring values directly from L, R and one over C. Always check units when using the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transfer functions.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transfer functions are within reach. Next lecture: block diagram reduction and signal flow graphs.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modelling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modelling.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Control Systems and Transfer Functions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1: Mathematical Modelling of Physical Systems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Open/closed loop systems, components, transfer functions of mechanical and electrical systems</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Distinguish open-loop and closed-loop systems with examples.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Name the components of a feedback control system.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transfer functions of mechanical and electrical systems.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Use the force–voltage analogy between the two.</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CO1</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Model dynamical systems by transfer functions; deduce mechanical–electrical analogy.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Laplace transform turns differential equations into algebra.</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Newton's law links force, mass and acceleration.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Kirchhoff's laws give circuit equations.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Poles are roots of the denominator.</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Zero initial conditions: L{dx/dt} = sX(s),  L{d²x/dt²} = s²X(s)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X(s) Laplace transform of x(t), s complex frequency (1/s)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Why Feedback?</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Cruise control keeps speed on a hill.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Home AC keeps room temperature near set value.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Robot arm must reach the commanded position.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Feedback corrects errors caused by disturbances.</a:t>
            </a:r>
            <a:endParaRPr lang="en-US" sz="1400" dirty="0"/>
          </a:p>
        </p:txBody>
      </p:sp>
      <p:pic>
        <p:nvPicPr>
          <p:cNvPr id="4" name="Diagram" descr="Motivation: Why Feedback?">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Control aim: make the output follow the reference despite disturbances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Open Loop and Closed Loop</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Open loop: output has no effect on control action.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Closed loop: output is measured and fed back.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Open loop: simple, cheap, but sensitive to disturbance.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Closed loop: accurate, but more complex; can become unstable.</a:t>
            </a:r>
            <a:endParaRPr lang="en-US" sz="1400" dirty="0"/>
          </a:p>
        </p:txBody>
      </p:sp>
      <p:pic>
        <p:nvPicPr>
          <p:cNvPr id="4" name="Diagram" descr="Open Loop and Closed Loop">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Closed loop:  e = r − b,   b = H·c</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r reference, c output, b feedback signal, e error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Components of a Control System</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Error detector: compares reference with feedback.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Controller or amplifier: processes the error signal.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Actuator: motor or valve that drives the plant.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Plant: the process being controlled.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Sensor: measures output, e.g. tachometer or synchro.</a:t>
            </a:r>
            <a:endParaRPr lang="en-US" sz="1400" dirty="0"/>
          </a:p>
        </p:txBody>
      </p:sp>
      <p:pic>
        <p:nvPicPr>
          <p:cNvPr id="4" name="Diagram" descr="Components of a Control System">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Examples: potentiometer, synchro pair, tachogenerator, DC servo motor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Transfer Function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Ratio of output to input in Laplace domain.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Initial conditions are taken as zero.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Valid for linear time-invariant systems.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Roots of D(s) are poles; roots of N(s) are zeros.</a:t>
            </a:r>
            <a:endParaRPr lang="en-US" sz="1400" dirty="0"/>
          </a:p>
        </p:txBody>
      </p:sp>
      <p:pic>
        <p:nvPicPr>
          <p:cNvPr id="4" name="Diagram" descr="Transfer Fun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 = C(s)/R(s) = N(s)/D(s)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D(s) = 0 is the characteristic equation of the system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Translational Mechanical Systems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Mass M: opposes acceleration, force = M·x″.</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Damper B: opposes velocity, force = B·x′.</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Spring K: opposes displacement, force = K·x.</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Apply Newton's law to the mass.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Take the Laplace transform and divide.</a:t>
            </a:r>
            <a:endParaRPr lang="en-US" sz="1400" dirty="0"/>
          </a:p>
        </p:txBody>
      </p:sp>
      <p:pic>
        <p:nvPicPr>
          <p:cNvPr id="4" name="Diagram" descr="Translational Mechanical System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 x″ + B x′ + K x = f(t)   →   X(s)/F(s) = 1/(M s² + B s + K)</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M kg, B N·s/m, K N/m, x m, f 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Rotational Mechanical Systems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Inertia J: torque = J·θ″.</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Viscous friction B: torque = B·θ′.</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Torsional spring K: torque = K·θ.</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Same steps: torque balance, Laplace, divide.</a:t>
            </a:r>
            <a:endParaRPr lang="en-US" sz="1400" dirty="0"/>
          </a:p>
        </p:txBody>
      </p:sp>
      <p:pic>
        <p:nvPicPr>
          <p:cNvPr id="4" name="Diagram" descr="Rotational Mechanical System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J θ″ + B θ′ + K θ = T(t)   →   Θ(s)/T(s) = 1/(J s² + B s + K)</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J kg·m², B N·m·s/rad, K N·m/rad, θ rad, T N·m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Electrical Systems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Resistor: v = R·i.</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Inductor: v = L·di/dt.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Capacitor: v = (1/C)∫i dt.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Apply KVL, then Laplace transform.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Choose the output, e.g. voltage across C.</a:t>
            </a:r>
            <a:endParaRPr lang="en-US" sz="1400" dirty="0"/>
          </a:p>
        </p:txBody>
      </p:sp>
      <p:pic>
        <p:nvPicPr>
          <p:cNvPr id="4" name="Diagram" descr="Electrical System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VC(s)/V(s) = 1/(L C s² + R C s + 1)</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R Ω, L H, C F, i A, v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Analogous Systems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Same differential equation, different physical quantities.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Force–voltage analogy: M↔L, B↔R, K↔1/C.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Force–current analogy: M↔C, B↔1/R, K↔1/L.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Lets us study a mechanical system with a circuit.</a:t>
            </a:r>
            <a:endParaRPr lang="en-US" sz="1400" dirty="0"/>
          </a:p>
        </p:txBody>
      </p:sp>
      <p:pic>
        <p:nvPicPr>
          <p:cNvPr id="4" name="Diagram" descr="Analogous System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 x″ + B x′ + K x = f   ⇔   L q″ + R q′ + (1/C) q = v</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x ↔ q, ẋ ↔ i</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Mass–Spring–Damper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Given M = 2 kg, B = 4 N·s/m, K = 8 N/m. Find X(s)/F(s), ωn, ζ and final value for a 1 N step.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X/F = 1/(2s² + 4s + 8).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ωn = √(K/M) = √4 = 2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ζ = B/(2√(KM)) = 4/(2√16) = 0.5.</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Final x = F/K = 1/8 = 0.125 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Mp = e^(−π·0.5/√0.75) = 16.3 %; peak = 0.125 × 1.163 = 0.145 m.</a:t>
            </a:r>
            <a:endParaRPr lang="en-US" sz="1400" dirty="0"/>
          </a:p>
        </p:txBody>
      </p:sp>
      <p:pic>
        <p:nvPicPr>
          <p:cNvPr id="4" name="Diagram" descr="Solved Example 1: Mass–Spring–Dampe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ωn = 2 rad/s, ζ = 0.5 (underdamped), x(∞) = 0.125 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Series RLC and Analogy</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Given R = 2 Ω, L = 1 H, C = 0.25 F. Find VC/V, ωn, ζ and the mechanical analogue.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VC/V = 1/(0.25s² + 0.5s + 1) = 4/(s² + 2s + 4).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ωn = 2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2ζωn = 2, so ζ = 0.5.</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Poles: s = −1 ± j1.73.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Analogue: M = L = 1 kg, B = R = 2 N·s/m, K = 1/C = 4 N/m.</a:t>
            </a:r>
            <a:endParaRPr lang="en-US" sz="1400" dirty="0"/>
          </a:p>
        </p:txBody>
      </p:sp>
      <p:pic>
        <p:nvPicPr>
          <p:cNvPr id="4" name="Diagram" descr="Solved Example 2: Series RLC and Analogy">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ωn = 2 rad/s, ζ = 0.5; analogous M = 1 kg, B = 2, K = 4</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zero initial conditions in G(s).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the wrong sign for the feedback summing junction.</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Mixing up the force–voltage and force–current analogies.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grams or cm instead of SI units.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Treating a nonlinear system as if G(s) exists.</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Draw the free body diagram first.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Write the equation, then Laplace transform.</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Compare with 1/(M s² + B s + K) to check.</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State units with every parameter.</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Closed loop feeds the output back to reduce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Components: error detector, controller, actuator, plant, sensor.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G(s) = C(s)/R(s) with zero initial conditions.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Mechanical: 1/(M s² + B s + K); same form for J, B, 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Series RLC: 1/(L C s² + R C s + 1); M↔L, B↔R, K↔1/C.</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 = N(s)/D(s): poles from D(s), zeros from 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A thermostat-controlled room heater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open loop  (b) closed loop  (c) nonlinear only  (d) digital only</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X(s)/F(s) for M, B, K system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1/(Ms²+Bs+K)  (b) Ms²+Bs+K  (c) 1/(Ms+B)  (d) K/(Ms²+B)</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In the force–voltage analogy, mass corresponds to:</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resistance  (b) capacitance  (c) inductance  (d) charge</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Poles of G(s) are the roots of:</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numerator  (b) denominator  (c) input  (d) output</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For M = 2 kg, K = 8 N/m, ωn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 rad/s  (b) 2 rad/s  (c) 4 rad/s  (d) 16 rad/s</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I. J. Nagrath and M. Gopal, Control Systems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New Age International (P) Ltd., 2008 (Units 1, 2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block diagram reduction and signal flow graphs (Mason's gain formula)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1: Modelling of Physical Systems</dc:title>
  <dc:subject>PptxGenJS Presentation</dc:subject>
  <dc:creator>Prof. Mitesh Astik</dc:creator>
  <cp:lastModifiedBy>Prof. Mitesh Astik</cp:lastModifiedBy>
  <cp:revision>1</cp:revision>
  <dcterms:created xsi:type="dcterms:W3CDTF">2026-10-28T16:04:56Z</dcterms:created>
  <dcterms:modified xsi:type="dcterms:W3CDTF">2026-10-28T16:04:56Z</dcterms:modified>
</cp:coreProperties>
</file>