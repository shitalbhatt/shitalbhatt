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Today's topic is Characteristic equation, root locations, absolute and relative stability, Routh–Hurwitz criterion. It belongs to Unit 4: Stability of Systems. By the end of this session you will be able to use it in numerical problems. Keep your notebooks ready because we will solve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aloud. They map to CO4 of the syllabus. Tell students that these are examinable and that the two solved examples follow the same pattern. Ask them to tick off each outcome at the end of the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earlier lectures, each pole contributes a term e to the power of sigma t. A negative real part means decay and a positive real part means growth. The closed-loop poles are the roots of the characteristic equation one plus G H equal to zero. So stability is a question about where these roots 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unstable control system does not just give a poor response, it may destroy itself. Raising the gain to reduce error is the usual way to cause instability. For a polynomial of degree five or more there is no closed formula for the roots. Routh's method gives a quick yes-or-no answer from the coefficients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possible root positions give three kinds of behaviour. Roots in the left half-plane decay, roots on the imaginary axis give sustained oscillation, and roots in the right half-plane grow. A system with a pair of simple roots on the axis is marginally stable. A repeated pair on the axis is unstable because the response grows like t times a sine.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stability only says whether the system is stable. Relative stability measures how stable it is, for example how far the nearest root is from the imaginary axis. Moving the imaginary axis to the left by σ0 and repeating Routh's test shows whether all roots are to the left of minus σ0. Designers specify a minimum margin for good transient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test is to look at the coefficients. A missing term or a coefficient with a different sign guarantees at least one root in the right half-plane or on the axis. But positive coefficients alone do not prove stability, and the last example on the slide shows that. For a sufficient test we need the Routh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Arrange the coefficients alternately in the first two rows. Each element of the next row is obtained by cross multiplying the two entries above and to the right of the pivot, subtracting, and dividing by the pivot in the row above. Continue until the last row has one element. Take care to put zeros where a row is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Routh–Hurwitz criterion says the number of roots with positive real part equals the number of sign changes in the first column. In the example the column goes plus, plus, plus, minus, plus, which has two sign changes, so there are two right-half-plane roots and the system is unstable. Always scan the whole column, not just the first two entries.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zero appears alone in the first column we cannot divide by it. We replace it by a tiny positive number epsilon, continue, and finally let epsilon go to zero while watching the signs. In the example the s squared row has a zero pivot and the sign of the next entry is negative, giving two sign changes. The other method is to invert the polynomial using s equal to one over 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zeros means the polynomial has roots that are symmetrical about the origin. Take the row just above, form an even polynomial called the auxiliary polynomial, and differentiate it to replace the zero row. The roots of the auxiliary polynomial are exact roots of the characteristic equation. If they are a pure imaginary pair the system is marginally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common use of Routh's test. Treat the gain K as an unknown and impose that every entry in the first column is positive. Each inequality gives a bound on K, and the stable range is their intersection. At the upper bound a row of zeros appears and the auxiliary polynomial gives the frequency of sustained oscillation.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 table row by row and double-check each cross product. The s one row gives minus six, which is the only negative entry, but it creates two sign changes: from plus one to minus six, and from minus six to plus five. So two roots lie in the right half-plane. The plot on the right shows the actual roots, which confirms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Multiply out s times s plus two times s plus four and add K to get the characteristic polynomial. The s one entry is 48 minus K over six, so the system is stable only if K is below 48. At K equal to 48 the s one row is zero, the auxiliary polynomial is 6 s squared plus 48, and its roots are plus and minus j root eight. This frequency also appears on the root locus and Bode plot.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points where marks are lost most often in Routh–Hurwitz. Give one quick example for each mistake. Remind students that writing the formula, substitution and the unit earns method marks even if the arithmetic slips. Encourage them to check the answer for reasonableness.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in one minute. Say each point and ask the class to recall the formula for it. If they remember these ideas, most numerical problems on Routh–Hurwitz are within reach. Next lecture: root locus concept and construction rules. Revise the two solved examples tonight.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about one minute per question and take a show of hands. Discuss why the wrong options are tempting, especially the one that uses a wrong formula. Use the quiz as a quick check on Routh–Hurwitz before leaving.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students to the textbooks listed in the syllabus for Routh–Hurwitz. Ask them to solve at least three textbook problems on this topic before the next class. Thank the class and preview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48640" y="4754880"/>
            <a:ext cx="5486400" cy="228600"/>
          </a:xfrm>
          <a:prstGeom prst="rect">
            <a:avLst/>
          </a:prstGeom>
          <a:noFill/>
          <a:ln/>
        </p:spPr>
        <p:txBody>
          <a:bodyPr wrap="square" lIns="0" tIns="0" rIns="0" bIns="0" rtlCol="0" anchor="ctr"/>
          <a:lstStyle/>
          <a:p>
            <a:pPr indent="0" marL="0">
              <a:buNone/>
            </a:pPr>
            <a:r>
              <a:rPr lang="en-US" sz="1000" dirty="0">
                <a:solidFill>
                  <a:srgbClr val="C9D3E3"/>
                </a:solidFill>
                <a:latin typeface="Calibri" pitchFamily="34" charset="0"/>
                <a:ea typeface="Calibri" pitchFamily="34" charset="-122"/>
                <a:cs typeface="Calibri" pitchFamily="34" charset="-120"/>
              </a:rPr>
              <a:t>Control Systems (22EEG53)  |  Prof. Mitesh Astik</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2800" b="1" dirty="0">
                <a:solidFill>
                  <a:srgbClr val="14213D"/>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846320"/>
            <a:ext cx="6400800" cy="228600"/>
          </a:xfrm>
          <a:prstGeom prst="rect">
            <a:avLst/>
          </a:prstGeom>
          <a:noFill/>
          <a:ln/>
        </p:spPr>
        <p:txBody>
          <a:bodyPr wrap="square" lIns="0" tIns="0" rIns="0" bIns="0" rtlCol="0" anchor="ctr"/>
          <a:lstStyle/>
          <a:p>
            <a:pPr indent="0" marL="0">
              <a:buNone/>
            </a:pPr>
            <a:r>
              <a:rPr lang="en-US" sz="1000" dirty="0">
                <a:solidFill>
                  <a:srgbClr val="5B6472"/>
                </a:solidFill>
                <a:latin typeface="Calibri" pitchFamily="34" charset="0"/>
                <a:ea typeface="Calibri" pitchFamily="34" charset="-122"/>
                <a:cs typeface="Calibri" pitchFamily="34" charset="-120"/>
              </a:rPr>
              <a:t>Control Systems (22EEG53)  |  Prof. Mitesh Astik</a:t>
            </a:r>
            <a:endParaRPr lang="en-US" sz="10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art" descr="preencoded.png">    </p:cNvPr>
          <p:cNvPicPr>
            <a:picLocks noChangeAspect="1"/>
          </p:cNvPicPr>
          <p:nvPr/>
        </p:nvPicPr>
        <p:blipFill>
          <a:blip r:embed="rId1"/>
          <a:stretch>
            <a:fillRect/>
          </a:stretch>
        </p:blipFill>
        <p:spPr>
          <a:xfrm>
            <a:off x="4572000" y="822960"/>
            <a:ext cx="4206240" cy="3383280"/>
          </a:xfrm>
          <a:prstGeom prst="rect">
            <a:avLst/>
          </a:prstGeom>
        </p:spPr>
      </p:pic>
      <p:sp>
        <p:nvSpPr>
          <p:cNvPr id="3" name="Text 0"/>
          <p:cNvSpPr txBox="1"/>
          <p:nvPr/>
        </p:nvSpPr>
        <p:spPr>
          <a:xfrm>
            <a:off x="548640" y="822960"/>
            <a:ext cx="4023360" cy="15544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Stability and Routh–Hurwitz Criterion</a:t>
            </a:r>
            <a:endParaRPr lang="en-US" sz="3200" dirty="0"/>
          </a:p>
        </p:txBody>
      </p:sp>
      <p:sp>
        <p:nvSpPr>
          <p:cNvPr id="4" name="Text 1"/>
          <p:cNvSpPr txBox="1"/>
          <p:nvPr/>
        </p:nvSpPr>
        <p:spPr>
          <a:xfrm>
            <a:off x="548640" y="2514600"/>
            <a:ext cx="3931920" cy="1920240"/>
          </a:xfrm>
          <a:prstGeom prst="rect">
            <a:avLst/>
          </a:prstGeom>
          <a:noFill/>
          <a:ln/>
        </p:spPr>
        <p:txBody>
          <a:bodyPr wrap="square" lIns="0" tIns="0" rIns="0" bIns="0" rtlCol="0" anchor="t"/>
          <a:lstStyle/>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Control Systems (22EEG53)</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Unit 4: Stability of Systems</a:t>
            </a:r>
            <a:endParaRPr lang="en-US" sz="1500" dirty="0"/>
          </a:p>
          <a:p>
            <a:pPr indent="0" marL="0">
              <a:spcAft>
                <a:spcPts val="800"/>
              </a:spcAft>
              <a:buNone/>
            </a:pPr>
            <a:r>
              <a:rPr lang="en-US" sz="1500" dirty="0">
                <a:solidFill>
                  <a:srgbClr val="E5EAF3"/>
                </a:solidFill>
                <a:latin typeface="Calibri" pitchFamily="34" charset="0"/>
                <a:ea typeface="Calibri" pitchFamily="34" charset="-122"/>
                <a:cs typeface="Calibri" pitchFamily="34" charset="-120"/>
              </a:rPr>
              <a:t>Topic: Characteristic equation, root locations, absolute and relative stability, Routh–Hurwitz criterion</a:t>
            </a:r>
            <a:endParaRPr lang="en-US" sz="1500" dirty="0"/>
          </a:p>
          <a:p>
            <a:pPr indent="0" marL="0">
              <a:spcAft>
                <a:spcPts val="800"/>
              </a:spcAft>
              <a:buNone/>
            </a:pPr>
            <a:r>
              <a:rPr lang="en-US" sz="1500" b="1" dirty="0">
                <a:solidFill>
                  <a:srgbClr val="FCA311"/>
                </a:solidFill>
                <a:latin typeface="Calibri" pitchFamily="34" charset="0"/>
                <a:ea typeface="Calibri" pitchFamily="34" charset="-122"/>
                <a:cs typeface="Calibri" pitchFamily="34" charset="-120"/>
              </a:rPr>
              <a:t>Prof. Mitesh Astik</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Learning Outcomes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Relate root locations to stability.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Distinguish absolute and relative stability.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Build the Routh array and read stability from it.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Find the range of K for a stable loop.</a:t>
            </a:r>
            <a:endParaRPr lang="en-US" sz="1400" dirty="0"/>
          </a:p>
        </p:txBody>
      </p:sp>
      <p:pic>
        <p:nvPicPr>
          <p:cNvPr id="4" name="Diagram" descr="Learning Outcome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Linked to CO4</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Understand stability using Routh–Hurwitz and root locus.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Recap: What You Already Know</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Poles are roots of the denominator.</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Pole location fixes the time response.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Real part σ gives decay or growth e^(σt).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Closed loop: T(s) = G/(1 + GH).</a:t>
            </a:r>
            <a:endParaRPr lang="en-US" sz="1400" dirty="0"/>
          </a:p>
        </p:txBody>
      </p:sp>
      <p:pic>
        <p:nvPicPr>
          <p:cNvPr id="4" name="Diagram" descr="Recap: What You Already Know">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Closed-loop poles: roots of 1 + G(s)H(s) = 0   (characteristic equation)</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Motivation: Why Test Stability?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Unstable aircraft or robot: output grows without bound.</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Feedback can turn a stable plant unstable.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High gain often causes oscillation.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Solving high-order polynomials is hard.</a:t>
            </a:r>
            <a:endParaRPr lang="en-US" sz="1400" dirty="0"/>
          </a:p>
        </p:txBody>
      </p:sp>
      <p:pic>
        <p:nvPicPr>
          <p:cNvPr id="4" name="Diagram" descr="Motivation: Why Test Stabilit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Routh's test tells stability without computing the roots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Characteristic Equation and Root Location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Stable: all roots in the left half-plane.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Marginally stable: simple roots on the jω axis.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Unstable: any root in the right half-plane.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Repeated jω roots also give instability.</a:t>
            </a:r>
            <a:endParaRPr lang="en-US" sz="1400" dirty="0"/>
          </a:p>
        </p:txBody>
      </p:sp>
      <p:pic>
        <p:nvPicPr>
          <p:cNvPr id="4" name="Diagram" descr="Characteristic Equation and Root Locatio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Characteristic equation: a0 sⁿ + a1 sⁿ⁻¹ + … + an = 0</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BIBO stable ⇔ all roots have negative real part</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Absolute and Relative Stability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Absolute: are all roots in the LHP? yes or no.</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Relative: how far are the roots from the jω axis?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Roots near the axis give poor damping.</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Shift the axis by σ0 to test relative stability.</a:t>
            </a:r>
            <a:endParaRPr lang="en-US" sz="1400" dirty="0"/>
          </a:p>
        </p:txBody>
      </p:sp>
      <p:pic>
        <p:nvPicPr>
          <p:cNvPr id="4" name="Diagram" descr="Absolute and Relative Stabilit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Substitute s = z − σ0 and apply Routh to the z polynomial</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Necessary Condition for Stability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All coefficients must be present.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All coefficients must have the same sign.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If violated, the system is not stable.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If satisfied, it is still not enough.</a:t>
            </a:r>
            <a:endParaRPr lang="en-US" sz="1400" dirty="0"/>
          </a:p>
        </p:txBody>
      </p:sp>
      <p:pic>
        <p:nvPicPr>
          <p:cNvPr id="4" name="Diagram" descr="Necessary Condition for Stabilit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Necessary, not sufficient: s³ + s² + 2s + 8 has positive coefficients but is unstable</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Routh Array Construction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Write coefficients in two rows: s⁴, s³.</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Each next row from the two rows above.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Cross-multiply, subtract, divide by the pivot.</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Continue down to the sⁿ⁰ row.</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First column carries the information.</a:t>
            </a:r>
            <a:endParaRPr lang="en-US" sz="1400" dirty="0"/>
          </a:p>
        </p:txBody>
      </p:sp>
      <p:pic>
        <p:nvPicPr>
          <p:cNvPr id="4" name="Diagram" descr="Routh Array Constructio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b1 = (a1a2 − a0a3)/a1;   c1 = (b1a3 − a1b2)/b1</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Number of rows = degree n + 1</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Reading the Routh Table</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Look only at the first column.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All same sign: all roots in LHP.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Each sign change: one root in RHP.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Number of sign changes counts RHP roots.</a:t>
            </a:r>
            <a:endParaRPr lang="en-US" sz="1400" dirty="0"/>
          </a:p>
        </p:txBody>
      </p:sp>
      <p:pic>
        <p:nvPicPr>
          <p:cNvPr id="4" name="Diagram" descr="Reading the Routh Table">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Routh–Hurwitz: stable ⇔ first column has no sign change</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Example s⁴ + 2s³ + 3s² + 4s + 5: column 1, 2, 1, −6, 5 → 2 changes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Special Case 1: Zero in First Column</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zero as pivot stops the calculation.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Replace 0 by a small positive ε.</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Finish the table in terms of ε.</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Let ε → 0 and count sign changes.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Alternative: substitute s = 1/z.</a:t>
            </a:r>
            <a:endParaRPr lang="en-US" sz="1400" dirty="0"/>
          </a:p>
        </p:txBody>
      </p:sp>
      <p:pic>
        <p:nvPicPr>
          <p:cNvPr id="4" name="Diagram" descr="Special Case 1: Zero in First Column">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Example: s³ − 3s + 2: s² row (ε, 2) → s¹ = −∞ → 2 sign changes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Special Case 2: Row of Zeros</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whole row becomes zero.</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Form auxiliary polynomial A(s) from the row above.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Differentiate A(s); use its coefficients as the new row.</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Roots of A(s) are roots of the system too.</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A pair on jω: marginally stable.</a:t>
            </a:r>
            <a:endParaRPr lang="en-US" sz="1400" dirty="0"/>
          </a:p>
        </p:txBody>
      </p:sp>
      <p:pic>
        <p:nvPicPr>
          <p:cNvPr id="4" name="Diagram" descr="Special Case 2: Row of Zeros">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Row of zeros ⇒ roots symmetric about the origin (±σ or ±jω)</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Range of Gain for Stability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Put K in the characteristic equation.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Build the array with K as a symbol.</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Every first-column term must be positive.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Solve the inequalities for 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Boundary values give marginal stability.</a:t>
            </a:r>
            <a:endParaRPr lang="en-US" sz="1400" dirty="0"/>
          </a:p>
        </p:txBody>
      </p:sp>
      <p:pic>
        <p:nvPicPr>
          <p:cNvPr id="4" name="Diagram" descr="Range of Gain for Stabilit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Example: s³ + 6s² + 8s + K = 0 → 0 &lt; K &lt; 48</a:t>
            </a:r>
            <a:endParaRPr lang="en-US" sz="1400" dirty="0"/>
          </a:p>
          <a:p>
            <a:pPr indent="0" marL="0">
              <a:buNone/>
            </a:pPr>
            <a:r>
              <a:rPr lang="en-US" sz="1400" dirty="0">
                <a:solidFill>
                  <a:srgbClr val="1B2430"/>
                </a:solidFill>
                <a:latin typeface="Calibri" pitchFamily="34" charset="0"/>
                <a:ea typeface="Calibri" pitchFamily="34" charset="-122"/>
                <a:cs typeface="Calibri" pitchFamily="34" charset="-120"/>
              </a:rPr>
              <a:t>At K = 48 the roots are s = ±j√8 = ±j2.83</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1: Routh Array</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Test s⁴ + 2s³ + 3s² + 4s + 5 = 0 for stability.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All coefficients positive: continue.</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s⁴: 1, 3, 5;   s³: 2, 4.</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s²: (2×3 − 1×4)/2 = 1;  (2×5 − 0)/2 = 5.</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s¹: (1×4 − 2×5)/1 = −6.</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5. s⁰: 5.</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6. Column: 1, 2, 1, −6, 5 → two sign changes.</a:t>
            </a:r>
            <a:endParaRPr lang="en-US" sz="1400" dirty="0"/>
          </a:p>
        </p:txBody>
      </p:sp>
      <p:pic>
        <p:nvPicPr>
          <p:cNvPr id="4" name="Diagram" descr="Solved Example 1: Routh Array">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unstable; two roots in the RHP (≈ 0.29 ± j1.42)</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Solved Example 2: Range of K</a:t>
            </a:r>
            <a:endParaRPr lang="en-US" sz="2800" dirty="0"/>
          </a:p>
        </p:txBody>
      </p:sp>
      <p:sp>
        <p:nvSpPr>
          <p:cNvPr id="3" name="Bullets"/>
          <p:cNvSpPr txBox="1"/>
          <p:nvPr/>
        </p:nvSpPr>
        <p:spPr>
          <a:xfrm>
            <a:off x="457200" y="1143000"/>
            <a:ext cx="466344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Unity feedback, G = K/[s(s + 2)(s + 4)]. Find K for stability and the frequency at marginal stability.</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1. Characteristic eq.: s³ + 6s² + 8s + K =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2. Array: s³: 1, 8;  s²: 6, K;  s¹: (48 − K)/6;  s⁰: K.</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3. s¹ &gt; 0 → K &lt; 48;   s⁰ &gt; 0 → K &gt; 0.</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4. At K = 48: 6s² + 48 = 0 → s = ±j2.83 rad/s.</a:t>
            </a:r>
            <a:endParaRPr lang="en-US" sz="1400" dirty="0"/>
          </a:p>
        </p:txBody>
      </p:sp>
      <p:pic>
        <p:nvPicPr>
          <p:cNvPr id="4" name="Diagram" descr="Solved Example 2: Range of K">    </p:cNvPr>
          <p:cNvPicPr>
            <a:picLocks noChangeAspect="1"/>
          </p:cNvPicPr>
          <p:nvPr/>
        </p:nvPicPr>
        <p:blipFill>
          <a:blip r:embed="rId1"/>
          <a:stretch>
            <a:fillRect/>
          </a:stretch>
        </p:blipFill>
        <p:spPr>
          <a:xfrm>
            <a:off x="5257800" y="1392199"/>
            <a:ext cx="3429000" cy="2336242"/>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Answer: stable for 0 &lt; K &lt; 48; sustained oscillation at 2.83 rad/s when K = 48</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Common Mistakes and Exam Tips</a:t>
            </a:r>
            <a:endParaRPr lang="en-US" sz="2800" dirty="0"/>
          </a:p>
        </p:txBody>
      </p:sp>
      <p:sp>
        <p:nvSpPr>
          <p:cNvPr id="3" name="Common mistakes card"/>
          <p:cNvSpPr/>
          <p:nvPr/>
        </p:nvSpPr>
        <p:spPr>
          <a:xfrm>
            <a:off x="457200" y="1143000"/>
            <a:ext cx="4023360" cy="3566160"/>
          </a:xfrm>
          <a:prstGeom prst="roundRect">
            <a:avLst>
              <a:gd name="adj" fmla="val 2564"/>
            </a:avLst>
          </a:prstGeom>
          <a:solidFill>
            <a:srgbClr val="F3F6FB"/>
          </a:solidFill>
          <a:ln/>
        </p:spPr>
      </p:sp>
      <p:sp>
        <p:nvSpPr>
          <p:cNvPr id="4" name="Common mistakes icon"/>
          <p:cNvSpPr/>
          <p:nvPr/>
        </p:nvSpPr>
        <p:spPr>
          <a:xfrm>
            <a:off x="640080" y="1280160"/>
            <a:ext cx="411480" cy="411480"/>
          </a:xfrm>
          <a:prstGeom prst="ellipse">
            <a:avLst/>
          </a:prstGeom>
          <a:solidFill>
            <a:srgbClr val="C0392B"/>
          </a:solidFill>
          <a:ln/>
        </p:spPr>
      </p:sp>
      <p:sp>
        <p:nvSpPr>
          <p:cNvPr id="5" name="Text 3"/>
          <p:cNvSpPr txBox="1"/>
          <p:nvPr/>
        </p:nvSpPr>
        <p:spPr>
          <a:xfrm>
            <a:off x="64008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6" name="Text 4"/>
          <p:cNvSpPr txBox="1"/>
          <p:nvPr/>
        </p:nvSpPr>
        <p:spPr>
          <a:xfrm>
            <a:off x="118872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Common mistakes</a:t>
            </a:r>
            <a:endParaRPr lang="en-US" sz="2000" dirty="0"/>
          </a:p>
        </p:txBody>
      </p:sp>
      <p:sp>
        <p:nvSpPr>
          <p:cNvPr id="7" name="Text 5"/>
          <p:cNvSpPr txBox="1"/>
          <p:nvPr/>
        </p:nvSpPr>
        <p:spPr>
          <a:xfrm>
            <a:off x="68580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Concluding stability from positive coefficients alone.</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Arithmetic error in the cross products.</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Counting sign changes in the whole row instead of the first column.</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Ignoring special cases (zero pivot, zero row).</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Forgetting to include K in the s⁰ term.</a:t>
            </a:r>
            <a:endParaRPr lang="en-US" sz="1600" dirty="0"/>
          </a:p>
        </p:txBody>
      </p:sp>
      <p:sp>
        <p:nvSpPr>
          <p:cNvPr id="8" name="Exam tips card"/>
          <p:cNvSpPr/>
          <p:nvPr/>
        </p:nvSpPr>
        <p:spPr>
          <a:xfrm>
            <a:off x="4663440" y="1143000"/>
            <a:ext cx="4023360" cy="3566160"/>
          </a:xfrm>
          <a:prstGeom prst="roundRect">
            <a:avLst>
              <a:gd name="adj" fmla="val 2564"/>
            </a:avLst>
          </a:prstGeom>
          <a:solidFill>
            <a:srgbClr val="F3F6FB"/>
          </a:solidFill>
          <a:ln/>
        </p:spPr>
      </p:sp>
      <p:sp>
        <p:nvSpPr>
          <p:cNvPr id="9" name="Exam tips icon"/>
          <p:cNvSpPr/>
          <p:nvPr/>
        </p:nvSpPr>
        <p:spPr>
          <a:xfrm>
            <a:off x="4846320" y="1280160"/>
            <a:ext cx="411480" cy="411480"/>
          </a:xfrm>
          <a:prstGeom prst="ellipse">
            <a:avLst/>
          </a:prstGeom>
          <a:solidFill>
            <a:srgbClr val="2E8B57"/>
          </a:solidFill>
          <a:ln/>
        </p:spPr>
      </p:sp>
      <p:sp>
        <p:nvSpPr>
          <p:cNvPr id="10" name="Text 8"/>
          <p:cNvSpPr txBox="1"/>
          <p:nvPr/>
        </p:nvSpPr>
        <p:spPr>
          <a:xfrm>
            <a:off x="4846320" y="1280160"/>
            <a:ext cx="411480" cy="41148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1" name="Text 9"/>
          <p:cNvSpPr txBox="1"/>
          <p:nvPr/>
        </p:nvSpPr>
        <p:spPr>
          <a:xfrm>
            <a:off x="5394960" y="1280160"/>
            <a:ext cx="3108960" cy="411480"/>
          </a:xfrm>
          <a:prstGeom prst="rect">
            <a:avLst/>
          </a:prstGeom>
          <a:noFill/>
          <a:ln/>
        </p:spPr>
        <p:txBody>
          <a:bodyPr wrap="square" lIns="0" tIns="0" rIns="0" bIns="0" rtlCol="0" anchor="ctr"/>
          <a:lstStyle/>
          <a:p>
            <a:pPr indent="0" marL="0">
              <a:buNone/>
            </a:pPr>
            <a:r>
              <a:rPr lang="en-US" sz="2000" b="1" dirty="0">
                <a:solidFill>
                  <a:srgbClr val="14213D"/>
                </a:solidFill>
                <a:latin typeface="Cambria" pitchFamily="34" charset="0"/>
                <a:ea typeface="Cambria" pitchFamily="34" charset="-122"/>
                <a:cs typeface="Cambria" pitchFamily="34" charset="-120"/>
              </a:rPr>
              <a:t>Exam tips</a:t>
            </a:r>
            <a:endParaRPr lang="en-US" sz="2000" dirty="0"/>
          </a:p>
        </p:txBody>
      </p:sp>
      <p:sp>
        <p:nvSpPr>
          <p:cNvPr id="12" name="Text 10"/>
          <p:cNvSpPr txBox="1"/>
          <p:nvPr/>
        </p:nvSpPr>
        <p:spPr>
          <a:xfrm>
            <a:off x="4892040" y="1874520"/>
            <a:ext cx="3611880" cy="274320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Check necessary condition first.</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Divide each row by a positive number to simplify.</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Count first-column sign changes only.</a:t>
            </a:r>
            <a:endParaRPr lang="en-US" sz="1600" dirty="0"/>
          </a:p>
          <a:p>
            <a:pPr marL="342900" indent="-342900">
              <a:spcAft>
                <a:spcPts val="700"/>
              </a:spcAft>
              <a:buSzPct val="100000"/>
              <a:buChar char="•"/>
            </a:pPr>
            <a:r>
              <a:rPr lang="en-US" sz="1600" dirty="0">
                <a:solidFill>
                  <a:srgbClr val="1B2430"/>
                </a:solidFill>
                <a:latin typeface="Calibri" pitchFamily="34" charset="0"/>
                <a:ea typeface="Calibri" pitchFamily="34" charset="-122"/>
                <a:cs typeface="Calibri" pitchFamily="34" charset="-120"/>
              </a:rPr>
              <a:t>Write the stable range as an inequality in K.</a:t>
            </a:r>
            <a:endParaRPr lang="en-US" sz="16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Summary</a:t>
            </a:r>
            <a:endParaRPr lang="en-US" sz="2800" dirty="0"/>
          </a:p>
        </p:txBody>
      </p:sp>
      <p:sp>
        <p:nvSpPr>
          <p:cNvPr id="3" name="Bullets"/>
          <p:cNvSpPr txBox="1"/>
          <p:nvPr/>
        </p:nvSpPr>
        <p:spPr>
          <a:xfrm>
            <a:off x="457200" y="1143000"/>
            <a:ext cx="3931920" cy="28346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Stable ⇔ all roots of 1 + GH = 0 in the LHP.</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Necessary: all coefficients present and same sign.</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Routh array: sign changes in column 1 = RHP roots.</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Zero pivot → ε; zero row → auxiliary polynomial.</a:t>
            </a:r>
            <a:endParaRPr lang="en-US" sz="1400" dirty="0"/>
          </a:p>
          <a:p>
            <a:pPr marL="342900" indent="-342900">
              <a:spcAft>
                <a:spcPts val="700"/>
              </a:spcAft>
              <a:buSzPct val="100000"/>
              <a:buChar char="•"/>
            </a:pPr>
            <a:r>
              <a:rPr lang="en-US" sz="1400" dirty="0">
                <a:solidFill>
                  <a:srgbClr val="1B2430"/>
                </a:solidFill>
                <a:latin typeface="Calibri" pitchFamily="34" charset="0"/>
                <a:ea typeface="Calibri" pitchFamily="34" charset="-122"/>
                <a:cs typeface="Calibri" pitchFamily="34" charset="-120"/>
              </a:rPr>
              <a:t>Use Routh to find the K range for stability.</a:t>
            </a:r>
            <a:endParaRPr lang="en-US" sz="1400" dirty="0"/>
          </a:p>
        </p:txBody>
      </p:sp>
      <p:pic>
        <p:nvPicPr>
          <p:cNvPr id="4" name="Diagram" descr="Summary">    </p:cNvPr>
          <p:cNvPicPr>
            <a:picLocks noChangeAspect="1"/>
          </p:cNvPicPr>
          <p:nvPr/>
        </p:nvPicPr>
        <p:blipFill>
          <a:blip r:embed="rId1"/>
          <a:stretch>
            <a:fillRect/>
          </a:stretch>
        </p:blipFill>
        <p:spPr>
          <a:xfrm>
            <a:off x="4526280" y="1143000"/>
            <a:ext cx="4160520" cy="2834640"/>
          </a:xfrm>
          <a:prstGeom prst="rect">
            <a:avLst/>
          </a:prstGeom>
        </p:spPr>
      </p:pic>
      <p:sp>
        <p:nvSpPr>
          <p:cNvPr id="5" name="Key strip"/>
          <p:cNvSpPr/>
          <p:nvPr/>
        </p:nvSpPr>
        <p:spPr>
          <a:xfrm>
            <a:off x="457200" y="4069080"/>
            <a:ext cx="8229600" cy="658368"/>
          </a:xfrm>
          <a:prstGeom prst="roundRect">
            <a:avLst>
              <a:gd name="adj" fmla="val 11111"/>
            </a:avLst>
          </a:prstGeom>
          <a:solidFill>
            <a:srgbClr val="E8EEF9"/>
          </a:solidFill>
          <a:ln/>
        </p:spPr>
      </p:sp>
      <p:sp>
        <p:nvSpPr>
          <p:cNvPr id="6" name="Key strip text"/>
          <p:cNvSpPr txBox="1"/>
          <p:nvPr/>
        </p:nvSpPr>
        <p:spPr>
          <a:xfrm>
            <a:off x="594360" y="4069080"/>
            <a:ext cx="795528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Stability range of K from the first column: all entries &gt; 0</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Quick Quiz</a:t>
            </a:r>
            <a:endParaRPr lang="en-US" sz="2800" dirty="0"/>
          </a:p>
        </p:txBody>
      </p:sp>
      <p:sp>
        <p:nvSpPr>
          <p:cNvPr id="3" name="Q1 row"/>
          <p:cNvSpPr/>
          <p:nvPr/>
        </p:nvSpPr>
        <p:spPr>
          <a:xfrm>
            <a:off x="457200" y="1097280"/>
            <a:ext cx="8229600" cy="658368"/>
          </a:xfrm>
          <a:prstGeom prst="roundRect">
            <a:avLst>
              <a:gd name="adj" fmla="val 11111"/>
            </a:avLst>
          </a:prstGeom>
          <a:solidFill>
            <a:srgbClr val="F3F6FB"/>
          </a:solidFill>
          <a:ln w="9525">
            <a:solidFill>
              <a:srgbClr val="E8EEF9"/>
            </a:solidFill>
            <a:prstDash val="solid"/>
          </a:ln>
        </p:spPr>
      </p:sp>
      <p:sp>
        <p:nvSpPr>
          <p:cNvPr id="4" name="Text 2"/>
          <p:cNvSpPr txBox="1"/>
          <p:nvPr/>
        </p:nvSpPr>
        <p:spPr>
          <a:xfrm>
            <a:off x="594360" y="109728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Q1. A system with a root in the RHP is: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stable  (b) marginally stable  (c) unstable  (d) critically damped</a:t>
            </a:r>
            <a:endParaRPr lang="en-US" sz="1400" dirty="0"/>
          </a:p>
        </p:txBody>
      </p:sp>
      <p:sp>
        <p:nvSpPr>
          <p:cNvPr id="5" name="Q1 answer"/>
          <p:cNvSpPr/>
          <p:nvPr/>
        </p:nvSpPr>
        <p:spPr>
          <a:xfrm>
            <a:off x="7269480" y="1225296"/>
            <a:ext cx="1280160" cy="402336"/>
          </a:xfrm>
          <a:prstGeom prst="roundRect">
            <a:avLst>
              <a:gd name="adj" fmla="val 22727"/>
            </a:avLst>
          </a:prstGeom>
          <a:solidFill>
            <a:srgbClr val="2E8B57"/>
          </a:solidFill>
          <a:ln/>
        </p:spPr>
      </p:sp>
      <p:sp>
        <p:nvSpPr>
          <p:cNvPr id="6" name="Text 4"/>
          <p:cNvSpPr txBox="1"/>
          <p:nvPr/>
        </p:nvSpPr>
        <p:spPr>
          <a:xfrm>
            <a:off x="7269480" y="122529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(c)</a:t>
            </a:r>
            <a:endParaRPr lang="en-US" sz="1400" dirty="0"/>
          </a:p>
        </p:txBody>
      </p:sp>
      <p:sp>
        <p:nvSpPr>
          <p:cNvPr id="7" name="Q2 row"/>
          <p:cNvSpPr/>
          <p:nvPr/>
        </p:nvSpPr>
        <p:spPr>
          <a:xfrm>
            <a:off x="457200" y="1828800"/>
            <a:ext cx="8229600" cy="658368"/>
          </a:xfrm>
          <a:prstGeom prst="roundRect">
            <a:avLst>
              <a:gd name="adj" fmla="val 11111"/>
            </a:avLst>
          </a:prstGeom>
          <a:solidFill>
            <a:srgbClr val="FFFFFF"/>
          </a:solidFill>
          <a:ln w="9525">
            <a:solidFill>
              <a:srgbClr val="E8EEF9"/>
            </a:solidFill>
            <a:prstDash val="solid"/>
          </a:ln>
        </p:spPr>
      </p:sp>
      <p:sp>
        <p:nvSpPr>
          <p:cNvPr id="8" name="Text 6"/>
          <p:cNvSpPr txBox="1"/>
          <p:nvPr/>
        </p:nvSpPr>
        <p:spPr>
          <a:xfrm>
            <a:off x="594360" y="182880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Q2. s³ + 2s² + 3s + 4 = 0 first column of Routh array has: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1, 2, 1, 4  (b) 1, 2, −1, 4  (c) 1, 2, 0, 4  (d) 1, −2, 1, 4</a:t>
            </a:r>
            <a:endParaRPr lang="en-US" sz="1400" dirty="0"/>
          </a:p>
        </p:txBody>
      </p:sp>
      <p:sp>
        <p:nvSpPr>
          <p:cNvPr id="9" name="Q2 answer"/>
          <p:cNvSpPr/>
          <p:nvPr/>
        </p:nvSpPr>
        <p:spPr>
          <a:xfrm>
            <a:off x="7269480" y="1956816"/>
            <a:ext cx="1280160" cy="402336"/>
          </a:xfrm>
          <a:prstGeom prst="roundRect">
            <a:avLst>
              <a:gd name="adj" fmla="val 22727"/>
            </a:avLst>
          </a:prstGeom>
          <a:solidFill>
            <a:srgbClr val="2E8B57"/>
          </a:solidFill>
          <a:ln/>
        </p:spPr>
      </p:sp>
      <p:sp>
        <p:nvSpPr>
          <p:cNvPr id="10" name="Text 8"/>
          <p:cNvSpPr txBox="1"/>
          <p:nvPr/>
        </p:nvSpPr>
        <p:spPr>
          <a:xfrm>
            <a:off x="7269480" y="195681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(a)</a:t>
            </a:r>
            <a:endParaRPr lang="en-US" sz="1400" dirty="0"/>
          </a:p>
        </p:txBody>
      </p:sp>
      <p:sp>
        <p:nvSpPr>
          <p:cNvPr id="11" name="Q3 row"/>
          <p:cNvSpPr/>
          <p:nvPr/>
        </p:nvSpPr>
        <p:spPr>
          <a:xfrm>
            <a:off x="457200" y="2560320"/>
            <a:ext cx="8229600" cy="658368"/>
          </a:xfrm>
          <a:prstGeom prst="roundRect">
            <a:avLst>
              <a:gd name="adj" fmla="val 11111"/>
            </a:avLst>
          </a:prstGeom>
          <a:solidFill>
            <a:srgbClr val="F3F6FB"/>
          </a:solidFill>
          <a:ln w="9525">
            <a:solidFill>
              <a:srgbClr val="E8EEF9"/>
            </a:solidFill>
            <a:prstDash val="solid"/>
          </a:ln>
        </p:spPr>
      </p:sp>
      <p:sp>
        <p:nvSpPr>
          <p:cNvPr id="12" name="Text 10"/>
          <p:cNvSpPr txBox="1"/>
          <p:nvPr/>
        </p:nvSpPr>
        <p:spPr>
          <a:xfrm>
            <a:off x="594360" y="256032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Q3. Sign changes in the first column give:</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poles on jω  (b) RHP roots  (c) LHP roots  (d) zeros</a:t>
            </a:r>
            <a:endParaRPr lang="en-US" sz="1400" dirty="0"/>
          </a:p>
        </p:txBody>
      </p:sp>
      <p:sp>
        <p:nvSpPr>
          <p:cNvPr id="13" name="Q3 answer"/>
          <p:cNvSpPr/>
          <p:nvPr/>
        </p:nvSpPr>
        <p:spPr>
          <a:xfrm>
            <a:off x="7269480" y="2688336"/>
            <a:ext cx="1280160" cy="402336"/>
          </a:xfrm>
          <a:prstGeom prst="roundRect">
            <a:avLst>
              <a:gd name="adj" fmla="val 22727"/>
            </a:avLst>
          </a:prstGeom>
          <a:solidFill>
            <a:srgbClr val="2E8B57"/>
          </a:solidFill>
          <a:ln/>
        </p:spPr>
      </p:sp>
      <p:sp>
        <p:nvSpPr>
          <p:cNvPr id="14" name="Text 12"/>
          <p:cNvSpPr txBox="1"/>
          <p:nvPr/>
        </p:nvSpPr>
        <p:spPr>
          <a:xfrm>
            <a:off x="7269480" y="268833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5" name="Q4 row"/>
          <p:cNvSpPr/>
          <p:nvPr/>
        </p:nvSpPr>
        <p:spPr>
          <a:xfrm>
            <a:off x="457200" y="3291840"/>
            <a:ext cx="8229600" cy="658368"/>
          </a:xfrm>
          <a:prstGeom prst="roundRect">
            <a:avLst>
              <a:gd name="adj" fmla="val 11111"/>
            </a:avLst>
          </a:prstGeom>
          <a:solidFill>
            <a:srgbClr val="FFFFFF"/>
          </a:solidFill>
          <a:ln w="9525">
            <a:solidFill>
              <a:srgbClr val="E8EEF9"/>
            </a:solidFill>
            <a:prstDash val="solid"/>
          </a:ln>
        </p:spPr>
      </p:sp>
      <p:sp>
        <p:nvSpPr>
          <p:cNvPr id="16" name="Text 14"/>
          <p:cNvSpPr txBox="1"/>
          <p:nvPr/>
        </p:nvSpPr>
        <p:spPr>
          <a:xfrm>
            <a:off x="594360" y="329184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Q4. A row of zeros means: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always unstable  (b) symmetric roots, use auxiliary polynomial  (c) always stable  (d) type 2</a:t>
            </a:r>
            <a:endParaRPr lang="en-US" sz="1400" dirty="0"/>
          </a:p>
        </p:txBody>
      </p:sp>
      <p:sp>
        <p:nvSpPr>
          <p:cNvPr id="17" name="Q4 answer"/>
          <p:cNvSpPr/>
          <p:nvPr/>
        </p:nvSpPr>
        <p:spPr>
          <a:xfrm>
            <a:off x="7269480" y="3419856"/>
            <a:ext cx="1280160" cy="402336"/>
          </a:xfrm>
          <a:prstGeom prst="roundRect">
            <a:avLst>
              <a:gd name="adj" fmla="val 22727"/>
            </a:avLst>
          </a:prstGeom>
          <a:solidFill>
            <a:srgbClr val="2E8B57"/>
          </a:solidFill>
          <a:ln/>
        </p:spPr>
      </p:sp>
      <p:sp>
        <p:nvSpPr>
          <p:cNvPr id="18" name="Text 16"/>
          <p:cNvSpPr txBox="1"/>
          <p:nvPr/>
        </p:nvSpPr>
        <p:spPr>
          <a:xfrm>
            <a:off x="7269480" y="341985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19" name="Q5 row"/>
          <p:cNvSpPr/>
          <p:nvPr/>
        </p:nvSpPr>
        <p:spPr>
          <a:xfrm>
            <a:off x="457200" y="4023360"/>
            <a:ext cx="8229600" cy="658368"/>
          </a:xfrm>
          <a:prstGeom prst="roundRect">
            <a:avLst>
              <a:gd name="adj" fmla="val 11111"/>
            </a:avLst>
          </a:prstGeom>
          <a:solidFill>
            <a:srgbClr val="F3F6FB"/>
          </a:solidFill>
          <a:ln w="9525">
            <a:solidFill>
              <a:srgbClr val="E8EEF9"/>
            </a:solidFill>
            <a:prstDash val="solid"/>
          </a:ln>
        </p:spPr>
      </p:sp>
      <p:sp>
        <p:nvSpPr>
          <p:cNvPr id="20" name="Text 18"/>
          <p:cNvSpPr txBox="1"/>
          <p:nvPr/>
        </p:nvSpPr>
        <p:spPr>
          <a:xfrm>
            <a:off x="594360" y="4023360"/>
            <a:ext cx="649224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Q5. s³ + 6s² + 8s + K: stable for:</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(a) K &lt; 6  (b) 0 &lt; K &lt; 48  (c) K &gt; 48  (d) any K</a:t>
            </a:r>
            <a:endParaRPr lang="en-US" sz="1400" dirty="0"/>
          </a:p>
        </p:txBody>
      </p:sp>
      <p:sp>
        <p:nvSpPr>
          <p:cNvPr id="21" name="Q5 answer"/>
          <p:cNvSpPr/>
          <p:nvPr/>
        </p:nvSpPr>
        <p:spPr>
          <a:xfrm>
            <a:off x="7269480" y="4151376"/>
            <a:ext cx="1280160" cy="402336"/>
          </a:xfrm>
          <a:prstGeom prst="roundRect">
            <a:avLst>
              <a:gd name="adj" fmla="val 22727"/>
            </a:avLst>
          </a:prstGeom>
          <a:solidFill>
            <a:srgbClr val="2E8B57"/>
          </a:solidFill>
          <a:ln/>
        </p:spPr>
      </p:sp>
      <p:sp>
        <p:nvSpPr>
          <p:cNvPr id="22" name="Text 20"/>
          <p:cNvSpPr txBox="1"/>
          <p:nvPr/>
        </p:nvSpPr>
        <p:spPr>
          <a:xfrm>
            <a:off x="7269480" y="4151376"/>
            <a:ext cx="1280160" cy="402336"/>
          </a:xfrm>
          <a:prstGeom prst="rect">
            <a:avLst/>
          </a:prstGeom>
          <a:noFill/>
          <a:ln/>
        </p:spPr>
        <p:txBody>
          <a:bodyPr wrap="square" lIns="0" tIns="0" rIns="0" bIns="0" rtlCol="0" anchor="ctr"/>
          <a:lstStyle/>
          <a:p>
            <a:pPr algn="ctr" indent="0" marL="0">
              <a:buNone/>
            </a:pPr>
            <a:r>
              <a:rPr lang="en-US" sz="1400" b="1" dirty="0">
                <a:solidFill>
                  <a:srgbClr val="FFFFFF"/>
                </a:solidFill>
              </a:rPr>
              <a:t>Ans: (b)</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2800" b="1" dirty="0">
                <a:solidFill>
                  <a:srgbClr val="14213D"/>
                </a:solidFill>
                <a:latin typeface="Cambria" pitchFamily="34" charset="0"/>
                <a:ea typeface="Cambria" pitchFamily="34" charset="-122"/>
                <a:cs typeface="Cambria" pitchFamily="34" charset="-120"/>
              </a:rPr>
              <a:t>References</a:t>
            </a:r>
            <a:endParaRPr lang="en-US" sz="2800" dirty="0"/>
          </a:p>
        </p:txBody>
      </p:sp>
      <p:sp>
        <p:nvSpPr>
          <p:cNvPr id="3" name="Ref 1 badge"/>
          <p:cNvSpPr/>
          <p:nvPr/>
        </p:nvSpPr>
        <p:spPr>
          <a:xfrm>
            <a:off x="457200" y="1197864"/>
            <a:ext cx="420624" cy="420624"/>
          </a:xfrm>
          <a:prstGeom prst="ellipse">
            <a:avLst/>
          </a:prstGeom>
          <a:solidFill>
            <a:srgbClr val="14213D"/>
          </a:solidFill>
          <a:ln/>
        </p:spPr>
      </p:sp>
      <p:sp>
        <p:nvSpPr>
          <p:cNvPr id="4" name="Text 2"/>
          <p:cNvSpPr txBox="1"/>
          <p:nvPr/>
        </p:nvSpPr>
        <p:spPr>
          <a:xfrm>
            <a:off x="457200" y="11978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51560" y="1143000"/>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Benjamin C. Kuo, Automatic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7th Ed., PHI, 2007 (Units 3, 4, 5 textbook)</a:t>
            </a:r>
            <a:endParaRPr lang="en-US" sz="1400" dirty="0"/>
          </a:p>
        </p:txBody>
      </p:sp>
      <p:sp>
        <p:nvSpPr>
          <p:cNvPr id="6" name="Ref 2 badge"/>
          <p:cNvSpPr/>
          <p:nvPr/>
        </p:nvSpPr>
        <p:spPr>
          <a:xfrm>
            <a:off x="457200" y="1801368"/>
            <a:ext cx="420624" cy="420624"/>
          </a:xfrm>
          <a:prstGeom prst="ellipse">
            <a:avLst/>
          </a:prstGeom>
          <a:solidFill>
            <a:srgbClr val="14213D"/>
          </a:solidFill>
          <a:ln/>
        </p:spPr>
      </p:sp>
      <p:sp>
        <p:nvSpPr>
          <p:cNvPr id="7" name="Text 5"/>
          <p:cNvSpPr txBox="1"/>
          <p:nvPr/>
        </p:nvSpPr>
        <p:spPr>
          <a:xfrm>
            <a:off x="457200" y="18013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051560" y="1746504"/>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 Gopal, Control Systems Principles and Design</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4th Ed., TMH, 1999 (reference, Units 4, 5)</a:t>
            </a:r>
            <a:endParaRPr lang="en-US" sz="1400" dirty="0"/>
          </a:p>
        </p:txBody>
      </p:sp>
      <p:sp>
        <p:nvSpPr>
          <p:cNvPr id="9" name="Ref 3 badge"/>
          <p:cNvSpPr/>
          <p:nvPr/>
        </p:nvSpPr>
        <p:spPr>
          <a:xfrm>
            <a:off x="457200" y="2404872"/>
            <a:ext cx="420624" cy="420624"/>
          </a:xfrm>
          <a:prstGeom prst="ellipse">
            <a:avLst/>
          </a:prstGeom>
          <a:solidFill>
            <a:srgbClr val="14213D"/>
          </a:solidFill>
          <a:ln/>
        </p:spPr>
      </p:sp>
      <p:sp>
        <p:nvSpPr>
          <p:cNvPr id="10" name="Text 8"/>
          <p:cNvSpPr txBox="1"/>
          <p:nvPr/>
        </p:nvSpPr>
        <p:spPr>
          <a:xfrm>
            <a:off x="457200" y="24048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051560" y="2350008"/>
            <a:ext cx="7635240" cy="54864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 S. Satyanarayana, Concepts of Control Systems</a:t>
            </a:r>
            <a:endParaRPr lang="en-US" sz="1400" dirty="0"/>
          </a:p>
          <a:p>
            <a:pPr indent="0" marL="0">
              <a:buNone/>
            </a:pPr>
            <a:r>
              <a:rPr lang="en-US" sz="1400" dirty="0">
                <a:solidFill>
                  <a:srgbClr val="5B6472"/>
                </a:solidFill>
                <a:latin typeface="Calibri" pitchFamily="34" charset="0"/>
                <a:ea typeface="Calibri" pitchFamily="34" charset="-122"/>
                <a:cs typeface="Calibri" pitchFamily="34" charset="-120"/>
              </a:rPr>
              <a:t>2nd Ed., Dynaram Publishers, Bangalore, 2001 (reference)</a:t>
            </a:r>
            <a:endParaRPr lang="en-US" sz="1400" dirty="0"/>
          </a:p>
        </p:txBody>
      </p:sp>
      <p:sp>
        <p:nvSpPr>
          <p:cNvPr id="12" name="Key strip"/>
          <p:cNvSpPr/>
          <p:nvPr/>
        </p:nvSpPr>
        <p:spPr>
          <a:xfrm>
            <a:off x="457200" y="4343400"/>
            <a:ext cx="8229600" cy="411480"/>
          </a:xfrm>
          <a:prstGeom prst="roundRect">
            <a:avLst>
              <a:gd name="adj" fmla="val 17778"/>
            </a:avLst>
          </a:prstGeom>
          <a:solidFill>
            <a:srgbClr val="E8EEF9"/>
          </a:solidFill>
          <a:ln/>
        </p:spPr>
      </p:sp>
      <p:sp>
        <p:nvSpPr>
          <p:cNvPr id="13" name="Key strip text"/>
          <p:cNvSpPr txBox="1"/>
          <p:nvPr/>
        </p:nvSpPr>
        <p:spPr>
          <a:xfrm>
            <a:off x="594360" y="4343400"/>
            <a:ext cx="7955280" cy="41148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Next lecture: root locus concept and construction rules</a:t>
            </a:r>
            <a:endParaRPr lang="en-US" sz="1400" dirty="0"/>
          </a:p>
        </p:txBody>
      </p:sp>
      <p:sp>
        <p:nvSpPr>
          <p:cNvPr id="25" name="Slide Number Placeholder 0"/>
          <p:cNvSpPr>
            <a:spLocks noGrp="1"/>
          </p:cNvSpPr>
          <p:nvPr>
            <p:ph type="sldNum" sz="quarter" idx="4294967295"/>
          </p:nvPr>
        </p:nvSpPr>
        <p:spPr>
          <a:xfrm>
            <a:off x="8229600" y="484632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5B647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Control Systems">
  <a:themeElements>
    <a:clrScheme name="Control Systems">
      <a:dk1>
        <a:srgbClr val="1B2430"/>
      </a:dk1>
      <a:lt1>
        <a:srgbClr val="FFFFFF"/>
      </a:lt1>
      <a:dk2>
        <a:srgbClr val="14213D"/>
      </a:dk2>
      <a:lt2>
        <a:srgbClr val="F3F6FB"/>
      </a:lt2>
      <a:accent1>
        <a:srgbClr val="1F5FBF"/>
      </a:accent1>
      <a:accent2>
        <a:srgbClr val="E08A00"/>
      </a:accent2>
      <a:accent3>
        <a:srgbClr val="2E8B57"/>
      </a:accent3>
      <a:accent4>
        <a:srgbClr val="C0392B"/>
      </a:accent4>
      <a:accent5>
        <a:srgbClr val="5B6472"/>
      </a:accent5>
      <a:accent6>
        <a:srgbClr val="FCA311"/>
      </a:accent6>
      <a:hlink>
        <a:srgbClr val="1F5FBF"/>
      </a:hlink>
      <a:folHlink>
        <a:srgbClr val="5B6472"/>
      </a:folHlink>
    </a:clrScheme>
    <a:fontScheme name="Control System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 Systems — Unit 4: Stability and Routh–Hurwitz Criterion</dc:title>
  <dc:subject>PptxGenJS Presentation</dc:subject>
  <dc:creator>Prof. Mitesh Astik</dc:creator>
  <cp:lastModifiedBy>Prof. Mitesh Astik</cp:lastModifiedBy>
  <cp:revision>1</cp:revision>
  <dcterms:created xsi:type="dcterms:W3CDTF">2026-10-28T16:42:51Z</dcterms:created>
  <dcterms:modified xsi:type="dcterms:W3CDTF">2026-10-28T16:42:51Z</dcterms:modified>
</cp:coreProperties>
</file>