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Introduction to state-variable analysis; state-space model of physical systems (SISO). It belongs to Unit 5: Compensators and Controllers.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CO5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already know how to write the differential equation of an RLC circuit or a mass spring damper and convert it to a transfer function. The transfer function only describes the input-output behaviour with zero initial conditions. Today we keep the internal variables and write the same system as a set of first-order equations. Brush up matrix multiplication and the inverse of a two by two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quadcopter has four motors and many outputs, so a single transfer function is not enough. In state space we can also see what happens inside the system, such as the current in an inductor. Simulation software such as MATLAB and Simulink works on state equations. That is why modern control is built on this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of a system at any time is the minimum information needed to predict its future when the input is known. For physical systems the natural choices are the quantities that store energy, such as capacitor voltage, inductor current, position and velocity. The number of independent states equals the order of the differential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equation gives the derivative of every state as a combination of the states and the input. The output equation picks the output from the states. The block diagram shows an integrator per state, a feedback through A, and the paths B, C and D. For most physical systems D is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physical variable approach we pick states with a physical meaning. For a circuit these are capacitor voltages and inductor currents, for a mechanical system they are the position and velocity of each mass. Write the physical laws, solve each equation for the derivative of a state, and then arrange the coefficients into the matrices.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capacitor voltage and inductor current as states. The capacitor equation gives the derivative of x1 directly. Kirchhoff's voltage law around the loop gives the derivative of the current. Writing the two equations in matrix form gives A, B and C. Notice that A has the circuit elements as entries.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mass spring damper the natural states are the position and the velocity. The first state equation is just the definition of velocity. Newton's second law gives the second one. The resulting A matrix has the same form as the RLC case: compare K over M with one over L C and B over M with R over L, which is the analogy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transfer function describes only the relation between input and output. The state model includes initial conditions and gives all internal variables, which is needed for state feedback and observers. It also extends to multi-input multi-output, nonlinear and time-varying systems. The price is that we deal with matrices, so we usually use a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 the state equation with zero initial state and solve for X of s using the inverse of s I minus A. Substitute into the output equation to get G of s. The denominator of G is the determinant of s I minus A, so the closed-form poles are the eigenvalues of A. This provides the link between the two descriptions.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Substitute the component values into the general model. Then compute the determinant of s I minus A and the product with B. The first element of the result is the transfer function. It matches the transfer function derived in the first lecture of Unit 1, which confirms that the two descriptions agree. The eigenvalues are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 the force balance by M to get the second state equation. The transfer function agrees with the one from Unit 1: one over two s squared plus four s plus eight. The eigenvalues of A are the same as those of the RLC circuit in the previous example, because the two systems are analogues. This is a good check on your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state-space models.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state-space models are within reach. Next lecture: revision of Unit 5 and course.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state-space models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state-space models.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State-Variable Analysis</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5: Compensators and Controllers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Introduction to state-variable analysis; state-space model of physical systems (SISO)</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Define state, state variable and state space.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Write ẋ = Ax + Bu, y = Cx + Du.</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Model RLC and mass–spring–damper systems in state space.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 the advantages over the transfer function.</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CO5</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Analyse the system using state-space techniques.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An nth-order ODE needs n initial conditions.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Transfer function: input–output only.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Matrix multiplication and inverse.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Poles = roots of the characteristic equation.</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Series RLC: L q″ + R q′ + q/C = v;   M x″ + B x′ + K x = f</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Beyond the Transfer Function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Robots and aircraft have many inputs and outputs.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Nonlinear and time-varying systems.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Need to know internal quantities, e.g. current.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Computers solve first-order matrix equations easily.</a:t>
            </a:r>
            <a:endParaRPr lang="en-US" sz="1400" dirty="0"/>
          </a:p>
        </p:txBody>
      </p:sp>
      <p:pic>
        <p:nvPicPr>
          <p:cNvPr id="4" name="Diagram" descr="Motivation: Beyond the Transfer Functio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State space = the language of modern control, simulation and estimation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State, State Variables, State Space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 the smallest set of variables describing the system.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 variables: x1, x2, …, xn.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 vector x(t): the column of states.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 space: the n-dimensional space of x.</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Number of states = order of the system.</a:t>
            </a:r>
            <a:endParaRPr lang="en-US" sz="1400" dirty="0"/>
          </a:p>
        </p:txBody>
      </p:sp>
      <p:pic>
        <p:nvPicPr>
          <p:cNvPr id="4" name="Diagram" descr="State, State Variables, State Spac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x(t) = [x1 x2 … xn]ᵀ,  n = number of energy-storage elements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State Equations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 equation: ẋ = A x + B u.</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Output equation: y = C x + D u.</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system matrix (n × 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 input matrix; C: output matrix; D: feedthrough.</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SISO: u and y are scalars.</a:t>
            </a:r>
            <a:endParaRPr lang="en-US" sz="1400" dirty="0"/>
          </a:p>
        </p:txBody>
      </p:sp>
      <p:pic>
        <p:nvPicPr>
          <p:cNvPr id="4" name="Diagram" descr="State Equation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ẋ = A x + B u;   y = C x + D u</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A n×n, B n×1, C 1×n, D 1×1 for a SISO system</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Physical Variable Approach</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Choose physically meaningful states.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Energy-storage elements give the states.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Write the governing physical laws.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Rearrange into first-order form.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Read off the matrices.</a:t>
            </a:r>
            <a:endParaRPr lang="en-US" sz="1400" dirty="0"/>
          </a:p>
        </p:txBody>
      </p:sp>
      <p:pic>
        <p:nvPicPr>
          <p:cNvPr id="4" name="Diagram" descr="Physical Variable Approach">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Electrical: x = vC, iL;   mechanical: x = position, velocity</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State Model of a Series RLC Circuit</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States: x1 = vC, x2 = iL = i.</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Capacitor: i = C·dvC/dt → ẋ1 = x2/C.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KVL: u = R i + L di/dt + vC.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Solve: ẋ2 = −x1/L − (R/L)x2 + u/L.</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Output: y = vC = x1.</a:t>
            </a:r>
            <a:endParaRPr lang="en-US" sz="1400" dirty="0"/>
          </a:p>
        </p:txBody>
      </p:sp>
      <p:pic>
        <p:nvPicPr>
          <p:cNvPr id="4" name="Diagram" descr="State Model of a Series RLC Circuit">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 = [[0, 1/C], [−1/L, −R/L]],   B = [0, 1/L]ᵀ,   C = [1  0]</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State Model of Mass–Spring–Damper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States: x1 = x (position), x2 = ẋ (velocity).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ẋ1 = x2 by definition.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Newton: M ẍ = u − B ẋ − K x.</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Solve for ẋ2.</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Output: y = x = x1.</a:t>
            </a:r>
            <a:endParaRPr lang="en-US" sz="1400" dirty="0"/>
          </a:p>
        </p:txBody>
      </p:sp>
      <p:pic>
        <p:nvPicPr>
          <p:cNvPr id="4" name="Diagram" descr="State Model of Mass–Spring–Dampe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 = [[0, 1], [−K/M, −B/M]],   B = [0, 1/M]ᵀ,   C = [1  0]</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Advantages of State Space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Handles MIMO systems naturally.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Works for nonlinear and time-varying systems.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Includes initial conditions.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Gives access to every internal state.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Easy to simulate and design by computer.</a:t>
            </a:r>
            <a:endParaRPr lang="en-US" sz="1400" dirty="0"/>
          </a:p>
        </p:txBody>
      </p:sp>
      <p:pic>
        <p:nvPicPr>
          <p:cNvPr id="4" name="Diagram" descr="Advantages of State Spac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Transfer function: external description;  state space: internal description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From State Model to Transfer Function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Take the Laplace transform with x(0)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Solve for X(s).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Substitute into the output equation.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Poles of G(s) are the eigenvalues of A.</a:t>
            </a:r>
            <a:endParaRPr lang="en-US" sz="1400" dirty="0"/>
          </a:p>
        </p:txBody>
      </p:sp>
      <p:pic>
        <p:nvPicPr>
          <p:cNvPr id="4" name="Diagram" descr="From State Model to Transfer Functio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G(s) = C (sI − A)⁻¹ B + D;   characteristic equation: det(sI − A) = 0</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RLC State Model</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 = 2 Ω, L = 1 H, C = 0.25 F; output vC. Find A, B, C and G(s).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x1 = vC, x2 = i: ẋ1 = 4x2, ẋ2 = −x1 − 2x2 + u.</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A = [[0, 4], [−1, −2]], B = [0, 1]ᵀ, C = [1 0], D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sI − A = [[s, −4], [1, s + 2]], det = s² + 2s + 4.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(sI − A)⁻¹B = [4, s]ᵀ/det.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G(s) = C(sI − A)⁻¹B = 4/(s² + 2s + 4).</a:t>
            </a:r>
            <a:endParaRPr lang="en-US" sz="1400" dirty="0"/>
          </a:p>
        </p:txBody>
      </p:sp>
      <p:pic>
        <p:nvPicPr>
          <p:cNvPr id="4" name="Diagram" descr="Solved Example 1: RLC State Model">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G(s) = 4/(s² + 2s + 4); eigenvalues −1 ± j1.73</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Mass–Spring–Damper</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 = 2 kg, B = 4 N·s/m, K = 8 N/m; output x. Find the state model and G(s).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x1 = x, x2 = ẋ: ẋ1 = x2, ẋ2 = −4x1 − 2x2 + 0.5u.</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A = [[0, 1], [−4, −2]], B = [0, 0.5]ᵀ, C = [1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det(sI − A) = s² + 2s + 4.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G(s) = 0.5/(s² + 2s + 4) = 1/(2s² + 4s + 8).</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Eigenvalues −1 ± j1.73 → ζ = 0.5, ωn = 2 rad/s.</a:t>
            </a:r>
            <a:endParaRPr lang="en-US" sz="1400" dirty="0"/>
          </a:p>
        </p:txBody>
      </p:sp>
      <p:pic>
        <p:nvPicPr>
          <p:cNvPr id="4" name="Diagram" descr="Solved Example 2: Mass–Spring–Damper">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G(s) = 1/(2s² + 4s + 8);  same poles as the RLC system (analogy)</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Choosing too many or too few states.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Mixing up the order of rows in A.</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initial conditions when finding G(s).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Forgetting the 1/M factor in B.</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Confusing A (system matrix) with the open-loop transfer function.</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Count the energy-storage elements.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Write ẋ1 = x2 first, then the second law.</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G(s) against the transfer function method.</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eigenvalues of A = poles of G(s).</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 vector x = minimum set describing the system.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ẋ = Ax + Bu;  y = Cx + Du.</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Physical approach: use energy-storage variables.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G(s) = C(sI − A)⁻¹B + D;  poles = eigenvalues of A.</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State space handles MIMO and nonlinear systems.</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Number of states = order of the system = number of storage elements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Number of state variables of a series RLC circuit:</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1  (b) 2  (c) 3  (d) 4</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In ẋ = Ax + Bu, matrix A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input matrix  (b) output matrix  (c) system matrix  (d) feedthrough</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Poles of G(s) equal:</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eigenvalues of A  (b) elements of B  (c) rows of C  (d) D</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(a)</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States chosen for a mass–spring–damper:</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force and mass  (b) position and velocity  (c) K and B  (d) energy only</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A main advantage of state space:</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only SISO  (b) handles MIMO and initial conditions  (c) needs no matrices  (d) only linear</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Benjamin C. Kuo, Automatic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7th Ed., PHI, 2007 (Units 3, 4, 5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J. J. D'Azzo and C. H. Houpis, Feedback Control System Analysis and Synthesis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4th Ed., McGraw Hill International, 1999 (reference, Unit 5)</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 Gopal, Control Systems Principles and Design</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4th Ed., TMH, 1999 (reference, Units 4, 5)</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course revision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5: State-Variable Analysis</dc:title>
  <dc:subject>PptxGenJS Presentation</dc:subject>
  <dc:creator>Prof. Mitesh Astik</dc:creator>
  <cp:lastModifiedBy>Prof. Mitesh Astik</cp:lastModifiedBy>
  <cp:revision>1</cp:revision>
  <dcterms:created xsi:type="dcterms:W3CDTF">2026-10-28T16:19:48Z</dcterms:created>
  <dcterms:modified xsi:type="dcterms:W3CDTF">2026-10-28T16:19:48Z</dcterms:modified>
</cp:coreProperties>
</file>