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Today's topic is Introduction to state-variable analysis; state-space model of physical systems (SISO). It belongs to Unit 5: Compensators and Controllers. By the end of this session you will be able to use it in numerical problems. Keep your notebooks ready because we will solve 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aloud. They map to CO5 of the syllabus. Tell students that these are examinable and that the two solved examples follow the same pattern. Ask them to tick off each outcome at the end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already know how to write the differential equation of an RLC circuit or a mass spring damper and convert it to a transfer function. The transfer function only describes the input-output behaviour with zero initial conditions. Today we keep the internal variables and write the same system as a set of first-order equations. Brush up matrix multiplication and the inverse of a two by two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quadcopter has four motors and many outputs, so a single transfer function is not enough. In state space we can also see what happens inside the system, such as the current in an inductor. Simulation software such as MATLAB and Simulink works on state equations. That is why modern control is built on this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of a system at any time is the minimum information needed to predict its future when the input is known. For physical systems the natural choices are the quantities that store energy, such as capacitor voltage, inductor current, position and velocity. The number of independent states equals the order of the differential equation.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equation gives the derivative of every state as a combination of the states and the input. The output equation picks the output from the states. The block diagram shows an integrator per state, a feedback through A, and the paths B, C and D. For most physical systems D is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physical variable approach we pick states with a physical meaning. For a circuit these are capacitor voltages and inductor currents, for a mechanical system they are the position and velocity of each mass. Write the physical laws, solve each equation for the derivative of a state, and then arrange the coefficients into the matrices.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capacitor voltage and inductor current as states. The capacitor equation gives the derivative of x1 directly. Kirchhoff's voltage law around the loop gives the derivative of the current. Writing the two equations in matrix form gives A, B and C. Notice that A has the circuit elements as entries.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mass spring damper the natural states are the position and the velocity. The first state equation is just the definition of velocity. Newton's second law gives the second one. The resulting A matrix has the same form as the RLC case: compare K over M with one over L C and B over M with R over L, which is the analogy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transfer function describes only the relation between input and output. The state model includes initial conditions and gives all internal variables, which is needed for state feedback and observers. It also extends to multi-input multi-output, nonlinear and time-varying systems. The price is that we deal with matrices, so we usually use a computer.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Transform the state equation with zero initial state and solve for X of s using the inverse of s I minus A. Substitute into the output equation to get G of s. The denominator of G is the determinant of s I minus A, so the closed-form poles are the eigenvalues of A. This provides the link between the two descriptions.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Substitute the component values into the general model. Then compute the determinant of s I minus A and the product with B. The first element of the result is the transfer function. It matches the transfer function derived in the first lecture of Unit 1, which confirms that the two descriptions agree. The eigenvalues are the poles.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 the force balance by M to get the second state equation. The transfer function agrees with the one from Unit 1: one over two s squared plus four s plus eight. The eigenvalues of A are the same as those of the RLC circuit in the previous example, because the two systems are analogues. This is a good check on your 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points where marks are lost most often in state-space models. Give one quick example for each mistake. Remind students that writing the formula, substitution and the unit earns method marks even if the arithmetic slips. Encourage them to check the answer for reasonableness.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one minute. Say each point and ask the class to recall the formula for it. If they remember these ideas, most numerical problems on state-space models are within reach. Next lecture: revision of Unit 5 and course. Revise the two solved examples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about one minute per question and take a show of hands. Discuss why the wrong options are tempting, especially the one that uses a wrong formula. Use the quiz as a quick check on state-space models before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to the textbooks listed in the syllabus for state-space models. Ask them to solve at least three textbook problems on this topic before the next class. Thank the class and preview the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4754880"/>
            <a:ext cx="5486400" cy="228600"/>
          </a:xfrm>
          <a:prstGeom prst="rect">
            <a:avLst/>
          </a:prstGeom>
          <a:noFill/>
          <a:ln/>
        </p:spPr>
        <p:txBody>
          <a:bodyPr wrap="square" lIns="0" tIns="0" rIns="0" bIns="0" rtlCol="0" anchor="ctr"/>
          <a:lstStyle/>
          <a:p>
            <a:pPr indent="0" marL="0">
              <a:buNone/>
            </a:pPr>
            <a:r>
              <a:rPr lang="en-US" sz="1000" dirty="0">
                <a:solidFill>
                  <a:srgbClr val="C9D3E3"/>
                </a:solidFill>
                <a:latin typeface="Calibri" pitchFamily="34" charset="0"/>
                <a:ea typeface="Calibri" pitchFamily="34" charset="-122"/>
                <a:cs typeface="Calibri" pitchFamily="34" charset="-120"/>
              </a:rPr>
              <a:t>Control Systems (22EEG53)  |  Prof. Mitesh Astik</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846320"/>
            <a:ext cx="6400800" cy="22860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Control Systems (22EEG53)  |  Prof. Mitesh Astik</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art" descr="preencoded.png">    </p:cNvPr>
          <p:cNvPicPr>
            <a:picLocks noChangeAspect="1"/>
          </p:cNvPicPr>
          <p:nvPr/>
        </p:nvPicPr>
        <p:blipFill>
          <a:blip r:embed="rId1"/>
          <a:stretch>
            <a:fillRect/>
          </a:stretch>
        </p:blipFill>
        <p:spPr>
          <a:xfrm>
            <a:off x="4572000" y="822960"/>
            <a:ext cx="4206240" cy="3383280"/>
          </a:xfrm>
          <a:prstGeom prst="rect">
            <a:avLst/>
          </a:prstGeom>
        </p:spPr>
      </p:pic>
      <p:sp>
        <p:nvSpPr>
          <p:cNvPr id="3" name="Text 0"/>
          <p:cNvSpPr txBox="1"/>
          <p:nvPr/>
        </p:nvSpPr>
        <p:spPr>
          <a:xfrm>
            <a:off x="548640" y="822960"/>
            <a:ext cx="4023360" cy="15544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State-Variable Analysis</a:t>
            </a:r>
            <a:endParaRPr lang="en-US" sz="3200" dirty="0"/>
          </a:p>
        </p:txBody>
      </p:sp>
      <p:sp>
        <p:nvSpPr>
          <p:cNvPr id="4" name="Text 1"/>
          <p:cNvSpPr txBox="1"/>
          <p:nvPr/>
        </p:nvSpPr>
        <p:spPr>
          <a:xfrm>
            <a:off x="548640" y="2514600"/>
            <a:ext cx="3931920" cy="1920240"/>
          </a:xfrm>
          <a:prstGeom prst="rect">
            <a:avLst/>
          </a:prstGeom>
          <a:noFill/>
          <a:ln/>
        </p:spPr>
        <p:txBody>
          <a:bodyPr wrap="square" lIns="0" tIns="0" rIns="0" bIns="0" rtlCol="0" anchor="t"/>
          <a:lstStyle/>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Control Systems (22EEG53)</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Unit 5: Compensators and Controllers</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Topic: Introduction to state-variable analysis; state-space model of physical systems (SISO)</a:t>
            </a:r>
            <a:endParaRPr lang="en-US" sz="1500" dirty="0"/>
          </a:p>
          <a:p>
            <a:pPr indent="0" marL="0">
              <a:spcAft>
                <a:spcPts val="800"/>
              </a:spcAft>
              <a:buNone/>
            </a:pPr>
            <a:r>
              <a:rPr lang="en-US" sz="1500" b="1" dirty="0">
                <a:solidFill>
                  <a:srgbClr val="FCA311"/>
                </a:solidFill>
                <a:latin typeface="Calibri" pitchFamily="34" charset="0"/>
                <a:ea typeface="Calibri" pitchFamily="34" charset="-122"/>
                <a:cs typeface="Calibri" pitchFamily="34" charset="-120"/>
              </a:rPr>
              <a:t>Prof. Mitesh Astik</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Learning Outcomes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Define state, state variable and state space.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Write ẋ = Ax + Bu, y = Cx + Du.</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Model RLC and mass–spring–damper systems in state space.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State the advantages over the transfer function.</a:t>
            </a:r>
            <a:endParaRPr lang="en-US" sz="1400" dirty="0"/>
          </a:p>
        </p:txBody>
      </p:sp>
      <p:pic>
        <p:nvPicPr>
          <p:cNvPr id="4" name="Diagram" descr="Learning Outcome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Linked to CO5</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Analyse the system using state-space techniques.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Recap: What You Already Know</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An nth-order ODE needs n initial conditions.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Transfer function: input–output only.</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Matrix multiplication and inverse.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Poles = roots of the characteristic equation.</a:t>
            </a:r>
            <a:endParaRPr lang="en-US" sz="1400" dirty="0"/>
          </a:p>
        </p:txBody>
      </p:sp>
      <p:pic>
        <p:nvPicPr>
          <p:cNvPr id="4" name="Diagram" descr="Recap: What You Already Know">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Series RLC: L q″ + R q′ + q/C = v;   M x″ + B x′ + K x = f</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Motivation: Beyond the Transfer Function</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Robots and aircraft have many inputs and outputs.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Nonlinear and time-varying systems.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Need to know internal quantities, e.g. current.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Computers solve first-order matrix equations easily.</a:t>
            </a:r>
            <a:endParaRPr lang="en-US" sz="1400" dirty="0"/>
          </a:p>
        </p:txBody>
      </p:sp>
      <p:pic>
        <p:nvPicPr>
          <p:cNvPr id="4" name="Diagram" descr="Motivation: Beyond the Transfer Function">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State space = the language of modern control, simulation and estimation</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State, State Variables, State Space</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State: the smallest set of variables describing the system.</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State variables: x1, x2, …, xn.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State vector x(t): the column of states.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State space: the n-dimensional space of x.</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Number of states = order of the system.</a:t>
            </a:r>
            <a:endParaRPr lang="en-US" sz="1400" dirty="0"/>
          </a:p>
        </p:txBody>
      </p:sp>
      <p:pic>
        <p:nvPicPr>
          <p:cNvPr id="4" name="Diagram" descr="State, State Variables, State Space">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x(t) = [x1 x2 … xn]ᵀ,  n = number of energy-storage elements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State Equations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State equation: ẋ = A x + B u.</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Output equation: y = C x + D u.</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 system matrix (n × 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B: input matrix; C: output matrix; D: feedthrough.</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SISO: u and y are scalars.</a:t>
            </a:r>
            <a:endParaRPr lang="en-US" sz="1400" dirty="0"/>
          </a:p>
        </p:txBody>
      </p:sp>
      <p:pic>
        <p:nvPicPr>
          <p:cNvPr id="4" name="Diagram" descr="State Equation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ẋ = A x + B u;   y = C x + D u</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A n×n, B n×1, C 1×n, D 1×1 for a SISO system</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Physical Variable Approach</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Choose physically meaningful states.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Energy-storage elements give the states.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Write the governing physical laws.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Rearrange into first-order form.</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Read off the matrices.</a:t>
            </a:r>
            <a:endParaRPr lang="en-US" sz="1400" dirty="0"/>
          </a:p>
        </p:txBody>
      </p:sp>
      <p:pic>
        <p:nvPicPr>
          <p:cNvPr id="4" name="Diagram" descr="Physical Variable Approach">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Electrical: x = vC, iL;   mechanical: x = position, velocity</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State Model of a Series RLC Circuit</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States: x1 = vC, x2 = iL = i.</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Capacitor: i = C·dvC/dt → ẋ1 = x2/C.</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KVL: u = R i + L di/dt + vC.</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Solve: ẋ2 = −x1/L − (R/L)x2 + u/L.</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Output: y = vC = x1.</a:t>
            </a:r>
            <a:endParaRPr lang="en-US" sz="1400" dirty="0"/>
          </a:p>
        </p:txBody>
      </p:sp>
      <p:pic>
        <p:nvPicPr>
          <p:cNvPr id="4" name="Diagram" descr="State Model of a Series RLC Circuit">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A = [[0, 1/C], [−1/L, −R/L]],   B = [0, 1/L]ᵀ,   C = [1  0]</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State Model of Mass–Spring–Damper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States: x1 = x (position), x2 = ẋ (velocity).</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ẋ1 = x2 by definition.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Newton: M ẍ = u − B ẋ − K x.</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Solve for ẋ2.</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Output: y = x = x1.</a:t>
            </a:r>
            <a:endParaRPr lang="en-US" sz="1400" dirty="0"/>
          </a:p>
        </p:txBody>
      </p:sp>
      <p:pic>
        <p:nvPicPr>
          <p:cNvPr id="4" name="Diagram" descr="State Model of Mass–Spring–Dampe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A = [[0, 1], [−K/M, −B/M]],   B = [0, 1/M]ᵀ,   C = [1  0]</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Advantages of State Space</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Handles MIMO systems naturally.</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Works for nonlinear and time-varying systems.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Includes initial conditions.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Gives access to every internal state.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Easy to simulate and design by computer.</a:t>
            </a:r>
            <a:endParaRPr lang="en-US" sz="1400" dirty="0"/>
          </a:p>
        </p:txBody>
      </p:sp>
      <p:pic>
        <p:nvPicPr>
          <p:cNvPr id="4" name="Diagram" descr="Advantages of State Space">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Transfer function: external description;  state space: internal description</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From State Model to Transfer Function</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Take the Laplace transform with x(0) = 0.</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Solve for X(s).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Substitute into the output equation.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Poles of G(s) are the eigenvalues of A.</a:t>
            </a:r>
            <a:endParaRPr lang="en-US" sz="1400" dirty="0"/>
          </a:p>
        </p:txBody>
      </p:sp>
      <p:pic>
        <p:nvPicPr>
          <p:cNvPr id="4" name="Diagram" descr="From State Model to Transfer Function">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G(s) = C (sI − A)⁻¹ B + D;   characteristic equation: det(sI − A) = 0</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Solved Example 1: RLC State Model</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 = 2 Ω, L = 1 H, C = 0.25 F; output vC. Find A, B, C and G(s).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1. x1 = vC, x2 = i: ẋ1 = 4x2, ẋ2 = −x1 − 2x2 + u.</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2. A = [[0, 4], [−1, −2]], B = [0, 1]ᵀ, C = [1 0], D = 0.</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3. sI − A = [[s, −4], [1, s + 2]], det = s² + 2s + 4.</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4. (sI − A)⁻¹B = [4, s]ᵀ/det.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5. G(s) = C(sI − A)⁻¹B = 4/(s² + 2s + 4).</a:t>
            </a:r>
            <a:endParaRPr lang="en-US" sz="1400" dirty="0"/>
          </a:p>
        </p:txBody>
      </p:sp>
      <p:pic>
        <p:nvPicPr>
          <p:cNvPr id="4" name="Diagram" descr="Solved Example 1: RLC State Model">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Answer: G(s) = 4/(s² + 2s + 4); eigenvalues −1 ± j1.73</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Solved Example 2: Mass–Spring–Damper</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M = 2 kg, B = 4 N·s/m, K = 8 N/m; output x. Find the state model and G(s).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1. x1 = x, x2 = ẋ: ẋ1 = x2, ẋ2 = −4x1 − 2x2 + 0.5u.</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2. A = [[0, 1], [−4, −2]], B = [0, 0.5]ᵀ, C = [1 0].</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3. det(sI − A) = s² + 2s + 4.</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4. G(s) = 0.5/(s² + 2s + 4) = 1/(2s² + 4s + 8).</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5. Eigenvalues −1 ± j1.73 → ζ = 0.5, ωn = 2 rad/s.</a:t>
            </a:r>
            <a:endParaRPr lang="en-US" sz="1400" dirty="0"/>
          </a:p>
        </p:txBody>
      </p:sp>
      <p:pic>
        <p:nvPicPr>
          <p:cNvPr id="4" name="Diagram" descr="Solved Example 2: Mass–Spring–Damper">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Answer: G(s) = 1/(2s² + 4s + 8);  same poles as the RLC system (analogy)</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Common Mistakes and Exam Tips</a:t>
            </a:r>
            <a:endParaRPr lang="en-US" sz="2800" dirty="0"/>
          </a:p>
        </p:txBody>
      </p:sp>
      <p:sp>
        <p:nvSpPr>
          <p:cNvPr id="3" name="Common mistakes card"/>
          <p:cNvSpPr/>
          <p:nvPr/>
        </p:nvSpPr>
        <p:spPr>
          <a:xfrm>
            <a:off x="457200" y="1143000"/>
            <a:ext cx="4023360" cy="3566160"/>
          </a:xfrm>
          <a:prstGeom prst="roundRect">
            <a:avLst>
              <a:gd name="adj" fmla="val 2564"/>
            </a:avLst>
          </a:prstGeom>
          <a:solidFill>
            <a:srgbClr val="F3F6FB"/>
          </a:solidFill>
          <a:ln/>
        </p:spPr>
      </p:sp>
      <p:sp>
        <p:nvSpPr>
          <p:cNvPr id="4" name="Common mistakes icon"/>
          <p:cNvSpPr/>
          <p:nvPr/>
        </p:nvSpPr>
        <p:spPr>
          <a:xfrm>
            <a:off x="640080" y="1280160"/>
            <a:ext cx="411480" cy="411480"/>
          </a:xfrm>
          <a:prstGeom prst="ellipse">
            <a:avLst/>
          </a:prstGeom>
          <a:solidFill>
            <a:srgbClr val="C0392B"/>
          </a:solidFill>
          <a:ln/>
        </p:spPr>
      </p:sp>
      <p:sp>
        <p:nvSpPr>
          <p:cNvPr id="5" name="Text 3"/>
          <p:cNvSpPr txBox="1"/>
          <p:nvPr/>
        </p:nvSpPr>
        <p:spPr>
          <a:xfrm>
            <a:off x="64008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6" name="Text 4"/>
          <p:cNvSpPr txBox="1"/>
          <p:nvPr/>
        </p:nvSpPr>
        <p:spPr>
          <a:xfrm>
            <a:off x="1188720" y="1280160"/>
            <a:ext cx="3108960" cy="41148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Common mistakes</a:t>
            </a:r>
            <a:endParaRPr lang="en-US" sz="2000" dirty="0"/>
          </a:p>
        </p:txBody>
      </p:sp>
      <p:sp>
        <p:nvSpPr>
          <p:cNvPr id="7" name="Text 5"/>
          <p:cNvSpPr txBox="1"/>
          <p:nvPr/>
        </p:nvSpPr>
        <p:spPr>
          <a:xfrm>
            <a:off x="68580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Choosing too many or too few states.</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Mixing up the order of rows in A.</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Using initial conditions when finding G(s).</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Forgetting the 1/M factor in B.</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Confusing A (system matrix) with the open-loop transfer function.</a:t>
            </a:r>
            <a:endParaRPr lang="en-US" sz="1600" dirty="0"/>
          </a:p>
        </p:txBody>
      </p:sp>
      <p:sp>
        <p:nvSpPr>
          <p:cNvPr id="8" name="Exam tips card"/>
          <p:cNvSpPr/>
          <p:nvPr/>
        </p:nvSpPr>
        <p:spPr>
          <a:xfrm>
            <a:off x="4663440" y="1143000"/>
            <a:ext cx="4023360" cy="3566160"/>
          </a:xfrm>
          <a:prstGeom prst="roundRect">
            <a:avLst>
              <a:gd name="adj" fmla="val 2564"/>
            </a:avLst>
          </a:prstGeom>
          <a:solidFill>
            <a:srgbClr val="F3F6FB"/>
          </a:solidFill>
          <a:ln/>
        </p:spPr>
      </p:sp>
      <p:sp>
        <p:nvSpPr>
          <p:cNvPr id="9" name="Exam tips icon"/>
          <p:cNvSpPr/>
          <p:nvPr/>
        </p:nvSpPr>
        <p:spPr>
          <a:xfrm>
            <a:off x="4846320" y="1280160"/>
            <a:ext cx="411480" cy="411480"/>
          </a:xfrm>
          <a:prstGeom prst="ellipse">
            <a:avLst/>
          </a:prstGeom>
          <a:solidFill>
            <a:srgbClr val="2E8B57"/>
          </a:solidFill>
          <a:ln/>
        </p:spPr>
      </p:sp>
      <p:sp>
        <p:nvSpPr>
          <p:cNvPr id="10" name="Text 8"/>
          <p:cNvSpPr txBox="1"/>
          <p:nvPr/>
        </p:nvSpPr>
        <p:spPr>
          <a:xfrm>
            <a:off x="484632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ext 9"/>
          <p:cNvSpPr txBox="1"/>
          <p:nvPr/>
        </p:nvSpPr>
        <p:spPr>
          <a:xfrm>
            <a:off x="5394960" y="1280160"/>
            <a:ext cx="3108960" cy="41148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Exam tips</a:t>
            </a:r>
            <a:endParaRPr lang="en-US" sz="2000" dirty="0"/>
          </a:p>
        </p:txBody>
      </p:sp>
      <p:sp>
        <p:nvSpPr>
          <p:cNvPr id="12" name="Text 10"/>
          <p:cNvSpPr txBox="1"/>
          <p:nvPr/>
        </p:nvSpPr>
        <p:spPr>
          <a:xfrm>
            <a:off x="489204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Count the energy-storage elements.</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Write ẋ1 = x2 first, then the second law.</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Check G(s) against the transfer function method.</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Check eigenvalues of A = poles of G(s).</a:t>
            </a:r>
            <a:endParaRPr lang="en-US" sz="16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Summary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State vector x = minimum set describing the system.</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ẋ = Ax + Bu;  y = Cx + Du.</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Physical approach: use energy-storage variables.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G(s) = C(sI − A)⁻¹B + D;  poles = eigenvalues of A.</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State space handles MIMO and nonlinear systems.</a:t>
            </a:r>
            <a:endParaRPr lang="en-US" sz="1400" dirty="0"/>
          </a:p>
        </p:txBody>
      </p:sp>
      <p:pic>
        <p:nvPicPr>
          <p:cNvPr id="4" name="Diagram" descr="Summar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Number of states = order of the system = number of storage elements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Quick Quiz</a:t>
            </a:r>
            <a:endParaRPr lang="en-US" sz="2800" dirty="0"/>
          </a:p>
        </p:txBody>
      </p:sp>
      <p:sp>
        <p:nvSpPr>
          <p:cNvPr id="3" name="Q1 row"/>
          <p:cNvSpPr/>
          <p:nvPr/>
        </p:nvSpPr>
        <p:spPr>
          <a:xfrm>
            <a:off x="457200" y="1097280"/>
            <a:ext cx="8229600" cy="658368"/>
          </a:xfrm>
          <a:prstGeom prst="roundRect">
            <a:avLst>
              <a:gd name="adj" fmla="val 11111"/>
            </a:avLst>
          </a:prstGeom>
          <a:solidFill>
            <a:srgbClr val="F3F6FB"/>
          </a:solidFill>
          <a:ln w="9525">
            <a:solidFill>
              <a:srgbClr val="E8EEF9"/>
            </a:solidFill>
            <a:prstDash val="solid"/>
          </a:ln>
        </p:spPr>
      </p:sp>
      <p:sp>
        <p:nvSpPr>
          <p:cNvPr id="4" name="Text 2"/>
          <p:cNvSpPr txBox="1"/>
          <p:nvPr/>
        </p:nvSpPr>
        <p:spPr>
          <a:xfrm>
            <a:off x="594360" y="109728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Q1. Number of state variables of a series RLC circuit:</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1  (b) 2  (c) 3  (d) 4</a:t>
            </a:r>
            <a:endParaRPr lang="en-US" sz="1400" dirty="0"/>
          </a:p>
        </p:txBody>
      </p:sp>
      <p:sp>
        <p:nvSpPr>
          <p:cNvPr id="5" name="Q1 answer"/>
          <p:cNvSpPr/>
          <p:nvPr/>
        </p:nvSpPr>
        <p:spPr>
          <a:xfrm>
            <a:off x="7269480" y="1225296"/>
            <a:ext cx="1280160" cy="402336"/>
          </a:xfrm>
          <a:prstGeom prst="roundRect">
            <a:avLst>
              <a:gd name="adj" fmla="val 22727"/>
            </a:avLst>
          </a:prstGeom>
          <a:solidFill>
            <a:srgbClr val="2E8B57"/>
          </a:solidFill>
          <a:ln/>
        </p:spPr>
      </p:sp>
      <p:sp>
        <p:nvSpPr>
          <p:cNvPr id="6" name="Text 4"/>
          <p:cNvSpPr txBox="1"/>
          <p:nvPr/>
        </p:nvSpPr>
        <p:spPr>
          <a:xfrm>
            <a:off x="7269480" y="122529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7" name="Q2 row"/>
          <p:cNvSpPr/>
          <p:nvPr/>
        </p:nvSpPr>
        <p:spPr>
          <a:xfrm>
            <a:off x="457200" y="1828800"/>
            <a:ext cx="8229600" cy="658368"/>
          </a:xfrm>
          <a:prstGeom prst="roundRect">
            <a:avLst>
              <a:gd name="adj" fmla="val 11111"/>
            </a:avLst>
          </a:prstGeom>
          <a:solidFill>
            <a:srgbClr val="FFFFFF"/>
          </a:solidFill>
          <a:ln w="9525">
            <a:solidFill>
              <a:srgbClr val="E8EEF9"/>
            </a:solidFill>
            <a:prstDash val="solid"/>
          </a:ln>
        </p:spPr>
      </p:sp>
      <p:sp>
        <p:nvSpPr>
          <p:cNvPr id="8" name="Text 6"/>
          <p:cNvSpPr txBox="1"/>
          <p:nvPr/>
        </p:nvSpPr>
        <p:spPr>
          <a:xfrm>
            <a:off x="594360" y="182880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Q2. In ẋ = Ax + Bu, matrix A is: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input matrix  (b) output matrix  (c) system matrix  (d) feedthrough</a:t>
            </a:r>
            <a:endParaRPr lang="en-US" sz="1400" dirty="0"/>
          </a:p>
        </p:txBody>
      </p:sp>
      <p:sp>
        <p:nvSpPr>
          <p:cNvPr id="9" name="Q2 answer"/>
          <p:cNvSpPr/>
          <p:nvPr/>
        </p:nvSpPr>
        <p:spPr>
          <a:xfrm>
            <a:off x="7269480" y="1956816"/>
            <a:ext cx="1280160" cy="402336"/>
          </a:xfrm>
          <a:prstGeom prst="roundRect">
            <a:avLst>
              <a:gd name="adj" fmla="val 22727"/>
            </a:avLst>
          </a:prstGeom>
          <a:solidFill>
            <a:srgbClr val="2E8B57"/>
          </a:solidFill>
          <a:ln/>
        </p:spPr>
      </p:sp>
      <p:sp>
        <p:nvSpPr>
          <p:cNvPr id="10" name="Text 8"/>
          <p:cNvSpPr txBox="1"/>
          <p:nvPr/>
        </p:nvSpPr>
        <p:spPr>
          <a:xfrm>
            <a:off x="7269480" y="195681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(c)</a:t>
            </a:r>
            <a:endParaRPr lang="en-US" sz="1400" dirty="0"/>
          </a:p>
        </p:txBody>
      </p:sp>
      <p:sp>
        <p:nvSpPr>
          <p:cNvPr id="11" name="Q3 row"/>
          <p:cNvSpPr/>
          <p:nvPr/>
        </p:nvSpPr>
        <p:spPr>
          <a:xfrm>
            <a:off x="457200" y="2560320"/>
            <a:ext cx="8229600" cy="658368"/>
          </a:xfrm>
          <a:prstGeom prst="roundRect">
            <a:avLst>
              <a:gd name="adj" fmla="val 11111"/>
            </a:avLst>
          </a:prstGeom>
          <a:solidFill>
            <a:srgbClr val="F3F6FB"/>
          </a:solidFill>
          <a:ln w="9525">
            <a:solidFill>
              <a:srgbClr val="E8EEF9"/>
            </a:solidFill>
            <a:prstDash val="solid"/>
          </a:ln>
        </p:spPr>
      </p:sp>
      <p:sp>
        <p:nvSpPr>
          <p:cNvPr id="12" name="Text 10"/>
          <p:cNvSpPr txBox="1"/>
          <p:nvPr/>
        </p:nvSpPr>
        <p:spPr>
          <a:xfrm>
            <a:off x="594360" y="256032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Q3. Poles of G(s) equal:</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eigenvalues of A  (b) elements of B  (c) rows of C  (d) D</a:t>
            </a:r>
            <a:endParaRPr lang="en-US" sz="1400" dirty="0"/>
          </a:p>
        </p:txBody>
      </p:sp>
      <p:sp>
        <p:nvSpPr>
          <p:cNvPr id="13" name="Q3 answer"/>
          <p:cNvSpPr/>
          <p:nvPr/>
        </p:nvSpPr>
        <p:spPr>
          <a:xfrm>
            <a:off x="7269480" y="2688336"/>
            <a:ext cx="1280160" cy="402336"/>
          </a:xfrm>
          <a:prstGeom prst="roundRect">
            <a:avLst>
              <a:gd name="adj" fmla="val 22727"/>
            </a:avLst>
          </a:prstGeom>
          <a:solidFill>
            <a:srgbClr val="2E8B57"/>
          </a:solidFill>
          <a:ln/>
        </p:spPr>
      </p:sp>
      <p:sp>
        <p:nvSpPr>
          <p:cNvPr id="14" name="Text 12"/>
          <p:cNvSpPr txBox="1"/>
          <p:nvPr/>
        </p:nvSpPr>
        <p:spPr>
          <a:xfrm>
            <a:off x="7269480" y="268833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(a)</a:t>
            </a:r>
            <a:endParaRPr lang="en-US" sz="1400" dirty="0"/>
          </a:p>
        </p:txBody>
      </p:sp>
      <p:sp>
        <p:nvSpPr>
          <p:cNvPr id="15" name="Q4 row"/>
          <p:cNvSpPr/>
          <p:nvPr/>
        </p:nvSpPr>
        <p:spPr>
          <a:xfrm>
            <a:off x="457200" y="3291840"/>
            <a:ext cx="8229600" cy="658368"/>
          </a:xfrm>
          <a:prstGeom prst="roundRect">
            <a:avLst>
              <a:gd name="adj" fmla="val 11111"/>
            </a:avLst>
          </a:prstGeom>
          <a:solidFill>
            <a:srgbClr val="FFFFFF"/>
          </a:solidFill>
          <a:ln w="9525">
            <a:solidFill>
              <a:srgbClr val="E8EEF9"/>
            </a:solidFill>
            <a:prstDash val="solid"/>
          </a:ln>
        </p:spPr>
      </p:sp>
      <p:sp>
        <p:nvSpPr>
          <p:cNvPr id="16" name="Text 14"/>
          <p:cNvSpPr txBox="1"/>
          <p:nvPr/>
        </p:nvSpPr>
        <p:spPr>
          <a:xfrm>
            <a:off x="594360" y="329184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Q4. States chosen for a mass–spring–damper:</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force and mass  (b) position and velocity  (c) K and B  (d) energy only</a:t>
            </a:r>
            <a:endParaRPr lang="en-US" sz="1400" dirty="0"/>
          </a:p>
        </p:txBody>
      </p:sp>
      <p:sp>
        <p:nvSpPr>
          <p:cNvPr id="17" name="Q4 answer"/>
          <p:cNvSpPr/>
          <p:nvPr/>
        </p:nvSpPr>
        <p:spPr>
          <a:xfrm>
            <a:off x="7269480" y="3419856"/>
            <a:ext cx="1280160" cy="402336"/>
          </a:xfrm>
          <a:prstGeom prst="roundRect">
            <a:avLst>
              <a:gd name="adj" fmla="val 22727"/>
            </a:avLst>
          </a:prstGeom>
          <a:solidFill>
            <a:srgbClr val="2E8B57"/>
          </a:solidFill>
          <a:ln/>
        </p:spPr>
      </p:sp>
      <p:sp>
        <p:nvSpPr>
          <p:cNvPr id="18" name="Text 16"/>
          <p:cNvSpPr txBox="1"/>
          <p:nvPr/>
        </p:nvSpPr>
        <p:spPr>
          <a:xfrm>
            <a:off x="7269480" y="341985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9" name="Q5 row"/>
          <p:cNvSpPr/>
          <p:nvPr/>
        </p:nvSpPr>
        <p:spPr>
          <a:xfrm>
            <a:off x="457200" y="4023360"/>
            <a:ext cx="8229600" cy="658368"/>
          </a:xfrm>
          <a:prstGeom prst="roundRect">
            <a:avLst>
              <a:gd name="adj" fmla="val 11111"/>
            </a:avLst>
          </a:prstGeom>
          <a:solidFill>
            <a:srgbClr val="F3F6FB"/>
          </a:solidFill>
          <a:ln w="9525">
            <a:solidFill>
              <a:srgbClr val="E8EEF9"/>
            </a:solidFill>
            <a:prstDash val="solid"/>
          </a:ln>
        </p:spPr>
      </p:sp>
      <p:sp>
        <p:nvSpPr>
          <p:cNvPr id="20" name="Text 18"/>
          <p:cNvSpPr txBox="1"/>
          <p:nvPr/>
        </p:nvSpPr>
        <p:spPr>
          <a:xfrm>
            <a:off x="594360" y="402336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Q5. A main advantage of state space:</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only SISO  (b) handles MIMO and initial conditions  (c) needs no matrices  (d) only linear</a:t>
            </a:r>
            <a:endParaRPr lang="en-US" sz="1400" dirty="0"/>
          </a:p>
        </p:txBody>
      </p:sp>
      <p:sp>
        <p:nvSpPr>
          <p:cNvPr id="21" name="Q5 answer"/>
          <p:cNvSpPr/>
          <p:nvPr/>
        </p:nvSpPr>
        <p:spPr>
          <a:xfrm>
            <a:off x="7269480" y="4151376"/>
            <a:ext cx="1280160" cy="402336"/>
          </a:xfrm>
          <a:prstGeom prst="roundRect">
            <a:avLst>
              <a:gd name="adj" fmla="val 22727"/>
            </a:avLst>
          </a:prstGeom>
          <a:solidFill>
            <a:srgbClr val="2E8B57"/>
          </a:solidFill>
          <a:ln/>
        </p:spPr>
      </p:sp>
      <p:sp>
        <p:nvSpPr>
          <p:cNvPr id="22" name="Text 20"/>
          <p:cNvSpPr txBox="1"/>
          <p:nvPr/>
        </p:nvSpPr>
        <p:spPr>
          <a:xfrm>
            <a:off x="7269480" y="415137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References</a:t>
            </a:r>
            <a:endParaRPr lang="en-US" sz="2800" dirty="0"/>
          </a:p>
        </p:txBody>
      </p:sp>
      <p:sp>
        <p:nvSpPr>
          <p:cNvPr id="3" name="Ref 1 badge"/>
          <p:cNvSpPr/>
          <p:nvPr/>
        </p:nvSpPr>
        <p:spPr>
          <a:xfrm>
            <a:off x="457200" y="1197864"/>
            <a:ext cx="420624" cy="420624"/>
          </a:xfrm>
          <a:prstGeom prst="ellipse">
            <a:avLst/>
          </a:prstGeom>
          <a:solidFill>
            <a:srgbClr val="14213D"/>
          </a:solidFill>
          <a:ln/>
        </p:spPr>
      </p:sp>
      <p:sp>
        <p:nvSpPr>
          <p:cNvPr id="4" name="Text 2"/>
          <p:cNvSpPr txBox="1"/>
          <p:nvPr/>
        </p:nvSpPr>
        <p:spPr>
          <a:xfrm>
            <a:off x="457200" y="11978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 3"/>
          <p:cNvSpPr txBox="1"/>
          <p:nvPr/>
        </p:nvSpPr>
        <p:spPr>
          <a:xfrm>
            <a:off x="1051560" y="1143000"/>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Benjamin C. Kuo, Automatic Control Systems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7th Ed., PHI, 2007 (Units 3, 4, 5 textbook)</a:t>
            </a:r>
            <a:endParaRPr lang="en-US" sz="1400" dirty="0"/>
          </a:p>
        </p:txBody>
      </p:sp>
      <p:sp>
        <p:nvSpPr>
          <p:cNvPr id="6" name="Ref 2 badge"/>
          <p:cNvSpPr/>
          <p:nvPr/>
        </p:nvSpPr>
        <p:spPr>
          <a:xfrm>
            <a:off x="457200" y="1801368"/>
            <a:ext cx="420624" cy="420624"/>
          </a:xfrm>
          <a:prstGeom prst="ellipse">
            <a:avLst/>
          </a:prstGeom>
          <a:solidFill>
            <a:srgbClr val="14213D"/>
          </a:solidFill>
          <a:ln/>
        </p:spPr>
      </p:sp>
      <p:sp>
        <p:nvSpPr>
          <p:cNvPr id="7" name="Text 5"/>
          <p:cNvSpPr txBox="1"/>
          <p:nvPr/>
        </p:nvSpPr>
        <p:spPr>
          <a:xfrm>
            <a:off x="457200" y="18013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Text 6"/>
          <p:cNvSpPr txBox="1"/>
          <p:nvPr/>
        </p:nvSpPr>
        <p:spPr>
          <a:xfrm>
            <a:off x="1051560" y="1746504"/>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J. J. D'Azzo and C. H. Houpis, Feedback Control System Analysis and Synthesis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4th Ed., McGraw Hill International, 1999 (reference, Unit 5)</a:t>
            </a:r>
            <a:endParaRPr lang="en-US" sz="1400" dirty="0"/>
          </a:p>
        </p:txBody>
      </p:sp>
      <p:sp>
        <p:nvSpPr>
          <p:cNvPr id="9" name="Ref 3 badge"/>
          <p:cNvSpPr/>
          <p:nvPr/>
        </p:nvSpPr>
        <p:spPr>
          <a:xfrm>
            <a:off x="457200" y="2404872"/>
            <a:ext cx="420624" cy="420624"/>
          </a:xfrm>
          <a:prstGeom prst="ellipse">
            <a:avLst/>
          </a:prstGeom>
          <a:solidFill>
            <a:srgbClr val="14213D"/>
          </a:solidFill>
          <a:ln/>
        </p:spPr>
      </p:sp>
      <p:sp>
        <p:nvSpPr>
          <p:cNvPr id="10" name="Text 8"/>
          <p:cNvSpPr txBox="1"/>
          <p:nvPr/>
        </p:nvSpPr>
        <p:spPr>
          <a:xfrm>
            <a:off x="457200" y="24048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1" name="Text 9"/>
          <p:cNvSpPr txBox="1"/>
          <p:nvPr/>
        </p:nvSpPr>
        <p:spPr>
          <a:xfrm>
            <a:off x="1051560" y="2350008"/>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M. Gopal, Control Systems Principles and Design</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4th Ed., TMH, 1999 (reference, Units 4, 5)</a:t>
            </a:r>
            <a:endParaRPr lang="en-US" sz="1400" dirty="0"/>
          </a:p>
        </p:txBody>
      </p:sp>
      <p:sp>
        <p:nvSpPr>
          <p:cNvPr id="12" name="Key strip"/>
          <p:cNvSpPr/>
          <p:nvPr/>
        </p:nvSpPr>
        <p:spPr>
          <a:xfrm>
            <a:off x="457200" y="4343400"/>
            <a:ext cx="8229600" cy="411480"/>
          </a:xfrm>
          <a:prstGeom prst="roundRect">
            <a:avLst>
              <a:gd name="adj" fmla="val 17778"/>
            </a:avLst>
          </a:prstGeom>
          <a:solidFill>
            <a:srgbClr val="E8EEF9"/>
          </a:solidFill>
          <a:ln/>
        </p:spPr>
      </p:sp>
      <p:sp>
        <p:nvSpPr>
          <p:cNvPr id="13" name="Key strip text"/>
          <p:cNvSpPr txBox="1"/>
          <p:nvPr/>
        </p:nvSpPr>
        <p:spPr>
          <a:xfrm>
            <a:off x="594360" y="4343400"/>
            <a:ext cx="7955280" cy="41148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Next lecture: course revision</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Control Systems">
  <a:themeElements>
    <a:clrScheme name="Control Systems">
      <a:dk1>
        <a:srgbClr val="1B2430"/>
      </a:dk1>
      <a:lt1>
        <a:srgbClr val="FFFFFF"/>
      </a:lt1>
      <a:dk2>
        <a:srgbClr val="14213D"/>
      </a:dk2>
      <a:lt2>
        <a:srgbClr val="F3F6FB"/>
      </a:lt2>
      <a:accent1>
        <a:srgbClr val="1F5FBF"/>
      </a:accent1>
      <a:accent2>
        <a:srgbClr val="E08A00"/>
      </a:accent2>
      <a:accent3>
        <a:srgbClr val="2E8B57"/>
      </a:accent3>
      <a:accent4>
        <a:srgbClr val="C0392B"/>
      </a:accent4>
      <a:accent5>
        <a:srgbClr val="5B6472"/>
      </a:accent5>
      <a:accent6>
        <a:srgbClr val="FCA311"/>
      </a:accent6>
      <a:hlink>
        <a:srgbClr val="1F5FBF"/>
      </a:hlink>
      <a:folHlink>
        <a:srgbClr val="5B6472"/>
      </a:folHlink>
    </a:clrScheme>
    <a:fontScheme name="Control System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Systems — Unit 5: State-Variable Analysis</dc:title>
  <dc:subject>PptxGenJS Presentation</dc:subject>
  <dc:creator>Prof. Mitesh Astik</dc:creator>
  <cp:lastModifiedBy>Prof. Mitesh Astik</cp:lastModifiedBy>
  <cp:revision>1</cp:revision>
  <dcterms:created xsi:type="dcterms:W3CDTF">2026-10-28T16:42:58Z</dcterms:created>
  <dcterms:modified xsi:type="dcterms:W3CDTF">2026-10-28T16:42:58Z</dcterms:modified>
</cp:coreProperties>
</file>