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topic is Proportional, integral and derivative control. It belongs to Unit 5: Compensators and Controllers. By the end of this session you will be able to use it in numerical problems. Keep your notebooks ready because we will solve 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aloud. They map to CO5 of the syllabus. Tell students that these are examinable and that the two solved examples follow the same pattern. Ask them to tick off each outcome at the end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controller acts on the error signal and produces the control input to the plant. From Unit 2 we know that an integrator in the loop raises the type of the system and removes the steady-state error. A derivative responds to how fast the error is changing, so it can anticipate where the output is heading.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cruise control in a car to the temperature of a furnace, most control loops in industry are PID. It is popular because it is simple, robust and has only three parameters. Look at the picture: the dashed curve is proportional control and leaves a permanent error, while the PID curve reaches the set value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proportional controller multiplies the error by a constant. A larger gain reduces the offset and speeds up the response, but never removes the offset for a Type 0 plant. If the gain is too large the response oscillates and may become unstable. That is why we need the integral and derivative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integral action sums the error over time. As long as any error remains, the control signal continues to change. So the final error must be zero for a step input. The cost is extra phase lag that reduces damping. In practice PI is the standard choice for slow processes such as temperature or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derivative term is a prediction: if the error is falling fast, the controller reduces the drive early so as to avoid overshoot. It behaves like a lead network by adding phase lead. But differentiation amplifies noise, so in real controllers the derivative is filtered. It does nothing for a constant error, so it never fixes the steady-state offset.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PID controller combines the three actions. The integral action takes care of the steady-state error, the derivative action improves damping and the proportional action provides the main drive. In the standard form the integral and derivative parameters are written as time constants Ti and Td. In the s-domain it is a lag-lead compensator with a pole at the origin.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a quick guide when tuning by hand. Increasing Kp makes the system faster but less damped. Increasing Ki removes the steady-state error but can cause oscillation. Increasing Kd gives more damping but also amplifies noise. These are trends, not exact rules, so always confirm by simulation or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ultimate-gain method of Ziegler and Nichols needs only one experiment. Use proportional control and increase the gain until the output oscillates steadily. The gain at that point is the critical gain and the period of oscillation is the critical period. Simple formulas then give the PID settings. The result is a good starting point, often with about twenty-five per cent overshoot.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proportional controller the loop gain at zero frequency is one, so the error is one over one plus one, equal to 0.5. With PI the open loop contains the integrator, so the system is type one and the step error is zero. Always check stability after adding the integrator: the Routh test on the characteristic polynomial confirms stability. The plot confirms both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the Ziegler Nichols formulas directly to the measured critical gain and period. Kp is 0.6 times Kcr. The integral time is half the period and the derivative time is one eighth of the period. Convert to Ki and Kd by the standard relations. The resulting controller has a double zero at minus two and a pole at the origin, a neat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points where marks are lost most often in PID control. Give one quick example for each mistake. Remind students that writing the formula, substitution and the unit earns method marks even if the arithmetic slips. Encourage them to check the answer for reasonableness.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minute. Say each point and ask the class to recall the formula for it. If they remember these ideas, most numerical problems on PID control are within reach. Next lecture: state-variable analysis. Revise the two solved examples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about one minute per question and take a show of hands. Discuss why the wrong options are tempting, especially the one that uses a wrong formula. Use the quiz as a quick check on PID control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textbooks listed in the syllabus for PID control. Ask them to solve at least three textbook problems on this topic before the next class. Thank the class and preview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4754880"/>
            <a:ext cx="5486400" cy="228600"/>
          </a:xfrm>
          <a:prstGeom prst="rect">
            <a:avLst/>
          </a:prstGeom>
          <a:noFill/>
          <a:ln/>
        </p:spPr>
        <p:txBody>
          <a:bodyPr wrap="square" lIns="0" tIns="0" rIns="0" bIns="0" rtlCol="0" anchor="ctr"/>
          <a:lstStyle/>
          <a:p>
            <a:pPr indent="0" marL="0">
              <a:buNone/>
            </a:pPr>
            <a:r>
              <a:rPr lang="en-US" sz="1000" dirty="0">
                <a:solidFill>
                  <a:srgbClr val="C9D3E3"/>
                </a:solidFill>
                <a:latin typeface="Calibri" pitchFamily="34" charset="0"/>
                <a:ea typeface="Calibri" pitchFamily="34" charset="-122"/>
                <a:cs typeface="Calibri" pitchFamily="34" charset="-120"/>
              </a:rPr>
              <a:t>Control Systems (22EEG53)  |  Prof. Mitesh Astik</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846320"/>
            <a:ext cx="6400800" cy="228600"/>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Control Systems (22EEG53)  |  Prof. Mitesh Astik</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art" descr="preencoded.png">    </p:cNvPr>
          <p:cNvPicPr>
            <a:picLocks noChangeAspect="1"/>
          </p:cNvPicPr>
          <p:nvPr/>
        </p:nvPicPr>
        <p:blipFill>
          <a:blip r:embed="rId1"/>
          <a:stretch>
            <a:fillRect/>
          </a:stretch>
        </p:blipFill>
        <p:spPr>
          <a:xfrm>
            <a:off x="4572000" y="822960"/>
            <a:ext cx="4206240" cy="3383280"/>
          </a:xfrm>
          <a:prstGeom prst="rect">
            <a:avLst/>
          </a:prstGeom>
        </p:spPr>
      </p:pic>
      <p:sp>
        <p:nvSpPr>
          <p:cNvPr id="3" name="Text 0"/>
          <p:cNvSpPr txBox="1"/>
          <p:nvPr/>
        </p:nvSpPr>
        <p:spPr>
          <a:xfrm>
            <a:off x="548640" y="822960"/>
            <a:ext cx="402336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P, PI and PID Controllers</a:t>
            </a:r>
            <a:endParaRPr lang="en-US" sz="3200" dirty="0"/>
          </a:p>
        </p:txBody>
      </p:sp>
      <p:sp>
        <p:nvSpPr>
          <p:cNvPr id="4" name="Text 1"/>
          <p:cNvSpPr txBox="1"/>
          <p:nvPr/>
        </p:nvSpPr>
        <p:spPr>
          <a:xfrm>
            <a:off x="548640" y="2514600"/>
            <a:ext cx="3931920" cy="1920240"/>
          </a:xfrm>
          <a:prstGeom prst="rect">
            <a:avLst/>
          </a:prstGeom>
          <a:noFill/>
          <a:ln/>
        </p:spPr>
        <p:txBody>
          <a:bodyPr wrap="square" lIns="0" tIns="0" rIns="0" bIns="0" rtlCol="0" anchor="t"/>
          <a:lstStyle/>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Control Systems (22EEG53)</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Unit 5: Compensators and Controllers</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Topic: Proportional, integral and derivative control</a:t>
            </a:r>
            <a:endParaRPr lang="en-US" sz="1500" dirty="0"/>
          </a:p>
          <a:p>
            <a:pPr indent="0" marL="0">
              <a:spcAft>
                <a:spcPts val="800"/>
              </a:spcAft>
              <a:buNone/>
            </a:pPr>
            <a:r>
              <a:rPr lang="en-US" sz="1500" b="1" dirty="0">
                <a:solidFill>
                  <a:srgbClr val="FCA311"/>
                </a:solidFill>
                <a:latin typeface="Calibri" pitchFamily="34" charset="0"/>
                <a:ea typeface="Calibri" pitchFamily="34" charset="-122"/>
                <a:cs typeface="Calibri" pitchFamily="34" charset="-120"/>
              </a:rPr>
              <a:t>Prof. Mitesh Astik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Learning Outcomes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Write P, PI, PD and PID control laws.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Explain what each term does to the response.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Tune a PID controller by Ziegler–Nichols.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Compute Kp, Ki and Kd for a given plant test.</a:t>
            </a:r>
            <a:endParaRPr lang="en-US" sz="1400" dirty="0"/>
          </a:p>
        </p:txBody>
      </p:sp>
      <p:pic>
        <p:nvPicPr>
          <p:cNvPr id="4" name="Diagram" descr="Learning Outcom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Linked to CO5</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Design the appropriate compensator and controller for given specifications.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Recap: What You Already Know</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Error e = r − c drives the controller.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Steady-state error depends on system type.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Integrator adds a pole at the origin.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Derivative responds to rate of change.</a:t>
            </a:r>
            <a:endParaRPr lang="en-US" sz="1400" dirty="0"/>
          </a:p>
        </p:txBody>
      </p:sp>
      <p:pic>
        <p:nvPicPr>
          <p:cNvPr id="4" name="Diagram" descr="Recap: What You Already Know">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Laplace: ∫e dt → E/s;   de/dt → sE;   Type N = number of integrators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Motivation: The Workhorse of Industry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Over 90 % of industrial loops use PID.</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Temperature, speed, level, pressure control.</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Three tuning knobs: Kp, Ki, Kd.</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Lab: PID design and DC position control.</a:t>
            </a:r>
            <a:endParaRPr lang="en-US" sz="1400" dirty="0"/>
          </a:p>
        </p:txBody>
      </p:sp>
      <p:pic>
        <p:nvPicPr>
          <p:cNvPr id="4" name="Diagram" descr="Motivation: The Workhorse of Industr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PID gives fast response and zero steady-state error with little overshoot</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Proportional (P) Controller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Output proportional to the error.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Raising Kp speeds up the response.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Too large Kp gives overshoot and oscillation.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 steady-state offset remains for Type 0 plants.</a:t>
            </a:r>
            <a:endParaRPr lang="en-US" sz="1400" dirty="0"/>
          </a:p>
        </p:txBody>
      </p:sp>
      <p:pic>
        <p:nvPicPr>
          <p:cNvPr id="4" name="Diagram" descr="Proportional (P) Controlle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u(t) = Kp·e(t);   Gc(s) = Kp</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ess(step) = 1/(1 + Kp·G(0)) for a Type 0 plant</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Proportional–Integral (PI) Controller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Integral term accumulates the error.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Output keeps changing until the error is zero.</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Eliminates the steady-state error.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Adds lag: may increase overshoot and slow down.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Pole at origin raises system type by one.</a:t>
            </a:r>
            <a:endParaRPr lang="en-US" sz="1400" dirty="0"/>
          </a:p>
        </p:txBody>
      </p:sp>
      <p:pic>
        <p:nvPicPr>
          <p:cNvPr id="4" name="Diagram" descr="Proportional–Integral (PI) Controlle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u = Kp·e + Ki∫e dt;   Gc(s) = Kp + Ki/s = Kp(1 + 1/(Ti s)),  Ti = Kp/Ki</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Proportional–Derivative (PD) Controller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Derivative term reacts to the rate of change of error.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Adds damping: reduces overshoot.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Acts like a lead compensator.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Amplifies high-frequency noise.</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No effect on steady-state error.</a:t>
            </a:r>
            <a:endParaRPr lang="en-US" sz="1400" dirty="0"/>
          </a:p>
        </p:txBody>
      </p:sp>
      <p:pic>
        <p:nvPicPr>
          <p:cNvPr id="4" name="Diagram" descr="Proportional–Derivative (PD) Controlle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u = Kp·e + Kd·de/dt;   Gc(s) = Kp + Kd·s = Kp(1 + Td s),  Td = Kd/Kp</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PID Controller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Combines proportional, integral and derivative actions.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 gives speed; I removes offset; D adds damping.</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Standard form uses Ti and Td.</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Equivalent to a lag–lead compensator.</a:t>
            </a:r>
            <a:endParaRPr lang="en-US" sz="1400" dirty="0"/>
          </a:p>
        </p:txBody>
      </p:sp>
      <p:pic>
        <p:nvPicPr>
          <p:cNvPr id="4" name="Diagram" descr="PID Controlle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u = Kp[e + (1/Ti)∫e dt + Td·de/dt];   Gc(s) = Kp + Ki/s + Kd·s</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Ki = Kp/Ti,  Kd = Kp·Td</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Effect of Each Gain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Each term changes the response differently.</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Tune one gain at a time, small steps.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Large Ki causes oscillation.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Large Kd amplifies noise.</a:t>
            </a:r>
            <a:endParaRPr lang="en-US" sz="1400" dirty="0"/>
          </a:p>
        </p:txBody>
      </p:sp>
      <p:pic>
        <p:nvPicPr>
          <p:cNvPr id="4" name="Diagram" descr="Effect of Each Gai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Kp ↓ error, ↑ speed;   Ki → zero error;   Kd ↑ damping</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Ziegler–Nichols Tuning</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Set Ki = Kd = 0; raise Kp until steady oscillation.</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Record the critical gain Kcr and period Pcr.</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Use the table to set Kp, Ti and Td.</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Gives a quick, reasonable first tuning.</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Fine-tune afterwards.</a:t>
            </a:r>
            <a:endParaRPr lang="en-US" sz="1400" dirty="0"/>
          </a:p>
        </p:txBody>
      </p:sp>
      <p:pic>
        <p:nvPicPr>
          <p:cNvPr id="4" name="Diagram" descr="Ziegler–Nichols Tuning">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P: Kp = 0.5Kcr;   PI: Kp = 0.45Kcr, Ti = Pcr/1.2</a:t>
            </a:r>
            <a:endParaRPr lang="en-US" sz="1400" dirty="0"/>
          </a:p>
          <a:p>
            <a:pPr indent="0" marL="0">
              <a:buNone/>
            </a:pPr>
            <a:r>
              <a:rPr lang="en-US" sz="1400" dirty="0">
                <a:solidFill>
                  <a:srgbClr val="1B2430"/>
                </a:solidFill>
                <a:latin typeface="Calibri" pitchFamily="34" charset="0"/>
                <a:ea typeface="Calibri" pitchFamily="34" charset="-122"/>
                <a:cs typeface="Calibri" pitchFamily="34" charset="-120"/>
              </a:rPr>
              <a:t>PID: Kp = 0.6Kcr, Ti = 0.5Pcr, Td = 0.125Pcr</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Solved Example 1: P vs PI</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Plant G(s) = 1/(s² + 2s + 1), unity feedback. Compare steady-state error for a unit step with P (Kp = 1) and PI (Kp = 1, Ki = 1).</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1. P: ess = 1/(1 + Kp·G(0)) = 1/(1 + 1) = 0.5.</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2. PI: Gc·G has a pole at the origin → Type 1.</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3. Kp(PI) = ∞ so ess = 0.</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4. Check stability: s³ + 2s² + 2s + 1 = 0 → Routh: 2·2 &gt; 1 → stable.</a:t>
            </a:r>
            <a:endParaRPr lang="en-US" sz="1400" dirty="0"/>
          </a:p>
        </p:txBody>
      </p:sp>
      <p:pic>
        <p:nvPicPr>
          <p:cNvPr id="4" name="Diagram" descr="Solved Example 1: P vs PI">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Answer: P gives ess = 0.5; PI gives ess = 0 (stable)</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Solved Example 2: Ziegler–Nichols PID</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A P-only test gives sustained oscillation at Kcr = 8 with period Pcr = 2 s. Tune a PID.</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1. Kp = 0.6Kcr = 4.8.</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2. Ti = 0.5Pcr = 1.0 s → Ki = Kp/Ti = 4.8 s⁻¹.</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3. Td = 0.125Pcr = 0.25 s → Kd = Kp·Td = 1.2 s.</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4. Gc(s) = 4.8 + 4.8/s + 1.2s = 1.2(s² + 4s + 4)/s = 1.2(s + 2)²/s.</a:t>
            </a:r>
            <a:endParaRPr lang="en-US" sz="1400" dirty="0"/>
          </a:p>
        </p:txBody>
      </p:sp>
      <p:pic>
        <p:nvPicPr>
          <p:cNvPr id="4" name="Diagram" descr="Solved Example 2: Ziegler–Nichols PID">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Answer: Kp = 4.8, Ki = 4.8, Kd = 1.2;  Gc(s) = 1.2(s + 2)²/s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Common Mistakes and Exam Tips</a:t>
            </a:r>
            <a:endParaRPr lang="en-US" sz="2800" dirty="0"/>
          </a:p>
        </p:txBody>
      </p:sp>
      <p:sp>
        <p:nvSpPr>
          <p:cNvPr id="3" name="Common mistakes card"/>
          <p:cNvSpPr/>
          <p:nvPr/>
        </p:nvSpPr>
        <p:spPr>
          <a:xfrm>
            <a:off x="457200" y="1143000"/>
            <a:ext cx="4023360" cy="3566160"/>
          </a:xfrm>
          <a:prstGeom prst="roundRect">
            <a:avLst>
              <a:gd name="adj" fmla="val 2564"/>
            </a:avLst>
          </a:prstGeom>
          <a:solidFill>
            <a:srgbClr val="F3F6FB"/>
          </a:solidFill>
          <a:ln/>
        </p:spPr>
      </p:sp>
      <p:sp>
        <p:nvSpPr>
          <p:cNvPr id="4" name="Common mistakes icon"/>
          <p:cNvSpPr/>
          <p:nvPr/>
        </p:nvSpPr>
        <p:spPr>
          <a:xfrm>
            <a:off x="640080" y="1280160"/>
            <a:ext cx="411480" cy="411480"/>
          </a:xfrm>
          <a:prstGeom prst="ellipse">
            <a:avLst/>
          </a:prstGeom>
          <a:solidFill>
            <a:srgbClr val="C0392B"/>
          </a:solidFill>
          <a:ln/>
        </p:spPr>
      </p:sp>
      <p:sp>
        <p:nvSpPr>
          <p:cNvPr id="5" name="Text 3"/>
          <p:cNvSpPr txBox="1"/>
          <p:nvPr/>
        </p:nvSpPr>
        <p:spPr>
          <a:xfrm>
            <a:off x="64008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6" name="Text 4"/>
          <p:cNvSpPr txBox="1"/>
          <p:nvPr/>
        </p:nvSpPr>
        <p:spPr>
          <a:xfrm>
            <a:off x="1188720" y="1280160"/>
            <a:ext cx="3108960" cy="41148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Common mistakes</a:t>
            </a:r>
            <a:endParaRPr lang="en-US" sz="2000" dirty="0"/>
          </a:p>
        </p:txBody>
      </p:sp>
      <p:sp>
        <p:nvSpPr>
          <p:cNvPr id="7" name="Text 5"/>
          <p:cNvSpPr txBox="1"/>
          <p:nvPr/>
        </p:nvSpPr>
        <p:spPr>
          <a:xfrm>
            <a:off x="68580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Using the derivative term on a noisy signal without a filter.</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Expecting P control to remove steady-state error.</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Increasing Ki too much (oscillation).</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Mixing Ti with Ki (Ki = Kp/Ti).</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Applying Ziegler–Nichols to an unstable plant.</a:t>
            </a:r>
            <a:endParaRPr lang="en-US" sz="1600" dirty="0"/>
          </a:p>
        </p:txBody>
      </p:sp>
      <p:sp>
        <p:nvSpPr>
          <p:cNvPr id="8" name="Exam tips card"/>
          <p:cNvSpPr/>
          <p:nvPr/>
        </p:nvSpPr>
        <p:spPr>
          <a:xfrm>
            <a:off x="4663440" y="1143000"/>
            <a:ext cx="4023360" cy="3566160"/>
          </a:xfrm>
          <a:prstGeom prst="roundRect">
            <a:avLst>
              <a:gd name="adj" fmla="val 2564"/>
            </a:avLst>
          </a:prstGeom>
          <a:solidFill>
            <a:srgbClr val="F3F6FB"/>
          </a:solidFill>
          <a:ln/>
        </p:spPr>
      </p:sp>
      <p:sp>
        <p:nvSpPr>
          <p:cNvPr id="9" name="Exam tips icon"/>
          <p:cNvSpPr/>
          <p:nvPr/>
        </p:nvSpPr>
        <p:spPr>
          <a:xfrm>
            <a:off x="4846320" y="1280160"/>
            <a:ext cx="411480" cy="411480"/>
          </a:xfrm>
          <a:prstGeom prst="ellipse">
            <a:avLst/>
          </a:prstGeom>
          <a:solidFill>
            <a:srgbClr val="2E8B57"/>
          </a:solidFill>
          <a:ln/>
        </p:spPr>
      </p:sp>
      <p:sp>
        <p:nvSpPr>
          <p:cNvPr id="10" name="Text 8"/>
          <p:cNvSpPr txBox="1"/>
          <p:nvPr/>
        </p:nvSpPr>
        <p:spPr>
          <a:xfrm>
            <a:off x="484632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5394960" y="1280160"/>
            <a:ext cx="3108960" cy="411480"/>
          </a:xfrm>
          <a:prstGeom prst="rect">
            <a:avLst/>
          </a:prstGeom>
          <a:noFill/>
          <a:ln/>
        </p:spPr>
        <p:txBody>
          <a:bodyPr wrap="square" lIns="0" tIns="0" rIns="0" bIns="0" rtlCol="0" anchor="ctr"/>
          <a:lstStyle/>
          <a:p>
            <a:pPr indent="0" marL="0">
              <a:buNone/>
            </a:pPr>
            <a:r>
              <a:rPr lang="en-US" sz="2000" b="1" dirty="0">
                <a:solidFill>
                  <a:srgbClr val="14213D"/>
                </a:solidFill>
                <a:latin typeface="Cambria" pitchFamily="34" charset="0"/>
                <a:ea typeface="Cambria" pitchFamily="34" charset="-122"/>
                <a:cs typeface="Cambria" pitchFamily="34" charset="-120"/>
              </a:rPr>
              <a:t>Exam tips</a:t>
            </a:r>
            <a:endParaRPr lang="en-US" sz="2000" dirty="0"/>
          </a:p>
        </p:txBody>
      </p:sp>
      <p:sp>
        <p:nvSpPr>
          <p:cNvPr id="12" name="Text 10"/>
          <p:cNvSpPr txBox="1"/>
          <p:nvPr/>
        </p:nvSpPr>
        <p:spPr>
          <a:xfrm>
            <a:off x="489204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Start with P, then add I, then D.</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Tune in small steps, one gain at a time.</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Remember: I removes offset, D adds damping.</a:t>
            </a:r>
            <a:endParaRPr lang="en-US" sz="1600" dirty="0"/>
          </a:p>
          <a:p>
            <a:pPr marL="342900" indent="-342900">
              <a:spcAft>
                <a:spcPts val="700"/>
              </a:spcAft>
              <a:buSzPct val="100000"/>
              <a:buChar char="•"/>
            </a:pPr>
            <a:r>
              <a:rPr lang="en-US" sz="1600" dirty="0">
                <a:solidFill>
                  <a:srgbClr val="1B2430"/>
                </a:solidFill>
                <a:latin typeface="Calibri" pitchFamily="34" charset="0"/>
                <a:ea typeface="Calibri" pitchFamily="34" charset="-122"/>
                <a:cs typeface="Calibri" pitchFamily="34" charset="-120"/>
              </a:rPr>
              <a:t>Check stability after every change.</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Summary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 u = Kp·e — fast, leaves an offset.</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PI: removes steady-state error, adds lag.</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PD: adds damping, noisy.</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PID: Gc = Kp + Ki/s + Kd·s combines all.</a:t>
            </a:r>
            <a:endParaRPr lang="en-US" sz="1400" dirty="0"/>
          </a:p>
          <a:p>
            <a:pPr marL="342900" indent="-342900">
              <a:spcAft>
                <a:spcPts val="700"/>
              </a:spcAft>
              <a:buSzPct val="100000"/>
              <a:buChar char="•"/>
            </a:pPr>
            <a:r>
              <a:rPr lang="en-US" sz="1400" dirty="0">
                <a:solidFill>
                  <a:srgbClr val="1B2430"/>
                </a:solidFill>
                <a:latin typeface="Calibri" pitchFamily="34" charset="0"/>
                <a:ea typeface="Calibri" pitchFamily="34" charset="-122"/>
                <a:cs typeface="Calibri" pitchFamily="34" charset="-120"/>
              </a:rPr>
              <a:t>Z–N: Kp = 0.6Kcr, Ti = 0.5Pcr, Td = 0.125Pcr.</a:t>
            </a:r>
            <a:endParaRPr lang="en-US" sz="1400" dirty="0"/>
          </a:p>
        </p:txBody>
      </p:sp>
      <p:pic>
        <p:nvPicPr>
          <p:cNvPr id="4" name="Diagram" descr="Summar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E8EEF9"/>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Gc(s) = Kp + Ki/s + Kd s = Kp(1 + 1/(Ti s) + Td 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Quick Quiz</a:t>
            </a:r>
            <a:endParaRPr lang="en-US" sz="2800" dirty="0"/>
          </a:p>
        </p:txBody>
      </p:sp>
      <p:sp>
        <p:nvSpPr>
          <p:cNvPr id="3" name="Q1 row"/>
          <p:cNvSpPr/>
          <p:nvPr/>
        </p:nvSpPr>
        <p:spPr>
          <a:xfrm>
            <a:off x="457200" y="1097280"/>
            <a:ext cx="8229600" cy="658368"/>
          </a:xfrm>
          <a:prstGeom prst="roundRect">
            <a:avLst>
              <a:gd name="adj" fmla="val 11111"/>
            </a:avLst>
          </a:prstGeom>
          <a:solidFill>
            <a:srgbClr val="F3F6FB"/>
          </a:solidFill>
          <a:ln w="9525">
            <a:solidFill>
              <a:srgbClr val="E8EEF9"/>
            </a:solidFill>
            <a:prstDash val="solid"/>
          </a:ln>
        </p:spPr>
      </p:sp>
      <p:sp>
        <p:nvSpPr>
          <p:cNvPr id="4" name="Text 2"/>
          <p:cNvSpPr txBox="1"/>
          <p:nvPr/>
        </p:nvSpPr>
        <p:spPr>
          <a:xfrm>
            <a:off x="594360" y="109728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Q1. Which action removes steady-state error to a step?</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P  (b) D  (c) I  (d) none</a:t>
            </a:r>
            <a:endParaRPr lang="en-US" sz="1400" dirty="0"/>
          </a:p>
        </p:txBody>
      </p:sp>
      <p:sp>
        <p:nvSpPr>
          <p:cNvPr id="5" name="Q1 answer"/>
          <p:cNvSpPr/>
          <p:nvPr/>
        </p:nvSpPr>
        <p:spPr>
          <a:xfrm>
            <a:off x="7269480" y="1225296"/>
            <a:ext cx="1280160" cy="402336"/>
          </a:xfrm>
          <a:prstGeom prst="roundRect">
            <a:avLst>
              <a:gd name="adj" fmla="val 22727"/>
            </a:avLst>
          </a:prstGeom>
          <a:solidFill>
            <a:srgbClr val="2E8B57"/>
          </a:solidFill>
          <a:ln/>
        </p:spPr>
      </p:sp>
      <p:sp>
        <p:nvSpPr>
          <p:cNvPr id="6" name="Text 4"/>
          <p:cNvSpPr txBox="1"/>
          <p:nvPr/>
        </p:nvSpPr>
        <p:spPr>
          <a:xfrm>
            <a:off x="7269480" y="122529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(c)</a:t>
            </a:r>
            <a:endParaRPr lang="en-US" sz="1400" dirty="0"/>
          </a:p>
        </p:txBody>
      </p:sp>
      <p:sp>
        <p:nvSpPr>
          <p:cNvPr id="7" name="Q2 row"/>
          <p:cNvSpPr/>
          <p:nvPr/>
        </p:nvSpPr>
        <p:spPr>
          <a:xfrm>
            <a:off x="457200" y="1828800"/>
            <a:ext cx="8229600" cy="658368"/>
          </a:xfrm>
          <a:prstGeom prst="roundRect">
            <a:avLst>
              <a:gd name="adj" fmla="val 11111"/>
            </a:avLst>
          </a:prstGeom>
          <a:solidFill>
            <a:srgbClr val="FFFFFF"/>
          </a:solidFill>
          <a:ln w="9525">
            <a:solidFill>
              <a:srgbClr val="E8EEF9"/>
            </a:solidFill>
            <a:prstDash val="solid"/>
          </a:ln>
        </p:spPr>
      </p:sp>
      <p:sp>
        <p:nvSpPr>
          <p:cNvPr id="8" name="Text 6"/>
          <p:cNvSpPr txBox="1"/>
          <p:nvPr/>
        </p:nvSpPr>
        <p:spPr>
          <a:xfrm>
            <a:off x="594360" y="182880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Q2. Derivative control mainly improves: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accuracy  (b) damping  (c) type  (d) gain</a:t>
            </a:r>
            <a:endParaRPr lang="en-US" sz="1400" dirty="0"/>
          </a:p>
        </p:txBody>
      </p:sp>
      <p:sp>
        <p:nvSpPr>
          <p:cNvPr id="9" name="Q2 answer"/>
          <p:cNvSpPr/>
          <p:nvPr/>
        </p:nvSpPr>
        <p:spPr>
          <a:xfrm>
            <a:off x="7269480" y="1956816"/>
            <a:ext cx="1280160" cy="402336"/>
          </a:xfrm>
          <a:prstGeom prst="roundRect">
            <a:avLst>
              <a:gd name="adj" fmla="val 22727"/>
            </a:avLst>
          </a:prstGeom>
          <a:solidFill>
            <a:srgbClr val="2E8B57"/>
          </a:solidFill>
          <a:ln/>
        </p:spPr>
      </p:sp>
      <p:sp>
        <p:nvSpPr>
          <p:cNvPr id="10" name="Text 8"/>
          <p:cNvSpPr txBox="1"/>
          <p:nvPr/>
        </p:nvSpPr>
        <p:spPr>
          <a:xfrm>
            <a:off x="7269480" y="195681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1" name="Q3 row"/>
          <p:cNvSpPr/>
          <p:nvPr/>
        </p:nvSpPr>
        <p:spPr>
          <a:xfrm>
            <a:off x="457200" y="2560320"/>
            <a:ext cx="8229600" cy="658368"/>
          </a:xfrm>
          <a:prstGeom prst="roundRect">
            <a:avLst>
              <a:gd name="adj" fmla="val 11111"/>
            </a:avLst>
          </a:prstGeom>
          <a:solidFill>
            <a:srgbClr val="F3F6FB"/>
          </a:solidFill>
          <a:ln w="9525">
            <a:solidFill>
              <a:srgbClr val="E8EEF9"/>
            </a:solidFill>
            <a:prstDash val="solid"/>
          </a:ln>
        </p:spPr>
      </p:sp>
      <p:sp>
        <p:nvSpPr>
          <p:cNvPr id="12" name="Text 10"/>
          <p:cNvSpPr txBox="1"/>
          <p:nvPr/>
        </p:nvSpPr>
        <p:spPr>
          <a:xfrm>
            <a:off x="594360" y="256032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Q3. Ki in terms of Kp and Ti:</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Kp·Ti  (b) Kp/Ti  (c) Ti/Kp  (d) Kp + Ti</a:t>
            </a:r>
            <a:endParaRPr lang="en-US" sz="1400" dirty="0"/>
          </a:p>
        </p:txBody>
      </p:sp>
      <p:sp>
        <p:nvSpPr>
          <p:cNvPr id="13" name="Q3 answer"/>
          <p:cNvSpPr/>
          <p:nvPr/>
        </p:nvSpPr>
        <p:spPr>
          <a:xfrm>
            <a:off x="7269480" y="2688336"/>
            <a:ext cx="1280160" cy="402336"/>
          </a:xfrm>
          <a:prstGeom prst="roundRect">
            <a:avLst>
              <a:gd name="adj" fmla="val 22727"/>
            </a:avLst>
          </a:prstGeom>
          <a:solidFill>
            <a:srgbClr val="2E8B57"/>
          </a:solidFill>
          <a:ln/>
        </p:spPr>
      </p:sp>
      <p:sp>
        <p:nvSpPr>
          <p:cNvPr id="14" name="Text 12"/>
          <p:cNvSpPr txBox="1"/>
          <p:nvPr/>
        </p:nvSpPr>
        <p:spPr>
          <a:xfrm>
            <a:off x="7269480" y="268833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5" name="Q4 row"/>
          <p:cNvSpPr/>
          <p:nvPr/>
        </p:nvSpPr>
        <p:spPr>
          <a:xfrm>
            <a:off x="457200" y="3291840"/>
            <a:ext cx="8229600" cy="658368"/>
          </a:xfrm>
          <a:prstGeom prst="roundRect">
            <a:avLst>
              <a:gd name="adj" fmla="val 11111"/>
            </a:avLst>
          </a:prstGeom>
          <a:solidFill>
            <a:srgbClr val="FFFFFF"/>
          </a:solidFill>
          <a:ln w="9525">
            <a:solidFill>
              <a:srgbClr val="E8EEF9"/>
            </a:solidFill>
            <a:prstDash val="solid"/>
          </a:ln>
        </p:spPr>
      </p:sp>
      <p:sp>
        <p:nvSpPr>
          <p:cNvPr id="16" name="Text 14"/>
          <p:cNvSpPr txBox="1"/>
          <p:nvPr/>
        </p:nvSpPr>
        <p:spPr>
          <a:xfrm>
            <a:off x="594360" y="329184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Q4. Z–N PID gain Kp equals: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0.5Kcr  (b) 0.45Kcr  (c) 0.6Kcr  (d) Kcr</a:t>
            </a:r>
            <a:endParaRPr lang="en-US" sz="1400" dirty="0"/>
          </a:p>
        </p:txBody>
      </p:sp>
      <p:sp>
        <p:nvSpPr>
          <p:cNvPr id="17" name="Q4 answer"/>
          <p:cNvSpPr/>
          <p:nvPr/>
        </p:nvSpPr>
        <p:spPr>
          <a:xfrm>
            <a:off x="7269480" y="3419856"/>
            <a:ext cx="1280160" cy="402336"/>
          </a:xfrm>
          <a:prstGeom prst="roundRect">
            <a:avLst>
              <a:gd name="adj" fmla="val 22727"/>
            </a:avLst>
          </a:prstGeom>
          <a:solidFill>
            <a:srgbClr val="2E8B57"/>
          </a:solidFill>
          <a:ln/>
        </p:spPr>
      </p:sp>
      <p:sp>
        <p:nvSpPr>
          <p:cNvPr id="18" name="Text 16"/>
          <p:cNvSpPr txBox="1"/>
          <p:nvPr/>
        </p:nvSpPr>
        <p:spPr>
          <a:xfrm>
            <a:off x="7269480" y="341985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(c)</a:t>
            </a:r>
            <a:endParaRPr lang="en-US" sz="1400" dirty="0"/>
          </a:p>
        </p:txBody>
      </p:sp>
      <p:sp>
        <p:nvSpPr>
          <p:cNvPr id="19" name="Q5 row"/>
          <p:cNvSpPr/>
          <p:nvPr/>
        </p:nvSpPr>
        <p:spPr>
          <a:xfrm>
            <a:off x="457200" y="4023360"/>
            <a:ext cx="8229600" cy="658368"/>
          </a:xfrm>
          <a:prstGeom prst="roundRect">
            <a:avLst>
              <a:gd name="adj" fmla="val 11111"/>
            </a:avLst>
          </a:prstGeom>
          <a:solidFill>
            <a:srgbClr val="F3F6FB"/>
          </a:solidFill>
          <a:ln w="9525">
            <a:solidFill>
              <a:srgbClr val="E8EEF9"/>
            </a:solidFill>
            <a:prstDash val="solid"/>
          </a:ln>
        </p:spPr>
      </p:sp>
      <p:sp>
        <p:nvSpPr>
          <p:cNvPr id="20" name="Text 18"/>
          <p:cNvSpPr txBox="1"/>
          <p:nvPr/>
        </p:nvSpPr>
        <p:spPr>
          <a:xfrm>
            <a:off x="594360" y="4023360"/>
            <a:ext cx="649224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Q5. A PI controller makes a Type 0 system:</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(a) Type 0  (b) Type 1  (c) Type 2  (d) unstable always</a:t>
            </a:r>
            <a:endParaRPr lang="en-US" sz="1400" dirty="0"/>
          </a:p>
        </p:txBody>
      </p:sp>
      <p:sp>
        <p:nvSpPr>
          <p:cNvPr id="21" name="Q5 answer"/>
          <p:cNvSpPr/>
          <p:nvPr/>
        </p:nvSpPr>
        <p:spPr>
          <a:xfrm>
            <a:off x="7269480" y="4151376"/>
            <a:ext cx="1280160" cy="402336"/>
          </a:xfrm>
          <a:prstGeom prst="roundRect">
            <a:avLst>
              <a:gd name="adj" fmla="val 22727"/>
            </a:avLst>
          </a:prstGeom>
          <a:solidFill>
            <a:srgbClr val="2E8B57"/>
          </a:solidFill>
          <a:ln/>
        </p:spPr>
      </p:sp>
      <p:sp>
        <p:nvSpPr>
          <p:cNvPr id="22" name="Text 20"/>
          <p:cNvSpPr txBox="1"/>
          <p:nvPr/>
        </p:nvSpPr>
        <p:spPr>
          <a:xfrm>
            <a:off x="7269480" y="415137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References</a:t>
            </a:r>
            <a:endParaRPr lang="en-US" sz="2800" dirty="0"/>
          </a:p>
        </p:txBody>
      </p:sp>
      <p:sp>
        <p:nvSpPr>
          <p:cNvPr id="3" name="Ref 1 badge"/>
          <p:cNvSpPr/>
          <p:nvPr/>
        </p:nvSpPr>
        <p:spPr>
          <a:xfrm>
            <a:off x="457200" y="1197864"/>
            <a:ext cx="420624" cy="420624"/>
          </a:xfrm>
          <a:prstGeom prst="ellipse">
            <a:avLst/>
          </a:prstGeom>
          <a:solidFill>
            <a:srgbClr val="14213D"/>
          </a:solidFill>
          <a:ln/>
        </p:spPr>
      </p:sp>
      <p:sp>
        <p:nvSpPr>
          <p:cNvPr id="4" name="Text 2"/>
          <p:cNvSpPr txBox="1"/>
          <p:nvPr/>
        </p:nvSpPr>
        <p:spPr>
          <a:xfrm>
            <a:off x="457200" y="1197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051560" y="1143000"/>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Benjamin C. Kuo, Automatic Control Systems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7th Ed., PHI, 2007 (Units 3, 4, 5 textbook)</a:t>
            </a:r>
            <a:endParaRPr lang="en-US" sz="1400" dirty="0"/>
          </a:p>
        </p:txBody>
      </p:sp>
      <p:sp>
        <p:nvSpPr>
          <p:cNvPr id="6" name="Ref 2 badge"/>
          <p:cNvSpPr/>
          <p:nvPr/>
        </p:nvSpPr>
        <p:spPr>
          <a:xfrm>
            <a:off x="457200" y="1801368"/>
            <a:ext cx="420624" cy="420624"/>
          </a:xfrm>
          <a:prstGeom prst="ellipse">
            <a:avLst/>
          </a:prstGeom>
          <a:solidFill>
            <a:srgbClr val="14213D"/>
          </a:solidFill>
          <a:ln/>
        </p:spPr>
      </p:sp>
      <p:sp>
        <p:nvSpPr>
          <p:cNvPr id="7" name="Text 5"/>
          <p:cNvSpPr txBox="1"/>
          <p:nvPr/>
        </p:nvSpPr>
        <p:spPr>
          <a:xfrm>
            <a:off x="457200"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6"/>
          <p:cNvSpPr txBox="1"/>
          <p:nvPr/>
        </p:nvSpPr>
        <p:spPr>
          <a:xfrm>
            <a:off x="1051560" y="1746504"/>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K. Ogata, Modern Control Engineering</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5th Ed., Pearson Education Asia / PHI, 2009 (reference)</a:t>
            </a:r>
            <a:endParaRPr lang="en-US" sz="1400" dirty="0"/>
          </a:p>
        </p:txBody>
      </p:sp>
      <p:sp>
        <p:nvSpPr>
          <p:cNvPr id="9" name="Ref 3 badge"/>
          <p:cNvSpPr/>
          <p:nvPr/>
        </p:nvSpPr>
        <p:spPr>
          <a:xfrm>
            <a:off x="457200" y="2404872"/>
            <a:ext cx="420624" cy="420624"/>
          </a:xfrm>
          <a:prstGeom prst="ellipse">
            <a:avLst/>
          </a:prstGeom>
          <a:solidFill>
            <a:srgbClr val="14213D"/>
          </a:solidFill>
          <a:ln/>
        </p:spPr>
      </p:sp>
      <p:sp>
        <p:nvSpPr>
          <p:cNvPr id="10" name="Text 8"/>
          <p:cNvSpPr txBox="1"/>
          <p:nvPr/>
        </p:nvSpPr>
        <p:spPr>
          <a:xfrm>
            <a:off x="457200" y="240487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1" name="Text 9"/>
          <p:cNvSpPr txBox="1"/>
          <p:nvPr/>
        </p:nvSpPr>
        <p:spPr>
          <a:xfrm>
            <a:off x="1051560" y="2350008"/>
            <a:ext cx="7635240" cy="54864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J. J. D'Azzo and C. H. Houpis, Feedback Control System Analysis and Synthesis</a:t>
            </a:r>
            <a:endParaRPr lang="en-US" sz="1400" dirty="0"/>
          </a:p>
          <a:p>
            <a:pPr indent="0" marL="0">
              <a:buNone/>
            </a:pPr>
            <a:r>
              <a:rPr lang="en-US" sz="1400" dirty="0">
                <a:solidFill>
                  <a:srgbClr val="5B6472"/>
                </a:solidFill>
                <a:latin typeface="Calibri" pitchFamily="34" charset="0"/>
                <a:ea typeface="Calibri" pitchFamily="34" charset="-122"/>
                <a:cs typeface="Calibri" pitchFamily="34" charset="-120"/>
              </a:rPr>
              <a:t>4th Ed., McGraw Hill International, 1999 (reference, Unit 5)</a:t>
            </a:r>
            <a:endParaRPr lang="en-US" sz="1400" dirty="0"/>
          </a:p>
        </p:txBody>
      </p:sp>
      <p:sp>
        <p:nvSpPr>
          <p:cNvPr id="12" name="Key strip"/>
          <p:cNvSpPr/>
          <p:nvPr/>
        </p:nvSpPr>
        <p:spPr>
          <a:xfrm>
            <a:off x="457200" y="4343400"/>
            <a:ext cx="8229600" cy="411480"/>
          </a:xfrm>
          <a:prstGeom prst="roundRect">
            <a:avLst>
              <a:gd name="adj" fmla="val 17778"/>
            </a:avLst>
          </a:prstGeom>
          <a:solidFill>
            <a:srgbClr val="E8EEF9"/>
          </a:solidFill>
          <a:ln/>
        </p:spPr>
      </p:sp>
      <p:sp>
        <p:nvSpPr>
          <p:cNvPr id="13" name="Key strip text"/>
          <p:cNvSpPr txBox="1"/>
          <p:nvPr/>
        </p:nvSpPr>
        <p:spPr>
          <a:xfrm>
            <a:off x="594360" y="4343400"/>
            <a:ext cx="7955280" cy="411480"/>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Next lecture: state-variable analysis of physical systems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Control Systems">
  <a:themeElements>
    <a:clrScheme name="Control Systems">
      <a:dk1>
        <a:srgbClr val="1B2430"/>
      </a:dk1>
      <a:lt1>
        <a:srgbClr val="FFFFFF"/>
      </a:lt1>
      <a:dk2>
        <a:srgbClr val="14213D"/>
      </a:dk2>
      <a:lt2>
        <a:srgbClr val="F3F6FB"/>
      </a:lt2>
      <a:accent1>
        <a:srgbClr val="1F5FBF"/>
      </a:accent1>
      <a:accent2>
        <a:srgbClr val="E08A00"/>
      </a:accent2>
      <a:accent3>
        <a:srgbClr val="2E8B57"/>
      </a:accent3>
      <a:accent4>
        <a:srgbClr val="C0392B"/>
      </a:accent4>
      <a:accent5>
        <a:srgbClr val="5B6472"/>
      </a:accent5>
      <a:accent6>
        <a:srgbClr val="FCA311"/>
      </a:accent6>
      <a:hlink>
        <a:srgbClr val="1F5FBF"/>
      </a:hlink>
      <a:folHlink>
        <a:srgbClr val="5B6472"/>
      </a:folHlink>
    </a:clrScheme>
    <a:fontScheme name="Control System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Systems — Unit 5: P, PI and PID Controllers</dc:title>
  <dc:subject>PptxGenJS Presentation</dc:subject>
  <dc:creator>Prof. Mitesh Astik</dc:creator>
  <cp:lastModifiedBy>Prof. Mitesh Astik</cp:lastModifiedBy>
  <cp:revision>1</cp:revision>
  <dcterms:created xsi:type="dcterms:W3CDTF">2026-10-28T16:42:56Z</dcterms:created>
  <dcterms:modified xsi:type="dcterms:W3CDTF">2026-10-28T16:42:56Z</dcterms:modified>
</cp:coreProperties>
</file>