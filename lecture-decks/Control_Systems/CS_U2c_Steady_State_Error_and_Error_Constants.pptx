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Today's topic is Type of systems, static error constants, steady-state error, generalized error series. It belongs to Unit 2: Time Domain Analysis of Control Systems. By the end of this session you will be able to use it in numerical problems. Keep your notebooks ready because we will solve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aloud. They map to CO2 of the syllabus. Tell students that these are examinable and that the two solved examples follow the same pattern. Ask them to tick off each outcome at the end of the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the final value theorem: the steady value of a time function is the limit of s times its transform as s goes to zero. It is valid only if all poles of s F of s are in the left half-plane. We apply it to the error signal of a unity-feedback system. The result depends on the open-loop transfer function and on the input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tracking antenna follows a satellite moving at constant angular speed, which is a ramp input. Even after the transient has died out, the antenna points slightly behind the satellite. That constant gap is the steady-state error. Today we learn how to predict it from the open-loop transfer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block diagram E equals R minus C and C equals G times E, so E equals R over one plus G. Multiply by s and take the limit. Always check the stability of the closed loop first, otherwise the error does not settle. For non-unity feedback, first convert the system to an equivalent unity-feedback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type of the system is the power of s in the denominator when G of s is written in the time-constant form. Each integrator at the origin improves the tracking ability by one step. Note that type is a property of the open-loop transfer function, not the closed loop. Count the poles at the origin carefully before using the error constants.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step input, R of s is A over s, and the error reduces to A over one plus G of zero. G of zero is the position error constant Kp. A type 0 system has a finite Kp, so it leaves a constant error. A type 1 system has an integrator, Kp is infinite and the step error is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ramp, E of s becomes A over s squared times one plus G, and the limit gives A over the limit of s G of s. That limit is Kv. A type 1 system tracks a ramp with a constant lag of A over Kv. Increasing the gain raises Kv and reduces the error, but it also affects stability, which is the central trade-off in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parabola represents constant acceleration. Only a type 2 or higher system can follow it with a finite error. The acceleration error constant is the limit of s squared times G of s. This is important for satellite tracking systems where the target accelerates. Remember that the size of A is the coefficient of t squared over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most important result of the lecture. Memorise the pattern: the diagonal gives finite errors, above the diagonal gives zero and below it gives infinite error. For a mixed input, apply superposition and add the individual errors. An infinite term in the sum makes the total error infinite.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E of s as one over one plus G times R of s and expand one over one plus G in a power series in s. Each power of s corresponds to a derivative in time. The coefficients are found by long division in ascending powers of s. The series is useful for a time-varying error, and the first non-zero term dominates the steady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confirm stability with the characteristic equation, otherwise the final value theorem cannot be used. The system has one pole at the origin, so it is type 1. The limit of s G of s is twenty times two over four times five, which is 2. The input is 6 t so the slope is 6 and the error is 6 over 2, equal to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method uses the acceleration constant, which is ten. The second method expands the error transfer function in a power series. The first two coefficients vanish because the system is type 2, and the s squared coefficient gives the same answer, 0.6. Having two methods agree is a good way to check your work in the exam.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points where marks are lost most often in steady-state error. Give one quick example for each mistake. Remind students that writing the formula, substitution and the unit earns method marks even if the arithmetic slips. Encourage them to check the answer for reasonableness.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minute. Say each point and ask the class to recall the formula for it. If they remember these ideas, most numerical problems on steady-state error are within reach. Next lecture: frequency-domain specifications. Revise the two solved examples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about one minute per question and take a show of hands. Discuss why the wrong options are tempting, especially the one that uses a wrong formula. Use the quiz as a quick check on steady-state error before leaving.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students to the textbooks listed in the syllabus for steady-state error. Ask them to solve at least three textbook problems on this topic before the next class. Thank the class and preview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48640" y="4754880"/>
            <a:ext cx="5486400" cy="228600"/>
          </a:xfrm>
          <a:prstGeom prst="rect">
            <a:avLst/>
          </a:prstGeom>
          <a:noFill/>
          <a:ln/>
        </p:spPr>
        <p:txBody>
          <a:bodyPr wrap="square" lIns="0" tIns="0" rIns="0" bIns="0" rtlCol="0" anchor="ctr"/>
          <a:lstStyle/>
          <a:p>
            <a:pPr indent="0" marL="0">
              <a:buNone/>
            </a:pPr>
            <a:r>
              <a:rPr lang="en-US" sz="1000" dirty="0">
                <a:solidFill>
                  <a:srgbClr val="C9D3E3"/>
                </a:solidFill>
                <a:latin typeface="Calibri" pitchFamily="34" charset="0"/>
                <a:ea typeface="Calibri" pitchFamily="34" charset="-122"/>
                <a:cs typeface="Calibri" pitchFamily="34" charset="-120"/>
              </a:rPr>
              <a:t>Control Systems (22EEG53)  |  Prof. Mitesh Astik</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800" b="1" dirty="0">
                <a:solidFill>
                  <a:srgbClr val="14213D"/>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46320"/>
            <a:ext cx="6400800" cy="228600"/>
          </a:xfrm>
          <a:prstGeom prst="rect">
            <a:avLst/>
          </a:prstGeom>
          <a:noFill/>
          <a:ln/>
        </p:spPr>
        <p:txBody>
          <a:bodyPr wrap="square" lIns="0" tIns="0" rIns="0" bIns="0" rtlCol="0" anchor="ctr"/>
          <a:lstStyle/>
          <a:p>
            <a:pPr indent="0" marL="0">
              <a:buNone/>
            </a:pPr>
            <a:r>
              <a:rPr lang="en-US" sz="1000" dirty="0">
                <a:solidFill>
                  <a:srgbClr val="5B6472"/>
                </a:solidFill>
                <a:latin typeface="Calibri" pitchFamily="34" charset="0"/>
                <a:ea typeface="Calibri" pitchFamily="34" charset="-122"/>
                <a:cs typeface="Calibri" pitchFamily="34" charset="-120"/>
              </a:rPr>
              <a:t>Control Systems (22EEG53)  |  Prof. Mitesh Astik</a:t>
            </a:r>
            <a:endParaRPr lang="en-US" sz="10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art" descr="preencoded.png">    </p:cNvPr>
          <p:cNvPicPr>
            <a:picLocks noChangeAspect="1"/>
          </p:cNvPicPr>
          <p:nvPr/>
        </p:nvPicPr>
        <p:blipFill>
          <a:blip r:embed="rId1"/>
          <a:stretch>
            <a:fillRect/>
          </a:stretch>
        </p:blipFill>
        <p:spPr>
          <a:xfrm>
            <a:off x="4572000" y="822960"/>
            <a:ext cx="4206240" cy="3383280"/>
          </a:xfrm>
          <a:prstGeom prst="rect">
            <a:avLst/>
          </a:prstGeom>
        </p:spPr>
      </p:pic>
      <p:sp>
        <p:nvSpPr>
          <p:cNvPr id="3" name="Text 0"/>
          <p:cNvSpPr txBox="1"/>
          <p:nvPr/>
        </p:nvSpPr>
        <p:spPr>
          <a:xfrm>
            <a:off x="548640" y="822960"/>
            <a:ext cx="4023360" cy="15544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Steady-State Error and Error Constants</a:t>
            </a:r>
            <a:endParaRPr lang="en-US" sz="3200" dirty="0"/>
          </a:p>
        </p:txBody>
      </p:sp>
      <p:sp>
        <p:nvSpPr>
          <p:cNvPr id="4" name="Text 1"/>
          <p:cNvSpPr txBox="1"/>
          <p:nvPr/>
        </p:nvSpPr>
        <p:spPr>
          <a:xfrm>
            <a:off x="548640" y="2514600"/>
            <a:ext cx="3931920" cy="1920240"/>
          </a:xfrm>
          <a:prstGeom prst="rect">
            <a:avLst/>
          </a:prstGeom>
          <a:noFill/>
          <a:ln/>
        </p:spPr>
        <p:txBody>
          <a:bodyPr wrap="square" lIns="0" tIns="0" rIns="0" bIns="0" rtlCol="0" anchor="t"/>
          <a:lstStyle/>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Control Systems (22EEG53)</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Unit 2: Time Domain Analysis of Control Systems</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Topic: Type of systems, static error constants, steady-state error, generalized error series</a:t>
            </a:r>
            <a:endParaRPr lang="en-US" sz="1500" dirty="0"/>
          </a:p>
          <a:p>
            <a:pPr indent="0" marL="0">
              <a:spcAft>
                <a:spcPts val="800"/>
              </a:spcAft>
              <a:buNone/>
            </a:pPr>
            <a:r>
              <a:rPr lang="en-US" sz="1500" b="1" dirty="0">
                <a:solidFill>
                  <a:srgbClr val="FCA311"/>
                </a:solidFill>
                <a:latin typeface="Calibri" pitchFamily="34" charset="0"/>
                <a:ea typeface="Calibri" pitchFamily="34" charset="-122"/>
                <a:cs typeface="Calibri" pitchFamily="34" charset="-120"/>
              </a:rPr>
              <a:t>Prof. Mitesh Astik</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Learning Outcomes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Find the type of a system from G(s).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Calculate Kp, Kv, Ka and the steady-state error.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Predict error for step, ramp and parabolic inputs.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Use the generalized error series for general inputs.</a:t>
            </a:r>
            <a:endParaRPr lang="en-US" sz="1400" dirty="0"/>
          </a:p>
        </p:txBody>
      </p:sp>
      <p:pic>
        <p:nvPicPr>
          <p:cNvPr id="4" name="Diagram" descr="Learning Outcom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Linked to CO2</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Analyse response during transient and steady-state conditions.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Recap: What You Already Know</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Unity feedback: error e = r − c.</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Closed-loop stable systems have a final value.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Final value theorem: lim s·F(s) as s →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Test signals: 1/s, 1/s², 1/s³.</a:t>
            </a:r>
            <a:endParaRPr lang="en-US" sz="1400" dirty="0"/>
          </a:p>
        </p:txBody>
      </p:sp>
      <p:pic>
        <p:nvPicPr>
          <p:cNvPr id="4" name="Diagram" descr="Recap: What You Already Know">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lim t→∞ f(t) = lim s→0 s·F(s)   (poles in left half-plane only)</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Motivation: Tracking Accuracy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radar must follow a moving aircraft.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robot must follow a path precisely.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Transient dies out but a constant gap may remain.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Steady-state error measures that final gap.</a:t>
            </a:r>
            <a:endParaRPr lang="en-US" sz="1400" dirty="0"/>
          </a:p>
        </p:txBody>
      </p:sp>
      <p:pic>
        <p:nvPicPr>
          <p:cNvPr id="4" name="Diagram" descr="Motivation: Tracking Accurac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Design aim: keep ess within the allowed limit for the expected input</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Steady-State Error</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Error: e(t) = r(t) − c(t) (unity feedback).</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E(s) = R(s)/(1 + G(s)).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Apply the final value theorem to 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The result depends on G(s) at s →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Valid only for a stable closed loop.</a:t>
            </a:r>
            <a:endParaRPr lang="en-US" sz="1400" dirty="0"/>
          </a:p>
        </p:txBody>
      </p:sp>
      <p:pic>
        <p:nvPicPr>
          <p:cNvPr id="4" name="Diagram" descr="Steady-State Error">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ess = lim s→0 s·R(s)/(1 + G(s))</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G(s) open-loop transfer function, R(s) input</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Type of a System</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Type = number of poles of G(s) at s =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Type 0: no integrator.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Type 1: one integrator.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Type 2: two integrators.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Type tells which inputs are tracked with zero error.</a:t>
            </a:r>
            <a:endParaRPr lang="en-US" sz="1400" dirty="0"/>
          </a:p>
        </p:txBody>
      </p:sp>
      <p:pic>
        <p:nvPicPr>
          <p:cNvPr id="4" name="Diagram" descr="Type of a System">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G(s) = K ∏(τᵢ s + 1) / [sᴺ ∏(τⱼ s + 1)];   type = 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Static Position Error Constant Kp</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Input: unit step, R(s) = 1/s.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Kp = lim G(s) as s →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Type 0: Kp = K, finite error.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Type 1 or higher: Kp = ∞, zero error.</a:t>
            </a:r>
            <a:endParaRPr lang="en-US" sz="1400" dirty="0"/>
          </a:p>
        </p:txBody>
      </p:sp>
      <p:pic>
        <p:nvPicPr>
          <p:cNvPr id="4" name="Diagram" descr="Static Position Error Constant Kp">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ess = 1/(1 + Kp) for a unit step;   A/(1 + Kp) for amplitude A</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Kp = lim s→0 G(s)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Static Velocity Error Constant Kv</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Input: unit ramp, R(s) = 1/s².</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Kv = lim s·G(s) as s →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Type 0: ess = ∞.</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Type 1: finite error 1/Kv.</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Type 2 or higher: zero error.</a:t>
            </a:r>
            <a:endParaRPr lang="en-US" sz="1400" dirty="0"/>
          </a:p>
        </p:txBody>
      </p:sp>
      <p:pic>
        <p:nvPicPr>
          <p:cNvPr id="4" name="Diagram" descr="Static Velocity Error Constant Kv">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ess = A/Kv for a ramp of slope A</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Kv = lim s→0 s·G(s)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Static Acceleration Error Constant Ka</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Input: parabola A·t²/2, R(s) = A/s³.</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Ka = lim s²·G(s) as s →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Types 0 and 1: infinite error.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Type 2: finite error A/Ka.</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Type 3 or higher: zero error.</a:t>
            </a:r>
            <a:endParaRPr lang="en-US" sz="1400" dirty="0"/>
          </a:p>
        </p:txBody>
      </p:sp>
      <p:pic>
        <p:nvPicPr>
          <p:cNvPr id="4" name="Diagram" descr="Static Acceleration Error Constant Ka">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ess = A/Ka;   Ka = lim s→0 s²·G(s)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Error Table: Type vs Input</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Higher type → better tracking, but harder stability.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Zero error needs enough integrators.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Finite errors use Kp, Kv or Ka.</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Superposition applies for combined inputs.</a:t>
            </a:r>
            <a:endParaRPr lang="en-US" sz="1400" dirty="0"/>
          </a:p>
        </p:txBody>
      </p:sp>
      <p:pic>
        <p:nvPicPr>
          <p:cNvPr id="4" name="Diagram" descr="Error Table: Type vs Input">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 = A·u(t) + B·t + (C/2)·t²  →  ess = A/(1+Kp) + B/Kv + C/Ka</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Generalized Error Series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Static constants cover only step, ramp, parabola.</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Series handles any smooth input r(t).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Expand 1/(1 + G(s)) in powers of 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Coefficients Cn are dynamic error coefficients.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Error follows from the derivatives of r(t).</a:t>
            </a:r>
            <a:endParaRPr lang="en-US" sz="1400" dirty="0"/>
          </a:p>
        </p:txBody>
      </p:sp>
      <p:pic>
        <p:nvPicPr>
          <p:cNvPr id="4" name="Diagram" descr="Generalized Error Seri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e(t) = C0·r(t) + C1·r′(t) + (C2/2!)·r″(t) + …</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Cn = dⁿ/dsⁿ [1/(1 + G(s))] at s = 0</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1: Static Constants</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Unity feedback, G(s) = 20(s + 2)/[s(s + 4)(s + 5)]. Input r = 6t. Find type, Kp, Kv, Ka, ess.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Stability: s³ + 9s² + 40s + 40 → all Routh entries positive: stable.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One pole at origin: Type 1.</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Kp = ∞.</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Kv = lim sG = 20×2/(4×5) = 2.</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Ka = lim s²G =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6. Ramp slope A = 6: ess = A/Kv = 3.</a:t>
            </a:r>
            <a:endParaRPr lang="en-US" sz="1400" dirty="0"/>
          </a:p>
        </p:txBody>
      </p:sp>
      <p:pic>
        <p:nvPicPr>
          <p:cNvPr id="4" name="Diagram" descr="Solved Example 1: Static Constants">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Type 1, Kp = ∞, Kv = 2, Ka = 0, ess = 3 for r = 6t</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2: Error Series</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Unity feedback, G(s) = 10(s + 1)/s². Input r(t) = 3t². Find ess by Ka and by the error series.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Type 2: Ka = lim s²G = 10(0 + 1) = 10.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r = 3t² = 6·t²/2, so A = 6: ess = 6/10 = 0.6.</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Series: 1/(1+G) = s²/(s² + 10s + 10) = 0.1s² − 0.1s³ + …</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C0 = C1 = 0, C2/2! = 0.1.</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e = 0.1·r″ = 0.1 × 6 = 0.6.</a:t>
            </a:r>
            <a:endParaRPr lang="en-US" sz="1400" dirty="0"/>
          </a:p>
        </p:txBody>
      </p:sp>
      <p:pic>
        <p:nvPicPr>
          <p:cNvPr id="4" name="Diagram" descr="Solved Example 2: Error Series">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ess = 0.6 by both methods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Common Mistakes and Exam Tips</a:t>
            </a:r>
            <a:endParaRPr lang="en-US" sz="2800" dirty="0"/>
          </a:p>
        </p:txBody>
      </p:sp>
      <p:sp>
        <p:nvSpPr>
          <p:cNvPr id="3" name="Common mistakes card"/>
          <p:cNvSpPr/>
          <p:nvPr/>
        </p:nvSpPr>
        <p:spPr>
          <a:xfrm>
            <a:off x="457200" y="1143000"/>
            <a:ext cx="4023360" cy="3566160"/>
          </a:xfrm>
          <a:prstGeom prst="roundRect">
            <a:avLst>
              <a:gd name="adj" fmla="val 2564"/>
            </a:avLst>
          </a:prstGeom>
          <a:solidFill>
            <a:srgbClr val="F3F6FB"/>
          </a:solidFill>
          <a:ln/>
        </p:spPr>
      </p:sp>
      <p:sp>
        <p:nvSpPr>
          <p:cNvPr id="4" name="Common mistakes icon"/>
          <p:cNvSpPr/>
          <p:nvPr/>
        </p:nvSpPr>
        <p:spPr>
          <a:xfrm>
            <a:off x="640080" y="1280160"/>
            <a:ext cx="411480" cy="411480"/>
          </a:xfrm>
          <a:prstGeom prst="ellipse">
            <a:avLst/>
          </a:prstGeom>
          <a:solidFill>
            <a:srgbClr val="C0392B"/>
          </a:solidFill>
          <a:ln/>
        </p:spPr>
      </p:sp>
      <p:sp>
        <p:nvSpPr>
          <p:cNvPr id="5" name="Text 3"/>
          <p:cNvSpPr txBox="1"/>
          <p:nvPr/>
        </p:nvSpPr>
        <p:spPr>
          <a:xfrm>
            <a:off x="64008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6" name="Text 4"/>
          <p:cNvSpPr txBox="1"/>
          <p:nvPr/>
        </p:nvSpPr>
        <p:spPr>
          <a:xfrm>
            <a:off x="118872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Common mistakes</a:t>
            </a:r>
            <a:endParaRPr lang="en-US" sz="2000" dirty="0"/>
          </a:p>
        </p:txBody>
      </p:sp>
      <p:sp>
        <p:nvSpPr>
          <p:cNvPr id="7" name="Text 5"/>
          <p:cNvSpPr txBox="1"/>
          <p:nvPr/>
        </p:nvSpPr>
        <p:spPr>
          <a:xfrm>
            <a:off x="68580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Applying the theorem to an unstable closed loop.</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Counting type from the closed-loop transfer function.</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Forgetting to write G(s) in time-constant form for K.</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Using the amplitude of r(t) wrongly (A for t²/2).</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Using static constants for non-unity feedback directly.</a:t>
            </a:r>
            <a:endParaRPr lang="en-US" sz="1600" dirty="0"/>
          </a:p>
        </p:txBody>
      </p:sp>
      <p:sp>
        <p:nvSpPr>
          <p:cNvPr id="8" name="Exam tips card"/>
          <p:cNvSpPr/>
          <p:nvPr/>
        </p:nvSpPr>
        <p:spPr>
          <a:xfrm>
            <a:off x="4663440" y="1143000"/>
            <a:ext cx="4023360" cy="3566160"/>
          </a:xfrm>
          <a:prstGeom prst="roundRect">
            <a:avLst>
              <a:gd name="adj" fmla="val 2564"/>
            </a:avLst>
          </a:prstGeom>
          <a:solidFill>
            <a:srgbClr val="F3F6FB"/>
          </a:solidFill>
          <a:ln/>
        </p:spPr>
      </p:sp>
      <p:sp>
        <p:nvSpPr>
          <p:cNvPr id="9" name="Exam tips icon"/>
          <p:cNvSpPr/>
          <p:nvPr/>
        </p:nvSpPr>
        <p:spPr>
          <a:xfrm>
            <a:off x="4846320" y="1280160"/>
            <a:ext cx="411480" cy="411480"/>
          </a:xfrm>
          <a:prstGeom prst="ellipse">
            <a:avLst/>
          </a:prstGeom>
          <a:solidFill>
            <a:srgbClr val="2E8B57"/>
          </a:solidFill>
          <a:ln/>
        </p:spPr>
      </p:sp>
      <p:sp>
        <p:nvSpPr>
          <p:cNvPr id="10" name="Text 8"/>
          <p:cNvSpPr txBox="1"/>
          <p:nvPr/>
        </p:nvSpPr>
        <p:spPr>
          <a:xfrm>
            <a:off x="484632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1" name="Text 9"/>
          <p:cNvSpPr txBox="1"/>
          <p:nvPr/>
        </p:nvSpPr>
        <p:spPr>
          <a:xfrm>
            <a:off x="539496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Exam tips</a:t>
            </a:r>
            <a:endParaRPr lang="en-US" sz="2000" dirty="0"/>
          </a:p>
        </p:txBody>
      </p:sp>
      <p:sp>
        <p:nvSpPr>
          <p:cNvPr id="12" name="Text 10"/>
          <p:cNvSpPr txBox="1"/>
          <p:nvPr/>
        </p:nvSpPr>
        <p:spPr>
          <a:xfrm>
            <a:off x="489204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Check stability first (Routh).</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Count poles of G(s) at s = 0 only.</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Write K as the gain in time-constant form.</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Convert to unity feedback if H(s) ≠ 1.</a:t>
            </a:r>
            <a:endParaRPr lang="en-US" sz="16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Summary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ess = lim s·R(s)/(1 + G(s)) for stable unity feedback.</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Type = number of integrators in G(s).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Kp = lim G, Kv = lim sG, Ka = lim s²G.</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Errors: A/(1+Kp), A/Kv, A/Ka for step, ramp, parabola.</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Error series: e(t) = ΣCn r⁽ⁿ⁾/n!.</a:t>
            </a:r>
            <a:endParaRPr lang="en-US" sz="1400" dirty="0"/>
          </a:p>
        </p:txBody>
      </p:sp>
      <p:pic>
        <p:nvPicPr>
          <p:cNvPr id="4" name="Diagram" descr="Summar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Zero / finite / infinite error follows the type–input table</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Quick Quiz</a:t>
            </a:r>
            <a:endParaRPr lang="en-US" sz="2800" dirty="0"/>
          </a:p>
        </p:txBody>
      </p:sp>
      <p:sp>
        <p:nvSpPr>
          <p:cNvPr id="3" name="Q1 row"/>
          <p:cNvSpPr/>
          <p:nvPr/>
        </p:nvSpPr>
        <p:spPr>
          <a:xfrm>
            <a:off x="457200" y="1097280"/>
            <a:ext cx="8229600" cy="658368"/>
          </a:xfrm>
          <a:prstGeom prst="roundRect">
            <a:avLst>
              <a:gd name="adj" fmla="val 11111"/>
            </a:avLst>
          </a:prstGeom>
          <a:solidFill>
            <a:srgbClr val="F3F6FB"/>
          </a:solidFill>
          <a:ln w="9525">
            <a:solidFill>
              <a:srgbClr val="E8EEF9"/>
            </a:solidFill>
            <a:prstDash val="solid"/>
          </a:ln>
        </p:spPr>
      </p:sp>
      <p:sp>
        <p:nvSpPr>
          <p:cNvPr id="4" name="Text 2"/>
          <p:cNvSpPr txBox="1"/>
          <p:nvPr/>
        </p:nvSpPr>
        <p:spPr>
          <a:xfrm>
            <a:off x="594360" y="109728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Q1. G(s) = 10/[s(s+2)] is of type:</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0  (b) 1  (c) 2  (d) 3</a:t>
            </a:r>
            <a:endParaRPr lang="en-US" sz="1400" dirty="0"/>
          </a:p>
        </p:txBody>
      </p:sp>
      <p:sp>
        <p:nvSpPr>
          <p:cNvPr id="5" name="Q1 answer"/>
          <p:cNvSpPr/>
          <p:nvPr/>
        </p:nvSpPr>
        <p:spPr>
          <a:xfrm>
            <a:off x="7269480" y="1225296"/>
            <a:ext cx="1280160" cy="402336"/>
          </a:xfrm>
          <a:prstGeom prst="roundRect">
            <a:avLst>
              <a:gd name="adj" fmla="val 22727"/>
            </a:avLst>
          </a:prstGeom>
          <a:solidFill>
            <a:srgbClr val="2E8B57"/>
          </a:solidFill>
          <a:ln/>
        </p:spPr>
      </p:sp>
      <p:sp>
        <p:nvSpPr>
          <p:cNvPr id="6" name="Text 4"/>
          <p:cNvSpPr txBox="1"/>
          <p:nvPr/>
        </p:nvSpPr>
        <p:spPr>
          <a:xfrm>
            <a:off x="7269480" y="122529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7" name="Q2 row"/>
          <p:cNvSpPr/>
          <p:nvPr/>
        </p:nvSpPr>
        <p:spPr>
          <a:xfrm>
            <a:off x="457200" y="1828800"/>
            <a:ext cx="8229600" cy="658368"/>
          </a:xfrm>
          <a:prstGeom prst="roundRect">
            <a:avLst>
              <a:gd name="adj" fmla="val 11111"/>
            </a:avLst>
          </a:prstGeom>
          <a:solidFill>
            <a:srgbClr val="FFFFFF"/>
          </a:solidFill>
          <a:ln w="9525">
            <a:solidFill>
              <a:srgbClr val="E8EEF9"/>
            </a:solidFill>
            <a:prstDash val="solid"/>
          </a:ln>
        </p:spPr>
      </p:sp>
      <p:sp>
        <p:nvSpPr>
          <p:cNvPr id="8" name="Text 6"/>
          <p:cNvSpPr txBox="1"/>
          <p:nvPr/>
        </p:nvSpPr>
        <p:spPr>
          <a:xfrm>
            <a:off x="594360" y="182880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Q2. Kv of G(s) = 10/[s(s+2)] 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0  (b) 2  (c) 5  (d) ∞</a:t>
            </a:r>
            <a:endParaRPr lang="en-US" sz="1400" dirty="0"/>
          </a:p>
        </p:txBody>
      </p:sp>
      <p:sp>
        <p:nvSpPr>
          <p:cNvPr id="9" name="Q2 answer"/>
          <p:cNvSpPr/>
          <p:nvPr/>
        </p:nvSpPr>
        <p:spPr>
          <a:xfrm>
            <a:off x="7269480" y="1956816"/>
            <a:ext cx="1280160" cy="402336"/>
          </a:xfrm>
          <a:prstGeom prst="roundRect">
            <a:avLst>
              <a:gd name="adj" fmla="val 22727"/>
            </a:avLst>
          </a:prstGeom>
          <a:solidFill>
            <a:srgbClr val="2E8B57"/>
          </a:solidFill>
          <a:ln/>
        </p:spPr>
      </p:sp>
      <p:sp>
        <p:nvSpPr>
          <p:cNvPr id="10" name="Text 8"/>
          <p:cNvSpPr txBox="1"/>
          <p:nvPr/>
        </p:nvSpPr>
        <p:spPr>
          <a:xfrm>
            <a:off x="7269480" y="195681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(c)</a:t>
            </a:r>
            <a:endParaRPr lang="en-US" sz="1400" dirty="0"/>
          </a:p>
        </p:txBody>
      </p:sp>
      <p:sp>
        <p:nvSpPr>
          <p:cNvPr id="11" name="Q3 row"/>
          <p:cNvSpPr/>
          <p:nvPr/>
        </p:nvSpPr>
        <p:spPr>
          <a:xfrm>
            <a:off x="457200" y="2560320"/>
            <a:ext cx="8229600" cy="658368"/>
          </a:xfrm>
          <a:prstGeom prst="roundRect">
            <a:avLst>
              <a:gd name="adj" fmla="val 11111"/>
            </a:avLst>
          </a:prstGeom>
          <a:solidFill>
            <a:srgbClr val="F3F6FB"/>
          </a:solidFill>
          <a:ln w="9525">
            <a:solidFill>
              <a:srgbClr val="E8EEF9"/>
            </a:solidFill>
            <a:prstDash val="solid"/>
          </a:ln>
        </p:spPr>
      </p:sp>
      <p:sp>
        <p:nvSpPr>
          <p:cNvPr id="12" name="Text 10"/>
          <p:cNvSpPr txBox="1"/>
          <p:nvPr/>
        </p:nvSpPr>
        <p:spPr>
          <a:xfrm>
            <a:off x="594360" y="256032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Q3. Ramp error of a Type 0 system 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0  (b) finite  (c) 1/Kp  (d) infinite</a:t>
            </a:r>
            <a:endParaRPr lang="en-US" sz="1400" dirty="0"/>
          </a:p>
        </p:txBody>
      </p:sp>
      <p:sp>
        <p:nvSpPr>
          <p:cNvPr id="13" name="Q3 answer"/>
          <p:cNvSpPr/>
          <p:nvPr/>
        </p:nvSpPr>
        <p:spPr>
          <a:xfrm>
            <a:off x="7269480" y="2688336"/>
            <a:ext cx="1280160" cy="402336"/>
          </a:xfrm>
          <a:prstGeom prst="roundRect">
            <a:avLst>
              <a:gd name="adj" fmla="val 22727"/>
            </a:avLst>
          </a:prstGeom>
          <a:solidFill>
            <a:srgbClr val="2E8B57"/>
          </a:solidFill>
          <a:ln/>
        </p:spPr>
      </p:sp>
      <p:sp>
        <p:nvSpPr>
          <p:cNvPr id="14" name="Text 12"/>
          <p:cNvSpPr txBox="1"/>
          <p:nvPr/>
        </p:nvSpPr>
        <p:spPr>
          <a:xfrm>
            <a:off x="7269480" y="268833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(d)</a:t>
            </a:r>
            <a:endParaRPr lang="en-US" sz="1400" dirty="0"/>
          </a:p>
        </p:txBody>
      </p:sp>
      <p:sp>
        <p:nvSpPr>
          <p:cNvPr id="15" name="Q4 row"/>
          <p:cNvSpPr/>
          <p:nvPr/>
        </p:nvSpPr>
        <p:spPr>
          <a:xfrm>
            <a:off x="457200" y="3291840"/>
            <a:ext cx="8229600" cy="658368"/>
          </a:xfrm>
          <a:prstGeom prst="roundRect">
            <a:avLst>
              <a:gd name="adj" fmla="val 11111"/>
            </a:avLst>
          </a:prstGeom>
          <a:solidFill>
            <a:srgbClr val="FFFFFF"/>
          </a:solidFill>
          <a:ln w="9525">
            <a:solidFill>
              <a:srgbClr val="E8EEF9"/>
            </a:solidFill>
            <a:prstDash val="solid"/>
          </a:ln>
        </p:spPr>
      </p:sp>
      <p:sp>
        <p:nvSpPr>
          <p:cNvPr id="16" name="Text 14"/>
          <p:cNvSpPr txBox="1"/>
          <p:nvPr/>
        </p:nvSpPr>
        <p:spPr>
          <a:xfrm>
            <a:off x="594360" y="329184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Q4. Unit step error of Type 0 with Kp = 4 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0.2  (b) 0.25  (c) 4  (d) 0</a:t>
            </a:r>
            <a:endParaRPr lang="en-US" sz="1400" dirty="0"/>
          </a:p>
        </p:txBody>
      </p:sp>
      <p:sp>
        <p:nvSpPr>
          <p:cNvPr id="17" name="Q4 answer"/>
          <p:cNvSpPr/>
          <p:nvPr/>
        </p:nvSpPr>
        <p:spPr>
          <a:xfrm>
            <a:off x="7269480" y="3419856"/>
            <a:ext cx="1280160" cy="402336"/>
          </a:xfrm>
          <a:prstGeom prst="roundRect">
            <a:avLst>
              <a:gd name="adj" fmla="val 22727"/>
            </a:avLst>
          </a:prstGeom>
          <a:solidFill>
            <a:srgbClr val="2E8B57"/>
          </a:solidFill>
          <a:ln/>
        </p:spPr>
      </p:sp>
      <p:sp>
        <p:nvSpPr>
          <p:cNvPr id="18" name="Text 16"/>
          <p:cNvSpPr txBox="1"/>
          <p:nvPr/>
        </p:nvSpPr>
        <p:spPr>
          <a:xfrm>
            <a:off x="7269480" y="341985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(a)</a:t>
            </a:r>
            <a:endParaRPr lang="en-US" sz="1400" dirty="0"/>
          </a:p>
        </p:txBody>
      </p:sp>
      <p:sp>
        <p:nvSpPr>
          <p:cNvPr id="19" name="Q5 row"/>
          <p:cNvSpPr/>
          <p:nvPr/>
        </p:nvSpPr>
        <p:spPr>
          <a:xfrm>
            <a:off x="457200" y="4023360"/>
            <a:ext cx="8229600" cy="658368"/>
          </a:xfrm>
          <a:prstGeom prst="roundRect">
            <a:avLst>
              <a:gd name="adj" fmla="val 11111"/>
            </a:avLst>
          </a:prstGeom>
          <a:solidFill>
            <a:srgbClr val="F3F6FB"/>
          </a:solidFill>
          <a:ln w="9525">
            <a:solidFill>
              <a:srgbClr val="E8EEF9"/>
            </a:solidFill>
            <a:prstDash val="solid"/>
          </a:ln>
        </p:spPr>
      </p:sp>
      <p:sp>
        <p:nvSpPr>
          <p:cNvPr id="20" name="Text 18"/>
          <p:cNvSpPr txBox="1"/>
          <p:nvPr/>
        </p:nvSpPr>
        <p:spPr>
          <a:xfrm>
            <a:off x="594360" y="402336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Q5. Ka = lim of:</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G(s)  (b) sG(s)  (c) s²G(s)  (d) G(s)/s</a:t>
            </a:r>
            <a:endParaRPr lang="en-US" sz="1400" dirty="0"/>
          </a:p>
        </p:txBody>
      </p:sp>
      <p:sp>
        <p:nvSpPr>
          <p:cNvPr id="21" name="Q5 answer"/>
          <p:cNvSpPr/>
          <p:nvPr/>
        </p:nvSpPr>
        <p:spPr>
          <a:xfrm>
            <a:off x="7269480" y="4151376"/>
            <a:ext cx="1280160" cy="402336"/>
          </a:xfrm>
          <a:prstGeom prst="roundRect">
            <a:avLst>
              <a:gd name="adj" fmla="val 22727"/>
            </a:avLst>
          </a:prstGeom>
          <a:solidFill>
            <a:srgbClr val="2E8B57"/>
          </a:solidFill>
          <a:ln/>
        </p:spPr>
      </p:sp>
      <p:sp>
        <p:nvSpPr>
          <p:cNvPr id="22" name="Text 20"/>
          <p:cNvSpPr txBox="1"/>
          <p:nvPr/>
        </p:nvSpPr>
        <p:spPr>
          <a:xfrm>
            <a:off x="7269480" y="415137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(c)</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References</a:t>
            </a:r>
            <a:endParaRPr lang="en-US" sz="2800" dirty="0"/>
          </a:p>
        </p:txBody>
      </p:sp>
      <p:sp>
        <p:nvSpPr>
          <p:cNvPr id="3" name="Ref 1 badge"/>
          <p:cNvSpPr/>
          <p:nvPr/>
        </p:nvSpPr>
        <p:spPr>
          <a:xfrm>
            <a:off x="457200" y="1197864"/>
            <a:ext cx="420624" cy="420624"/>
          </a:xfrm>
          <a:prstGeom prst="ellipse">
            <a:avLst/>
          </a:prstGeom>
          <a:solidFill>
            <a:srgbClr val="14213D"/>
          </a:solidFill>
          <a:ln/>
        </p:spPr>
      </p:sp>
      <p:sp>
        <p:nvSpPr>
          <p:cNvPr id="4" name="Text 2"/>
          <p:cNvSpPr txBox="1"/>
          <p:nvPr/>
        </p:nvSpPr>
        <p:spPr>
          <a:xfrm>
            <a:off x="457200" y="11978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051560" y="1143000"/>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I. J. Nagrath and M. Gopal, Control Systems Engineering</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5th Ed., New Age International (P) Ltd., 2008 (Units 1, 2 textbook)</a:t>
            </a:r>
            <a:endParaRPr lang="en-US" sz="1400" dirty="0"/>
          </a:p>
        </p:txBody>
      </p:sp>
      <p:sp>
        <p:nvSpPr>
          <p:cNvPr id="6" name="Ref 2 badge"/>
          <p:cNvSpPr/>
          <p:nvPr/>
        </p:nvSpPr>
        <p:spPr>
          <a:xfrm>
            <a:off x="457200" y="1801368"/>
            <a:ext cx="420624" cy="420624"/>
          </a:xfrm>
          <a:prstGeom prst="ellipse">
            <a:avLst/>
          </a:prstGeom>
          <a:solidFill>
            <a:srgbClr val="14213D"/>
          </a:solidFill>
          <a:ln/>
        </p:spPr>
      </p:sp>
      <p:sp>
        <p:nvSpPr>
          <p:cNvPr id="7" name="Text 5"/>
          <p:cNvSpPr txBox="1"/>
          <p:nvPr/>
        </p:nvSpPr>
        <p:spPr>
          <a:xfrm>
            <a:off x="457200"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051560" y="1746504"/>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 Ogata, Modern Control Engineering</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5th Ed., Pearson Education Asia / PHI, 2009 (reference)</a:t>
            </a:r>
            <a:endParaRPr lang="en-US" sz="1400" dirty="0"/>
          </a:p>
        </p:txBody>
      </p:sp>
      <p:sp>
        <p:nvSpPr>
          <p:cNvPr id="9" name="Ref 3 badge"/>
          <p:cNvSpPr/>
          <p:nvPr/>
        </p:nvSpPr>
        <p:spPr>
          <a:xfrm>
            <a:off x="457200" y="2404872"/>
            <a:ext cx="420624" cy="420624"/>
          </a:xfrm>
          <a:prstGeom prst="ellipse">
            <a:avLst/>
          </a:prstGeom>
          <a:solidFill>
            <a:srgbClr val="14213D"/>
          </a:solidFill>
          <a:ln/>
        </p:spPr>
      </p:sp>
      <p:sp>
        <p:nvSpPr>
          <p:cNvPr id="10" name="Text 8"/>
          <p:cNvSpPr txBox="1"/>
          <p:nvPr/>
        </p:nvSpPr>
        <p:spPr>
          <a:xfrm>
            <a:off x="457200" y="2404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051560" y="2350008"/>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 S. Satyanarayana, Concepts of Control Systems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2nd Ed., Dynaram Publishers, Bangalore, 2001 (reference)</a:t>
            </a:r>
            <a:endParaRPr lang="en-US" sz="1400" dirty="0"/>
          </a:p>
        </p:txBody>
      </p:sp>
      <p:sp>
        <p:nvSpPr>
          <p:cNvPr id="12" name="Key strip"/>
          <p:cNvSpPr/>
          <p:nvPr/>
        </p:nvSpPr>
        <p:spPr>
          <a:xfrm>
            <a:off x="457200" y="4343400"/>
            <a:ext cx="8229600" cy="411480"/>
          </a:xfrm>
          <a:prstGeom prst="roundRect">
            <a:avLst>
              <a:gd name="adj" fmla="val 17778"/>
            </a:avLst>
          </a:prstGeom>
          <a:solidFill>
            <a:srgbClr val="E8EEF9"/>
          </a:solidFill>
          <a:ln/>
        </p:spPr>
      </p:sp>
      <p:sp>
        <p:nvSpPr>
          <p:cNvPr id="13" name="Key strip text"/>
          <p:cNvSpPr txBox="1"/>
          <p:nvPr/>
        </p:nvSpPr>
        <p:spPr>
          <a:xfrm>
            <a:off x="594360" y="4343400"/>
            <a:ext cx="7955280" cy="41148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Next lecture: Unit 3: frequency-domain specifications and Bode plots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Control Systems">
  <a:themeElements>
    <a:clrScheme name="Control Systems">
      <a:dk1>
        <a:srgbClr val="1B2430"/>
      </a:dk1>
      <a:lt1>
        <a:srgbClr val="FFFFFF"/>
      </a:lt1>
      <a:dk2>
        <a:srgbClr val="14213D"/>
      </a:dk2>
      <a:lt2>
        <a:srgbClr val="F3F6FB"/>
      </a:lt2>
      <a:accent1>
        <a:srgbClr val="1F5FBF"/>
      </a:accent1>
      <a:accent2>
        <a:srgbClr val="E08A00"/>
      </a:accent2>
      <a:accent3>
        <a:srgbClr val="2E8B57"/>
      </a:accent3>
      <a:accent4>
        <a:srgbClr val="C0392B"/>
      </a:accent4>
      <a:accent5>
        <a:srgbClr val="5B6472"/>
      </a:accent5>
      <a:accent6>
        <a:srgbClr val="FCA311"/>
      </a:accent6>
      <a:hlink>
        <a:srgbClr val="1F5FBF"/>
      </a:hlink>
      <a:folHlink>
        <a:srgbClr val="5B6472"/>
      </a:folHlink>
    </a:clrScheme>
    <a:fontScheme name="Control System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Systems — Unit 2: Steady-State Error and Error Constants</dc:title>
  <dc:subject>PptxGenJS Presentation</dc:subject>
  <dc:creator>Prof. Mitesh Astik</dc:creator>
  <cp:lastModifiedBy>Prof. Mitesh Astik</cp:lastModifiedBy>
  <cp:revision>1</cp:revision>
  <dcterms:created xsi:type="dcterms:W3CDTF">2026-10-28T16:08:20Z</dcterms:created>
  <dcterms:modified xsi:type="dcterms:W3CDTF">2026-10-28T16:08:20Z</dcterms:modified>
</cp:coreProperties>
</file>