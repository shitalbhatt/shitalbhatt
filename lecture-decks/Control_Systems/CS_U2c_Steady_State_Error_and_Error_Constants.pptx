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Type of systems, static error constants, steady-state error, generalized error series. It belongs to Unit 2: Time Domain Analysis of Control Systems.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CO2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final value theorem: the steady value of a time function is the limit of s times its transform as s goes to zero. It is valid only if all poles of s F of s are in the left half-plane. We apply it to the error signal of a unity-feedback system. The result depends on the open-loop transfer function and on the input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tracking antenna follows a satellite moving at constant angular speed, which is a ramp input. Even after the transient has died out, the antenna points slightly behind the satellite. That constant gap is the steady-state error. Today we learn how to predict it from the open-loop transfer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block diagram E equals R minus C and C equals G times E, so E equals R over one plus G. Multiply by s and take the limit. Always check the stability of the closed loop first, otherwise the error does not settle. For non-unity feedback, first convert the system to an equivalent unity-feedback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type of the system is the power of s in the denominator when G of s is written in the time-constant form. Each integrator at the origin improves the tracking ability by one step. Note that type is a property of the open-loop transfer function, not the closed loop. Count the poles at the origin carefully before using the error constants.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step input, R of s is A over s, and the error reduces to A over one plus G of zero. G of zero is the position error constant Kp. A type 0 system has a finite Kp, so it leaves a constant error. A type 1 system has an integrator, Kp is infinite and the step error is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ramp, E of s becomes A over s squared times one plus G, and the limit gives A over the limit of s G of s. That limit is Kv. A type 1 system tracks a ramp with a constant lag of A over Kv. Increasing the gain raises Kv and reduces the error, but it also affects stability, which is the central trade-off in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parabola represents constant acceleration. Only a type 2 or higher system can follow it with a finite error. The acceleration error constant is the limit of s squared times G of s. This is important for satellite tracking systems where the target accelerates. Remember that the size of A is the coefficient of t squared over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most important result of the lecture. Memorise the pattern: the diagonal gives finite errors, above the diagonal gives zero and below it gives infinite error. For a mixed input, apply superposition and add the individual errors. An infinite term in the sum makes the total error infinite.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E of s as one over one plus G times R of s and expand one over one plus G in a power series in s. Each power of s corresponds to a derivative in time. The coefficients are found by long division in ascending powers of s. The series is useful for a time-varying error, and the first non-zero term dominates the steady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confirm stability with the characteristic equation, otherwise the final value theorem cannot be used. The system has one pole at the origin, so it is type 1. The limit of s G of s is twenty times two over four times five, which is 2. The input is 6 t so the slope is 6 and the error is 6 over 2, equal to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method uses the acceleration constant, which is ten. The second method expands the error transfer function in a power series. The first two coefficients vanish because the system is type 2, and the s squared coefficient gives the same answer, 0.6. Having two methods agree is a good way to check your work in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steady-state error.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steady-state error are within reach. Next lecture: frequency-domain specifications.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steady-state error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steady-state error.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Control Systems (22EEG53)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Control Systems (22EEG53)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Steady-State Error and Error Constants</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Control Systems (22EEG53)</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2: Time Domain Analysis of Control Systems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Type of systems, static error constants, steady-state error, generalized error series</a:t>
            </a:r>
            <a:endParaRPr lang="en-US" sz="1500" dirty="0"/>
          </a:p>
          <a:p>
            <a:pPr indent="0" marL="0">
              <a:spcAft>
                <a:spcPts val="800"/>
              </a:spcAft>
              <a:buNone/>
            </a:pPr>
            <a:r>
              <a:rPr lang="en-US" sz="1500" b="1" dirty="0">
                <a:solidFill>
                  <a:srgbClr val="FCA311"/>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Find the type of a system from G(s).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Calculate Kp, Kv, Ka and the steady-state error.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Predict error for step, ramp and parabolic inputs.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Use the generalized error series for general inputs.</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Linked to CO2</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Analyse response during transient and steady-state conditions.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Unity feedback: error e = r − c.</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Closed-loop stable systems have a final value.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Final value theorem: lim s·F(s) as s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Test signals: 1/s, 1/s², 1/s³.</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lim t→∞ f(t) = lim s→0 s·F(s)   (poles in left half-plane only)</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Motivation: Tracking Accuracy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radar must follow a moving aircraft.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robot must follow a path precisely.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Transient dies out but a constant gap may remain.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Steady-state error measures that final gap.</a:t>
            </a:r>
            <a:endParaRPr lang="en-US" sz="1400" dirty="0"/>
          </a:p>
        </p:txBody>
      </p:sp>
      <p:pic>
        <p:nvPicPr>
          <p:cNvPr id="4" name="Diagram" descr="Motivation: Tracking Accurac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Design aim: keep ess within the allowed limit for the expected input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Steady-State Error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Error: e(t) = r(t) − c(t) (unity feedback).</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E(s) = R(s)/(1 + G(s)).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Apply the final value theorem to 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The result depends on G(s) at s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Valid only for a stable closed loop.</a:t>
            </a:r>
            <a:endParaRPr lang="en-US" sz="1400" dirty="0"/>
          </a:p>
        </p:txBody>
      </p:sp>
      <p:pic>
        <p:nvPicPr>
          <p:cNvPr id="4" name="Diagram" descr="Steady-State Err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ess = lim s→0 s·R(s)/(1 + G(s))</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G(s) open-loop transfer function, R(s) input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Type of a System</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 = number of poles of G(s) at s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 0: no integrator.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 1: one integrator.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 2: two integrators.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 tells which inputs are tracked with zero error.</a:t>
            </a:r>
            <a:endParaRPr lang="en-US" sz="1400" dirty="0"/>
          </a:p>
        </p:txBody>
      </p:sp>
      <p:pic>
        <p:nvPicPr>
          <p:cNvPr id="4" name="Diagram" descr="Type of a System">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G(s) = K ∏(τᵢ s + 1) / [sᴺ ∏(τⱼ s + 1)];   type = 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Static Position Error Constant Kp</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Input: unit step, R(s) = 1/s.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Kp = lim G(s) as s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 0: Kp = K, finite error.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 1 or higher: Kp = ∞, zero error.</a:t>
            </a:r>
            <a:endParaRPr lang="en-US" sz="1400" dirty="0"/>
          </a:p>
        </p:txBody>
      </p:sp>
      <p:pic>
        <p:nvPicPr>
          <p:cNvPr id="4" name="Diagram" descr="Static Position Error Constant Kp">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ess = 1/(1 + Kp) for a unit step;   A/(1 + Kp) for amplitude A</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Kp = lim s→0 G(s)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Static Velocity Error Constant Kv</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Input: unit ramp, R(s) = 1/s².</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Kv = lim s·G(s) as s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 0: ess = ∞.</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 1: finite error 1/Kv.</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 2 or higher: zero error.</a:t>
            </a:r>
            <a:endParaRPr lang="en-US" sz="1400" dirty="0"/>
          </a:p>
        </p:txBody>
      </p:sp>
      <p:pic>
        <p:nvPicPr>
          <p:cNvPr id="4" name="Diagram" descr="Static Velocity Error Constant Kv">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ess = A/Kv for a ramp of slope A</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Kv = lim s→0 s·G(s)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Static Acceleration Error Constant Ka</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Input: parabola A·t²/2, R(s) = A/s³.</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Ka = lim s²·G(s) as s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Types 0 and 1: infinite error.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 2: finite error A/Ka.</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 3 or higher: zero error.</a:t>
            </a:r>
            <a:endParaRPr lang="en-US" sz="1400" dirty="0"/>
          </a:p>
        </p:txBody>
      </p:sp>
      <p:pic>
        <p:nvPicPr>
          <p:cNvPr id="4" name="Diagram" descr="Static Acceleration Error Constant Ka">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ess = A/Ka;   Ka = lim s→0 s²·G(s)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Error Table: Type vs Input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Higher type → better tracking, but harder stability.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Zero error needs enough integrators.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Finite errors use Kp, Kv or Ka.</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Superposition applies for combined inputs.</a:t>
            </a:r>
            <a:endParaRPr lang="en-US" sz="1400" dirty="0"/>
          </a:p>
        </p:txBody>
      </p:sp>
      <p:pic>
        <p:nvPicPr>
          <p:cNvPr id="4" name="Diagram" descr="Error Table: Type vs Inpu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r = A·u(t) + B·t + (C/2)·t²  →  ess = A/(1+Kp) + B/Kv + C/Ka</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Generalized Error Series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Static constants cover only step, ramp, parabola.</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Series handles any smooth input r(t).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Expand 1/(1 + G(s)) in powers of 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Coefficients Cn are dynamic error coefficients.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Error follows from the derivatives of r(t).</a:t>
            </a:r>
            <a:endParaRPr lang="en-US" sz="1400" dirty="0"/>
          </a:p>
        </p:txBody>
      </p:sp>
      <p:pic>
        <p:nvPicPr>
          <p:cNvPr id="4" name="Diagram" descr="Generalized Error Seri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e(t) = C0·r(t) + C1·r′(t) + (C2/2!)·r″(t) + …</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Cn = dⁿ/dsⁿ [1/(1 + G(s))] at s = 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1: Static Constants</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Unity feedback, G(s) = 20(s + 2)/[s(s + 4)(s + 5)]. Input r = 6t. Find type, Kp, Kv, Ka, ess.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Stability: s³ + 9s² + 40s + 40 → all Routh entries positive: stable.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One pole at origin: Type 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Kp = ∞.</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Kv = lim sG = 20×2/(4×5) = 2.</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Ka = lim s²G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6. Ramp slope A = 6: ess = A/Kv = 3.</a:t>
            </a:r>
            <a:endParaRPr lang="en-US" sz="1400" dirty="0"/>
          </a:p>
        </p:txBody>
      </p:sp>
      <p:pic>
        <p:nvPicPr>
          <p:cNvPr id="4" name="Diagram" descr="Solved Example 1: Static Constants">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Type 1, Kp = ∞, Kv = 2, Ka = 0, ess = 3 for r = 6t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2: Error Series</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Unity feedback, G(s) = 10(s + 1)/s². Input r(t) = 3t². Find ess by Ka and by the error series.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Type 2: Ka = lim s²G = 10(0 + 1) = 10.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r = 3t² = 6·t²/2, so A = 6: ess = 6/10 = 0.6.</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Series: 1/(1+G) = s²/(s² + 10s + 10) = 0.1s² − 0.1s³ + …</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C0 = C1 = 0, C2/2! = 0.1.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e = 0.1·r″ = 0.1 × 6 = 0.6.</a:t>
            </a:r>
            <a:endParaRPr lang="en-US" sz="1400" dirty="0"/>
          </a:p>
        </p:txBody>
      </p:sp>
      <p:pic>
        <p:nvPicPr>
          <p:cNvPr id="4" name="Diagram" descr="Solved Example 2: Error Series">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ess = 0.6 by both methods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3F6FB"/>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Applying the theorem to an unstable closed loop.</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Counting type from the closed-loop transfer function.</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Forgetting to write G(s) in time-constant form for K.</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Using the amplitude of r(t) wrongly (A for t²/2).</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Using static constants for non-unity feedback directly.</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3F6FB"/>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Check stability first (Routh).</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Count poles of G(s) at s = 0 only.</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Write K as the gain in time-constant form.</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Convert to unity feedback if H(s) ≠ 1.</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ess = lim s·R(s)/(1 + G(s)) for stable unity feedback.</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Type = number of integrators in G(s).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Kp = lim G, Kv = lim sG, Ka = lim s²G.</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Errors: A/(1+Kp), A/Kv, A/Ka for step, ramp, parabola.</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Error series: e(t) = ΣCn r⁽ⁿ⁾/n!.</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Zero / finite / infinite error follows the type–input table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3F6FB"/>
          </a:solidFill>
          <a:ln w="9525">
            <a:solidFill>
              <a:srgbClr val="E8EEF9"/>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Q1. G(s) = 10/[s(s+2)] is of type:</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0  (b) 1  (c) 2  (d) 3</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E8EEF9"/>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Q2. Kv of G(s) = 10/[s(s+2)]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0  (b) 2  (c) 5  (d) ∞</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1" name="Q3 row"/>
          <p:cNvSpPr/>
          <p:nvPr/>
        </p:nvSpPr>
        <p:spPr>
          <a:xfrm>
            <a:off x="457200" y="2560320"/>
            <a:ext cx="8229600" cy="658368"/>
          </a:xfrm>
          <a:prstGeom prst="roundRect">
            <a:avLst>
              <a:gd name="adj" fmla="val 11111"/>
            </a:avLst>
          </a:prstGeom>
          <a:solidFill>
            <a:srgbClr val="F3F6FB"/>
          </a:solidFill>
          <a:ln w="9525">
            <a:solidFill>
              <a:srgbClr val="E8EEF9"/>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Q3. Ramp error of a Type 0 system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0  (b) finite  (c) 1/Kp  (d) infinite</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(d)</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E8EEF9"/>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Q4. Unit step error of Type 0 with Kp = 4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0.2  (b) 0.25  (c) 4  (d) 0</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19" name="Q5 row"/>
          <p:cNvSpPr/>
          <p:nvPr/>
        </p:nvSpPr>
        <p:spPr>
          <a:xfrm>
            <a:off x="457200" y="4023360"/>
            <a:ext cx="8229600" cy="658368"/>
          </a:xfrm>
          <a:prstGeom prst="roundRect">
            <a:avLst>
              <a:gd name="adj" fmla="val 11111"/>
            </a:avLst>
          </a:prstGeom>
          <a:solidFill>
            <a:srgbClr val="F3F6FB"/>
          </a:solidFill>
          <a:ln w="9525">
            <a:solidFill>
              <a:srgbClr val="E8EEF9"/>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Q5. Ka = lim of:</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G(s)  (b) sG(s)  (c) s²G(s)  (d) G(s)/s</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14213D"/>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I. J. Nagrath and M. Gopal, Control Systems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New Age International (P) Ltd., 2008 (Units 1, 2 textbook)</a:t>
            </a:r>
            <a:endParaRPr lang="en-US" sz="1400" dirty="0"/>
          </a:p>
        </p:txBody>
      </p:sp>
      <p:sp>
        <p:nvSpPr>
          <p:cNvPr id="6" name="Ref 2 badge"/>
          <p:cNvSpPr/>
          <p:nvPr/>
        </p:nvSpPr>
        <p:spPr>
          <a:xfrm>
            <a:off x="457200" y="1801368"/>
            <a:ext cx="420624" cy="420624"/>
          </a:xfrm>
          <a:prstGeom prst="ellipse">
            <a:avLst/>
          </a:prstGeom>
          <a:solidFill>
            <a:srgbClr val="14213D"/>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K. Ogata, Modern Control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Pearson Education Asia / PHI, 2009 (reference)</a:t>
            </a:r>
            <a:endParaRPr lang="en-US" sz="1400" dirty="0"/>
          </a:p>
        </p:txBody>
      </p:sp>
      <p:sp>
        <p:nvSpPr>
          <p:cNvPr id="9" name="Ref 3 badge"/>
          <p:cNvSpPr/>
          <p:nvPr/>
        </p:nvSpPr>
        <p:spPr>
          <a:xfrm>
            <a:off x="457200" y="2404872"/>
            <a:ext cx="420624" cy="420624"/>
          </a:xfrm>
          <a:prstGeom prst="ellipse">
            <a:avLst/>
          </a:prstGeom>
          <a:solidFill>
            <a:srgbClr val="14213D"/>
          </a:solidFill>
          <a:ln/>
        </p:spPr>
      </p:sp>
      <p:sp>
        <p:nvSpPr>
          <p:cNvPr id="10" name="Text 8"/>
          <p:cNvSpPr txBox="1"/>
          <p:nvPr/>
        </p:nvSpPr>
        <p:spPr>
          <a:xfrm>
            <a:off x="4572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051560" y="2350008"/>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 S. Satyanarayana, Concepts of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2nd Ed., Dynaram Publishers, Bangalore, 2001 (reference)</a:t>
            </a:r>
            <a:endParaRPr lang="en-US" sz="1400" dirty="0"/>
          </a:p>
        </p:txBody>
      </p:sp>
      <p:sp>
        <p:nvSpPr>
          <p:cNvPr id="12" name="Key strip"/>
          <p:cNvSpPr/>
          <p:nvPr/>
        </p:nvSpPr>
        <p:spPr>
          <a:xfrm>
            <a:off x="457200" y="4343400"/>
            <a:ext cx="8229600" cy="411480"/>
          </a:xfrm>
          <a:prstGeom prst="roundRect">
            <a:avLst>
              <a:gd name="adj" fmla="val 17778"/>
            </a:avLst>
          </a:prstGeom>
          <a:solidFill>
            <a:srgbClr val="E8EEF9"/>
          </a:solidFill>
          <a:ln/>
        </p:spPr>
      </p:sp>
      <p:sp>
        <p:nvSpPr>
          <p:cNvPr id="13"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Next lecture: Unit 3: frequency-domain specifications and Bode plots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Control Systems">
  <a:themeElements>
    <a:clrScheme name="Control Systems">
      <a:dk1>
        <a:srgbClr val="1B2430"/>
      </a:dk1>
      <a:lt1>
        <a:srgbClr val="FFFFFF"/>
      </a:lt1>
      <a:dk2>
        <a:srgbClr val="14213D"/>
      </a:dk2>
      <a:lt2>
        <a:srgbClr val="F3F6FB"/>
      </a:lt2>
      <a:accent1>
        <a:srgbClr val="1F5FBF"/>
      </a:accent1>
      <a:accent2>
        <a:srgbClr val="E08A00"/>
      </a:accent2>
      <a:accent3>
        <a:srgbClr val="2E8B57"/>
      </a:accent3>
      <a:accent4>
        <a:srgbClr val="C0392B"/>
      </a:accent4>
      <a:accent5>
        <a:srgbClr val="5B6472"/>
      </a:accent5>
      <a:accent6>
        <a:srgbClr val="FCA311"/>
      </a:accent6>
      <a:hlink>
        <a:srgbClr val="1F5FBF"/>
      </a:hlink>
      <a:folHlink>
        <a:srgbClr val="5B6472"/>
      </a:folHlink>
    </a:clrScheme>
    <a:fontScheme name="Control 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Systems — Unit 2: Steady-State Error and Error Constants</dc:title>
  <dc:subject>PptxGenJS Presentation</dc:subject>
  <dc:creator>Prof. Mitesh Astik</dc:creator>
  <cp:lastModifiedBy>Prof. Mitesh Astik</cp:lastModifiedBy>
  <cp:revision>1</cp:revision>
  <dcterms:created xsi:type="dcterms:W3CDTF">2026-10-28T16:42:47Z</dcterms:created>
  <dcterms:modified xsi:type="dcterms:W3CDTF">2026-10-28T16:42:47Z</dcterms:modified>
</cp:coreProperties>
</file>