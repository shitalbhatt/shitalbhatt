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Peak resonance, resonant frequency, bandwidth, cut-off rate; correlation with time response. It belongs to Unit 3: Frequency Domain Analysis.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CO3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feed a sine wave into a stable linear system, the steady-state output is a sine wave of the same frequency. Its amplitude changes by the magnitude of the transfer function at jω and its phase shifts by the angle. Plotting M and φ against frequency gives the frequency response. This is the basis of the whole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often measure a plant by applying sine waves of different frequencies and reading the output amplitude. From the magnitude curve we can read how fast the system responds and how well damped it is. The specifications we define today are read directly from this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Substitute s equal to j ω in the standard second-order function and normalise the frequency by ωn. The magnitude starts at one for u equal to zero and falls at high frequency. For small ζ there is a tall resonance peak close to u equal to one. For ζ of 0.707 or more the curve has no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tells us how lightly damped the system is. Omega r is where the peak occurs. Bandwidth is the frequency at which the magnitude has fallen to 0.707 of its low-frequency value, which is the minus 3 dB point. A larger bandwidth means a faster response. The cut-off rate describes how sharply the system rejects high frequencies.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Differentiate the magnitude with respect to u and set the derivative to zero. This gives u r equal to the square root of one minus two zeta squared, which is real only for zeta below 0.707. Substituting back gives Mr as a function of ζ alone. Low damping means a large resonant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magnitude equal to one over root two and solve the resulting quadratic in u squared. The positive root gives the bandwidth. For ζ equal to 0.707 the bracket equals one, so bandwidth equals natural frequency. A wide bandwidth passes faster signals, so the system is quicker but also more sensitive to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frequencies much higher than ωn the term u to the fourth dominates, so M behaves as one over u squared. On a log scale this is a straight line falling 40 dB for every tenfold increase in frequency. A first-order system falls at 20 dB per decade. The cut-off rate indicates how well the system discriminates between signal and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the percent overshoot and the resonant peak are functions of damping ratio alone, so one can be read from the other. The bandwidth plays the role of speed: the larger the bandwidth, the shorter the rise time. This correlation is why a frequency test can predict transient behaviour without ever applying a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check that zeta is less than 0.707, so the resonance formulas apply. Mr depends only on ζ, so substitute and get 1.155. Multiply the normalised ωr by ωn to get the actual frequency. For bandwidth compute the bracket: 1 minus 2 ζ squared is 0.5, and the square root term is root 1.25, so the bracket is 1.618 and the bandwidth is 12.7 rad/s.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problem goes from frequency data to time-domain specifications. Solve the quadratic in zeta squared and choose the root below 0.5 so that zeta is less than 0.707. Then ω r and ζ give ω n. Finally use the time-domain formulas from the previous unit to predict overshoot and peak time. It shows the correlation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frequency-domain specifications.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frequency specifications are within reach. Next lecture: Bode plots, gain margin and phase margin.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frequency specifications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frequency specifications.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Frequency-Domain Specifications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3: Frequency Domain Analysis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Peak resonance, resonant frequency, bandwidth, cut-off rate; correlation with time response</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Define Mr, ωr, ωb and cut-off rate.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Derive Mr, ωr and ωb for a second-order system.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Relate frequency and time-domain specifications.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Find ζ and ωn from frequency-domain data.</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CO3</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Analyse the performance indices of a system in the frequency domain.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Sinusoidal Steady State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Apply r(t) = A sin ωt to a stable system.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Steady-state output is also sinusoidal.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Amplitude is scaled by M = |G(jω)|.</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Phase is shifted by φ = ∠G(jω).</a:t>
            </a:r>
            <a:endParaRPr lang="en-US" sz="1400" dirty="0"/>
          </a:p>
        </p:txBody>
      </p:sp>
      <p:pic>
        <p:nvPicPr>
          <p:cNvPr id="4" name="Diagram" descr="Recap: Sinusoidal Steady Stat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c(t) = A·M(ω)·sin(ωt + φ(ω)),   M = |T(jω)|,  φ = ∠T(jω)</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T(s) closed-loop transfer function, ω in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Why Frequency Domain?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Audio amplifier: which frequencies pass?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Servo: how fast a command can it follow?</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Measure response with a signal generator.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Design without solving differential equations.</a:t>
            </a:r>
            <a:endParaRPr lang="en-US" sz="1400" dirty="0"/>
          </a:p>
        </p:txBody>
      </p:sp>
      <p:pic>
        <p:nvPicPr>
          <p:cNvPr id="4" name="Diagram" descr="Motivation: Why Frequency Domai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Bandwidth indicates speed; resonant peak indicates damping</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Frequency Response of a Second-Order System</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Closed-loop T(s) = ωn²/(s² + 2ζωn s + ωn²).</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Put s = jω and u = ω/ωn.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Magnitude depends on u and ζ only.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Low ζ gives a sharp peak near u = 1.</a:t>
            </a:r>
            <a:endParaRPr lang="en-US" sz="1400" dirty="0"/>
          </a:p>
        </p:txBody>
      </p:sp>
      <p:pic>
        <p:nvPicPr>
          <p:cNvPr id="4" name="Diagram" descr="Frequency Response of a Second-Order System">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M(u) = 1/√[(1 − u²)² + (2ζu)²];   φ(u) = −tan⁻¹[2ζu/(1 − u²)]</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u = ω/ωn normalised frequency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Frequency-Domain Specifications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Resonant peak Mr: maximum value of M.</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Resonant frequency ωr: frequency at the peak.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Bandwidth ωb: where M falls to 0.707 (−3 dB).</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Cut-off rate: slope of M at high frequency.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Gain margin, phase margin: next lecture.</a:t>
            </a:r>
            <a:endParaRPr lang="en-US" sz="1400" dirty="0"/>
          </a:p>
        </p:txBody>
      </p:sp>
      <p:pic>
        <p:nvPicPr>
          <p:cNvPr id="4" name="Diagram" descr="Frequency-Domain Specific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Mr = Mmax/M(0);   ωb: M(ωb) = 0.707·M(0)</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Mr dimensionless (or dB), ωr and ωb in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Resonant Peak and Frequency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Set dM/du = 0 to find the peak.</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peak exists only for ζ &lt; 0.707.</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Mr depends only on ζ.</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ωr is always less than ωn.</a:t>
            </a:r>
            <a:endParaRPr lang="en-US" sz="1400" dirty="0"/>
          </a:p>
        </p:txBody>
      </p:sp>
      <p:pic>
        <p:nvPicPr>
          <p:cNvPr id="4" name="Diagram" descr="Resonant Peak and Frequenc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ωr = ωn√(1 − 2ζ²);   Mr = 1/(2ζ√(1 − ζ²))   (0 &lt; ζ &lt; 0.707)</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For ζ ≥ 0.707: no peak, Mmax = 1 at ω =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Bandwidth</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Solve M(u) = 0.707 for u.</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ωb/ωn depends only on ζ.</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Larger bandwidth gives faster rise time.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For ζ = 0.707, ωb = ωn.</a:t>
            </a:r>
            <a:endParaRPr lang="en-US" sz="1400" dirty="0"/>
          </a:p>
        </p:txBody>
      </p:sp>
      <p:pic>
        <p:nvPicPr>
          <p:cNvPr id="4" name="Diagram" descr="Bandwidth">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ωb = ωn·[(1 − 2ζ²) + √(4ζ⁴ − 4ζ² + 2)]^½</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ωb in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Cut-off Rate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Slope of the log-magnitude at high frequency.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Second order: −40 dB/decade.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First order: −20 dB/decade.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Steeper slope rejects noise better.</a:t>
            </a:r>
            <a:endParaRPr lang="en-US" sz="1400" dirty="0"/>
          </a:p>
        </p:txBody>
      </p:sp>
      <p:pic>
        <p:nvPicPr>
          <p:cNvPr id="4" name="Diagram" descr="Cut-off Rat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At high ω:  |T| ≈ (ωn/ω)² → slope = −40 dB/decade</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dB = 20 log₁₀ M</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Correlation: Time and Frequency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Both Mp and Mr depend on ζ only.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Large Mr means large overshoot.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Bandwidth is inversely related to rise time.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High ωb gives short tr and 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ωd and ωr both scale with ωn.</a:t>
            </a:r>
            <a:endParaRPr lang="en-US" sz="1400" dirty="0"/>
          </a:p>
        </p:txBody>
      </p:sp>
      <p:pic>
        <p:nvPicPr>
          <p:cNvPr id="4" name="Diagram" descr="Correlation: Time and Frequenc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Mr ↑ ⇔ Mp ↑ ;   ωb ↑ ⇔ tr ↓;   tr·ωb ≈ constant for fixed ζ</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Find Mr, ωr, ωb</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system has ζ = 0.5 and ωn = 10 rad/s. Find Mr, ωr, ωb.</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ζ &lt; 0.707, so a peak exists.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Mr = 1/(2·0.5·√0.75) = 1.155 (1.25 dB).</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ωr = 10√(1 − 0.5) = 7.07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ωb = 10[(0.5) + √(0.25 − 1 + 2)]^½ = 10 × 1.272 = 12.7 rad/s.</a:t>
            </a:r>
            <a:endParaRPr lang="en-US" sz="1400" dirty="0"/>
          </a:p>
        </p:txBody>
      </p:sp>
      <p:pic>
        <p:nvPicPr>
          <p:cNvPr id="4" name="Diagram" descr="Solved Example 1: Find Mr, ωr, ωb">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Mr = 1.155, ωr = 7.07 rad/s, ωb = 12.7 rad/s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Specs from Data</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servo shows Mr = 1.2 at ωr = 6 rad/s. Find ζ, ωn, and the expected Mp and tp.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2ζ√(1 − ζ²) = 1/1.2 = 0.833, so ζ²(1 − ζ²) = 0.1736.</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ζ² = 0.2236 (root with ζ &lt; 0.707), so ζ = 0.473.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ωn = ωr/√(1 − 2ζ²) = 6/0.7435 = 8.07 rad/s.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Mp = e^(−π·0.473/0.881) = 18.5 %.</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ωd = 8.07 × 0.881 = 7.11, tp = π/7.11 = 0.44 s.</a:t>
            </a:r>
            <a:endParaRPr lang="en-US" sz="1400" dirty="0"/>
          </a:p>
        </p:txBody>
      </p:sp>
      <p:pic>
        <p:nvPicPr>
          <p:cNvPr id="4" name="Diagram" descr="Solved Example 2: Specs from Data">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ζ = 0.473, ωn = 8.07 rad/s, Mp = 18.5 %, tp = 0.44 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the Mr formula for ζ ≥ 0.707.</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Taking bandwidth at the peak instead of at 0.707.</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Mixing dB and linear values of M.</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ωr in place of ωn.</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that the cut-off rate is per decade.</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ζ &lt; 0.707 before using Mr and ωr.</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Bandwidth: find where M = 0.707 M(0).</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Convert: dB = 20 log₁₀ M.</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Solve ζ² from the quadratic and choose the small root.</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 = |T(jω)| and φ = ∠T(jω) describe frequency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Mr = 1/(2ζ√(1 − ζ²)) and ωr = ωn√(1 − 2ζ²) for ζ &lt; 0.707.</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Bandwidth is the −3 dB frequency; larger means faster.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Cut-off rate of a second-order system is −40 dB/decade.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Mr tracks overshoot; ωb tracks rise time.</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Mr, Mp depend on ζ only;  ωb, ωr scale with ωn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Mr for ζ = 0.5 is about:</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0.5  (b) 1.0  (c) 1.155  (d) 2.0</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A resonant peak exists only when:</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ζ &gt; 1  (b) ζ &lt; 0.707  (c) ζ = 1  (d) ζ &gt; 0.707</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Bandwidth is the frequency where M falls to:</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0.5  (b) 0.707  (c) 0.9  (d) 0.1</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Cut-off rate of a second-order system:</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−20 dB/dec  (b) −40 dB/dec  (c) −60 dB/dec  (d) 0</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For ζ = 0.707 the bandwidth equals: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ωn/2  (b) ωn  (c) 2ωn  (d) ωr</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 4, 5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Bode plots, gain margin and phase margin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3: Frequency-Domain Specifications</dc:title>
  <dc:subject>PptxGenJS Presentation</dc:subject>
  <dc:creator>Prof. Mitesh Astik</dc:creator>
  <cp:lastModifiedBy>Prof. Mitesh Astik</cp:lastModifiedBy>
  <cp:revision>1</cp:revision>
  <dcterms:created xsi:type="dcterms:W3CDTF">2026-10-28T16:09:51Z</dcterms:created>
  <dcterms:modified xsi:type="dcterms:W3CDTF">2026-10-28T16:09:51Z</dcterms:modified>
</cp:coreProperties>
</file>