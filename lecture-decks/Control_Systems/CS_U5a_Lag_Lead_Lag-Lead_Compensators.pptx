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Introduction to compensators — lag, lead and lag-lead. It belongs to Unit 5: Compensators and Controllers.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phase margin tells us about damping and the velocity error constant tells us about tracking accuracy. A pole adds phase lag and slopes the magnitude down, while a zero adds phase lead. A compensator is simply a deliberately chosen pole and zero pair that reshapes the open-loop frequency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only change the gain, we trade accuracy against stability. A servo that meets the error requirement may oscillate. Adding a compensator changes the shape of the open-loop response so that both requirements can be met. Lab experiments nine and ten implement exactly these RC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series compensation the compensator is placed ahead of the plant, so the loop gain becomes the product of the two transfer functions. The compensator contains one pole and one zero whose positions determine its type. It is the most common configuration in the exam and in practice, since it is easy to realise with RC networks and operational amplifiers.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 network has its zero at one over alpha T and its pole at one over T, so the zero is nearer the origin. The phase rises to a maximum of arcsine of alpha minus one over alpha plus one at the geometric mean of the corner frequencies. The magnitude rises by twenty log alpha at high frequency. We use it to improve phase margin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lag network has its pole nearer to the origin than its zero. It attenuates the high-frequency gain by twenty log beta decibels, so we can raise K to improve the steady-state error without moving the crossover frequency. The price is some phase lag, so we place the corner frequencies well below the gain crossover. Bandwidth falls, so the response becomes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s-plane the only difference between lead and lag is the order of the pole and zero. For the lead network the zero is closer to the origin. For the lag network the pole is closer to the origin and the pair is placed near the origin so as not to disturb the transient response. This view is used in root-locus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steps in order. The needed lead is the difference between the required and the present phase margin plus a safety margin. Alpha follows from the maximum phase formula. Place the maximum lead at the new gain crossover, which is where the plant gain is minus 10 log alpha decibels. Always recheck because adding the lead shifts the crossover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lag design we look for the frequency where the plant already has the required phase margin plus a few degrees. The lag network must bring the magnitude to zero dB at that frequency, which fixes beta. The zero is placed about a decade below the new crossover so that the lag network adds only a few degrees of phase lag there. The pole follows from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system needs both better accuracy and better transient response, we use a lag-lead network. The lag section is placed at low frequencies and raises the low-frequency gain relative to the high-frequency gain. The lead section gives phase advance near the gain crossover. The design is done in two steps, one for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summarises when to use each network. Use lead when the response is too slow or too oscillatory, and use lag when the accuracy is not enough but the speed is fine. The passive RC lag network is built from two resistors and one capacitor, and so is the lead network. The lead network attenuates the DC gain by one over alpha, which must be compensated by an amplifier.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phase lead required including a safety margin of five degrees. Alpha follows from the maximum-phase formula and equals three. The geometric mean of the corner frequencies must be four rad/s, which gives the time constant. Check that the zero and pole frequencies multiply to sixteen, the square of ωm. Verify the design by recalculating the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convenient values for R2 and C to give the time constant of one second. Then beta fixes R1. The zero and pole frequencies follow directly, and the maximum lag occurs at the geometric mean of the corner frequencies. This is exactly what you will build in the laboratory for experiment nine and verify with MATLAB.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compensators.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compensators are within reach. Next lecture: P, PI and PID controllers.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compensators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compensators.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Lag, Lead and Lag-Lead Compensators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Compensators and Controllers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Introduction to compensators — lag, lead and lag-lead</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Explain why compensation is needed.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lag and lead transfer functions and their Bode features.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Design a lead network for a phase-margin target.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Select RC values for lag and lead networks.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Design the appropriate compensator and controller for given specifications.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Phase margin relates to damping (PM ≈ 100ζ).</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Gain K sets Kv and steady-state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Bandwidth sets speed of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Bode plot: pole −20 dB/dec, zero +20 dB/dec.</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PM = 180° + ∠L(jωgc);   Kv = lim s·L(s)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L(s) open-loop transfer function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Gain Alone Is Not Enough</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Raise K: error falls but PM falls too.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Specifications often conflict.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Compensator adds phase or gain where needed.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Simple, cheap, passive RC networks.</a:t>
            </a:r>
            <a:endParaRPr lang="en-US" sz="1400" dirty="0"/>
          </a:p>
        </p:txBody>
      </p:sp>
      <p:pic>
        <p:nvPicPr>
          <p:cNvPr id="4" name="Diagram" descr="Motivation: Gain Alone Is Not Enough">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Need: ess small and PM large and bandwidth high, at the same time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Series Compensation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Compensator Gc(s) placed in the forward path.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Open-loop becomes Gc(s)·G(s).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Alternatives: feedback or feed-forward compensation.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lag and lag-lead are the standard types.</a:t>
            </a:r>
            <a:endParaRPr lang="en-US" sz="1400" dirty="0"/>
          </a:p>
        </p:txBody>
      </p:sp>
      <p:pic>
        <p:nvPicPr>
          <p:cNvPr id="4" name="Diagram" descr="Series Compens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L(s) = Gc(s)·G(s);   Gc(s) = Kc·(s + z)/(s + 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Lead Compensator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 closer to the origin than the pole.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Adds positive phase near ωm.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Raises gain at high frequency.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Widens bandwidth; faster, better damping.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Noise at high frequency increases.</a:t>
            </a:r>
            <a:endParaRPr lang="en-US" sz="1400" dirty="0"/>
          </a:p>
        </p:txBody>
      </p:sp>
      <p:pic>
        <p:nvPicPr>
          <p:cNvPr id="4" name="Diagram" descr="Lead Compens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Gc(s) = (1 + αTs)/(1 + Ts), α &gt; 1;   φm = sin⁻¹[(α − 1)/(α + 1)] at ωm = 1/(T√α)</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α lead ratio, T time constant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Lag Compensator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 closer to the origin than the zero.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Reduces gain at high frequency by 20 log β.</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Adds phase lag; place it well below ωgc.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Allows a larger low-frequency gain.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Reduces bandwidth; slower response.</a:t>
            </a:r>
            <a:endParaRPr lang="en-US" sz="1400" dirty="0"/>
          </a:p>
        </p:txBody>
      </p:sp>
      <p:pic>
        <p:nvPicPr>
          <p:cNvPr id="4" name="Diagram" descr="Lag Compens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Gc(s) = (1 + Ts)/(1 + βTs), β &gt; 1;   max lag = sin⁻¹[(β − 1)/(β + 1)] at ω = 1/(T√β)</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β lag ratio, T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Pole–Zero Pattern: Lag vs Lead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zero at −1/(αT), pole at −1/T.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zero at −1/T, pole at −1/(βT).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pole–zero pair sits close to the origin.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pair sits near the dominant poles.</a:t>
            </a:r>
            <a:endParaRPr lang="en-US" sz="1400" dirty="0"/>
          </a:p>
        </p:txBody>
      </p:sp>
      <p:pic>
        <p:nvPicPr>
          <p:cNvPr id="4" name="Diagram" descr="Pole–Zero Pattern: Lag vs Lea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Lead: |z| &lt; |p|;   Lag: |z| &gt; |p|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Lead Design Procedure (Bode)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Fix K for the steady-state specification.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Compute the phase lead needed.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 5°–12° to cover the gain shift.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Compute α and place ωm.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Verify margins and iterate.</a:t>
            </a:r>
            <a:endParaRPr lang="en-US" sz="1400" dirty="0"/>
          </a:p>
        </p:txBody>
      </p:sp>
      <p:pic>
        <p:nvPicPr>
          <p:cNvPr id="4" name="Diagram" descr="Lead Design Procedure (Bod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α = (1 + sin φm)/(1 − sin φm);   T = 1/(ωm√α);   gain at ωm = +10 log α dB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Lag Design Procedure (Bode)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Fix K for the steady-state specification.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where the plant phase gives the required PM.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Make that frequency the new crossover.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β from the plant gain there; zero a decade below.</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Check the final margins.</a:t>
            </a:r>
            <a:endParaRPr lang="en-US" sz="1400" dirty="0"/>
          </a:p>
        </p:txBody>
      </p:sp>
      <p:pic>
        <p:nvPicPr>
          <p:cNvPr id="4" name="Diagram" descr="Lag Design Procedure (Bod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β = |G(jω′gc)|;   1/T = ω′gc/10;   pole at 1/(βT)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Lag–Lead Compensator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Combines a lag section and a lead section.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improves steady-state accuracy.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improves speed and damping.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Used when both are needed.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corners lie below, lead corners above.</a:t>
            </a:r>
            <a:endParaRPr lang="en-US" sz="1400" dirty="0"/>
          </a:p>
        </p:txBody>
      </p:sp>
      <p:pic>
        <p:nvPicPr>
          <p:cNvPr id="4" name="Diagram" descr="Lag–Lead Compens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Gc(s) = [(1 + T1 s)/(1 + βT1 s)]·[(1 + T2 s)/(1 + T2 s/β)]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RC Realisations and Comparison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network: R1 in series, R2–C to ground.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network: R1∥C in series, R2 to ground.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network loses gain 1/α; use an amplifier.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Lab: build and test both networks.</a:t>
            </a:r>
            <a:endParaRPr lang="en-US" sz="1400" dirty="0"/>
          </a:p>
        </p:txBody>
      </p:sp>
      <p:pic>
        <p:nvPicPr>
          <p:cNvPr id="4" name="Diagram" descr="RC Realisations and Comparis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Lag: β = (R1 + R2)/R2,  T = R2C;   Lead: α = (R1 + R2)/R2,  αT = R1C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Lead Network</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loop has PM = 20°. Required PM = 45°; use 5° margin. Find α and T for ωm = 4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φm = 45° − 20° + 5° = 30°.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α = (1 + sin 30°)/(1 − sin 30°) = 1.5/0.5 = 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T = 1/(ωm√α) = 1/(4 × 1.732) = 0.144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Zero at 1/(αT) = 2.31, pole at 1/T = 6.93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Gain at ωm = 10 log 3 = 4.77 dB.</a:t>
            </a:r>
            <a:endParaRPr lang="en-US" sz="1400" dirty="0"/>
          </a:p>
        </p:txBody>
      </p:sp>
      <p:pic>
        <p:nvPicPr>
          <p:cNvPr id="4" name="Diagram" descr="Solved Example 1: Lead Network">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Gc(s) = (1 + 0.433s)/(1 + 0.144s);  zero 2.31, pole 6.93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RC Lag Network</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Design an RC lag with β = 10 and T = 1 s. Find R1, R2, C and the corner frequencies.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T = R2C = 1 s: choose R2 = 10 kΩ, C = 100 µF.</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β = (R1 + R2)/R2 = 10 → R1 = 9R2 = 90 kΩ.</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Zero at 1/T = 1 rad/s; pole at 1/(βT) = 0.1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High-frequency attenuation = 20 log 10 = 20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Maximum lag: sin⁻¹(9/11) = 54.9° at 1/(T√β) = 0.316 rad/s.</a:t>
            </a:r>
            <a:endParaRPr lang="en-US" sz="1400" dirty="0"/>
          </a:p>
        </p:txBody>
      </p:sp>
      <p:pic>
        <p:nvPicPr>
          <p:cNvPr id="4" name="Diagram" descr="Solved Example 2: RC Lag Network">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R1 = 90 kΩ, R2 = 10 kΩ, C = 100 µF;  Gc(s) = (1 + s)/(1 + 10s)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lag when more phase lead is needed.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Placing the lag corner close to ωgc.</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the 1/α loss in a passive lead network.</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No safety margin in φm.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Not rechecking margins after the shift in crossover.</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State the problem first: speed or accuracy?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Lead for speed/damping, lag for accuracy.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Add 5°–12° to φm for the lead.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Verify with the Bode plot or MATLAB.</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Compensator = pole–zero pair in series with the plant.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Lead: adds phase, raises bandwidth, speeds up.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 cuts high-frequency gain, improves accuracy.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Lag–lead gives both effects.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α = (1 + sin φm)/(1 − sin φm);  ωm = 1/(T√α).</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Lead: zero before pole;  Lag: pole before zero</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A lead compensator mainly improves: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steady-state error  (b) phase margin and speed  (c) noise  (d) gain margin only</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Maximum lead for α = 3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19.5°  (b) 30°  (c) 45°  (d) 60°</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A lag network reduces high-frequency gain by:</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20 log α  (b) 20 log β  (c) 10 log β  (d) zero</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In a lag network the pole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nearer to origin than zero  (b) farther  (c) at origin  (d) at infinity</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For lead with α = 10, ωm occurs at: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1/T  (b) 1/(T√α)  (c) α/T  (d) 1/(αT)</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 J. D'Azzo and C. H. Houpis, Feedback Control System Analysis and Synthesis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McGraw Hill International, 1999 (reference, Unit 5)</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Gopal, Control Systems Principles and Design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TMH, 1999 (reference, Units 4, 5)</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P, PI and PID controllers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5: Lag, Lead and Lag-Lead Compensators</dc:title>
  <dc:subject>PptxGenJS Presentation</dc:subject>
  <dc:creator>Prof. Mitesh Astik</dc:creator>
  <cp:lastModifiedBy>Prof. Mitesh Astik</cp:lastModifiedBy>
  <cp:revision>1</cp:revision>
  <dcterms:created xsi:type="dcterms:W3CDTF">2026-10-28T16:42:55Z</dcterms:created>
  <dcterms:modified xsi:type="dcterms:W3CDTF">2026-10-28T16:42:55Z</dcterms:modified>
</cp:coreProperties>
</file>