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2 · Types and Construction of Single-Phase Transformers" id="{6bfc7e59-b08e-5253-4c2e-8f22eda89c95}">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"Types and Construction of Single-Phase Transformers", part of Unit 2 (Transformers and Electrical Machines)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Name the main parts of a transformer. Distinguish core type from shell type. Explain the purpose of laminations and silicon steel. State common classifications of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main parts are the core and the windings.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 solid iron core would overheat because of eddy currents.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constructions reduce leakage flux by placing primary and secondary close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type is the common choice for power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Auto-transformers use one common winding, saving copper, and are used for variacs and starters.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Core of insulated silicon-steel laminations reduces eddy and hysteresis loss. Core type: coils around limbs; shell type: core around coils. Primary is connected to the supply, secondary to the load. Large transformers are oil-cooled.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Why is silicon steel used for the transformer core? Compare core type and shell type transformers. What is the thickness of a typical lamination and why? Name three types of transformers by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2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2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Types and Construction of Single-Phase Transformers</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Transformers and Electrical Machines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Name the main parts of a transformer</a:t>
            </a:r>
            <a:endParaRPr lang="en-US" sz="2200" dirty="0"/>
          </a:p>
          <a:p>
            <a:pPr marL="342900" indent="-342900">
              <a:spcAft>
                <a:spcPts val="600"/>
              </a:spcAft>
              <a:buSzPct val="100000"/>
              <a:buChar char="•"/>
            </a:pPr>
            <a:r>
              <a:rPr lang="en-US" sz="2200" dirty="0">
                <a:solidFill>
                  <a:schemeClr val="tx1"/>
                </a:solidFill>
              </a:rPr>
              <a:t>Distinguish core type from shell type</a:t>
            </a:r>
            <a:endParaRPr lang="en-US" sz="2200" dirty="0"/>
          </a:p>
          <a:p>
            <a:pPr marL="342900" indent="-342900">
              <a:spcAft>
                <a:spcPts val="600"/>
              </a:spcAft>
              <a:buSzPct val="100000"/>
              <a:buChar char="•"/>
            </a:pPr>
            <a:r>
              <a:rPr lang="en-US" sz="2200" dirty="0">
                <a:solidFill>
                  <a:schemeClr val="tx1"/>
                </a:solidFill>
              </a:rPr>
              <a:t>Explain the purpose of laminations and silicon steel</a:t>
            </a:r>
            <a:endParaRPr lang="en-US" sz="2200" dirty="0"/>
          </a:p>
          <a:p>
            <a:pPr marL="342900" indent="-342900">
              <a:spcAft>
                <a:spcPts val="600"/>
              </a:spcAft>
              <a:buSzPct val="100000"/>
              <a:buChar char="•"/>
            </a:pPr>
            <a:r>
              <a:rPr lang="en-US" sz="2200" dirty="0">
                <a:solidFill>
                  <a:schemeClr val="tx1"/>
                </a:solidFill>
              </a:rPr>
              <a:t>State common classifications of transformers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Transformers: necessity of transformers, principle of operation, types and construction of single-phase transformers, EMF equation, losses and efficiency.</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Main parts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Core: </a:t>
            </a:r>
            <a:pPr indent="0" marL="0">
              <a:spcAft>
                <a:spcPts val="600"/>
              </a:spcAft>
              <a:buNone/>
            </a:pPr>
            <a:r>
              <a:rPr lang="en-US" sz="2200" dirty="0">
                <a:solidFill>
                  <a:schemeClr val="tx1"/>
                </a:solidFill>
              </a:rPr>
              <a:t>stack of silicon-steel laminations (0.35–0.7 mm), each insulated, forms the magnetic path; limbs and yokes.</a:t>
            </a:r>
            <a:endParaRPr lang="en-US" sz="2200" dirty="0"/>
          </a:p>
          <a:p>
            <a:pPr marL="342900" indent="-342900">
              <a:spcAft>
                <a:spcPts val="600"/>
              </a:spcAft>
              <a:buSzPct val="100000"/>
              <a:buChar char="•"/>
            </a:pPr>
            <a:r>
              <a:rPr lang="en-US" sz="2200" b="1" dirty="0">
                <a:solidFill>
                  <a:schemeClr val="tx2"/>
                </a:solidFill>
              </a:rPr>
              <a:t>Windings: </a:t>
            </a:r>
            <a:pPr indent="0" marL="0">
              <a:spcAft>
                <a:spcPts val="600"/>
              </a:spcAft>
              <a:buNone/>
            </a:pPr>
            <a:r>
              <a:rPr lang="en-US" sz="2200" dirty="0">
                <a:solidFill>
                  <a:schemeClr val="tx1"/>
                </a:solidFill>
              </a:rPr>
              <a:t>primary connected to supply, secondary to load; copper or aluminium, insulated.</a:t>
            </a:r>
            <a:endParaRPr lang="en-US" sz="2200" dirty="0"/>
          </a:p>
          <a:p>
            <a:pPr marL="342900" indent="-342900">
              <a:spcAft>
                <a:spcPts val="600"/>
              </a:spcAft>
              <a:buSzPct val="100000"/>
              <a:buChar char="•"/>
            </a:pPr>
            <a:r>
              <a:rPr lang="en-US" sz="2200" b="1" dirty="0">
                <a:solidFill>
                  <a:schemeClr val="tx2"/>
                </a:solidFill>
              </a:rPr>
              <a:t>Insulation: </a:t>
            </a:r>
            <a:pPr indent="0" marL="0">
              <a:spcAft>
                <a:spcPts val="600"/>
              </a:spcAft>
              <a:buNone/>
            </a:pPr>
            <a:r>
              <a:rPr lang="en-US" sz="2200" dirty="0">
                <a:solidFill>
                  <a:schemeClr val="tx1"/>
                </a:solidFill>
              </a:rPr>
              <a:t>paper, varnish, press-board between turns and windings.</a:t>
            </a:r>
            <a:endParaRPr lang="en-US" sz="2200" dirty="0"/>
          </a:p>
          <a:p>
            <a:pPr marL="342900" indent="-342900">
              <a:spcAft>
                <a:spcPts val="600"/>
              </a:spcAft>
              <a:buSzPct val="100000"/>
              <a:buChar char="•"/>
            </a:pPr>
            <a:r>
              <a:rPr lang="en-US" sz="2200" b="1" dirty="0">
                <a:solidFill>
                  <a:schemeClr val="tx2"/>
                </a:solidFill>
              </a:rPr>
              <a:t>Tank and oil </a:t>
            </a:r>
            <a:pPr indent="0" marL="0">
              <a:spcAft>
                <a:spcPts val="600"/>
              </a:spcAft>
              <a:buNone/>
            </a:pPr>
            <a:r>
              <a:rPr lang="en-US" sz="2200" dirty="0">
                <a:solidFill>
                  <a:schemeClr val="tx1"/>
                </a:solidFill>
              </a:rPr>
              <a:t>(large units): cooling and insulation. Bushings bring out terminals.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Why laminate the core and use silicon steel?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Eddy-current loss</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Changing flux induces currents in the iron. Thin insulated laminations break their paths, reducing I²R loss.</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Hysteresis loss</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Silicon steel has a narrow hysteresis loop (about 3–4 % Si), so less energy is lost per cycle.</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High permeability</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Provides a low-reluctance path so little magnetising current is needed.</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Core type and shell type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core_shell figure">    </p:cNvPr>
          <p:cNvPicPr>
            <a:picLocks noChangeAspect="1"/>
          </p:cNvPicPr>
          <p:nvPr/>
        </p:nvPicPr>
        <p:blipFill>
          <a:blip r:embed="rId1"/>
          <a:stretch>
            <a:fillRect/>
          </a:stretch>
        </p:blipFill>
        <p:spPr>
          <a:xfrm>
            <a:off x="2241656" y="1143000"/>
            <a:ext cx="4660688"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Core type: windings surround the limbs; one magnetic path; half of each winding on each limb to cut leakage.</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Shell type: windings on the central limb; core surrounds them; two parallel flux paths.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Core type versus shell type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60320"/>
                <a:gridCol w="2743200"/>
                <a:gridCol w="2926080"/>
              </a:tblGrid>
              <a:tr h="502920">
                <a:tc>
                  <a:txBody>
                    <a:bodyPr/>
                    <a:lstStyle/>
                    <a:p>
                      <a:pPr indent="0" marL="0">
                        <a:buNone/>
                      </a:pPr>
                      <a:r>
                        <a:rPr lang="en-US" sz="1400" b="1" dirty="0">
                          <a:solidFill>
                            <a:schemeClr val="bg1"/>
                          </a:solidFill>
                        </a:rPr>
                        <a:t>Feature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Core type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Shell type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Magnetic circuit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Single path</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Two parallel paths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Windings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 two limbs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 central limb</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Leakage flux</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Higher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Lower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Winding cooling / repair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Easy (exposed)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Harder (enclosed)</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Typical use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High-voltage power transformers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Low-voltage, small and electronic</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Classification of transformers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By function: step-up and step-down.</a:t>
            </a:r>
            <a:endParaRPr lang="en-US" sz="2200" dirty="0"/>
          </a:p>
          <a:p>
            <a:pPr marL="342900" indent="-342900">
              <a:spcAft>
                <a:spcPts val="600"/>
              </a:spcAft>
              <a:buSzPct val="100000"/>
              <a:buChar char="•"/>
            </a:pPr>
            <a:r>
              <a:rPr lang="en-US" sz="2200" dirty="0">
                <a:solidFill>
                  <a:schemeClr val="tx1"/>
                </a:solidFill>
              </a:rPr>
              <a:t>By use: power, distribution, instrument (CT and PT), isolation, auto-transformer.</a:t>
            </a:r>
            <a:endParaRPr lang="en-US" sz="2200" dirty="0"/>
          </a:p>
          <a:p>
            <a:pPr marL="342900" indent="-342900">
              <a:spcAft>
                <a:spcPts val="600"/>
              </a:spcAft>
              <a:buSzPct val="100000"/>
              <a:buChar char="•"/>
            </a:pPr>
            <a:r>
              <a:rPr lang="en-US" sz="2200" dirty="0">
                <a:solidFill>
                  <a:schemeClr val="tx1"/>
                </a:solidFill>
              </a:rPr>
              <a:t>By cooling: dry (air) type and oil-immersed.</a:t>
            </a:r>
            <a:endParaRPr lang="en-US" sz="2200" dirty="0"/>
          </a:p>
          <a:p>
            <a:pPr marL="342900" indent="-342900">
              <a:spcAft>
                <a:spcPts val="600"/>
              </a:spcAft>
              <a:buSzPct val="100000"/>
              <a:buChar char="•"/>
            </a:pPr>
            <a:r>
              <a:rPr lang="en-US" sz="2200" dirty="0">
                <a:solidFill>
                  <a:schemeClr val="tx1"/>
                </a:solidFill>
              </a:rPr>
              <a:t>By phase: single-phase and three-phase.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Core of insulated silicon-steel laminations reduces eddy and hysteresis loss</a:t>
            </a:r>
            <a:endParaRPr lang="en-US" sz="2200" dirty="0"/>
          </a:p>
          <a:p>
            <a:pPr marL="342900" indent="-342900">
              <a:spcAft>
                <a:spcPts val="600"/>
              </a:spcAft>
              <a:buSzPct val="100000"/>
              <a:buChar char="•"/>
            </a:pPr>
            <a:r>
              <a:rPr lang="en-US" sz="2200" dirty="0">
                <a:solidFill>
                  <a:schemeClr val="tx1"/>
                </a:solidFill>
              </a:rPr>
              <a:t>Core type: coils around limbs; shell type: core around coils</a:t>
            </a:r>
            <a:endParaRPr lang="en-US" sz="2200" dirty="0"/>
          </a:p>
          <a:p>
            <a:pPr marL="342900" indent="-342900">
              <a:spcAft>
                <a:spcPts val="600"/>
              </a:spcAft>
              <a:buSzPct val="100000"/>
              <a:buChar char="•"/>
            </a:pPr>
            <a:r>
              <a:rPr lang="en-US" sz="2200" dirty="0">
                <a:solidFill>
                  <a:schemeClr val="tx1"/>
                </a:solidFill>
              </a:rPr>
              <a:t>Primary is connected to the supply, secondary to the load</a:t>
            </a:r>
            <a:endParaRPr lang="en-US" sz="2200" dirty="0"/>
          </a:p>
          <a:p>
            <a:pPr marL="342900" indent="-342900">
              <a:spcAft>
                <a:spcPts val="600"/>
              </a:spcAft>
              <a:buSzPct val="100000"/>
              <a:buChar char="•"/>
            </a:pPr>
            <a:r>
              <a:rPr lang="en-US" sz="2200" dirty="0">
                <a:solidFill>
                  <a:schemeClr val="tx1"/>
                </a:solidFill>
              </a:rPr>
              <a:t>Large transformers are oil-cooled</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Why is silicon steel used for the transformer core?</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Compare core type and shell type transformers.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What is the thickness of a typical lamination and why?</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Name three types of transformers by application.</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and Construction of Single-Phase Transformers</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