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2 · Necessity and Principle of Operation of a Transformer" id="{2b4ddb30-dadf-efc5-44a7-cafa0ade712b}">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"Necessity and Principle of Operation of a Transformer", part of Unit 2 (Transformers and Electrical Machines)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Explain why transformers are necessary in power systems. State the principle of operation (mutual induction). Derive the ideal voltage, current and turns ratios. Explain what happens when a load is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transformer receives power at one voltage and delivers it at another, at the same frequency and nearly the same power. Without it, long distance transmission would be hugely lossy.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and secondary have no electrical connection; energy is transferred magnetically through the core flux.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ideal transformer there are no losses and no leakage flux, so the induced emfs equal the terminal voltages.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self-regulating action explains why the primary current automatically follows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step down transformer has low secondary voltage and high secondary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Transformers make efficient long-distance AC transmission possible. Principle: mutual induction between coupled windings. V2/V1 = N2/N1 = I1/I2 (ideal). Load current is balanced by extra primary ampere-turns.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Why is power transmitted at high voltage? A 2200/220 V transformer has 400 primary turns. Find secondary turns. A 5 kVA, 230/115 V transformer: find full-load currents. Explain why a transformer does not work on 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2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2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Necessity and Principle of Operation of a Transformer</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Transformers and Electrical Machines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Explain why transformers are necessary in power systems</a:t>
            </a:r>
            <a:endParaRPr lang="en-US" sz="2200" dirty="0"/>
          </a:p>
          <a:p>
            <a:pPr marL="342900" indent="-342900">
              <a:spcAft>
                <a:spcPts val="600"/>
              </a:spcAft>
              <a:buSzPct val="100000"/>
              <a:buChar char="•"/>
            </a:pPr>
            <a:r>
              <a:rPr lang="en-US" sz="2200" dirty="0">
                <a:solidFill>
                  <a:schemeClr val="tx1"/>
                </a:solidFill>
              </a:rPr>
              <a:t>State the principle of operation (mutual induction)</a:t>
            </a:r>
            <a:endParaRPr lang="en-US" sz="2200" dirty="0"/>
          </a:p>
          <a:p>
            <a:pPr marL="342900" indent="-342900">
              <a:spcAft>
                <a:spcPts val="600"/>
              </a:spcAft>
              <a:buSzPct val="100000"/>
              <a:buChar char="•"/>
            </a:pPr>
            <a:r>
              <a:rPr lang="en-US" sz="2200" dirty="0">
                <a:solidFill>
                  <a:schemeClr val="tx1"/>
                </a:solidFill>
              </a:rPr>
              <a:t>Derive the ideal voltage, current and turns ratios</a:t>
            </a:r>
            <a:endParaRPr lang="en-US" sz="2200" dirty="0"/>
          </a:p>
          <a:p>
            <a:pPr marL="342900" indent="-342900">
              <a:spcAft>
                <a:spcPts val="600"/>
              </a:spcAft>
              <a:buSzPct val="100000"/>
              <a:buChar char="•"/>
            </a:pPr>
            <a:r>
              <a:rPr lang="en-US" sz="2200" dirty="0">
                <a:solidFill>
                  <a:schemeClr val="tx1"/>
                </a:solidFill>
              </a:rPr>
              <a:t>Explain what happens when a load is connected</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Transformers: necessity of transformers, principle of operation, types and construction of single-phase transformers, EMF equation, losses and efficiency.</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Necessity of a transformer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Power ∝ V × I, </a:t>
            </a:r>
            <a:pPr indent="0" marL="0">
              <a:spcAft>
                <a:spcPts val="600"/>
              </a:spcAft>
              <a:buNone/>
            </a:pPr>
            <a:r>
              <a:rPr lang="en-US" sz="2200" dirty="0">
                <a:solidFill>
                  <a:schemeClr val="tx1"/>
                </a:solidFill>
              </a:rPr>
              <a:t>but line loss ∝ I²R.</a:t>
            </a:r>
            <a:endParaRPr lang="en-US" sz="2200" dirty="0"/>
          </a:p>
          <a:p>
            <a:pPr marL="342900" indent="-342900">
              <a:spcAft>
                <a:spcPts val="600"/>
              </a:spcAft>
              <a:buSzPct val="100000"/>
              <a:buChar char="•"/>
            </a:pPr>
            <a:r>
              <a:rPr lang="en-US" sz="2200" b="1" dirty="0">
                <a:solidFill>
                  <a:schemeClr val="tx2"/>
                </a:solidFill>
              </a:rPr>
              <a:t>For the same power, </a:t>
            </a:r>
            <a:pPr indent="0" marL="0">
              <a:spcAft>
                <a:spcPts val="600"/>
              </a:spcAft>
              <a:buNone/>
            </a:pPr>
            <a:r>
              <a:rPr lang="en-US" sz="2200" dirty="0">
                <a:solidFill>
                  <a:schemeClr val="tx1"/>
                </a:solidFill>
              </a:rPr>
              <a:t>raising the voltage lowers the current and the loss.</a:t>
            </a:r>
            <a:endParaRPr lang="en-US" sz="2200" dirty="0"/>
          </a:p>
          <a:p>
            <a:pPr marL="342900" indent="-342900">
              <a:spcAft>
                <a:spcPts val="600"/>
              </a:spcAft>
              <a:buSzPct val="100000"/>
              <a:buChar char="•"/>
            </a:pPr>
            <a:r>
              <a:rPr lang="en-US" sz="2200" b="1" dirty="0">
                <a:solidFill>
                  <a:schemeClr val="tx2"/>
                </a:solidFill>
              </a:rPr>
              <a:t>Generate at ~11 kV, </a:t>
            </a:r>
            <a:pPr indent="0" marL="0">
              <a:spcAft>
                <a:spcPts val="600"/>
              </a:spcAft>
              <a:buNone/>
            </a:pPr>
            <a:r>
              <a:rPr lang="en-US" sz="2200" dirty="0">
                <a:solidFill>
                  <a:schemeClr val="tx1"/>
                </a:solidFill>
              </a:rPr>
              <a:t>step up to 132–400 kV for transmission, step down to 230/415 V for consumers.</a:t>
            </a:r>
            <a:endParaRPr lang="en-US" sz="2200" dirty="0"/>
          </a:p>
          <a:p>
            <a:pPr marL="342900" indent="-342900">
              <a:spcAft>
                <a:spcPts val="600"/>
              </a:spcAft>
              <a:buSzPct val="100000"/>
              <a:buChar char="•"/>
            </a:pPr>
            <a:r>
              <a:rPr lang="en-US" sz="2200" b="1" dirty="0">
                <a:solidFill>
                  <a:schemeClr val="tx2"/>
                </a:solidFill>
              </a:rPr>
              <a:t>This ability </a:t>
            </a:r>
            <a:pPr indent="0" marL="0">
              <a:spcAft>
                <a:spcPts val="600"/>
              </a:spcAft>
              <a:buNone/>
            </a:pPr>
            <a:r>
              <a:rPr lang="en-US" sz="2200" dirty="0">
                <a:solidFill>
                  <a:schemeClr val="tx1"/>
                </a:solidFill>
              </a:rPr>
              <a:t>is the main reason AC replaced DC in power systems.</a:t>
            </a:r>
            <a:endParaRPr lang="en-US" sz="2200" dirty="0"/>
          </a:p>
          <a:p>
            <a:pPr marL="342900" indent="-342900">
              <a:spcAft>
                <a:spcPts val="600"/>
              </a:spcAft>
              <a:buSzPct val="100000"/>
              <a:buChar char="•"/>
            </a:pPr>
            <a:r>
              <a:rPr lang="en-US" sz="2200" b="1" dirty="0">
                <a:solidFill>
                  <a:schemeClr val="tx2"/>
                </a:solidFill>
              </a:rPr>
              <a:t>Other uses: </a:t>
            </a:r>
            <a:pPr indent="0" marL="0">
              <a:spcAft>
                <a:spcPts val="600"/>
              </a:spcAft>
              <a:buNone/>
            </a:pPr>
            <a:r>
              <a:rPr lang="en-US" sz="2200" dirty="0">
                <a:solidFill>
                  <a:schemeClr val="tx1"/>
                </a:solidFill>
              </a:rPr>
              <a:t>isolation, impedance matching, measurement (CT, PT).</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Working principle: mutual induction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pic>
        <p:nvPicPr>
          <p:cNvPr id="6" name="Image 0" descr="xfmr figure">    </p:cNvPr>
          <p:cNvPicPr>
            <a:picLocks noChangeAspect="1"/>
          </p:cNvPicPr>
          <p:nvPr/>
        </p:nvPicPr>
        <p:blipFill>
          <a:blip r:embed="rId1"/>
          <a:stretch>
            <a:fillRect/>
          </a:stretch>
        </p:blipFill>
        <p:spPr>
          <a:xfrm>
            <a:off x="457200" y="1417320"/>
            <a:ext cx="5120640" cy="27432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AC voltage V1 on primary P drives alternating current.</a:t>
            </a:r>
            <a:endParaRPr lang="en-US" sz="1800" dirty="0"/>
          </a:p>
          <a:p>
            <a:pPr marL="342900" indent="-342900">
              <a:spcAft>
                <a:spcPts val="600"/>
              </a:spcAft>
              <a:buSzPct val="100000"/>
              <a:buChar char="•"/>
            </a:pPr>
            <a:r>
              <a:rPr lang="en-US" sz="1800" dirty="0">
                <a:solidFill>
                  <a:schemeClr val="tx1"/>
                </a:solidFill>
              </a:rPr>
              <a:t>This produces alternating flux φ in the core.</a:t>
            </a:r>
            <a:endParaRPr lang="en-US" sz="1800" dirty="0"/>
          </a:p>
          <a:p>
            <a:pPr marL="342900" indent="-342900">
              <a:spcAft>
                <a:spcPts val="600"/>
              </a:spcAft>
              <a:buSzPct val="100000"/>
              <a:buChar char="•"/>
            </a:pPr>
            <a:r>
              <a:rPr lang="en-US" sz="1800" dirty="0">
                <a:solidFill>
                  <a:schemeClr val="tx1"/>
                </a:solidFill>
              </a:rPr>
              <a:t>Flux links the secondary S: EMF E2 induced (mutual induction).</a:t>
            </a:r>
            <a:endParaRPr lang="en-US" sz="1800" dirty="0"/>
          </a:p>
          <a:p>
            <a:pPr marL="342900" indent="-342900">
              <a:spcAft>
                <a:spcPts val="600"/>
              </a:spcAft>
              <a:buSzPct val="100000"/>
              <a:buChar char="•"/>
            </a:pPr>
            <a:r>
              <a:rPr lang="en-US" sz="1800" dirty="0">
                <a:solidFill>
                  <a:schemeClr val="tx1"/>
                </a:solidFill>
              </a:rPr>
              <a:t>Flux also induces E1 in the primary (self-induction).</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Ideal transformer relations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Formula"/>
          <p:cNvSpPr/>
          <p:nvPr/>
        </p:nvSpPr>
        <p:spPr>
          <a:xfrm>
            <a:off x="457200" y="1188720"/>
            <a:ext cx="2621280" cy="822960"/>
          </a:xfrm>
          <a:prstGeom prst="roundRect">
            <a:avLst>
              <a:gd name="adj" fmla="val 8889"/>
            </a:avLst>
          </a:prstGeom>
          <a:solidFill>
            <a:schemeClr val="tx2"/>
          </a:solidFill>
          <a:ln/>
        </p:spPr>
      </p:sp>
      <p:sp>
        <p:nvSpPr>
          <p:cNvPr id="7" name="Text 4"/>
          <p:cNvSpPr txBox="1"/>
          <p:nvPr/>
        </p:nvSpPr>
        <p:spPr>
          <a:xfrm>
            <a:off x="45720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E2/E1 = N2/N1 = K</a:t>
            </a:r>
            <a:endParaRPr lang="en-US" sz="2200" dirty="0"/>
          </a:p>
        </p:txBody>
      </p:sp>
      <p:sp>
        <p:nvSpPr>
          <p:cNvPr id="8" name="Text 5"/>
          <p:cNvSpPr txBox="1"/>
          <p:nvPr/>
        </p:nvSpPr>
        <p:spPr>
          <a:xfrm>
            <a:off x="45720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voltage (turns) ratio</a:t>
            </a:r>
            <a:endParaRPr lang="en-US" sz="1300" dirty="0"/>
          </a:p>
        </p:txBody>
      </p:sp>
      <p:sp>
        <p:nvSpPr>
          <p:cNvPr id="9" name="Formula"/>
          <p:cNvSpPr/>
          <p:nvPr/>
        </p:nvSpPr>
        <p:spPr>
          <a:xfrm>
            <a:off x="3261360" y="1188720"/>
            <a:ext cx="2621280" cy="822960"/>
          </a:xfrm>
          <a:prstGeom prst="roundRect">
            <a:avLst>
              <a:gd name="adj" fmla="val 8889"/>
            </a:avLst>
          </a:prstGeom>
          <a:solidFill>
            <a:schemeClr val="tx2"/>
          </a:solidFill>
          <a:ln/>
        </p:spPr>
      </p:sp>
      <p:sp>
        <p:nvSpPr>
          <p:cNvPr id="10" name="Text 7"/>
          <p:cNvSpPr txBox="1"/>
          <p:nvPr/>
        </p:nvSpPr>
        <p:spPr>
          <a:xfrm>
            <a:off x="326136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V1 I1 = V2 I2</a:t>
            </a:r>
            <a:endParaRPr lang="en-US" sz="2200" dirty="0"/>
          </a:p>
        </p:txBody>
      </p:sp>
      <p:sp>
        <p:nvSpPr>
          <p:cNvPr id="11" name="Text 8"/>
          <p:cNvSpPr txBox="1"/>
          <p:nvPr/>
        </p:nvSpPr>
        <p:spPr>
          <a:xfrm>
            <a:off x="326136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volt-ampere balance</a:t>
            </a:r>
            <a:endParaRPr lang="en-US" sz="1300" dirty="0"/>
          </a:p>
        </p:txBody>
      </p:sp>
      <p:sp>
        <p:nvSpPr>
          <p:cNvPr id="12" name="Formula"/>
          <p:cNvSpPr/>
          <p:nvPr/>
        </p:nvSpPr>
        <p:spPr>
          <a:xfrm>
            <a:off x="6065520" y="1188720"/>
            <a:ext cx="2621280" cy="822960"/>
          </a:xfrm>
          <a:prstGeom prst="roundRect">
            <a:avLst>
              <a:gd name="adj" fmla="val 8889"/>
            </a:avLst>
          </a:prstGeom>
          <a:solidFill>
            <a:schemeClr val="tx2"/>
          </a:solidFill>
          <a:ln/>
        </p:spPr>
      </p:sp>
      <p:sp>
        <p:nvSpPr>
          <p:cNvPr id="13" name="Text 10"/>
          <p:cNvSpPr txBox="1"/>
          <p:nvPr/>
        </p:nvSpPr>
        <p:spPr>
          <a:xfrm>
            <a:off x="606552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I1/I2 = N2/N1 = V2/V1</a:t>
            </a:r>
            <a:endParaRPr lang="en-US" sz="2200" dirty="0"/>
          </a:p>
        </p:txBody>
      </p:sp>
      <p:sp>
        <p:nvSpPr>
          <p:cNvPr id="14" name="Text 11"/>
          <p:cNvSpPr txBox="1"/>
          <p:nvPr/>
        </p:nvSpPr>
        <p:spPr>
          <a:xfrm>
            <a:off x="606552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current ratio</a:t>
            </a:r>
            <a:endParaRPr lang="en-US" sz="1300" dirty="0"/>
          </a:p>
        </p:txBody>
      </p:sp>
      <p:sp>
        <p:nvSpPr>
          <p:cNvPr id="15" name="Text 12"/>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K &gt; 1: step-up;  K &lt; 1: step-down.</a:t>
            </a:r>
            <a:endParaRPr lang="en-US" sz="2200" dirty="0"/>
          </a:p>
          <a:p>
            <a:pPr marL="342900" indent="-342900">
              <a:spcAft>
                <a:spcPts val="600"/>
              </a:spcAft>
              <a:buSzPct val="100000"/>
              <a:buChar char="•"/>
            </a:pPr>
            <a:r>
              <a:rPr lang="en-US" sz="2200" dirty="0">
                <a:solidFill>
                  <a:schemeClr val="tx1"/>
                </a:solidFill>
              </a:rPr>
              <a:t>Ampere-turns balance: N1 I1 = N2 I2 (ideal).</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Effect of loading</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No load</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Primary draws a small magnetising current to set up the flux.</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Load connected</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Secondary current I2 flows and by Lenz's law demagnetises the core.</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Flux dips</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Net flux and E1 fall slightly, so E1 &lt; V1.</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bg2"/>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484632"/>
          </a:xfrm>
          <a:prstGeom prst="rect">
            <a:avLst/>
          </a:prstGeom>
          <a:noFill/>
          <a:ln/>
        </p:spPr>
        <p:txBody>
          <a:bodyPr wrap="square" lIns="0" tIns="0" rIns="0" bIns="0" rtlCol="0" anchor="t"/>
          <a:lstStyle/>
          <a:p>
            <a:pPr indent="0" marL="0">
              <a:buNone/>
            </a:pPr>
            <a:r>
              <a:rPr lang="en-US" sz="1500" b="1" dirty="0">
                <a:solidFill>
                  <a:schemeClr val="tx1"/>
                </a:solidFill>
              </a:rPr>
              <a:t>Primary current rises</a:t>
            </a:r>
            <a:endParaRPr lang="en-US" sz="1500" dirty="0"/>
          </a:p>
        </p:txBody>
      </p:sp>
      <p:sp>
        <p:nvSpPr>
          <p:cNvPr id="25" name="Text 22"/>
          <p:cNvSpPr txBox="1"/>
          <p:nvPr/>
        </p:nvSpPr>
        <p:spPr>
          <a:xfrm>
            <a:off x="6841998" y="2313432"/>
            <a:ext cx="1735074" cy="1161288"/>
          </a:xfrm>
          <a:prstGeom prst="rect">
            <a:avLst/>
          </a:prstGeom>
          <a:noFill/>
          <a:ln/>
        </p:spPr>
        <p:txBody>
          <a:bodyPr wrap="square" lIns="0" tIns="0" rIns="0" bIns="0" rtlCol="0" anchor="t"/>
          <a:lstStyle/>
          <a:p>
            <a:pPr indent="0" marL="0">
              <a:buNone/>
            </a:pPr>
            <a:r>
              <a:rPr lang="en-US" sz="1500" dirty="0">
                <a:solidFill>
                  <a:schemeClr val="tx1"/>
                </a:solidFill>
              </a:rPr>
              <a:t>Extra primary current restores the flux until N1 I1 ≈ N2 I2.</a:t>
            </a:r>
            <a:endParaRPr lang="en-US" sz="1500" dirty="0"/>
          </a:p>
        </p:txBody>
      </p:sp>
      <p:sp>
        <p:nvSpPr>
          <p:cNvPr id="26" name="Highlight strip"/>
          <p:cNvSpPr/>
          <p:nvPr/>
        </p:nvSpPr>
        <p:spPr>
          <a:xfrm>
            <a:off x="457200" y="3749040"/>
            <a:ext cx="8229600" cy="822960"/>
          </a:xfrm>
          <a:prstGeom prst="roundRect">
            <a:avLst>
              <a:gd name="adj" fmla="val 8889"/>
            </a:avLst>
          </a:prstGeom>
          <a:solidFill>
            <a:schemeClr val="tx2"/>
          </a:solidFill>
          <a:ln/>
        </p:spPr>
      </p:sp>
      <p:sp>
        <p:nvSpPr>
          <p:cNvPr id="27" name="Text 24"/>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Flux in a transformer stays almost constant from no load to full load.</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turns ratio</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single-phase transformer has 1000 primary turns and 200 secondary turns on 230 V. The secondary load is 5 A. Find V2 and I1 (ideal).</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K = N2/N1 = 200/1000 = 0.2</a:t>
            </a:r>
            <a:endParaRPr lang="en-US" sz="2200" dirty="0"/>
          </a:p>
          <a:p>
            <a:pPr marL="342900" indent="-342900">
              <a:spcAft>
                <a:spcPts val="600"/>
              </a:spcAft>
              <a:buSzPct val="100000"/>
              <a:buChar char="•"/>
            </a:pPr>
            <a:r>
              <a:rPr lang="en-US" sz="2200" dirty="0">
                <a:solidFill>
                  <a:schemeClr val="tx1"/>
                </a:solidFill>
              </a:rPr>
              <a:t>V2 = K V1 = 0.2 × 230 = 46 V</a:t>
            </a:r>
            <a:endParaRPr lang="en-US" sz="2200" dirty="0"/>
          </a:p>
          <a:p>
            <a:pPr marL="342900" indent="-342900">
              <a:spcAft>
                <a:spcPts val="600"/>
              </a:spcAft>
              <a:buSzPct val="100000"/>
              <a:buChar char="•"/>
            </a:pPr>
            <a:r>
              <a:rPr lang="en-US" sz="2200" dirty="0">
                <a:solidFill>
                  <a:schemeClr val="tx1"/>
                </a:solidFill>
              </a:rPr>
              <a:t>I1 = K I2 = 0.2 × 5</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V2 = 46 V,  I1 = 1 A</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Transformers make efficient long-distance AC transmission possible</a:t>
            </a:r>
            <a:endParaRPr lang="en-US" sz="2200" dirty="0"/>
          </a:p>
          <a:p>
            <a:pPr marL="342900" indent="-342900">
              <a:spcAft>
                <a:spcPts val="600"/>
              </a:spcAft>
              <a:buSzPct val="100000"/>
              <a:buChar char="•"/>
            </a:pPr>
            <a:r>
              <a:rPr lang="en-US" sz="2200" dirty="0">
                <a:solidFill>
                  <a:schemeClr val="tx1"/>
                </a:solidFill>
              </a:rPr>
              <a:t>Principle: mutual induction between coupled windings</a:t>
            </a:r>
            <a:endParaRPr lang="en-US" sz="2200" dirty="0"/>
          </a:p>
          <a:p>
            <a:pPr marL="342900" indent="-342900">
              <a:spcAft>
                <a:spcPts val="600"/>
              </a:spcAft>
              <a:buSzPct val="100000"/>
              <a:buChar char="•"/>
            </a:pPr>
            <a:r>
              <a:rPr lang="en-US" sz="2200" dirty="0">
                <a:solidFill>
                  <a:schemeClr val="tx1"/>
                </a:solidFill>
              </a:rPr>
              <a:t>V2/V1 = N2/N1 = I1/I2 (ideal)</a:t>
            </a:r>
            <a:endParaRPr lang="en-US" sz="2200" dirty="0"/>
          </a:p>
          <a:p>
            <a:pPr marL="342900" indent="-342900">
              <a:spcAft>
                <a:spcPts val="600"/>
              </a:spcAft>
              <a:buSzPct val="100000"/>
              <a:buChar char="•"/>
            </a:pPr>
            <a:r>
              <a:rPr lang="en-US" sz="2200" dirty="0">
                <a:solidFill>
                  <a:schemeClr val="tx1"/>
                </a:solidFill>
              </a:rPr>
              <a:t>Load current is balanced by extra primary ampere-turns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U2</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Why is power transmitted at high voltage?</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A 2200/220 V transformer has 400 primary turns. Find secondary turns.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A 5 kVA, 230/115 V transformer: find full-load currents.</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Explain why a transformer does not work on DC.</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Necessity and Principle of Operation of a Transformer</dc:title>
  <dc:subject>PptxGenJS Presentation</dc:subject>
  <dc:creator>Dr. Mitesh Astik</dc:creator>
  <cp:lastModifiedBy>Dr. Mitesh Astik</cp:lastModifiedBy>
  <cp:revision>1</cp:revision>
  <dcterms:created xsi:type="dcterms:W3CDTF">2026-10-29T10:05:20Z</dcterms:created>
  <dcterms:modified xsi:type="dcterms:W3CDTF">2026-10-29T10:05:20Z</dcterms:modified>
</cp:coreProperties>
</file>