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2 · Torque Equation and Characteristics of the DC Shunt Motor" id="{44713910-b769-df06-81e1-db96ba2e021c}">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"Torque Equation and Characteristics of the DC Shunt Motor", part of Unit 2 (Transformers and Electrical Machines)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Derive the armature torque equation. Distinguish armature torque from shaft torque. Draw and explain shunt motor characteristics. Summarise other motor types and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Equating mechanical power and the electrical equivalent gives the torque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shaft torque is available to drive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shunt motor the field is connected across the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shunt motor is practically a constant speed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series motor is used where high starting torque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Compound motors have both series and shunt field windings.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calculation follows the notes: first back emf, then speed, then the shaft torque.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Ta = 0.159 φ Z Ia (P/A) N·m. Shaft torque = armature torque − iron and friction torque. Shunt motor: Ta ∝ Ia, almost constant speed. Series motor: very high starting torque, never run unloaded.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Derive the torque equation of a DC motor. A shunt motor has Ta = 50 N·m at Ia = 20 A. Find Ta at Ia = 30 A (φ constant). Why is the shunt motor called a constant-speed motor? A motor delivers 7.5 kW at 1000 rpm. Find the shaft torque.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2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2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Torque Equation and Characteristics of the DC Shunt Motor</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Transformers and Electrical Machines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Derive the armature torque equation</a:t>
            </a:r>
            <a:endParaRPr lang="en-US" sz="2200" dirty="0"/>
          </a:p>
          <a:p>
            <a:pPr marL="342900" indent="-342900">
              <a:spcAft>
                <a:spcPts val="600"/>
              </a:spcAft>
              <a:buSzPct val="100000"/>
              <a:buChar char="•"/>
            </a:pPr>
            <a:r>
              <a:rPr lang="en-US" sz="2200" dirty="0">
                <a:solidFill>
                  <a:schemeClr val="tx1"/>
                </a:solidFill>
              </a:rPr>
              <a:t>Distinguish armature torque from shaft torque</a:t>
            </a:r>
            <a:endParaRPr lang="en-US" sz="2200" dirty="0"/>
          </a:p>
          <a:p>
            <a:pPr marL="342900" indent="-342900">
              <a:spcAft>
                <a:spcPts val="600"/>
              </a:spcAft>
              <a:buSzPct val="100000"/>
              <a:buChar char="•"/>
            </a:pPr>
            <a:r>
              <a:rPr lang="en-US" sz="2200" dirty="0">
                <a:solidFill>
                  <a:schemeClr val="tx1"/>
                </a:solidFill>
              </a:rPr>
              <a:t>Draw and explain shunt motor characteristics</a:t>
            </a:r>
            <a:endParaRPr lang="en-US" sz="2200" dirty="0"/>
          </a:p>
          <a:p>
            <a:pPr marL="342900" indent="-342900">
              <a:spcAft>
                <a:spcPts val="600"/>
              </a:spcAft>
              <a:buSzPct val="100000"/>
              <a:buChar char="•"/>
            </a:pPr>
            <a:r>
              <a:rPr lang="en-US" sz="2200" dirty="0">
                <a:solidFill>
                  <a:schemeClr val="tx1"/>
                </a:solidFill>
              </a:rPr>
              <a:t>Summarise other motor types and applications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DC Motor: principle of operation, back EMF and its significance, torque equation, characteristics and speed control (armature and field) of DC shunt motor.</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Deriving the torque equation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Flow step"/>
          <p:cNvSpPr/>
          <p:nvPr/>
        </p:nvSpPr>
        <p:spPr>
          <a:xfrm>
            <a:off x="457200" y="1234440"/>
            <a:ext cx="1954530" cy="2286000"/>
          </a:xfrm>
          <a:prstGeom prst="roundRect">
            <a:avLst>
              <a:gd name="adj" fmla="val 3743"/>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Power</a:t>
            </a:r>
            <a:endParaRPr lang="en-US" sz="1500" dirty="0"/>
          </a:p>
        </p:txBody>
      </p:sp>
      <p:sp>
        <p:nvSpPr>
          <p:cNvPr id="10" name="Text 7"/>
          <p:cNvSpPr txBox="1"/>
          <p:nvPr/>
        </p:nvSpPr>
        <p:spPr>
          <a:xfrm>
            <a:off x="56692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Mechanical power = Ta × ω = Ta (2πN/60).</a:t>
            </a:r>
            <a:endParaRPr lang="en-US" sz="1500" dirty="0"/>
          </a:p>
        </p:txBody>
      </p:sp>
      <p:sp>
        <p:nvSpPr>
          <p:cNvPr id="11" name="Flow step"/>
          <p:cNvSpPr/>
          <p:nvPr/>
        </p:nvSpPr>
        <p:spPr>
          <a:xfrm>
            <a:off x="2548890" y="1234440"/>
            <a:ext cx="1954530" cy="2286000"/>
          </a:xfrm>
          <a:prstGeom prst="roundRect">
            <a:avLst>
              <a:gd name="adj" fmla="val 3743"/>
            </a:avLst>
          </a:prstGeom>
          <a:solidFill>
            <a:schemeClr val="bg2"/>
          </a:solidFill>
          <a:ln/>
        </p:spPr>
      </p:sp>
      <p:sp>
        <p:nvSpPr>
          <p:cNvPr id="12" name="Step number"/>
          <p:cNvSpPr/>
          <p:nvPr/>
        </p:nvSpPr>
        <p:spPr>
          <a:xfrm>
            <a:off x="2658618" y="1344168"/>
            <a:ext cx="365760" cy="365760"/>
          </a:xfrm>
          <a:prstGeom prst="ellipse">
            <a:avLst/>
          </a:prstGeom>
          <a:solidFill>
            <a:schemeClr val="tx2"/>
          </a:solidFill>
          <a:ln/>
        </p:spPr>
      </p:sp>
      <p:sp>
        <p:nvSpPr>
          <p:cNvPr id="13" name="Text 10"/>
          <p:cNvSpPr txBox="1"/>
          <p:nvPr/>
        </p:nvSpPr>
        <p:spPr>
          <a:xfrm>
            <a:off x="265861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65861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Equate</a:t>
            </a:r>
            <a:endParaRPr lang="en-US" sz="1500" dirty="0"/>
          </a:p>
        </p:txBody>
      </p:sp>
      <p:sp>
        <p:nvSpPr>
          <p:cNvPr id="15" name="Text 12"/>
          <p:cNvSpPr txBox="1"/>
          <p:nvPr/>
        </p:nvSpPr>
        <p:spPr>
          <a:xfrm>
            <a:off x="265861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Ta (2πN/60) = Eb Ia.</a:t>
            </a:r>
            <a:endParaRPr lang="en-US" sz="1500" dirty="0"/>
          </a:p>
        </p:txBody>
      </p:sp>
      <p:sp>
        <p:nvSpPr>
          <p:cNvPr id="16" name="Flow step"/>
          <p:cNvSpPr/>
          <p:nvPr/>
        </p:nvSpPr>
        <p:spPr>
          <a:xfrm>
            <a:off x="4640580" y="1234440"/>
            <a:ext cx="1954530" cy="2286000"/>
          </a:xfrm>
          <a:prstGeom prst="roundRect">
            <a:avLst>
              <a:gd name="adj" fmla="val 3743"/>
            </a:avLst>
          </a:prstGeom>
          <a:solidFill>
            <a:schemeClr val="bg2"/>
          </a:solidFill>
          <a:ln/>
        </p:spPr>
      </p:sp>
      <p:sp>
        <p:nvSpPr>
          <p:cNvPr id="17" name="Step number"/>
          <p:cNvSpPr/>
          <p:nvPr/>
        </p:nvSpPr>
        <p:spPr>
          <a:xfrm>
            <a:off x="4750308" y="1344168"/>
            <a:ext cx="365760" cy="365760"/>
          </a:xfrm>
          <a:prstGeom prst="ellipse">
            <a:avLst/>
          </a:prstGeom>
          <a:solidFill>
            <a:schemeClr val="tx2"/>
          </a:solidFill>
          <a:ln/>
        </p:spPr>
      </p:sp>
      <p:sp>
        <p:nvSpPr>
          <p:cNvPr id="18" name="Text 15"/>
          <p:cNvSpPr txBox="1"/>
          <p:nvPr/>
        </p:nvSpPr>
        <p:spPr>
          <a:xfrm>
            <a:off x="475030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475030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Substitute</a:t>
            </a:r>
            <a:endParaRPr lang="en-US" sz="1500" dirty="0"/>
          </a:p>
        </p:txBody>
      </p:sp>
      <p:sp>
        <p:nvSpPr>
          <p:cNvPr id="20" name="Text 17"/>
          <p:cNvSpPr txBox="1"/>
          <p:nvPr/>
        </p:nvSpPr>
        <p:spPr>
          <a:xfrm>
            <a:off x="475030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Eb = Z N φ P/(60A).</a:t>
            </a:r>
            <a:endParaRPr lang="en-US" sz="1500" dirty="0"/>
          </a:p>
        </p:txBody>
      </p:sp>
      <p:sp>
        <p:nvSpPr>
          <p:cNvPr id="21" name="Flow step"/>
          <p:cNvSpPr/>
          <p:nvPr/>
        </p:nvSpPr>
        <p:spPr>
          <a:xfrm>
            <a:off x="6732270" y="1234440"/>
            <a:ext cx="1954530" cy="2286000"/>
          </a:xfrm>
          <a:prstGeom prst="roundRect">
            <a:avLst>
              <a:gd name="adj" fmla="val 3743"/>
            </a:avLst>
          </a:prstGeom>
          <a:solidFill>
            <a:schemeClr val="accent1"/>
          </a:solidFill>
          <a:ln/>
        </p:spPr>
      </p:sp>
      <p:sp>
        <p:nvSpPr>
          <p:cNvPr id="22" name="Step number"/>
          <p:cNvSpPr/>
          <p:nvPr/>
        </p:nvSpPr>
        <p:spPr>
          <a:xfrm>
            <a:off x="6841998" y="1344168"/>
            <a:ext cx="365760" cy="365760"/>
          </a:xfrm>
          <a:prstGeom prst="ellipse">
            <a:avLst/>
          </a:prstGeom>
          <a:solidFill>
            <a:schemeClr val="tx2"/>
          </a:solidFill>
          <a:ln/>
        </p:spPr>
      </p:sp>
      <p:sp>
        <p:nvSpPr>
          <p:cNvPr id="23" name="Text 20"/>
          <p:cNvSpPr txBox="1"/>
          <p:nvPr/>
        </p:nvSpPr>
        <p:spPr>
          <a:xfrm>
            <a:off x="684199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684199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Result</a:t>
            </a:r>
            <a:endParaRPr lang="en-US" sz="1500" dirty="0"/>
          </a:p>
        </p:txBody>
      </p:sp>
      <p:sp>
        <p:nvSpPr>
          <p:cNvPr id="25" name="Text 22"/>
          <p:cNvSpPr txBox="1"/>
          <p:nvPr/>
        </p:nvSpPr>
        <p:spPr>
          <a:xfrm>
            <a:off x="684199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Ta = 0.159 φ Z Ia (P/A) N·m.</a:t>
            </a:r>
            <a:endParaRPr lang="en-US" sz="1500" dirty="0"/>
          </a:p>
        </p:txBody>
      </p:sp>
      <p:sp>
        <p:nvSpPr>
          <p:cNvPr id="26" name="Highlight strip"/>
          <p:cNvSpPr/>
          <p:nvPr/>
        </p:nvSpPr>
        <p:spPr>
          <a:xfrm>
            <a:off x="457200" y="3749040"/>
            <a:ext cx="8229600" cy="822960"/>
          </a:xfrm>
          <a:prstGeom prst="roundRect">
            <a:avLst>
              <a:gd name="adj" fmla="val 8889"/>
            </a:avLst>
          </a:prstGeom>
          <a:solidFill>
            <a:schemeClr val="tx2"/>
          </a:solidFill>
          <a:ln/>
        </p:spPr>
      </p:sp>
      <p:sp>
        <p:nvSpPr>
          <p:cNvPr id="27" name="Text 24"/>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Ta ∝ φ Ia.  For a shunt motor φ is constant, so Ta ∝ Ia.</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Armature and shaft torque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Formula"/>
          <p:cNvSpPr/>
          <p:nvPr/>
        </p:nvSpPr>
        <p:spPr>
          <a:xfrm>
            <a:off x="457200" y="1188720"/>
            <a:ext cx="2621280" cy="822960"/>
          </a:xfrm>
          <a:prstGeom prst="roundRect">
            <a:avLst>
              <a:gd name="adj" fmla="val 8889"/>
            </a:avLst>
          </a:prstGeom>
          <a:solidFill>
            <a:schemeClr val="tx2"/>
          </a:solidFill>
          <a:ln/>
        </p:spPr>
      </p:sp>
      <p:sp>
        <p:nvSpPr>
          <p:cNvPr id="7" name="Text 4"/>
          <p:cNvSpPr txBox="1"/>
          <p:nvPr/>
        </p:nvSpPr>
        <p:spPr>
          <a:xfrm>
            <a:off x="457200" y="1188720"/>
            <a:ext cx="262128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Ta = Eb Ia / (2πN/60)</a:t>
            </a:r>
            <a:endParaRPr lang="en-US" sz="2200" dirty="0"/>
          </a:p>
        </p:txBody>
      </p:sp>
      <p:sp>
        <p:nvSpPr>
          <p:cNvPr id="8" name="Text 5"/>
          <p:cNvSpPr txBox="1"/>
          <p:nvPr/>
        </p:nvSpPr>
        <p:spPr>
          <a:xfrm>
            <a:off x="45720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gross (armature) torque</a:t>
            </a:r>
            <a:endParaRPr lang="en-US" sz="1300" dirty="0"/>
          </a:p>
        </p:txBody>
      </p:sp>
      <p:sp>
        <p:nvSpPr>
          <p:cNvPr id="9" name="Formula"/>
          <p:cNvSpPr/>
          <p:nvPr/>
        </p:nvSpPr>
        <p:spPr>
          <a:xfrm>
            <a:off x="3261360" y="1188720"/>
            <a:ext cx="2621280" cy="822960"/>
          </a:xfrm>
          <a:prstGeom prst="roundRect">
            <a:avLst>
              <a:gd name="adj" fmla="val 8889"/>
            </a:avLst>
          </a:prstGeom>
          <a:solidFill>
            <a:schemeClr val="tx2"/>
          </a:solidFill>
          <a:ln/>
        </p:spPr>
      </p:sp>
      <p:sp>
        <p:nvSpPr>
          <p:cNvPr id="10" name="Text 7"/>
          <p:cNvSpPr txBox="1"/>
          <p:nvPr/>
        </p:nvSpPr>
        <p:spPr>
          <a:xfrm>
            <a:off x="3261360" y="1188720"/>
            <a:ext cx="262128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Ti = Pi / (2πN/60)</a:t>
            </a:r>
            <a:endParaRPr lang="en-US" sz="2200" dirty="0"/>
          </a:p>
        </p:txBody>
      </p:sp>
      <p:sp>
        <p:nvSpPr>
          <p:cNvPr id="11" name="Text 8"/>
          <p:cNvSpPr txBox="1"/>
          <p:nvPr/>
        </p:nvSpPr>
        <p:spPr>
          <a:xfrm>
            <a:off x="326136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lost in iron + friction</a:t>
            </a:r>
            <a:endParaRPr lang="en-US" sz="1300" dirty="0"/>
          </a:p>
        </p:txBody>
      </p:sp>
      <p:sp>
        <p:nvSpPr>
          <p:cNvPr id="12" name="Formula"/>
          <p:cNvSpPr/>
          <p:nvPr/>
        </p:nvSpPr>
        <p:spPr>
          <a:xfrm>
            <a:off x="6065520" y="1188720"/>
            <a:ext cx="2621280" cy="822960"/>
          </a:xfrm>
          <a:prstGeom prst="roundRect">
            <a:avLst>
              <a:gd name="adj" fmla="val 8889"/>
            </a:avLst>
          </a:prstGeom>
          <a:solidFill>
            <a:schemeClr val="tx2"/>
          </a:solidFill>
          <a:ln/>
        </p:spPr>
      </p:sp>
      <p:sp>
        <p:nvSpPr>
          <p:cNvPr id="13" name="Text 10"/>
          <p:cNvSpPr txBox="1"/>
          <p:nvPr/>
        </p:nvSpPr>
        <p:spPr>
          <a:xfrm>
            <a:off x="6065520" y="1188720"/>
            <a:ext cx="2621280" cy="822960"/>
          </a:xfrm>
          <a:prstGeom prst="rect">
            <a:avLst/>
          </a:prstGeom>
          <a:noFill/>
          <a:ln/>
        </p:spPr>
        <p:txBody>
          <a:bodyPr wrap="square" lIns="762" tIns="762" rIns="762" bIns="762"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Tsh = Ta − Ti = (Eb Ia − Pi)/(2πN/60)</a:t>
            </a:r>
            <a:endParaRPr lang="en-US" sz="1500" dirty="0"/>
          </a:p>
        </p:txBody>
      </p:sp>
      <p:sp>
        <p:nvSpPr>
          <p:cNvPr id="14" name="Text 11"/>
          <p:cNvSpPr txBox="1"/>
          <p:nvPr/>
        </p:nvSpPr>
        <p:spPr>
          <a:xfrm>
            <a:off x="606552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useful shaft torque</a:t>
            </a:r>
            <a:endParaRPr lang="en-US" sz="1300" dirty="0"/>
          </a:p>
        </p:txBody>
      </p:sp>
      <p:sp>
        <p:nvSpPr>
          <p:cNvPr id="15" name="Text 12"/>
          <p:cNvSpPr txBox="1"/>
          <p:nvPr/>
        </p:nvSpPr>
        <p:spPr>
          <a:xfrm>
            <a:off x="457200" y="2560320"/>
            <a:ext cx="8229600" cy="20574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Output power = Tsh × 2πN/60.</a:t>
            </a:r>
            <a:endParaRPr lang="en-US" sz="2200" dirty="0"/>
          </a:p>
          <a:p>
            <a:pPr marL="342900" indent="-342900">
              <a:spcAft>
                <a:spcPts val="600"/>
              </a:spcAft>
              <a:buSzPct val="100000"/>
              <a:buChar char="•"/>
            </a:pPr>
            <a:r>
              <a:rPr lang="en-US" sz="2200" dirty="0">
                <a:solidFill>
                  <a:schemeClr val="tx1"/>
                </a:solidFill>
              </a:rPr>
              <a:t>BHP = Output / 735.5 (metric horsepower).</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Shunt motor connection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pic>
        <p:nvPicPr>
          <p:cNvPr id="6" name="Image 0" descr="dc_shunt figure">    </p:cNvPr>
          <p:cNvPicPr>
            <a:picLocks noChangeAspect="1"/>
          </p:cNvPicPr>
          <p:nvPr/>
        </p:nvPicPr>
        <p:blipFill>
          <a:blip r:embed="rId1"/>
          <a:stretch>
            <a:fillRect/>
          </a:stretch>
        </p:blipFill>
        <p:spPr>
          <a:xfrm>
            <a:off x="753822" y="1188720"/>
            <a:ext cx="4527395"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Field winding in parallel with the armature.</a:t>
            </a:r>
            <a:endParaRPr lang="en-US" sz="2200" dirty="0"/>
          </a:p>
          <a:p>
            <a:pPr marL="342900" indent="-342900">
              <a:spcAft>
                <a:spcPts val="600"/>
              </a:spcAft>
              <a:buSzPct val="100000"/>
              <a:buChar char="•"/>
            </a:pPr>
            <a:r>
              <a:rPr lang="en-US" sz="2200" dirty="0">
                <a:solidFill>
                  <a:schemeClr val="tx1"/>
                </a:solidFill>
              </a:rPr>
              <a:t>Field current Ish = V/Rsh is nearly constant, so flux is constant.</a:t>
            </a:r>
            <a:endParaRPr lang="en-US" sz="2200" dirty="0"/>
          </a:p>
          <a:p>
            <a:pPr marL="342900" indent="-342900">
              <a:spcAft>
                <a:spcPts val="600"/>
              </a:spcAft>
              <a:buSzPct val="100000"/>
              <a:buChar char="•"/>
            </a:pPr>
            <a:r>
              <a:rPr lang="en-US" sz="2200" dirty="0">
                <a:solidFill>
                  <a:schemeClr val="tx1"/>
                </a:solidFill>
              </a:rPr>
              <a:t>IL = Ia + Ish.</a:t>
            </a:r>
            <a:endParaRPr lang="en-US" sz="2200" dirty="0"/>
          </a:p>
          <a:p>
            <a:pPr marL="342900" indent="-342900">
              <a:spcAft>
                <a:spcPts val="600"/>
              </a:spcAft>
              <a:buSzPct val="100000"/>
              <a:buChar char="•"/>
            </a:pPr>
            <a:r>
              <a:rPr lang="en-US" sz="2200" dirty="0">
                <a:solidFill>
                  <a:schemeClr val="tx1"/>
                </a:solidFill>
              </a:rPr>
              <a:t>Eb = V − Ia Ra.</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Shunt motor characteristics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Card"/>
          <p:cNvSpPr/>
          <p:nvPr/>
        </p:nvSpPr>
        <p:spPr>
          <a:xfrm>
            <a:off x="457200" y="1188720"/>
            <a:ext cx="2621280" cy="342900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Torque vs Ia</a:t>
            </a:r>
            <a:endParaRPr lang="en-US" sz="1600" dirty="0"/>
          </a:p>
        </p:txBody>
      </p:sp>
      <p:sp>
        <p:nvSpPr>
          <p:cNvPr id="8" name="Text 5"/>
          <p:cNvSpPr txBox="1"/>
          <p:nvPr/>
        </p:nvSpPr>
        <p:spPr>
          <a:xfrm>
            <a:off x="59436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Ta ∝ Ia: a straight line through the origin. Shaft torque is slightly lower.</a:t>
            </a:r>
            <a:endParaRPr lang="en-US" sz="2000" dirty="0"/>
          </a:p>
        </p:txBody>
      </p:sp>
      <p:sp>
        <p:nvSpPr>
          <p:cNvPr id="9" name="Card"/>
          <p:cNvSpPr/>
          <p:nvPr/>
        </p:nvSpPr>
        <p:spPr>
          <a:xfrm>
            <a:off x="3261360" y="1188720"/>
            <a:ext cx="2621280" cy="342900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Speed vs Ia</a:t>
            </a:r>
            <a:endParaRPr lang="en-US" sz="1600" dirty="0"/>
          </a:p>
        </p:txBody>
      </p:sp>
      <p:sp>
        <p:nvSpPr>
          <p:cNvPr id="11" name="Text 8"/>
          <p:cNvSpPr txBox="1"/>
          <p:nvPr/>
        </p:nvSpPr>
        <p:spPr>
          <a:xfrm>
            <a:off x="339852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N ∝ Eb/φ. Eb falls slightly with load, so speed drops only 3–5 %: constant-speed motor.</a:t>
            </a:r>
            <a:endParaRPr lang="en-US" sz="2000" dirty="0"/>
          </a:p>
        </p:txBody>
      </p:sp>
      <p:sp>
        <p:nvSpPr>
          <p:cNvPr id="12" name="Card"/>
          <p:cNvSpPr/>
          <p:nvPr/>
        </p:nvSpPr>
        <p:spPr>
          <a:xfrm>
            <a:off x="6065520" y="1188720"/>
            <a:ext cx="2621280" cy="342900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Speed vs torque</a:t>
            </a:r>
            <a:endParaRPr lang="en-US" sz="1600" dirty="0"/>
          </a:p>
        </p:txBody>
      </p:sp>
      <p:sp>
        <p:nvSpPr>
          <p:cNvPr id="14" name="Text 11"/>
          <p:cNvSpPr txBox="1"/>
          <p:nvPr/>
        </p:nvSpPr>
        <p:spPr>
          <a:xfrm>
            <a:off x="620268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Same shape as speed vs Ia: nearly flat, slightly drooping.</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Shunt versus series characteristics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pic>
        <p:nvPicPr>
          <p:cNvPr id="6" name="Image 0" descr="dcchar figure">    </p:cNvPr>
          <p:cNvPicPr>
            <a:picLocks noChangeAspect="1"/>
          </p:cNvPicPr>
          <p:nvPr/>
        </p:nvPicPr>
        <p:blipFill>
          <a:blip r:embed="rId1"/>
          <a:stretch>
            <a:fillRect/>
          </a:stretch>
        </p:blipFill>
        <p:spPr>
          <a:xfrm>
            <a:off x="1379750" y="1143000"/>
            <a:ext cx="6384499" cy="2148840"/>
          </a:xfrm>
          <a:prstGeom prst="rect">
            <a:avLst/>
          </a:prstGeom>
        </p:spPr>
      </p:pic>
      <p:sp>
        <p:nvSpPr>
          <p:cNvPr id="7" name="Text 3"/>
          <p:cNvSpPr txBox="1"/>
          <p:nvPr/>
        </p:nvSpPr>
        <p:spPr>
          <a:xfrm>
            <a:off x="45720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Shunt: speed almost constant.</a:t>
            </a:r>
            <a:endParaRPr lang="en-US" sz="1800" dirty="0"/>
          </a:p>
          <a:p>
            <a:pPr marL="342900" indent="-342900">
              <a:spcAft>
                <a:spcPts val="600"/>
              </a:spcAft>
              <a:buSzPct val="100000"/>
              <a:buChar char="•"/>
            </a:pPr>
            <a:r>
              <a:rPr lang="en-US" sz="1800" dirty="0">
                <a:solidFill>
                  <a:schemeClr val="tx1"/>
                </a:solidFill>
              </a:rPr>
              <a:t>Series: Ta ∝ Ia², N ∝ 1/Ia: very high starting torque.</a:t>
            </a:r>
            <a:endParaRPr lang="en-US" sz="1800" dirty="0"/>
          </a:p>
        </p:txBody>
      </p:sp>
      <p:sp>
        <p:nvSpPr>
          <p:cNvPr id="8" name="Text 4"/>
          <p:cNvSpPr txBox="1"/>
          <p:nvPr/>
        </p:nvSpPr>
        <p:spPr>
          <a:xfrm>
            <a:off x="466344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Never start a series motor without load.</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Types of DC motors and applications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2743200"/>
                <a:gridCol w="3108960"/>
              </a:tblGrid>
              <a:tr h="502920">
                <a:tc>
                  <a:txBody>
                    <a:bodyPr/>
                    <a:lstStyle/>
                    <a:p>
                      <a:pPr indent="0" marL="0">
                        <a:buNone/>
                      </a:pPr>
                      <a:r>
                        <a:rPr lang="en-US" sz="1400" b="1" dirty="0">
                          <a:solidFill>
                            <a:schemeClr val="bg1"/>
                          </a:solidFill>
                        </a:rPr>
                        <a:t>Type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Characteristic</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Applications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Shunt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Constant speed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Lathes, pumps, fans, machine tools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Series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 starting torque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Cranes, hoists, traction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Cumulative compound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High torque, fairly steady speed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Punches, elevators, rolling mills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Differential compound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Wide speed variation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Special drives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series motor torque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 6-pole lap-wound 400 V series motor: Z = 920, φ = 0.045 Wb, total resistance 0.6 Ω, iron + friction loss 2 kW, line current 90 A. Find Ta, speed, Tsh and output.</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Ta = 0.159 × 0.045 × 920 × 90 × (6/6) = 592.4 N·m</a:t>
            </a:r>
            <a:endParaRPr lang="en-US" sz="2000" dirty="0"/>
          </a:p>
          <a:p>
            <a:pPr marL="342900" indent="-342900">
              <a:spcAft>
                <a:spcPts val="600"/>
              </a:spcAft>
              <a:buSzPct val="100000"/>
              <a:buChar char="•"/>
            </a:pPr>
            <a:r>
              <a:rPr lang="en-US" sz="2000" dirty="0">
                <a:solidFill>
                  <a:schemeClr val="tx1"/>
                </a:solidFill>
              </a:rPr>
              <a:t>Eb = 400 − 90 × 0.6 = 346 V;  N = 60 A Eb/(Z φ P) = 501.5 rpm</a:t>
            </a:r>
            <a:endParaRPr lang="en-US" sz="2000" dirty="0"/>
          </a:p>
          <a:p>
            <a:pPr marL="342900" indent="-342900">
              <a:spcAft>
                <a:spcPts val="600"/>
              </a:spcAft>
              <a:buSzPct val="100000"/>
              <a:buChar char="•"/>
            </a:pPr>
            <a:r>
              <a:rPr lang="en-US" sz="2000" dirty="0">
                <a:solidFill>
                  <a:schemeClr val="tx1"/>
                </a:solidFill>
              </a:rPr>
              <a:t>Ti = 2000/(2π × 501.5/60) = 38.1 N·m;  Tsh = 554.3 N·m</a:t>
            </a:r>
            <a:endParaRPr lang="en-US" sz="2000" dirty="0"/>
          </a:p>
          <a:p>
            <a:pPr marL="342900" indent="-342900">
              <a:spcAft>
                <a:spcPts val="600"/>
              </a:spcAft>
              <a:buSzPct val="100000"/>
              <a:buChar char="•"/>
            </a:pPr>
            <a:r>
              <a:rPr lang="en-US" sz="2000" dirty="0">
                <a:solidFill>
                  <a:schemeClr val="tx1"/>
                </a:solidFill>
              </a:rPr>
              <a:t>Output = Tsh × ω = 554.3 × 52.5</a:t>
            </a:r>
            <a:endParaRPr lang="en-US" sz="20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Ta = 592.4 N·m, Tsh = 554.3 N·m, output ≈ 29.1 kW</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Ta = 0.159 φ Z Ia (P/A) N·m</a:t>
            </a:r>
            <a:endParaRPr lang="en-US" sz="2200" dirty="0"/>
          </a:p>
          <a:p>
            <a:pPr marL="342900" indent="-342900">
              <a:spcAft>
                <a:spcPts val="600"/>
              </a:spcAft>
              <a:buSzPct val="100000"/>
              <a:buChar char="•"/>
            </a:pPr>
            <a:r>
              <a:rPr lang="en-US" sz="2200" dirty="0">
                <a:solidFill>
                  <a:schemeClr val="tx1"/>
                </a:solidFill>
              </a:rPr>
              <a:t>Shaft torque = armature torque − iron and friction torque</a:t>
            </a:r>
            <a:endParaRPr lang="en-US" sz="2200" dirty="0"/>
          </a:p>
          <a:p>
            <a:pPr marL="342900" indent="-342900">
              <a:spcAft>
                <a:spcPts val="600"/>
              </a:spcAft>
              <a:buSzPct val="100000"/>
              <a:buChar char="•"/>
            </a:pPr>
            <a:r>
              <a:rPr lang="en-US" sz="2200" dirty="0">
                <a:solidFill>
                  <a:schemeClr val="tx1"/>
                </a:solidFill>
              </a:rPr>
              <a:t>Shunt motor: Ta ∝ Ia, almost constant speed</a:t>
            </a:r>
            <a:endParaRPr lang="en-US" sz="2200" dirty="0"/>
          </a:p>
          <a:p>
            <a:pPr marL="342900" indent="-342900">
              <a:spcAft>
                <a:spcPts val="600"/>
              </a:spcAft>
              <a:buSzPct val="100000"/>
              <a:buChar char="•"/>
            </a:pPr>
            <a:r>
              <a:rPr lang="en-US" sz="2200" dirty="0">
                <a:solidFill>
                  <a:schemeClr val="tx1"/>
                </a:solidFill>
              </a:rPr>
              <a:t>Series motor: very high starting torque, never run unloaded</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Derive the torque equation of a DC motor.</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A shunt motor has Ta = 50 N·m at Ia = 20 A. Find Ta at Ia = 30 A (φ constant).</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Why is the shunt motor called a constant-speed motor?</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A motor delivers 7.5 kW at 1000 rpm. Find the shaft torque.</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Torque Equation and Characteristics of the DC Shunt Motor</dc:title>
  <dc:subject>PptxGenJS Presentation</dc:subject>
  <dc:creator>Dr. Mitesh Astik</dc:creator>
  <cp:lastModifiedBy>Dr. Mitesh Astik</cp:lastModifiedBy>
  <cp:revision>1</cp:revision>
  <dcterms:created xsi:type="dcterms:W3CDTF">2026-10-29T10:05:20Z</dcterms:created>
  <dcterms:modified xsi:type="dcterms:W3CDTF">2026-10-29T10:05:20Z</dcterms:modified>
</cp:coreProperties>
</file>