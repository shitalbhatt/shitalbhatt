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t 2 · EMF Equation of a Transformer" id="{6801f300-f407-06a7-5392-39a09dca8787}">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session we study "EMF Equation of a Transformer", part of Unit 2 (Transformers and Electrical Machines) of Basic Electrical and Electronics Engineering.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topic you should be able to do the following. Derive the transformer EMF equation. Calculate turns and maximum flux. Find flux density from core area. Solve numericals on transformer EMF and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induced emf is the negative rate of change of flux linkage; it lags the flux by ninety degrees.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form factor of a sine wave is one point one one, the R M S emf per turn is four point four four f phi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emf depends on frequency, maximum flux and number of 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use the low voltage side with its known turns for the flux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maximum flux density in silicon steel is about one to one point five tesla.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the turns to whole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topic. E = 4.44 f φm N (RMS). Average emf per turn = 4 f φm; multiply by 1.11 for RMS. E1/E2 = N1/N2. Bm = φm / core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these on your own, then check your working against your notes and textbook. Derive E = 4.44 f φm N. A 1100/220 V, 50 Hz transformer has 55 secondary turns. Find N1 and φm. Core area 150 cm², Bm = 1.2 T, 50 Hz, 500 turns: find E. Why does the same core flux serve both windings?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F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7132320" cy="228600"/>
          </a:xfrm>
          <a:prstGeom prst="rect">
            <a:avLst/>
          </a:prstGeom>
          <a:noFill/>
          <a:ln/>
        </p:spPr>
        <p:txBody>
          <a:bodyPr wrap="square" lIns="0" tIns="0" rIns="0" bIns="0" rtlCol="0" anchor="ctr"/>
          <a:lstStyle/>
          <a:p>
            <a:pPr indent="0" marL="0">
              <a:buNone/>
            </a:pPr>
            <a:r>
              <a:rPr lang="en-US" sz="1000" dirty="0">
                <a:solidFill>
                  <a:schemeClr val="accent4"/>
                </a:solidFill>
              </a:rPr>
              <a:t>Basic Electrical and Electronics Engineering · Unit 2 · Dr. Mitesh Astik, NMAMIT Nitte</a:t>
            </a:r>
            <a:endParaRPr lang="en-US" sz="1000" dirty="0"/>
          </a:p>
        </p:txBody>
      </p:sp>
      <p:sp>
        <p:nvSpPr>
          <p:cNvPr id="3" name="Text 1"/>
          <p:cNvSpPr/>
          <p:nvPr>
            <p:ph idx="101" type="title" hasCustomPrompt="1"/>
          </p:nvPr>
        </p:nvSpPr>
        <p:spPr>
          <a:xfrm>
            <a:off x="1188720" y="274320"/>
            <a:ext cx="74980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6858000" y="822960"/>
            <a:ext cx="1737360" cy="1737360"/>
          </a:xfrm>
          <a:prstGeom prst="ellipse">
            <a:avLst/>
          </a:prstGeom>
          <a:solidFill>
            <a:schemeClr val="accent1"/>
          </a:solidFill>
          <a:ln/>
        </p:spPr>
      </p:sp>
      <p:pic>
        <p:nvPicPr>
          <p:cNvPr id="3" name="Image 0" descr="topic icon">    </p:cNvPr>
          <p:cNvPicPr>
            <a:picLocks noChangeAspect="1"/>
          </p:cNvPicPr>
          <p:nvPr/>
        </p:nvPicPr>
        <p:blipFill>
          <a:blip r:embed="rId1"/>
          <a:stretch>
            <a:fillRect/>
          </a:stretch>
        </p:blipFill>
        <p:spPr>
          <a:xfrm>
            <a:off x="7360920" y="1325880"/>
            <a:ext cx="731520" cy="731520"/>
          </a:xfrm>
          <a:prstGeom prst="rect">
            <a:avLst/>
          </a:prstGeom>
        </p:spPr>
      </p:pic>
      <p:sp>
        <p:nvSpPr>
          <p:cNvPr id="4" name="Text 1"/>
          <p:cNvSpPr txBox="1"/>
          <p:nvPr/>
        </p:nvSpPr>
        <p:spPr>
          <a:xfrm>
            <a:off x="640080" y="822960"/>
            <a:ext cx="6035040" cy="365760"/>
          </a:xfrm>
          <a:prstGeom prst="rect">
            <a:avLst/>
          </a:prstGeom>
          <a:noFill/>
          <a:ln/>
        </p:spPr>
        <p:txBody>
          <a:bodyPr wrap="square" lIns="0" tIns="0" rIns="0" bIns="0" rtlCol="0" anchor="ctr"/>
          <a:lstStyle/>
          <a:p>
            <a:pPr indent="0" marL="0">
              <a:buNone/>
            </a:pPr>
            <a:r>
              <a:rPr lang="en-US" sz="1500" b="1" spc="300" kern="0" dirty="0">
                <a:solidFill>
                  <a:schemeClr val="accent1"/>
                </a:solidFill>
              </a:rPr>
              <a:t>UNIT 2  ·  9 hours</a:t>
            </a:r>
            <a:endParaRPr lang="en-US" sz="1500" dirty="0"/>
          </a:p>
        </p:txBody>
      </p:sp>
      <p:sp>
        <p:nvSpPr>
          <p:cNvPr id="5" name="Text 2"/>
          <p:cNvSpPr txBox="1"/>
          <p:nvPr/>
        </p:nvSpPr>
        <p:spPr>
          <a:xfrm>
            <a:off x="640080" y="1280160"/>
            <a:ext cx="6035040" cy="15544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EMF Equation of a Transformer</a:t>
            </a:r>
            <a:endParaRPr lang="en-US" sz="3600" dirty="0"/>
          </a:p>
        </p:txBody>
      </p:sp>
      <p:sp>
        <p:nvSpPr>
          <p:cNvPr id="6" name="Text 3"/>
          <p:cNvSpPr txBox="1"/>
          <p:nvPr/>
        </p:nvSpPr>
        <p:spPr>
          <a:xfrm>
            <a:off x="640080" y="2926080"/>
            <a:ext cx="6035040" cy="548640"/>
          </a:xfrm>
          <a:prstGeom prst="rect">
            <a:avLst/>
          </a:prstGeom>
          <a:noFill/>
          <a:ln/>
        </p:spPr>
        <p:txBody>
          <a:bodyPr wrap="square" lIns="0" tIns="0" rIns="0" bIns="0" rtlCol="0" anchor="t"/>
          <a:lstStyle/>
          <a:p>
            <a:pPr indent="0" marL="0">
              <a:buNone/>
            </a:pPr>
            <a:r>
              <a:rPr lang="en-US" sz="1600" dirty="0">
                <a:solidFill>
                  <a:srgbClr val="D5E0EE"/>
                </a:solidFill>
              </a:rPr>
              <a:t>Transformers and Electrical Machines</a:t>
            </a:r>
            <a:endParaRPr lang="en-US" sz="1600" dirty="0"/>
          </a:p>
        </p:txBody>
      </p:sp>
      <p:sp>
        <p:nvSpPr>
          <p:cNvPr id="7" name="Text 4"/>
          <p:cNvSpPr txBox="1"/>
          <p:nvPr/>
        </p:nvSpPr>
        <p:spPr>
          <a:xfrm>
            <a:off x="640080" y="3657600"/>
            <a:ext cx="7863840" cy="914400"/>
          </a:xfrm>
          <a:prstGeom prst="rect">
            <a:avLst/>
          </a:prstGeom>
          <a:noFill/>
          <a:ln/>
        </p:spPr>
        <p:txBody>
          <a:bodyPr wrap="square" lIns="0" tIns="0" rIns="0" bIns="0" rtlCol="0" anchor="t"/>
          <a:lstStyle/>
          <a:p>
            <a:pPr indent="0" marL="0">
              <a:buNone/>
            </a:pPr>
            <a:r>
              <a:rPr lang="en-US" sz="1400" b="1" dirty="0">
                <a:solidFill>
                  <a:schemeClr val="bg1"/>
                </a:solidFill>
              </a:rPr>
              <a:t>Basic Electrical and Electronics Engineering  (EEE103)</a:t>
            </a:r>
            <a:endParaRPr lang="en-US" sz="1400" dirty="0"/>
          </a:p>
          <a:p>
            <a:pPr indent="0" marL="0">
              <a:buNone/>
            </a:pPr>
            <a:r>
              <a:rPr lang="en-US" sz="1400" dirty="0">
                <a:solidFill>
                  <a:srgbClr val="D5E0EE"/>
                </a:solidFill>
              </a:rPr>
              <a:t>Dr. Mitesh Astik · Dept. of Electrical and Electronics Engineering</a:t>
            </a:r>
            <a:endParaRPr lang="en-US" sz="1400" dirty="0"/>
          </a:p>
          <a:p>
            <a:pPr indent="0" marL="0">
              <a:buNone/>
            </a:pPr>
            <a:r>
              <a:rPr lang="en-US" sz="1400" dirty="0">
                <a:solidFill>
                  <a:srgbClr val="D5E0EE"/>
                </a:solidFill>
              </a:rPr>
              <a:t>NMAM Institute of Technology, Nitte · 2025-26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Learning objectives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Text 3"/>
          <p:cNvSpPr txBox="1"/>
          <p:nvPr/>
        </p:nvSpPr>
        <p:spPr>
          <a:xfrm>
            <a:off x="457200" y="11887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Derive the transformer EMF equation</a:t>
            </a:r>
            <a:endParaRPr lang="en-US" sz="2200" dirty="0"/>
          </a:p>
          <a:p>
            <a:pPr marL="342900" indent="-342900">
              <a:spcAft>
                <a:spcPts val="600"/>
              </a:spcAft>
              <a:buSzPct val="100000"/>
              <a:buChar char="•"/>
            </a:pPr>
            <a:r>
              <a:rPr lang="en-US" sz="2200" dirty="0">
                <a:solidFill>
                  <a:schemeClr val="tx1"/>
                </a:solidFill>
              </a:rPr>
              <a:t>Calculate turns and maximum flux</a:t>
            </a:r>
            <a:endParaRPr lang="en-US" sz="2200" dirty="0"/>
          </a:p>
          <a:p>
            <a:pPr marL="342900" indent="-342900">
              <a:spcAft>
                <a:spcPts val="600"/>
              </a:spcAft>
              <a:buSzPct val="100000"/>
              <a:buChar char="•"/>
            </a:pPr>
            <a:r>
              <a:rPr lang="en-US" sz="2200" dirty="0">
                <a:solidFill>
                  <a:schemeClr val="tx1"/>
                </a:solidFill>
              </a:rPr>
              <a:t>Find flux density from core area</a:t>
            </a:r>
            <a:endParaRPr lang="en-US" sz="2200" dirty="0"/>
          </a:p>
          <a:p>
            <a:pPr marL="342900" indent="-342900">
              <a:spcAft>
                <a:spcPts val="600"/>
              </a:spcAft>
              <a:buSzPct val="100000"/>
              <a:buChar char="•"/>
            </a:pPr>
            <a:r>
              <a:rPr lang="en-US" sz="2200" dirty="0">
                <a:solidFill>
                  <a:schemeClr val="tx1"/>
                </a:solidFill>
              </a:rPr>
              <a:t>Solve numericals on transformer EMF and ratio</a:t>
            </a:r>
            <a:endParaRPr lang="en-US" sz="2200" dirty="0"/>
          </a:p>
        </p:txBody>
      </p:sp>
      <p:sp>
        <p:nvSpPr>
          <p:cNvPr id="7" name="Card"/>
          <p:cNvSpPr/>
          <p:nvPr/>
        </p:nvSpPr>
        <p:spPr>
          <a:xfrm>
            <a:off x="5577840" y="1188720"/>
            <a:ext cx="3108960" cy="3383280"/>
          </a:xfrm>
          <a:prstGeom prst="roundRect">
            <a:avLst>
              <a:gd name="adj" fmla="val 2353"/>
            </a:avLst>
          </a:prstGeom>
          <a:solidFill>
            <a:schemeClr val="bg2"/>
          </a:solidFill>
          <a:ln/>
        </p:spPr>
      </p:sp>
      <p:sp>
        <p:nvSpPr>
          <p:cNvPr id="8" name="Text 5"/>
          <p:cNvSpPr txBox="1"/>
          <p:nvPr/>
        </p:nvSpPr>
        <p:spPr>
          <a:xfrm>
            <a:off x="5715000" y="1261872"/>
            <a:ext cx="2834640" cy="365760"/>
          </a:xfrm>
          <a:prstGeom prst="rect">
            <a:avLst/>
          </a:prstGeom>
          <a:noFill/>
          <a:ln/>
        </p:spPr>
        <p:txBody>
          <a:bodyPr wrap="square" lIns="0" tIns="0" rIns="0" bIns="0" rtlCol="0" anchor="ctr"/>
          <a:lstStyle/>
          <a:p>
            <a:pPr indent="0" marL="0">
              <a:buNone/>
            </a:pPr>
            <a:r>
              <a:rPr lang="en-US" sz="1600" b="1" dirty="0">
                <a:solidFill>
                  <a:schemeClr val="tx2"/>
                </a:solidFill>
              </a:rPr>
              <a:t>Syllabus context</a:t>
            </a:r>
            <a:endParaRPr lang="en-US" sz="1600" dirty="0"/>
          </a:p>
        </p:txBody>
      </p:sp>
      <p:sp>
        <p:nvSpPr>
          <p:cNvPr id="9" name="Text 6"/>
          <p:cNvSpPr txBox="1"/>
          <p:nvPr/>
        </p:nvSpPr>
        <p:spPr>
          <a:xfrm>
            <a:off x="5715000" y="1645920"/>
            <a:ext cx="2834640" cy="285292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Transformers: necessity of transformers, principle of operation, types and construction of single-phase transformers, EMF equation, losses and efficiency.</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Flux and induced EMF</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pic>
        <p:nvPicPr>
          <p:cNvPr id="6" name="Image 0" descr="flux_emf figure">    </p:cNvPr>
          <p:cNvPicPr>
            <a:picLocks noChangeAspect="1"/>
          </p:cNvPicPr>
          <p:nvPr/>
        </p:nvPicPr>
        <p:blipFill>
          <a:blip r:embed="rId1"/>
          <a:stretch>
            <a:fillRect/>
          </a:stretch>
        </p:blipFill>
        <p:spPr>
          <a:xfrm>
            <a:off x="738754" y="1188720"/>
            <a:ext cx="4557532" cy="3200400"/>
          </a:xfrm>
          <a:prstGeom prst="rect">
            <a:avLst/>
          </a:prstGeom>
        </p:spPr>
      </p:pic>
      <p:sp>
        <p:nvSpPr>
          <p:cNvPr id="7" name="Text 3"/>
          <p:cNvSpPr txBox="1"/>
          <p:nvPr/>
        </p:nvSpPr>
        <p:spPr>
          <a:xfrm>
            <a:off x="5760720" y="1188720"/>
            <a:ext cx="292608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Primary flux φ = φm sin ωt.</a:t>
            </a:r>
            <a:endParaRPr lang="en-US" sz="2200" dirty="0"/>
          </a:p>
          <a:p>
            <a:pPr marL="342900" indent="-342900">
              <a:spcAft>
                <a:spcPts val="600"/>
              </a:spcAft>
              <a:buSzPct val="100000"/>
              <a:buChar char="•"/>
            </a:pPr>
            <a:r>
              <a:rPr lang="en-US" sz="2200" dirty="0">
                <a:solidFill>
                  <a:schemeClr val="tx1"/>
                </a:solidFill>
              </a:rPr>
              <a:t>e = −N dφ/dt = −N ω φm cos ωt.</a:t>
            </a:r>
            <a:endParaRPr lang="en-US" sz="2200" dirty="0"/>
          </a:p>
          <a:p>
            <a:pPr marL="342900" indent="-342900">
              <a:spcAft>
                <a:spcPts val="600"/>
              </a:spcAft>
              <a:buSzPct val="100000"/>
              <a:buChar char="•"/>
            </a:pPr>
            <a:r>
              <a:rPr lang="en-US" sz="2200" dirty="0">
                <a:solidFill>
                  <a:schemeClr val="tx1"/>
                </a:solidFill>
              </a:rPr>
              <a:t>EMF lags the flux by 90°.</a:t>
            </a:r>
            <a:endParaRPr lang="en-US" sz="2200" dirty="0"/>
          </a:p>
          <a:p>
            <a:pPr marL="342900" indent="-342900">
              <a:spcAft>
                <a:spcPts val="600"/>
              </a:spcAft>
              <a:buSzPct val="100000"/>
              <a:buChar char="•"/>
            </a:pPr>
            <a:r>
              <a:rPr lang="en-US" sz="2200" dirty="0">
                <a:solidFill>
                  <a:schemeClr val="tx1"/>
                </a:solidFill>
              </a:rPr>
              <a:t>Peak EMF Em = 2π f N φm.</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Deriving the EMF equation</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Flow step"/>
          <p:cNvSpPr/>
          <p:nvPr/>
        </p:nvSpPr>
        <p:spPr>
          <a:xfrm>
            <a:off x="457200" y="1234440"/>
            <a:ext cx="1954530" cy="2286000"/>
          </a:xfrm>
          <a:prstGeom prst="roundRect">
            <a:avLst>
              <a:gd name="adj" fmla="val 3743"/>
            </a:avLst>
          </a:prstGeom>
          <a:solidFill>
            <a:schemeClr val="bg2"/>
          </a:solidFill>
          <a:ln/>
        </p:spPr>
      </p:sp>
      <p:sp>
        <p:nvSpPr>
          <p:cNvPr id="7" name="Step number"/>
          <p:cNvSpPr/>
          <p:nvPr/>
        </p:nvSpPr>
        <p:spPr>
          <a:xfrm>
            <a:off x="566928" y="1344168"/>
            <a:ext cx="365760" cy="365760"/>
          </a:xfrm>
          <a:prstGeom prst="ellipse">
            <a:avLst/>
          </a:prstGeom>
          <a:solidFill>
            <a:schemeClr val="tx2"/>
          </a:solidFill>
          <a:ln/>
        </p:spPr>
      </p:sp>
      <p:sp>
        <p:nvSpPr>
          <p:cNvPr id="8" name="Text 5"/>
          <p:cNvSpPr txBox="1"/>
          <p:nvPr/>
        </p:nvSpPr>
        <p:spPr>
          <a:xfrm>
            <a:off x="56692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56692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Flux change</a:t>
            </a:r>
            <a:endParaRPr lang="en-US" sz="1500" dirty="0"/>
          </a:p>
        </p:txBody>
      </p:sp>
      <p:sp>
        <p:nvSpPr>
          <p:cNvPr id="10" name="Text 7"/>
          <p:cNvSpPr txBox="1"/>
          <p:nvPr/>
        </p:nvSpPr>
        <p:spPr>
          <a:xfrm>
            <a:off x="56692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Flux rises from 0 to φm in a quarter cycle and from +φm to −φm in 1/2f s.</a:t>
            </a:r>
            <a:endParaRPr lang="en-US" sz="1500" dirty="0"/>
          </a:p>
        </p:txBody>
      </p:sp>
      <p:sp>
        <p:nvSpPr>
          <p:cNvPr id="11" name="Flow step"/>
          <p:cNvSpPr/>
          <p:nvPr/>
        </p:nvSpPr>
        <p:spPr>
          <a:xfrm>
            <a:off x="2548890" y="1234440"/>
            <a:ext cx="1954530" cy="2286000"/>
          </a:xfrm>
          <a:prstGeom prst="roundRect">
            <a:avLst>
              <a:gd name="adj" fmla="val 3743"/>
            </a:avLst>
          </a:prstGeom>
          <a:solidFill>
            <a:schemeClr val="bg2"/>
          </a:solidFill>
          <a:ln/>
        </p:spPr>
      </p:sp>
      <p:sp>
        <p:nvSpPr>
          <p:cNvPr id="12" name="Step number"/>
          <p:cNvSpPr/>
          <p:nvPr/>
        </p:nvSpPr>
        <p:spPr>
          <a:xfrm>
            <a:off x="2658618" y="1344168"/>
            <a:ext cx="365760" cy="365760"/>
          </a:xfrm>
          <a:prstGeom prst="ellipse">
            <a:avLst/>
          </a:prstGeom>
          <a:solidFill>
            <a:schemeClr val="tx2"/>
          </a:solidFill>
          <a:ln/>
        </p:spPr>
      </p:sp>
      <p:sp>
        <p:nvSpPr>
          <p:cNvPr id="13" name="Text 10"/>
          <p:cNvSpPr txBox="1"/>
          <p:nvPr/>
        </p:nvSpPr>
        <p:spPr>
          <a:xfrm>
            <a:off x="265861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265861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Average rate</a:t>
            </a:r>
            <a:endParaRPr lang="en-US" sz="1500" dirty="0"/>
          </a:p>
        </p:txBody>
      </p:sp>
      <p:sp>
        <p:nvSpPr>
          <p:cNvPr id="15" name="Text 12"/>
          <p:cNvSpPr txBox="1"/>
          <p:nvPr/>
        </p:nvSpPr>
        <p:spPr>
          <a:xfrm>
            <a:off x="265861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2φm ÷ (1/2f) = 4 f φm weber per second.</a:t>
            </a:r>
            <a:endParaRPr lang="en-US" sz="1500" dirty="0"/>
          </a:p>
        </p:txBody>
      </p:sp>
      <p:sp>
        <p:nvSpPr>
          <p:cNvPr id="16" name="Flow step"/>
          <p:cNvSpPr/>
          <p:nvPr/>
        </p:nvSpPr>
        <p:spPr>
          <a:xfrm>
            <a:off x="4640580" y="1234440"/>
            <a:ext cx="1954530" cy="2286000"/>
          </a:xfrm>
          <a:prstGeom prst="roundRect">
            <a:avLst>
              <a:gd name="adj" fmla="val 3743"/>
            </a:avLst>
          </a:prstGeom>
          <a:solidFill>
            <a:schemeClr val="bg2"/>
          </a:solidFill>
          <a:ln/>
        </p:spPr>
      </p:sp>
      <p:sp>
        <p:nvSpPr>
          <p:cNvPr id="17" name="Step number"/>
          <p:cNvSpPr/>
          <p:nvPr/>
        </p:nvSpPr>
        <p:spPr>
          <a:xfrm>
            <a:off x="4750308" y="1344168"/>
            <a:ext cx="365760" cy="365760"/>
          </a:xfrm>
          <a:prstGeom prst="ellipse">
            <a:avLst/>
          </a:prstGeom>
          <a:solidFill>
            <a:schemeClr val="tx2"/>
          </a:solidFill>
          <a:ln/>
        </p:spPr>
      </p:sp>
      <p:sp>
        <p:nvSpPr>
          <p:cNvPr id="18" name="Text 15"/>
          <p:cNvSpPr txBox="1"/>
          <p:nvPr/>
        </p:nvSpPr>
        <p:spPr>
          <a:xfrm>
            <a:off x="475030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6"/>
          <p:cNvSpPr txBox="1"/>
          <p:nvPr/>
        </p:nvSpPr>
        <p:spPr>
          <a:xfrm>
            <a:off x="475030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EMF per turn</a:t>
            </a:r>
            <a:endParaRPr lang="en-US" sz="1500" dirty="0"/>
          </a:p>
        </p:txBody>
      </p:sp>
      <p:sp>
        <p:nvSpPr>
          <p:cNvPr id="20" name="Text 17"/>
          <p:cNvSpPr txBox="1"/>
          <p:nvPr/>
        </p:nvSpPr>
        <p:spPr>
          <a:xfrm>
            <a:off x="475030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Average EMF per turn = 4 f φm volts.</a:t>
            </a:r>
            <a:endParaRPr lang="en-US" sz="1500" dirty="0"/>
          </a:p>
        </p:txBody>
      </p:sp>
      <p:sp>
        <p:nvSpPr>
          <p:cNvPr id="21" name="Flow step"/>
          <p:cNvSpPr/>
          <p:nvPr/>
        </p:nvSpPr>
        <p:spPr>
          <a:xfrm>
            <a:off x="6732270" y="1234440"/>
            <a:ext cx="1954530" cy="2286000"/>
          </a:xfrm>
          <a:prstGeom prst="roundRect">
            <a:avLst>
              <a:gd name="adj" fmla="val 3743"/>
            </a:avLst>
          </a:prstGeom>
          <a:solidFill>
            <a:schemeClr val="accent1"/>
          </a:solidFill>
          <a:ln/>
        </p:spPr>
      </p:sp>
      <p:sp>
        <p:nvSpPr>
          <p:cNvPr id="22" name="Step number"/>
          <p:cNvSpPr/>
          <p:nvPr/>
        </p:nvSpPr>
        <p:spPr>
          <a:xfrm>
            <a:off x="6841998" y="1344168"/>
            <a:ext cx="365760" cy="365760"/>
          </a:xfrm>
          <a:prstGeom prst="ellipse">
            <a:avLst/>
          </a:prstGeom>
          <a:solidFill>
            <a:schemeClr val="tx2"/>
          </a:solidFill>
          <a:ln/>
        </p:spPr>
      </p:sp>
      <p:sp>
        <p:nvSpPr>
          <p:cNvPr id="23" name="Text 20"/>
          <p:cNvSpPr txBox="1"/>
          <p:nvPr/>
        </p:nvSpPr>
        <p:spPr>
          <a:xfrm>
            <a:off x="684199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1"/>
          <p:cNvSpPr txBox="1"/>
          <p:nvPr/>
        </p:nvSpPr>
        <p:spPr>
          <a:xfrm>
            <a:off x="684199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RMS</a:t>
            </a:r>
            <a:endParaRPr lang="en-US" sz="1500" dirty="0"/>
          </a:p>
        </p:txBody>
      </p:sp>
      <p:sp>
        <p:nvSpPr>
          <p:cNvPr id="25" name="Text 22"/>
          <p:cNvSpPr txBox="1"/>
          <p:nvPr/>
        </p:nvSpPr>
        <p:spPr>
          <a:xfrm>
            <a:off x="684199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Multiply by form factor 1.11: 4.44 f φm per turn.</a:t>
            </a:r>
            <a:endParaRPr lang="en-US" sz="1500" dirty="0"/>
          </a:p>
        </p:txBody>
      </p:sp>
      <p:sp>
        <p:nvSpPr>
          <p:cNvPr id="26" name="Highlight strip"/>
          <p:cNvSpPr/>
          <p:nvPr/>
        </p:nvSpPr>
        <p:spPr>
          <a:xfrm>
            <a:off x="457200" y="3749040"/>
            <a:ext cx="8229600" cy="822960"/>
          </a:xfrm>
          <a:prstGeom prst="roundRect">
            <a:avLst>
              <a:gd name="adj" fmla="val 8889"/>
            </a:avLst>
          </a:prstGeom>
          <a:solidFill>
            <a:schemeClr val="tx2"/>
          </a:solidFill>
          <a:ln/>
        </p:spPr>
      </p:sp>
      <p:sp>
        <p:nvSpPr>
          <p:cNvPr id="27" name="Text 24"/>
          <p:cNvSpPr txBox="1"/>
          <p:nvPr/>
        </p:nvSpPr>
        <p:spPr>
          <a:xfrm>
            <a:off x="640080" y="3749040"/>
            <a:ext cx="7863840" cy="822960"/>
          </a:xfrm>
          <a:prstGeom prst="rect">
            <a:avLst/>
          </a:prstGeom>
          <a:noFill/>
          <a:ln/>
        </p:spPr>
        <p:txBody>
          <a:bodyPr wrap="square" lIns="0" tIns="0" rIns="0" bIns="0" rtlCol="0" anchor="ctr"/>
          <a:lstStyle/>
          <a:p>
            <a:pPr indent="0" marL="0">
              <a:buNone/>
            </a:pPr>
            <a:r>
              <a:rPr lang="en-US" sz="1500" b="1" dirty="0">
                <a:solidFill>
                  <a:schemeClr val="bg1"/>
                </a:solidFill>
              </a:rPr>
              <a:t>E1 = 4.44 f φm N1   and   E2 = 4.44 f φm N2   (RMS volts)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Using the EMF equation</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Formula"/>
          <p:cNvSpPr/>
          <p:nvPr/>
        </p:nvSpPr>
        <p:spPr>
          <a:xfrm>
            <a:off x="457200" y="1371600"/>
            <a:ext cx="4023360" cy="914400"/>
          </a:xfrm>
          <a:prstGeom prst="roundRect">
            <a:avLst>
              <a:gd name="adj" fmla="val 8000"/>
            </a:avLst>
          </a:prstGeom>
          <a:solidFill>
            <a:schemeClr val="tx2"/>
          </a:solidFill>
          <a:ln/>
        </p:spPr>
      </p:sp>
      <p:sp>
        <p:nvSpPr>
          <p:cNvPr id="7" name="Text 4"/>
          <p:cNvSpPr txBox="1"/>
          <p:nvPr/>
        </p:nvSpPr>
        <p:spPr>
          <a:xfrm>
            <a:off x="457200" y="1371600"/>
            <a:ext cx="4023360" cy="914400"/>
          </a:xfrm>
          <a:prstGeom prst="rect">
            <a:avLst/>
          </a:prstGeom>
          <a:noFill/>
          <a:ln/>
        </p:spPr>
        <p:txBody>
          <a:bodyPr wrap="square" lIns="762" tIns="762" rIns="762" bIns="762"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E1 = 4.44 f φm N1</a:t>
            </a:r>
            <a:endParaRPr lang="en-US" sz="2400" dirty="0"/>
          </a:p>
        </p:txBody>
      </p:sp>
      <p:sp>
        <p:nvSpPr>
          <p:cNvPr id="8" name="Text 5"/>
          <p:cNvSpPr txBox="1"/>
          <p:nvPr/>
        </p:nvSpPr>
        <p:spPr>
          <a:xfrm>
            <a:off x="457200" y="2304288"/>
            <a:ext cx="4023360" cy="411480"/>
          </a:xfrm>
          <a:prstGeom prst="rect">
            <a:avLst/>
          </a:prstGeom>
          <a:noFill/>
          <a:ln/>
        </p:spPr>
        <p:txBody>
          <a:bodyPr wrap="square" lIns="0" tIns="0" rIns="0" bIns="0" rtlCol="0" anchor="t"/>
          <a:lstStyle/>
          <a:p>
            <a:pPr algn="ctr" indent="0" marL="0">
              <a:buNone/>
            </a:pPr>
            <a:r>
              <a:rPr lang="en-US" sz="1300" i="1" dirty="0">
                <a:solidFill>
                  <a:schemeClr val="accent4"/>
                </a:solidFill>
              </a:rPr>
              <a:t>primary</a:t>
            </a:r>
            <a:endParaRPr lang="en-US" sz="1300" dirty="0"/>
          </a:p>
        </p:txBody>
      </p:sp>
      <p:sp>
        <p:nvSpPr>
          <p:cNvPr id="9" name="Formula"/>
          <p:cNvSpPr/>
          <p:nvPr/>
        </p:nvSpPr>
        <p:spPr>
          <a:xfrm>
            <a:off x="4663440" y="1371600"/>
            <a:ext cx="4023360" cy="914400"/>
          </a:xfrm>
          <a:prstGeom prst="roundRect">
            <a:avLst>
              <a:gd name="adj" fmla="val 8000"/>
            </a:avLst>
          </a:prstGeom>
          <a:solidFill>
            <a:schemeClr val="tx2"/>
          </a:solidFill>
          <a:ln/>
        </p:spPr>
      </p:sp>
      <p:sp>
        <p:nvSpPr>
          <p:cNvPr id="10" name="Text 7"/>
          <p:cNvSpPr txBox="1"/>
          <p:nvPr/>
        </p:nvSpPr>
        <p:spPr>
          <a:xfrm>
            <a:off x="4663440" y="1371600"/>
            <a:ext cx="4023360" cy="914400"/>
          </a:xfrm>
          <a:prstGeom prst="rect">
            <a:avLst/>
          </a:prstGeom>
          <a:noFill/>
          <a:ln/>
        </p:spPr>
        <p:txBody>
          <a:bodyPr wrap="square" lIns="762" tIns="762" rIns="762" bIns="762"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E2 = 4.44 f φm N2</a:t>
            </a:r>
            <a:endParaRPr lang="en-US" sz="2400" dirty="0"/>
          </a:p>
        </p:txBody>
      </p:sp>
      <p:sp>
        <p:nvSpPr>
          <p:cNvPr id="11" name="Text 8"/>
          <p:cNvSpPr txBox="1"/>
          <p:nvPr/>
        </p:nvSpPr>
        <p:spPr>
          <a:xfrm>
            <a:off x="4663440" y="2304288"/>
            <a:ext cx="4023360" cy="411480"/>
          </a:xfrm>
          <a:prstGeom prst="rect">
            <a:avLst/>
          </a:prstGeom>
          <a:noFill/>
          <a:ln/>
        </p:spPr>
        <p:txBody>
          <a:bodyPr wrap="square" lIns="0" tIns="0" rIns="0" bIns="0" rtlCol="0" anchor="t"/>
          <a:lstStyle/>
          <a:p>
            <a:pPr algn="ctr" indent="0" marL="0">
              <a:buNone/>
            </a:pPr>
            <a:r>
              <a:rPr lang="en-US" sz="1300" i="1" dirty="0">
                <a:solidFill>
                  <a:schemeClr val="accent4"/>
                </a:solidFill>
              </a:rPr>
              <a:t>secondary</a:t>
            </a:r>
            <a:endParaRPr lang="en-US" sz="1300" dirty="0"/>
          </a:p>
        </p:txBody>
      </p:sp>
      <p:sp>
        <p:nvSpPr>
          <p:cNvPr id="12" name="Formula"/>
          <p:cNvSpPr/>
          <p:nvPr/>
        </p:nvSpPr>
        <p:spPr>
          <a:xfrm>
            <a:off x="457200" y="2788920"/>
            <a:ext cx="4023360" cy="914400"/>
          </a:xfrm>
          <a:prstGeom prst="roundRect">
            <a:avLst>
              <a:gd name="adj" fmla="val 8000"/>
            </a:avLst>
          </a:prstGeom>
          <a:solidFill>
            <a:schemeClr val="tx2"/>
          </a:solidFill>
          <a:ln/>
        </p:spPr>
      </p:sp>
      <p:sp>
        <p:nvSpPr>
          <p:cNvPr id="13" name="Text 10"/>
          <p:cNvSpPr txBox="1"/>
          <p:nvPr/>
        </p:nvSpPr>
        <p:spPr>
          <a:xfrm>
            <a:off x="457200" y="2788920"/>
            <a:ext cx="4023360" cy="914400"/>
          </a:xfrm>
          <a:prstGeom prst="rect">
            <a:avLst/>
          </a:prstGeom>
          <a:noFill/>
          <a:ln/>
        </p:spPr>
        <p:txBody>
          <a:bodyPr wrap="square" lIns="762" tIns="762" rIns="762" bIns="762"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E1/E2 = N1/N2</a:t>
            </a:r>
            <a:endParaRPr lang="en-US" sz="2400" dirty="0"/>
          </a:p>
        </p:txBody>
      </p:sp>
      <p:sp>
        <p:nvSpPr>
          <p:cNvPr id="14" name="Text 11"/>
          <p:cNvSpPr txBox="1"/>
          <p:nvPr/>
        </p:nvSpPr>
        <p:spPr>
          <a:xfrm>
            <a:off x="457200" y="3721608"/>
            <a:ext cx="4023360" cy="411480"/>
          </a:xfrm>
          <a:prstGeom prst="rect">
            <a:avLst/>
          </a:prstGeom>
          <a:noFill/>
          <a:ln/>
        </p:spPr>
        <p:txBody>
          <a:bodyPr wrap="square" lIns="0" tIns="0" rIns="0" bIns="0" rtlCol="0" anchor="t"/>
          <a:lstStyle/>
          <a:p>
            <a:pPr algn="ctr" indent="0" marL="0">
              <a:buNone/>
            </a:pPr>
            <a:r>
              <a:rPr lang="en-US" sz="1300" i="1" dirty="0">
                <a:solidFill>
                  <a:schemeClr val="accent4"/>
                </a:solidFill>
              </a:rPr>
              <a:t>ratio (flux and f cancel)</a:t>
            </a:r>
            <a:endParaRPr lang="en-US" sz="1300" dirty="0"/>
          </a:p>
        </p:txBody>
      </p:sp>
      <p:sp>
        <p:nvSpPr>
          <p:cNvPr id="15" name="Formula"/>
          <p:cNvSpPr/>
          <p:nvPr/>
        </p:nvSpPr>
        <p:spPr>
          <a:xfrm>
            <a:off x="4663440" y="2788920"/>
            <a:ext cx="4023360" cy="914400"/>
          </a:xfrm>
          <a:prstGeom prst="roundRect">
            <a:avLst>
              <a:gd name="adj" fmla="val 8000"/>
            </a:avLst>
          </a:prstGeom>
          <a:solidFill>
            <a:schemeClr val="tx2"/>
          </a:solidFill>
          <a:ln/>
        </p:spPr>
      </p:sp>
      <p:sp>
        <p:nvSpPr>
          <p:cNvPr id="16" name="Text 13"/>
          <p:cNvSpPr txBox="1"/>
          <p:nvPr/>
        </p:nvSpPr>
        <p:spPr>
          <a:xfrm>
            <a:off x="4663440" y="2788920"/>
            <a:ext cx="4023360" cy="914400"/>
          </a:xfrm>
          <a:prstGeom prst="rect">
            <a:avLst/>
          </a:prstGeom>
          <a:noFill/>
          <a:ln/>
        </p:spPr>
        <p:txBody>
          <a:bodyPr wrap="square" lIns="762" tIns="762" rIns="762" bIns="762"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Bm = φm / A</a:t>
            </a:r>
            <a:endParaRPr lang="en-US" sz="2400" dirty="0"/>
          </a:p>
        </p:txBody>
      </p:sp>
      <p:sp>
        <p:nvSpPr>
          <p:cNvPr id="17" name="Text 14"/>
          <p:cNvSpPr txBox="1"/>
          <p:nvPr/>
        </p:nvSpPr>
        <p:spPr>
          <a:xfrm>
            <a:off x="4663440" y="3721608"/>
            <a:ext cx="4023360" cy="411480"/>
          </a:xfrm>
          <a:prstGeom prst="rect">
            <a:avLst/>
          </a:prstGeom>
          <a:noFill/>
          <a:ln/>
        </p:spPr>
        <p:txBody>
          <a:bodyPr wrap="square" lIns="0" tIns="0" rIns="0" bIns="0" rtlCol="0" anchor="t"/>
          <a:lstStyle/>
          <a:p>
            <a:pPr algn="ctr" indent="0" marL="0">
              <a:buNone/>
            </a:pPr>
            <a:r>
              <a:rPr lang="en-US" sz="1300" i="1" dirty="0">
                <a:solidFill>
                  <a:schemeClr val="accent4"/>
                </a:solidFill>
              </a:rPr>
              <a:t>flux density (T) for core area A</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Numerical 1: 200 kVA transformer</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200 kVA, 3300/230 V, 50 Hz single-phase transformer has 80 turns on the secondary. Find the approximate primary and secondary currents, primary turns and maximum flux.</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I1 = 200 × 1000/3300 = 60.6 A;  I2 = 200 × 1000/230 = 869.6 A</a:t>
            </a:r>
            <a:endParaRPr lang="en-US" sz="2200" dirty="0"/>
          </a:p>
          <a:p>
            <a:pPr marL="342900" indent="-342900">
              <a:spcAft>
                <a:spcPts val="600"/>
              </a:spcAft>
              <a:buSzPct val="100000"/>
              <a:buChar char="•"/>
            </a:pPr>
            <a:r>
              <a:rPr lang="en-US" sz="2200" dirty="0">
                <a:solidFill>
                  <a:schemeClr val="tx1"/>
                </a:solidFill>
              </a:rPr>
              <a:t>N1 = N2 × (V1/V2) = 80 × 3300/230 = 1148 turns</a:t>
            </a:r>
            <a:endParaRPr lang="en-US" sz="2200" dirty="0"/>
          </a:p>
          <a:p>
            <a:pPr marL="342900" indent="-342900">
              <a:spcAft>
                <a:spcPts val="600"/>
              </a:spcAft>
              <a:buSzPct val="100000"/>
              <a:buChar char="•"/>
            </a:pPr>
            <a:r>
              <a:rPr lang="en-US" sz="2200" dirty="0">
                <a:solidFill>
                  <a:schemeClr val="tx1"/>
                </a:solidFill>
              </a:rPr>
              <a:t>φm = E2/(4.44 f N2) = 230/(4.44 × 50 × 80)</a:t>
            </a:r>
            <a:endParaRPr lang="en-US" sz="22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I1 = 60.6 A, I2 = 869.6 A, N1 = 1148, φm = 12.9 mWb</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Numerical 2: flux density</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A 50 Hz transformer has 80 primary and 400 secondary turns, net core area 200 cm². Primary is on 230 V. Find E2 and Bm.</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K = 400/80 = 5;  E2 = 5 × 230 = 1150 V</a:t>
            </a:r>
            <a:endParaRPr lang="en-US" sz="2200" dirty="0"/>
          </a:p>
          <a:p>
            <a:pPr marL="342900" indent="-342900">
              <a:spcAft>
                <a:spcPts val="600"/>
              </a:spcAft>
              <a:buSzPct val="100000"/>
              <a:buChar char="•"/>
            </a:pPr>
            <a:r>
              <a:rPr lang="en-US" sz="2200" dirty="0">
                <a:solidFill>
                  <a:schemeClr val="tx1"/>
                </a:solidFill>
              </a:rPr>
              <a:t>φm = 1150/(4.44 × 400 × 50) = 12.95 mWb</a:t>
            </a:r>
            <a:endParaRPr lang="en-US" sz="2200" dirty="0"/>
          </a:p>
          <a:p>
            <a:pPr marL="342900" indent="-342900">
              <a:spcAft>
                <a:spcPts val="600"/>
              </a:spcAft>
              <a:buSzPct val="100000"/>
              <a:buChar char="•"/>
            </a:pPr>
            <a:r>
              <a:rPr lang="en-US" sz="2200" dirty="0">
                <a:solidFill>
                  <a:schemeClr val="tx1"/>
                </a:solidFill>
              </a:rPr>
              <a:t>Bm = φm/A = 12.95×10⁻³ / (200×10⁻⁴)</a:t>
            </a:r>
            <a:endParaRPr lang="en-US" sz="22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E2 = 1150 V,  Bm ≈ 0.65 T</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Numerical 3: turns required</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A 25 kVA, 50 Hz, 2000/200 V transformer has φm = 0.045 Wb. Find the turns on each winding.</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N2 = E2/(4.44 f φm) = 200/(4.44 × 50 × 0.045) = 20.02 ≈ 20</a:t>
            </a:r>
            <a:endParaRPr lang="en-US" sz="2200" dirty="0"/>
          </a:p>
          <a:p>
            <a:pPr marL="342900" indent="-342900">
              <a:spcAft>
                <a:spcPts val="600"/>
              </a:spcAft>
              <a:buSzPct val="100000"/>
              <a:buChar char="•"/>
            </a:pPr>
            <a:r>
              <a:rPr lang="en-US" sz="2200" dirty="0">
                <a:solidFill>
                  <a:schemeClr val="tx1"/>
                </a:solidFill>
              </a:rPr>
              <a:t>N1 = N2 × E1/E2 = 20 × 2000/200</a:t>
            </a:r>
            <a:endParaRPr lang="en-US" sz="22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N2 = 20 turns, N1 = 200 turns</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Key takeaways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E = 4.44 f φm N (RMS)</a:t>
            </a:r>
            <a:endParaRPr lang="en-US" sz="2200" dirty="0"/>
          </a:p>
          <a:p>
            <a:pPr marL="342900" indent="-342900">
              <a:spcAft>
                <a:spcPts val="600"/>
              </a:spcAft>
              <a:buSzPct val="100000"/>
              <a:buChar char="•"/>
            </a:pPr>
            <a:r>
              <a:rPr lang="en-US" sz="2200" dirty="0">
                <a:solidFill>
                  <a:schemeClr val="tx1"/>
                </a:solidFill>
              </a:rPr>
              <a:t>Average emf per turn = 4 f φm; multiply by 1.11 for RMS</a:t>
            </a:r>
            <a:endParaRPr lang="en-US" sz="2200" dirty="0"/>
          </a:p>
          <a:p>
            <a:pPr marL="342900" indent="-342900">
              <a:spcAft>
                <a:spcPts val="600"/>
              </a:spcAft>
              <a:buSzPct val="100000"/>
              <a:buChar char="•"/>
            </a:pPr>
            <a:r>
              <a:rPr lang="en-US" sz="2200" dirty="0">
                <a:solidFill>
                  <a:schemeClr val="tx1"/>
                </a:solidFill>
              </a:rPr>
              <a:t>E1/E2 = N1/N2</a:t>
            </a:r>
            <a:endParaRPr lang="en-US" sz="2200" dirty="0"/>
          </a:p>
          <a:p>
            <a:pPr marL="342900" indent="-342900">
              <a:spcAft>
                <a:spcPts val="600"/>
              </a:spcAft>
              <a:buSzPct val="100000"/>
              <a:buChar char="•"/>
            </a:pPr>
            <a:r>
              <a:rPr lang="en-US" sz="2200" dirty="0">
                <a:solidFill>
                  <a:schemeClr val="tx1"/>
                </a:solidFill>
              </a:rPr>
              <a:t>Bm = φm / core area</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Practice questions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2"/>
                </a:solidFill>
              </a:rPr>
              <a:t>Q1. </a:t>
            </a:r>
            <a:pPr indent="0" marL="0">
              <a:spcAft>
                <a:spcPts val="600"/>
              </a:spcAft>
              <a:buNone/>
            </a:pPr>
            <a:r>
              <a:rPr lang="en-US" sz="1700" dirty="0">
                <a:solidFill>
                  <a:schemeClr val="tx1"/>
                </a:solidFill>
              </a:rPr>
              <a:t>Derive E = 4.44 f φm N.</a:t>
            </a:r>
            <a:endParaRPr lang="en-US" sz="1700" dirty="0"/>
          </a:p>
          <a:p>
            <a:pPr marL="342900" indent="-342900">
              <a:spcAft>
                <a:spcPts val="600"/>
              </a:spcAft>
              <a:buSzPct val="100000"/>
              <a:buChar char="•"/>
            </a:pPr>
            <a:r>
              <a:rPr lang="en-US" sz="1700" b="1" dirty="0">
                <a:solidFill>
                  <a:schemeClr val="tx2"/>
                </a:solidFill>
              </a:rPr>
              <a:t>Q2. </a:t>
            </a:r>
            <a:pPr indent="0" marL="0">
              <a:spcAft>
                <a:spcPts val="600"/>
              </a:spcAft>
              <a:buNone/>
            </a:pPr>
            <a:r>
              <a:rPr lang="en-US" sz="1700" dirty="0">
                <a:solidFill>
                  <a:schemeClr val="tx1"/>
                </a:solidFill>
              </a:rPr>
              <a:t>A 1100/220 V, 50 Hz transformer has 55 secondary turns. Find N1 and φm.</a:t>
            </a:r>
            <a:endParaRPr lang="en-US" sz="1700" dirty="0"/>
          </a:p>
          <a:p>
            <a:pPr marL="342900" indent="-342900">
              <a:spcAft>
                <a:spcPts val="600"/>
              </a:spcAft>
              <a:buSzPct val="100000"/>
              <a:buChar char="•"/>
            </a:pPr>
            <a:r>
              <a:rPr lang="en-US" sz="1700" b="1" dirty="0">
                <a:solidFill>
                  <a:schemeClr val="tx2"/>
                </a:solidFill>
              </a:rPr>
              <a:t>Q3. </a:t>
            </a:r>
            <a:pPr indent="0" marL="0">
              <a:spcAft>
                <a:spcPts val="600"/>
              </a:spcAft>
              <a:buNone/>
            </a:pPr>
            <a:r>
              <a:rPr lang="en-US" sz="1700" dirty="0">
                <a:solidFill>
                  <a:schemeClr val="tx1"/>
                </a:solidFill>
              </a:rPr>
              <a:t>Core area 150 cm², Bm = 1.2 T, 50 Hz, 500 turns: find E.</a:t>
            </a:r>
            <a:endParaRPr lang="en-US" sz="1700" dirty="0"/>
          </a:p>
          <a:p>
            <a:pPr marL="342900" indent="-342900">
              <a:spcAft>
                <a:spcPts val="600"/>
              </a:spcAft>
              <a:buSzPct val="100000"/>
              <a:buChar char="•"/>
            </a:pPr>
            <a:r>
              <a:rPr lang="en-US" sz="1700" b="1" dirty="0">
                <a:solidFill>
                  <a:schemeClr val="tx2"/>
                </a:solidFill>
              </a:rPr>
              <a:t>Q4. </a:t>
            </a:r>
            <a:pPr indent="0" marL="0">
              <a:spcAft>
                <a:spcPts val="600"/>
              </a:spcAft>
              <a:buNone/>
            </a:pPr>
            <a:r>
              <a:rPr lang="en-US" sz="1700" dirty="0">
                <a:solidFill>
                  <a:schemeClr val="tx1"/>
                </a:solidFill>
              </a:rPr>
              <a:t>Why does the same core flux serve both windings?</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0B1F3A"/>
      </a:dk1>
      <a:lt1>
        <a:srgbClr val="FFFFFF"/>
      </a:lt1>
      <a:dk2>
        <a:srgbClr val="16396B"/>
      </a:dk2>
      <a:lt2>
        <a:srgbClr val="EDF2F8"/>
      </a:lt2>
      <a:accent1>
        <a:srgbClr val="F5A623"/>
      </a:accent1>
      <a:accent2>
        <a:srgbClr val="14777B"/>
      </a:accent2>
      <a:accent3>
        <a:srgbClr val="C93C20"/>
      </a:accent3>
      <a:accent4>
        <a:srgbClr val="5B6B7F"/>
      </a:accent4>
      <a:accent5>
        <a:srgbClr val="3E7CB1"/>
      </a:accent5>
      <a:accent6>
        <a:srgbClr val="7A4FD6"/>
      </a:accent6>
      <a:hlink>
        <a:srgbClr val="3E7CB1"/>
      </a:hlink>
      <a:folHlink>
        <a:srgbClr val="5B6B7F"/>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Dept. of EEE, NMAMIT, Nitte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EMF Equation of a Transformer</dc:title>
  <dc:subject>PptxGenJS Presentation</dc:subject>
  <dc:creator>Dr. Mitesh Astik</dc:creator>
  <cp:lastModifiedBy>Dr. Mitesh Astik</cp:lastModifiedBy>
  <cp:revision>1</cp:revision>
  <dcterms:created xsi:type="dcterms:W3CDTF">2026-10-29T10:05:20Z</dcterms:created>
  <dcterms:modified xsi:type="dcterms:W3CDTF">2026-10-29T10:05:20Z</dcterms:modified>
</cp:coreProperties>
</file>