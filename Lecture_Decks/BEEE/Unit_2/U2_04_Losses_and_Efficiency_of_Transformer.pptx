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it 2 · Losses and Efficiency of a Transformer" id="{c46d80f3-67cb-2587-5e94-3d23e11099a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"Losses and Efficiency of a Transformer", part of Unit 2 (Transformers and Electrical Machines) of Basic Electrical and Electronics Engineering.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Identify core and copper losses. Explain hysteresis and eddy-current loss. Calculate efficiency at any load and power factor. State the condition for maximum efficiency.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the supply voltage and frequency are constant, the maximum flux stays almost the same at all loads, so core loss is constant.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larger the hysteresis loop, the greater the energy required to magnetise the core on each 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Efficiency is output power over input power. Output is S times the load fraction times the power factor.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curve is rather flat near its maximum, so the transformer remains efficient over a wide range of loads.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Efficiency is the ratio of output to the sum of output and losses.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maximum efficiency the copper loss equals the iron loss.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Iron loss is constant; copper loss ∝ (load)². Hysteresis loss depends on the B–H loop area; eddy loss on lamination thickness. η = output / (output + Pi + Pc). Maximum η when Pc = 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List the losses in a transformer and how each is reduced. A 100 kVA transformer has Pi = 1 kW and Pc = 1.5 kW (full load). Find η at full load, unity pf. Find the load fraction for maximum efficiency in question 2. Why is the core loss assumed constant at all loads?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Basic Electrical and Electronics Engineering · Unit 2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UNIT 2  ·  9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Losses and Efficiency of a Transformer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5E0EE"/>
                </a:solidFill>
              </a:rPr>
              <a:t>Transformers and Electrical Machines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Basic Electrical and Electronics Engineering  (EEE103)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E0EE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E0EE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Identify core and copper losses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Explain hysteresis and eddy-current loss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Calculate efficiency at any load and power factor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State the condition for maximum efficiency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Transformers: necessity of transformers, principle of operation, types and construction of single-phase transformers, EMF equation, losses and efficiency.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Losses in a transformer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457200" y="1188720"/>
            <a:ext cx="2621280" cy="269748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9436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Core (iron) loss Pi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645920"/>
            <a:ext cx="234696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Hysteresis + eddy current. Depends on voltage and frequency; practically constant from no load to full load.</a:t>
            </a:r>
            <a:endParaRPr lang="en-US" sz="2000" dirty="0"/>
          </a:p>
        </p:txBody>
      </p:sp>
      <p:sp>
        <p:nvSpPr>
          <p:cNvPr id="9" name="Card"/>
          <p:cNvSpPr/>
          <p:nvPr/>
        </p:nvSpPr>
        <p:spPr>
          <a:xfrm>
            <a:off x="3261360" y="1188720"/>
            <a:ext cx="2621280" cy="269748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39852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Copper loss Pc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398520" y="1645920"/>
            <a:ext cx="234696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I1²R1 + I2²R2 in the windings. Varies as the square of load current.</a:t>
            </a:r>
            <a:endParaRPr lang="en-US" sz="2000" dirty="0"/>
          </a:p>
        </p:txBody>
      </p:sp>
      <p:sp>
        <p:nvSpPr>
          <p:cNvPr id="12" name="Card"/>
          <p:cNvSpPr/>
          <p:nvPr/>
        </p:nvSpPr>
        <p:spPr>
          <a:xfrm>
            <a:off x="6065520" y="1188720"/>
            <a:ext cx="2621280" cy="269748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202680" y="1261872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Others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202680" y="1645920"/>
            <a:ext cx="234696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Stray load loss and dielectric loss: small.</a:t>
            </a:r>
            <a:endParaRPr lang="en-US" sz="2000" dirty="0"/>
          </a:p>
        </p:txBody>
      </p:sp>
      <p:sp>
        <p:nvSpPr>
          <p:cNvPr id="15" name="Highlight strip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0080" y="40233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Total loss = Pi + Pc;  no rotating parts, so no friction loss.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Hysteresis loss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pic>
        <p:nvPicPr>
          <p:cNvPr id="6" name="Image 0" descr="hyst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504" y="1188720"/>
            <a:ext cx="4296032" cy="32004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60720" y="1188720"/>
            <a:ext cx="29260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 lags H in iron: the B–H curve forms a loop.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Area of the loop = energy lost per cycle per unit volume.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Loss ∝ f × area: silicon steel has a thin loop.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Eddy-current loss ∝ f² Bm² t² (t = lamination thickness).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Efficiency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Formula"/>
          <p:cNvSpPr/>
          <p:nvPr/>
        </p:nvSpPr>
        <p:spPr>
          <a:xfrm>
            <a:off x="457200" y="1188720"/>
            <a:ext cx="402336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1188720"/>
            <a:ext cx="402336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η = Output / Input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0299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= Output / (Output + losses)</a:t>
            </a:r>
            <a:endParaRPr lang="en-US" sz="1300" dirty="0"/>
          </a:p>
        </p:txBody>
      </p:sp>
      <p:sp>
        <p:nvSpPr>
          <p:cNvPr id="9" name="Formula"/>
          <p:cNvSpPr/>
          <p:nvPr/>
        </p:nvSpPr>
        <p:spPr>
          <a:xfrm>
            <a:off x="4663440" y="1188720"/>
            <a:ext cx="402336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663440" y="1188720"/>
            <a:ext cx="402336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η = x S cos φ / (x S cos φ + Pi + x² Pc)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20299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x = fraction of full load, S = kVA rating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2560320"/>
            <a:ext cx="82296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Typically 95–99 % for power transformers.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Maximum efficiency when copper loss = iron loss:  x = √(Pi/Pc).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Distribution transformers are designed for maximum efficiency at ≈ 60–70 % load.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Efficiency versus load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pic>
        <p:nvPicPr>
          <p:cNvPr id="6" name="Image 0" descr="eff_curve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45429"/>
            <a:ext cx="5120640" cy="288698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60720" y="1188720"/>
            <a:ext cx="29260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Efficiency rises quickly with load.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Peak occurs where Pc = Pi.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Falls slightly above that load as Pc grows with x².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Numerical: full-load efficiency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25 kVA, 2000/200 V transformer has iron loss 350 W and full-load copper loss 400 W. Find efficiency at full load, 0.8 pf lagging.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Output = 25 × 0.8 = 20 kW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Total loss = 0.35 + 0.4 = 0.75 kW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η = 20/(20 + 0.75) × 100</a:t>
            </a:r>
            <a:endParaRPr lang="en-US" sz="22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η = 96.38 %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Numerical: maximum efficiency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For the same transformer find the load at which efficiency is maximum and the maximum efficiency at unity power factor.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x = √(Pi/Pc) = √(350/400) = 0.935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Output = 0.935 × 25 kVA × 1 = 23.4 kW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Losses = 2 × 350 W = 0.7 kW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η = 23.4/(23.4 + 0.7)</a:t>
            </a:r>
            <a:endParaRPr lang="en-US" sz="22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x = 0.935 (23.4 kVA),  ηmax = 97.1 %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Iron loss is constant; copper loss ∝ (load)²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Hysteresis loss depends on the B–H loop area; eddy loss on lamination thickness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η = output / (output + Pi + Pc)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Maximum η when Pc = Pi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List the losses in a transformer and how each is reduced.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 100 kVA transformer has Pi = 1 kW and Pc = 1.5 kW (full load). Find η at full load, unity pf.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Find the load fraction for maximum efficiency in question 2.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Why is the core loss assumed constant at all loads?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EE">
  <a:themeElements>
    <a:clrScheme name="BEEE">
      <a:dk1>
        <a:srgbClr val="0B1F3A"/>
      </a:dk1>
      <a:lt1>
        <a:srgbClr val="FFFFFF"/>
      </a:lt1>
      <a:dk2>
        <a:srgbClr val="16396B"/>
      </a:dk2>
      <a:lt2>
        <a:srgbClr val="EDF2F8"/>
      </a:lt2>
      <a:accent1>
        <a:srgbClr val="F5A623"/>
      </a:accent1>
      <a:accent2>
        <a:srgbClr val="14777B"/>
      </a:accent2>
      <a:accent3>
        <a:srgbClr val="C93C20"/>
      </a:accent3>
      <a:accent4>
        <a:srgbClr val="5B6B7F"/>
      </a:accent4>
      <a:accent5>
        <a:srgbClr val="3E7CB1"/>
      </a:accent5>
      <a:accent6>
        <a:srgbClr val="7A4FD6"/>
      </a:accent6>
      <a:hlink>
        <a:srgbClr val="3E7CB1"/>
      </a:hlink>
      <a:folHlink>
        <a:srgbClr val="5B6B7F"/>
      </a:folHlink>
    </a:clrScheme>
    <a:fontScheme name="BEE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Losses and Efficiency of a Transformer</dc:title>
  <dc:subject>PptxGenJS Presentation</dc:subject>
  <dc:creator>Dr. Mitesh Astik</dc:creator>
  <cp:lastModifiedBy>Dr. Mitesh Astik</cp:lastModifiedBy>
  <cp:revision>1</cp:revision>
  <dcterms:created xsi:type="dcterms:W3CDTF">2026-10-29T10:05:20Z</dcterms:created>
  <dcterms:modified xsi:type="dcterms:W3CDTF">2026-10-29T10:05:20Z</dcterms:modified>
</cp:coreProperties>
</file>