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1 · Power and Energy" id="{46ff2944-7348-3dfe-f2ac-119422d8677d}">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"Power and Energy", part of Unit 1 (Circuit Fundamentals)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Define electrical power and energy with units. Use P = VI, I²R and V²/R. Convert between joule, watt-hour and kilowatt-hour. Compute energy consumed and its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tells you how fast energy is converted; energy is power accumulated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Derivation: power equals energy over time, which equals charge times voltage over time, which is V times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direct application of P equals V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is power times time. Multiply by the tariff to get the cost of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unit on the electricity bill is one kilowatt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check of any solved circuit is to confirm that total delivered power equals total absorbed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P = VI = I²R = V²/R (watts). Energy = power × time; 1 Wh = 3600 J; 1 kWh = 1 unit. Power delivered = power absorbed in a circuit. Heating loss varies as the square of the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A 230 V, 1 kW iron is used for 2 h. Find energy and current. Find the resistance of a 100 W, 230 V lamp. How many kWh does a 5 W LED bulb use in a year if on for 6 h/day? Why does doubling current quadruple the conductor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1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1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Power and Energy</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Circuit Fundamentals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Define electrical power and energy with units</a:t>
            </a:r>
            <a:endParaRPr lang="en-US" sz="2200" dirty="0"/>
          </a:p>
          <a:p>
            <a:pPr marL="342900" indent="-342900">
              <a:spcAft>
                <a:spcPts val="600"/>
              </a:spcAft>
              <a:buSzPct val="100000"/>
              <a:buChar char="•"/>
            </a:pPr>
            <a:r>
              <a:rPr lang="en-US" sz="2200" dirty="0">
                <a:solidFill>
                  <a:schemeClr val="tx1"/>
                </a:solidFill>
              </a:rPr>
              <a:t>Use P = VI, I²R and V²/R</a:t>
            </a:r>
            <a:endParaRPr lang="en-US" sz="2200" dirty="0"/>
          </a:p>
          <a:p>
            <a:pPr marL="342900" indent="-342900">
              <a:spcAft>
                <a:spcPts val="600"/>
              </a:spcAft>
              <a:buSzPct val="100000"/>
              <a:buChar char="•"/>
            </a:pPr>
            <a:r>
              <a:rPr lang="en-US" sz="2200" dirty="0">
                <a:solidFill>
                  <a:schemeClr val="tx1"/>
                </a:solidFill>
              </a:rPr>
              <a:t>Convert between joule, watt-hour and kilowatt-hour</a:t>
            </a:r>
            <a:endParaRPr lang="en-US" sz="2200" dirty="0"/>
          </a:p>
          <a:p>
            <a:pPr marL="342900" indent="-342900">
              <a:spcAft>
                <a:spcPts val="600"/>
              </a:spcAft>
              <a:buSzPct val="100000"/>
              <a:buChar char="•"/>
            </a:pPr>
            <a:r>
              <a:rPr lang="en-US" sz="2200" dirty="0">
                <a:solidFill>
                  <a:schemeClr val="tx1"/>
                </a:solidFill>
              </a:rPr>
              <a:t>Compute energy consumed and its cost</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Basic nodal and mesh analysis excited by independent DC voltage sources, Power and Energy. Generation of sinusoidal voltage, frequency, average value, RMS value, form factor and peak factor, phasor representation of alternating quantities.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Power and energy: definitions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Card"/>
          <p:cNvSpPr/>
          <p:nvPr/>
        </p:nvSpPr>
        <p:spPr>
          <a:xfrm>
            <a:off x="457200" y="1188720"/>
            <a:ext cx="2621280" cy="342900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Energy (U)</a:t>
            </a:r>
            <a:endParaRPr lang="en-US" sz="1600" dirty="0"/>
          </a:p>
        </p:txBody>
      </p:sp>
      <p:sp>
        <p:nvSpPr>
          <p:cNvPr id="8" name="Text 5"/>
          <p:cNvSpPr txBox="1"/>
          <p:nvPr/>
        </p:nvSpPr>
        <p:spPr>
          <a:xfrm>
            <a:off x="59436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Capacity to do work. Unit: joule (J). Electrical energy: watt-hour (Wh), kilowatt-hour (kWh).</a:t>
            </a:r>
            <a:endParaRPr lang="en-US" sz="2000" dirty="0"/>
          </a:p>
        </p:txBody>
      </p:sp>
      <p:sp>
        <p:nvSpPr>
          <p:cNvPr id="9" name="Card"/>
          <p:cNvSpPr/>
          <p:nvPr/>
        </p:nvSpPr>
        <p:spPr>
          <a:xfrm>
            <a:off x="3261360" y="1188720"/>
            <a:ext cx="2621280" cy="342900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Power (P)</a:t>
            </a:r>
            <a:endParaRPr lang="en-US" sz="1600" dirty="0"/>
          </a:p>
        </p:txBody>
      </p:sp>
      <p:sp>
        <p:nvSpPr>
          <p:cNvPr id="11" name="Text 8"/>
          <p:cNvSpPr txBox="1"/>
          <p:nvPr/>
        </p:nvSpPr>
        <p:spPr>
          <a:xfrm>
            <a:off x="339852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Rate of doing work: P = U / t.</a:t>
            </a:r>
            <a:endParaRPr lang="en-US" sz="2000" dirty="0"/>
          </a:p>
          <a:p>
            <a:pPr indent="0" marL="0">
              <a:spcAft>
                <a:spcPts val="300"/>
              </a:spcAft>
              <a:buNone/>
            </a:pPr>
            <a:r>
              <a:rPr lang="en-US" sz="2000" dirty="0">
                <a:solidFill>
                  <a:schemeClr val="tx1"/>
                </a:solidFill>
              </a:rPr>
              <a:t>Unit: watt, 1 W = 1 J/s.</a:t>
            </a:r>
            <a:endParaRPr lang="en-US" sz="2000" dirty="0"/>
          </a:p>
        </p:txBody>
      </p:sp>
      <p:sp>
        <p:nvSpPr>
          <p:cNvPr id="12" name="Card"/>
          <p:cNvSpPr/>
          <p:nvPr/>
        </p:nvSpPr>
        <p:spPr>
          <a:xfrm>
            <a:off x="6065520" y="1188720"/>
            <a:ext cx="2621280" cy="342900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Conversions</a:t>
            </a:r>
            <a:endParaRPr lang="en-US" sz="1600" dirty="0"/>
          </a:p>
        </p:txBody>
      </p:sp>
      <p:sp>
        <p:nvSpPr>
          <p:cNvPr id="14" name="Text 11"/>
          <p:cNvSpPr txBox="1"/>
          <p:nvPr/>
        </p:nvSpPr>
        <p:spPr>
          <a:xfrm>
            <a:off x="620268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1 J = 1 W·s</a:t>
            </a:r>
            <a:endParaRPr lang="en-US" sz="2000" dirty="0"/>
          </a:p>
          <a:p>
            <a:pPr indent="0" marL="0">
              <a:spcAft>
                <a:spcPts val="300"/>
              </a:spcAft>
              <a:buNone/>
            </a:pPr>
            <a:r>
              <a:rPr lang="en-US" sz="2000" dirty="0">
                <a:solidFill>
                  <a:schemeClr val="tx1"/>
                </a:solidFill>
              </a:rPr>
              <a:t>1 Wh = 3600 J</a:t>
            </a:r>
            <a:endParaRPr lang="en-US" sz="2000" dirty="0"/>
          </a:p>
          <a:p>
            <a:pPr indent="0" marL="0">
              <a:spcAft>
                <a:spcPts val="300"/>
              </a:spcAft>
              <a:buNone/>
            </a:pPr>
            <a:r>
              <a:rPr lang="en-US" sz="2000" dirty="0">
                <a:solidFill>
                  <a:schemeClr val="tx1"/>
                </a:solidFill>
              </a:rPr>
              <a:t>1 kWh = 3.6 MJ = 1 'unit'</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Electrical power formulas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Formula"/>
          <p:cNvSpPr/>
          <p:nvPr/>
        </p:nvSpPr>
        <p:spPr>
          <a:xfrm>
            <a:off x="457200" y="1188720"/>
            <a:ext cx="2621280" cy="822960"/>
          </a:xfrm>
          <a:prstGeom prst="roundRect">
            <a:avLst>
              <a:gd name="adj" fmla="val 8889"/>
            </a:avLst>
          </a:prstGeom>
          <a:solidFill>
            <a:schemeClr val="tx2"/>
          </a:solidFill>
          <a:ln/>
        </p:spPr>
      </p:sp>
      <p:sp>
        <p:nvSpPr>
          <p:cNvPr id="7" name="Text 4"/>
          <p:cNvSpPr txBox="1"/>
          <p:nvPr/>
        </p:nvSpPr>
        <p:spPr>
          <a:xfrm>
            <a:off x="457200" y="1188720"/>
            <a:ext cx="2621280" cy="8229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P = V I</a:t>
            </a:r>
            <a:endParaRPr lang="en-US" sz="2400" dirty="0"/>
          </a:p>
        </p:txBody>
      </p:sp>
      <p:sp>
        <p:nvSpPr>
          <p:cNvPr id="8" name="Text 5"/>
          <p:cNvSpPr txBox="1"/>
          <p:nvPr/>
        </p:nvSpPr>
        <p:spPr>
          <a:xfrm>
            <a:off x="45720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from V = W/Q and I = Q/t</a:t>
            </a:r>
            <a:endParaRPr lang="en-US" sz="1300" dirty="0"/>
          </a:p>
        </p:txBody>
      </p:sp>
      <p:sp>
        <p:nvSpPr>
          <p:cNvPr id="9" name="Formula"/>
          <p:cNvSpPr/>
          <p:nvPr/>
        </p:nvSpPr>
        <p:spPr>
          <a:xfrm>
            <a:off x="3261360" y="1188720"/>
            <a:ext cx="2621280" cy="822960"/>
          </a:xfrm>
          <a:prstGeom prst="roundRect">
            <a:avLst>
              <a:gd name="adj" fmla="val 8889"/>
            </a:avLst>
          </a:prstGeom>
          <a:solidFill>
            <a:schemeClr val="tx2"/>
          </a:solidFill>
          <a:ln/>
        </p:spPr>
      </p:sp>
      <p:sp>
        <p:nvSpPr>
          <p:cNvPr id="10" name="Text 7"/>
          <p:cNvSpPr txBox="1"/>
          <p:nvPr/>
        </p:nvSpPr>
        <p:spPr>
          <a:xfrm>
            <a:off x="3261360" y="1188720"/>
            <a:ext cx="2621280" cy="8229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P = I² R</a:t>
            </a:r>
            <a:endParaRPr lang="en-US" sz="2400" dirty="0"/>
          </a:p>
        </p:txBody>
      </p:sp>
      <p:sp>
        <p:nvSpPr>
          <p:cNvPr id="11" name="Text 8"/>
          <p:cNvSpPr txBox="1"/>
          <p:nvPr/>
        </p:nvSpPr>
        <p:spPr>
          <a:xfrm>
            <a:off x="326136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substitute V = I R</a:t>
            </a:r>
            <a:endParaRPr lang="en-US" sz="1300" dirty="0"/>
          </a:p>
        </p:txBody>
      </p:sp>
      <p:sp>
        <p:nvSpPr>
          <p:cNvPr id="12" name="Formula"/>
          <p:cNvSpPr/>
          <p:nvPr/>
        </p:nvSpPr>
        <p:spPr>
          <a:xfrm>
            <a:off x="6065520" y="1188720"/>
            <a:ext cx="2621280" cy="822960"/>
          </a:xfrm>
          <a:prstGeom prst="roundRect">
            <a:avLst>
              <a:gd name="adj" fmla="val 8889"/>
            </a:avLst>
          </a:prstGeom>
          <a:solidFill>
            <a:schemeClr val="tx2"/>
          </a:solidFill>
          <a:ln/>
        </p:spPr>
      </p:sp>
      <p:sp>
        <p:nvSpPr>
          <p:cNvPr id="13" name="Text 10"/>
          <p:cNvSpPr txBox="1"/>
          <p:nvPr/>
        </p:nvSpPr>
        <p:spPr>
          <a:xfrm>
            <a:off x="6065520" y="1188720"/>
            <a:ext cx="2621280" cy="8229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P = V² / R</a:t>
            </a:r>
            <a:endParaRPr lang="en-US" sz="2400" dirty="0"/>
          </a:p>
        </p:txBody>
      </p:sp>
      <p:sp>
        <p:nvSpPr>
          <p:cNvPr id="14" name="Text 11"/>
          <p:cNvSpPr txBox="1"/>
          <p:nvPr/>
        </p:nvSpPr>
        <p:spPr>
          <a:xfrm>
            <a:off x="606552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substitute I = V / R</a:t>
            </a:r>
            <a:endParaRPr lang="en-US" sz="1300" dirty="0"/>
          </a:p>
        </p:txBody>
      </p:sp>
      <p:sp>
        <p:nvSpPr>
          <p:cNvPr id="15" name="Text 12"/>
          <p:cNvSpPr txBox="1"/>
          <p:nvPr/>
        </p:nvSpPr>
        <p:spPr>
          <a:xfrm>
            <a:off x="457200" y="2560320"/>
            <a:ext cx="8229600" cy="20574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Power is absorbed by a load (resistor) and delivered by a source.</a:t>
            </a:r>
            <a:endParaRPr lang="en-US" sz="2200" dirty="0"/>
          </a:p>
          <a:p>
            <a:pPr marL="342900" indent="-342900">
              <a:spcAft>
                <a:spcPts val="600"/>
              </a:spcAft>
              <a:buSzPct val="100000"/>
              <a:buChar char="•"/>
            </a:pPr>
            <a:r>
              <a:rPr lang="en-US" sz="2200" dirty="0">
                <a:solidFill>
                  <a:schemeClr val="tx1"/>
                </a:solidFill>
              </a:rPr>
              <a:t>I²R is the heating loss in conductors; it grows with the square of the current.</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Example 1: DC motor rating</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A 24 V DC motor has a rated current of 33.5 A. What electrical power does it take?</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P = V × I</a:t>
            </a:r>
            <a:endParaRPr lang="en-US" sz="2200" dirty="0"/>
          </a:p>
          <a:p>
            <a:pPr marL="342900" indent="-342900">
              <a:spcAft>
                <a:spcPts val="600"/>
              </a:spcAft>
              <a:buSzPct val="100000"/>
              <a:buChar char="•"/>
            </a:pPr>
            <a:r>
              <a:rPr lang="en-US" sz="2200" dirty="0">
                <a:solidFill>
                  <a:schemeClr val="tx1"/>
                </a:solidFill>
              </a:rPr>
              <a:t>P = 24 × 33.5</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P = 804 W</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Example 2: energy of a lamp</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How much energy (kWh) is needed to light a 60 W bulb continuously for 1 year (365 days)?</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Time t = 365 × 24 = 8760 h</a:t>
            </a:r>
            <a:endParaRPr lang="en-US" sz="2200" dirty="0"/>
          </a:p>
          <a:p>
            <a:pPr marL="342900" indent="-342900">
              <a:spcAft>
                <a:spcPts val="600"/>
              </a:spcAft>
              <a:buSzPct val="100000"/>
              <a:buChar char="•"/>
            </a:pPr>
            <a:r>
              <a:rPr lang="en-US" sz="2200" dirty="0">
                <a:solidFill>
                  <a:schemeClr val="tx1"/>
                </a:solidFill>
              </a:rPr>
              <a:t>U = P × t = 60 × 8760 = 525 600 Wh</a:t>
            </a:r>
            <a:endParaRPr lang="en-US" sz="2200" dirty="0"/>
          </a:p>
          <a:p>
            <a:pPr marL="342900" indent="-342900">
              <a:spcAft>
                <a:spcPts val="600"/>
              </a:spcAft>
              <a:buSzPct val="100000"/>
              <a:buChar char="•"/>
            </a:pPr>
            <a:r>
              <a:rPr lang="en-US" sz="2200" dirty="0">
                <a:solidFill>
                  <a:schemeClr val="tx1"/>
                </a:solidFill>
              </a:rPr>
              <a:t>Convert to kWh: divide by 1000</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U = 525.6 kWh</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Example 3: cost of running a heater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A 2 kW heater runs 3 h per day for 30 days. Tariff ₹6 per unit. Find energy and cost.</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Energy = 2 kW × 3 h × 30 = 180 kWh (units)</a:t>
            </a:r>
            <a:endParaRPr lang="en-US" sz="2200" dirty="0"/>
          </a:p>
          <a:p>
            <a:pPr marL="342900" indent="-342900">
              <a:spcAft>
                <a:spcPts val="600"/>
              </a:spcAft>
              <a:buSzPct val="100000"/>
              <a:buChar char="•"/>
            </a:pPr>
            <a:r>
              <a:rPr lang="en-US" sz="2200" dirty="0">
                <a:solidFill>
                  <a:schemeClr val="tx1"/>
                </a:solidFill>
              </a:rPr>
              <a:t>Cost = 180 × 6</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180 kWh, ₹1080</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Power in a source-resistor circuit</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Power delivered by sources = power absorbed by resistors (conservation of energy).</a:t>
            </a:r>
            <a:endParaRPr lang="en-US" sz="2200" dirty="0"/>
          </a:p>
          <a:p>
            <a:pPr marL="342900" indent="-342900">
              <a:spcAft>
                <a:spcPts val="600"/>
              </a:spcAft>
              <a:buSzPct val="100000"/>
              <a:buChar char="•"/>
            </a:pPr>
            <a:r>
              <a:rPr lang="en-US" sz="2200" dirty="0">
                <a:solidFill>
                  <a:schemeClr val="tx1"/>
                </a:solidFill>
              </a:rPr>
              <a:t>Check: mesh example, 10 V source gives 19.64 W; 18 Ω absorbs 3.59 W; the rest is absorbed by 1 Ω and 2 Ω and the 5 V source.</a:t>
            </a:r>
            <a:endParaRPr lang="en-US" sz="2200" dirty="0"/>
          </a:p>
          <a:p>
            <a:pPr marL="342900" indent="-342900">
              <a:spcAft>
                <a:spcPts val="600"/>
              </a:spcAft>
              <a:buSzPct val="100000"/>
              <a:buChar char="•"/>
            </a:pPr>
            <a:r>
              <a:rPr lang="en-US" sz="2200" dirty="0">
                <a:solidFill>
                  <a:schemeClr val="tx1"/>
                </a:solidFill>
              </a:rPr>
              <a:t>Source power: P = E·I; it can be negative if the current flows into the + terminal (the source is charging).</a:t>
            </a:r>
            <a:endParaRPr lang="en-US" sz="2200" dirty="0"/>
          </a:p>
          <a:p>
            <a:pPr marL="342900" indent="-342900">
              <a:spcAft>
                <a:spcPts val="600"/>
              </a:spcAft>
              <a:buSzPct val="100000"/>
              <a:buChar char="•"/>
            </a:pPr>
            <a:r>
              <a:rPr lang="en-US" sz="2200" dirty="0">
                <a:solidFill>
                  <a:schemeClr val="tx1"/>
                </a:solidFill>
              </a:rPr>
              <a:t>Always verify the power balance after solving a network.</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P = VI = I²R = V²/R (watts)</a:t>
            </a:r>
            <a:endParaRPr lang="en-US" sz="2200" dirty="0"/>
          </a:p>
          <a:p>
            <a:pPr marL="342900" indent="-342900">
              <a:spcAft>
                <a:spcPts val="600"/>
              </a:spcAft>
              <a:buSzPct val="100000"/>
              <a:buChar char="•"/>
            </a:pPr>
            <a:r>
              <a:rPr lang="en-US" sz="2200" dirty="0">
                <a:solidFill>
                  <a:schemeClr val="tx1"/>
                </a:solidFill>
              </a:rPr>
              <a:t>Energy = power × time; 1 Wh = 3600 J; 1 kWh = 1 unit</a:t>
            </a:r>
            <a:endParaRPr lang="en-US" sz="2200" dirty="0"/>
          </a:p>
          <a:p>
            <a:pPr marL="342900" indent="-342900">
              <a:spcAft>
                <a:spcPts val="600"/>
              </a:spcAft>
              <a:buSzPct val="100000"/>
              <a:buChar char="•"/>
            </a:pPr>
            <a:r>
              <a:rPr lang="en-US" sz="2200" dirty="0">
                <a:solidFill>
                  <a:schemeClr val="tx1"/>
                </a:solidFill>
              </a:rPr>
              <a:t>Power delivered = power absorbed in a circuit</a:t>
            </a:r>
            <a:endParaRPr lang="en-US" sz="2200" dirty="0"/>
          </a:p>
          <a:p>
            <a:pPr marL="342900" indent="-342900">
              <a:spcAft>
                <a:spcPts val="600"/>
              </a:spcAft>
              <a:buSzPct val="100000"/>
              <a:buChar char="•"/>
            </a:pPr>
            <a:r>
              <a:rPr lang="en-US" sz="2200" dirty="0">
                <a:solidFill>
                  <a:schemeClr val="tx1"/>
                </a:solidFill>
              </a:rPr>
              <a:t>Heating loss varies as the square of the current</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A 230 V, 1 kW iron is used for 2 h. Find energy and current.</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Find the resistance of a 100 W, 230 V lamp.</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How many kWh does a 5 W LED bulb use in a year if on for 6 h/day?</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Why does doubling current quadruple the conductor loss?</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and Energy</dc:title>
  <dc:subject>PptxGenJS Presentation</dc:subject>
  <dc:creator>Dr. Mitesh Astik</dc:creator>
  <cp:lastModifiedBy>Dr. Mitesh Astik</cp:lastModifiedBy>
  <cp:revision>1</cp:revision>
  <dcterms:created xsi:type="dcterms:W3CDTF">2026-10-29T10:05:19Z</dcterms:created>
  <dcterms:modified xsi:type="dcterms:W3CDTF">2026-10-29T10:05:19Z</dcterms:modified>
</cp:coreProperties>
</file>