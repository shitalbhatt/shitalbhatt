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1 · Phasor Representation of Alternating Quantities" id="{0b8f9c44-ec70-89b0-c537-2ea73eb6671d}">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"Phasor Representation of Alternating Quantities", part of Unit 1 (Circuit Fundamentals) of Basic Electrical and Electronics Engineering.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Represent a sinusoid as a rotating phasor. Define phase difference, lead and lag. Add sinusoids using phasors. Use the polar and rectangular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drawing waves, we draw one arrow per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difference is the angle between phasors. Choose one quantity as reference at zero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rectangular form for addition and polar form for multiplication or division.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sine waves of equal frequency gives another sine wave of the same frequency.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series R L circuit the voltages across R and L are ninety degrees apart, so the supply voltage is the phasor sum, not the sum of magnitudes.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A phasor rotates at ω; its vertical projection is the instantaneous value. Phase difference = angle between phasors. Add in rectangular, multiply in polar form. Series circuit voltages add as phasors.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Express v = 100 sin(ωt − 30°) as a phasor in polar and rectangular form. Add i1 = 4 sin ωt and i2 = 3 sin(ωt − 90°). Which leads: v = sin(ωt + 20°) or i = sin(ωt − 40°)? By how much? Why must all phasors in one diagram have the same frequency?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Basic Electrical and Electronics Engineering · Unit 1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1  ·  9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Phasor Representation of Alternating Quantities</a:t>
            </a:r>
            <a:endParaRPr lang="en-US" sz="30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5E0EE"/>
                </a:solidFill>
              </a:rPr>
              <a:t>Circuit Fundamentals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Basic Electrical and Electronics Engineering  (EEE103)</a:t>
            </a:r>
            <a:endParaRPr lang="en-US" sz="1400" dirty="0"/>
          </a:p>
          <a:p>
            <a:pPr indent="0" marL="0">
              <a:buNone/>
            </a:pPr>
            <a:r>
              <a:rPr lang="en-US" sz="1400" dirty="0">
                <a:solidFill>
                  <a:srgbClr val="D5E0EE"/>
                </a:solidFill>
              </a:rPr>
              <a:t>Dr. Mitesh Astik · Dept. of Electrical and Electronics Engineering</a:t>
            </a:r>
            <a:endParaRPr lang="en-US" sz="1400" dirty="0"/>
          </a:p>
          <a:p>
            <a:pPr indent="0" marL="0">
              <a:buNone/>
            </a:pPr>
            <a:r>
              <a:rPr lang="en-US" sz="1400" dirty="0">
                <a:solidFill>
                  <a:srgbClr val="D5E0EE"/>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Represent a sinusoid as a rotating phasor</a:t>
            </a:r>
            <a:endParaRPr lang="en-US" sz="2200" dirty="0"/>
          </a:p>
          <a:p>
            <a:pPr marL="342900" indent="-342900">
              <a:spcAft>
                <a:spcPts val="600"/>
              </a:spcAft>
              <a:buSzPct val="100000"/>
              <a:buChar char="•"/>
            </a:pPr>
            <a:r>
              <a:rPr lang="en-US" sz="2200" dirty="0">
                <a:solidFill>
                  <a:schemeClr val="tx1"/>
                </a:solidFill>
              </a:rPr>
              <a:t>Define phase difference, lead and lag</a:t>
            </a:r>
            <a:endParaRPr lang="en-US" sz="2200" dirty="0"/>
          </a:p>
          <a:p>
            <a:pPr marL="342900" indent="-342900">
              <a:spcAft>
                <a:spcPts val="600"/>
              </a:spcAft>
              <a:buSzPct val="100000"/>
              <a:buChar char="•"/>
            </a:pPr>
            <a:r>
              <a:rPr lang="en-US" sz="2200" dirty="0">
                <a:solidFill>
                  <a:schemeClr val="tx1"/>
                </a:solidFill>
              </a:rPr>
              <a:t>Add sinusoids using phasors</a:t>
            </a:r>
            <a:endParaRPr lang="en-US" sz="2200" dirty="0"/>
          </a:p>
          <a:p>
            <a:pPr marL="342900" indent="-342900">
              <a:spcAft>
                <a:spcPts val="600"/>
              </a:spcAft>
              <a:buSzPct val="100000"/>
              <a:buChar char="•"/>
            </a:pPr>
            <a:r>
              <a:rPr lang="en-US" sz="2200" dirty="0">
                <a:solidFill>
                  <a:schemeClr val="tx1"/>
                </a:solidFill>
              </a:rPr>
              <a:t>Use the polar and rectangular forms</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1800" dirty="0">
                <a:solidFill>
                  <a:schemeClr val="tx1"/>
                </a:solidFill>
              </a:rPr>
              <a:t>Basic nodal and mesh analysis excited by independent DC voltage sources, Power and Energy. Generation of sinusoidal voltage, frequency, average value, RMS value, form factor and peak factor, phasor representation of alternating quantities.</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Rotating phasor and its projection</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pic>
        <p:nvPicPr>
          <p:cNvPr id="6" name="Image 0" descr="phasor figure">    </p:cNvPr>
          <p:cNvPicPr>
            <a:picLocks noChangeAspect="1"/>
          </p:cNvPicPr>
          <p:nvPr/>
        </p:nvPicPr>
        <p:blipFill>
          <a:blip r:embed="rId1"/>
          <a:stretch>
            <a:fillRect/>
          </a:stretch>
        </p:blipFill>
        <p:spPr>
          <a:xfrm>
            <a:off x="1671066" y="1143000"/>
            <a:ext cx="5801868" cy="2148840"/>
          </a:xfrm>
          <a:prstGeom prst="rect">
            <a:avLst/>
          </a:prstGeom>
        </p:spPr>
      </p:pic>
      <p:sp>
        <p:nvSpPr>
          <p:cNvPr id="7" name="Text 3"/>
          <p:cNvSpPr txBox="1"/>
          <p:nvPr/>
        </p:nvSpPr>
        <p:spPr>
          <a:xfrm>
            <a:off x="457200" y="3429000"/>
            <a:ext cx="4023360" cy="12344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tx1"/>
                </a:solidFill>
              </a:rPr>
              <a:t>Phasor OA of length Vm rotates anticlockwise at ω = 2πf.</a:t>
            </a:r>
            <a:endParaRPr lang="en-US" sz="1700" dirty="0"/>
          </a:p>
          <a:p>
            <a:pPr marL="342900" indent="-342900">
              <a:spcAft>
                <a:spcPts val="600"/>
              </a:spcAft>
              <a:buSzPct val="100000"/>
              <a:buChar char="•"/>
            </a:pPr>
            <a:r>
              <a:rPr lang="en-US" sz="1700" dirty="0">
                <a:solidFill>
                  <a:schemeClr val="tx1"/>
                </a:solidFill>
              </a:rPr>
              <a:t>Vertical projection = instantaneous value v = Vm sin ωt.</a:t>
            </a:r>
            <a:endParaRPr lang="en-US" sz="1700" dirty="0"/>
          </a:p>
        </p:txBody>
      </p:sp>
      <p:sp>
        <p:nvSpPr>
          <p:cNvPr id="8" name="Text 4"/>
          <p:cNvSpPr txBox="1"/>
          <p:nvPr/>
        </p:nvSpPr>
        <p:spPr>
          <a:xfrm>
            <a:off x="4663440" y="3429000"/>
            <a:ext cx="4023360" cy="12344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tx1"/>
                </a:solidFill>
              </a:rPr>
              <a:t>One revolution = 2π rad = one cycle.</a:t>
            </a:r>
            <a:endParaRPr lang="en-US" sz="1700" dirty="0"/>
          </a:p>
          <a:p>
            <a:pPr marL="342900" indent="-342900">
              <a:spcAft>
                <a:spcPts val="600"/>
              </a:spcAft>
              <a:buSzPct val="100000"/>
              <a:buChar char="•"/>
            </a:pPr>
            <a:r>
              <a:rPr lang="en-US" sz="1700" dirty="0">
                <a:solidFill>
                  <a:schemeClr val="tx1"/>
                </a:solidFill>
              </a:rPr>
              <a:t>All same-frequency phasors rotate together, so only their lengths and relative angles matter.</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Phase difference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Card"/>
          <p:cNvSpPr/>
          <p:nvPr/>
        </p:nvSpPr>
        <p:spPr>
          <a:xfrm>
            <a:off x="457200" y="1188720"/>
            <a:ext cx="2621280" cy="2697480"/>
          </a:xfrm>
          <a:prstGeom prst="roundRect">
            <a:avLst>
              <a:gd name="adj" fmla="val 2791"/>
            </a:avLst>
          </a:prstGeom>
          <a:solidFill>
            <a:schemeClr val="bg2"/>
          </a:solidFill>
          <a:ln/>
        </p:spPr>
      </p:sp>
      <p:sp>
        <p:nvSpPr>
          <p:cNvPr id="7" name="Text 4"/>
          <p:cNvSpPr txBox="1"/>
          <p:nvPr/>
        </p:nvSpPr>
        <p:spPr>
          <a:xfrm>
            <a:off x="59436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In phase</a:t>
            </a:r>
            <a:endParaRPr lang="en-US" sz="1600" dirty="0"/>
          </a:p>
        </p:txBody>
      </p:sp>
      <p:sp>
        <p:nvSpPr>
          <p:cNvPr id="8" name="Text 5"/>
          <p:cNvSpPr txBox="1"/>
          <p:nvPr/>
        </p:nvSpPr>
        <p:spPr>
          <a:xfrm>
            <a:off x="594360" y="1645920"/>
            <a:ext cx="2346960" cy="21671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Two waves reach zero and peak together. Phase difference 0°.</a:t>
            </a:r>
            <a:endParaRPr lang="en-US" sz="2000" dirty="0"/>
          </a:p>
        </p:txBody>
      </p:sp>
      <p:sp>
        <p:nvSpPr>
          <p:cNvPr id="9" name="Card"/>
          <p:cNvSpPr/>
          <p:nvPr/>
        </p:nvSpPr>
        <p:spPr>
          <a:xfrm>
            <a:off x="3261360" y="1188720"/>
            <a:ext cx="2621280" cy="2697480"/>
          </a:xfrm>
          <a:prstGeom prst="roundRect">
            <a:avLst>
              <a:gd name="adj" fmla="val 2791"/>
            </a:avLst>
          </a:prstGeom>
          <a:solidFill>
            <a:schemeClr val="bg2"/>
          </a:solidFill>
          <a:ln/>
        </p:spPr>
      </p:sp>
      <p:sp>
        <p:nvSpPr>
          <p:cNvPr id="10" name="Text 7"/>
          <p:cNvSpPr txBox="1"/>
          <p:nvPr/>
        </p:nvSpPr>
        <p:spPr>
          <a:xfrm>
            <a:off x="339852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Leading</a:t>
            </a:r>
            <a:endParaRPr lang="en-US" sz="1600" dirty="0"/>
          </a:p>
        </p:txBody>
      </p:sp>
      <p:sp>
        <p:nvSpPr>
          <p:cNvPr id="11" name="Text 8"/>
          <p:cNvSpPr txBox="1"/>
          <p:nvPr/>
        </p:nvSpPr>
        <p:spPr>
          <a:xfrm>
            <a:off x="3398520" y="1645920"/>
            <a:ext cx="2346960" cy="21671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Wave that reaches its peak earlier is leading, e.g. i = Im sin(ωt + φ) leads v.</a:t>
            </a:r>
            <a:endParaRPr lang="en-US" sz="2000" dirty="0"/>
          </a:p>
        </p:txBody>
      </p:sp>
      <p:sp>
        <p:nvSpPr>
          <p:cNvPr id="12" name="Card"/>
          <p:cNvSpPr/>
          <p:nvPr/>
        </p:nvSpPr>
        <p:spPr>
          <a:xfrm>
            <a:off x="6065520" y="1188720"/>
            <a:ext cx="2621280" cy="2697480"/>
          </a:xfrm>
          <a:prstGeom prst="roundRect">
            <a:avLst>
              <a:gd name="adj" fmla="val 2791"/>
            </a:avLst>
          </a:prstGeom>
          <a:solidFill>
            <a:schemeClr val="bg2"/>
          </a:solidFill>
          <a:ln/>
        </p:spPr>
      </p:sp>
      <p:sp>
        <p:nvSpPr>
          <p:cNvPr id="13" name="Text 10"/>
          <p:cNvSpPr txBox="1"/>
          <p:nvPr/>
        </p:nvSpPr>
        <p:spPr>
          <a:xfrm>
            <a:off x="620268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Lagging</a:t>
            </a:r>
            <a:endParaRPr lang="en-US" sz="1600" dirty="0"/>
          </a:p>
        </p:txBody>
      </p:sp>
      <p:sp>
        <p:nvSpPr>
          <p:cNvPr id="14" name="Text 11"/>
          <p:cNvSpPr txBox="1"/>
          <p:nvPr/>
        </p:nvSpPr>
        <p:spPr>
          <a:xfrm>
            <a:off x="6202680" y="1645920"/>
            <a:ext cx="2346960" cy="21671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Wave that reaches its peak later is lagging, e.g. i = Im sin(ωt − φ).</a:t>
            </a:r>
            <a:endParaRPr lang="en-US" sz="2000" dirty="0"/>
          </a:p>
        </p:txBody>
      </p:sp>
      <p:sp>
        <p:nvSpPr>
          <p:cNvPr id="15" name="Highlight strip"/>
          <p:cNvSpPr/>
          <p:nvPr/>
        </p:nvSpPr>
        <p:spPr>
          <a:xfrm>
            <a:off x="457200" y="4023360"/>
            <a:ext cx="8229600" cy="594360"/>
          </a:xfrm>
          <a:prstGeom prst="roundRect">
            <a:avLst>
              <a:gd name="adj" fmla="val 12308"/>
            </a:avLst>
          </a:prstGeom>
          <a:solidFill>
            <a:schemeClr val="tx2"/>
          </a:solidFill>
          <a:ln/>
        </p:spPr>
      </p:sp>
      <p:sp>
        <p:nvSpPr>
          <p:cNvPr id="16" name="Text 13"/>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500" b="1" dirty="0">
                <a:solidFill>
                  <a:schemeClr val="bg1"/>
                </a:solidFill>
              </a:rPr>
              <a:t>In phasor diagrams, anticlockwise from the reference is leading.</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Forms of a phasor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94560"/>
                <a:gridCol w="3108960"/>
                <a:gridCol w="2926080"/>
              </a:tblGrid>
              <a:tr h="502920">
                <a:tc>
                  <a:txBody>
                    <a:bodyPr/>
                    <a:lstStyle/>
                    <a:p>
                      <a:pPr indent="0" marL="0">
                        <a:buNone/>
                      </a:pPr>
                      <a:r>
                        <a:rPr lang="en-US" sz="1400" b="1" dirty="0">
                          <a:solidFill>
                            <a:schemeClr val="bg1"/>
                          </a:solidFill>
                        </a:rPr>
                        <a:t>Form</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Expression</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Use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1"/>
                          </a:solidFill>
                        </a:rPr>
                        <a:t>Polar</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V∠θ</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multiply / divide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Rectangular</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 jb</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add / subtract</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Conversion</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 V cos θ,  b = V sin θ</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 = √(a² + b²), θ = tan⁻¹(b/a)</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Operator j</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j = 90° rotation, j² = −1</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I∠90° = jI</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Example: adding two voltages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v1 = 10 sin ωt and v2 = 5 sin(ωt + 90°). Find v1 + v2 (peak values).</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Phasors:  V1 = 10∠0° = 10 + j0,   V2 = 5∠90° = 0 + j5</a:t>
            </a:r>
            <a:endParaRPr lang="en-US" sz="2200" dirty="0"/>
          </a:p>
          <a:p>
            <a:pPr marL="342900" indent="-342900">
              <a:spcAft>
                <a:spcPts val="600"/>
              </a:spcAft>
              <a:buSzPct val="100000"/>
              <a:buChar char="•"/>
            </a:pPr>
            <a:r>
              <a:rPr lang="en-US" sz="2200" dirty="0">
                <a:solidFill>
                  <a:schemeClr val="tx1"/>
                </a:solidFill>
              </a:rPr>
              <a:t>Sum = 10 + j5</a:t>
            </a:r>
            <a:endParaRPr lang="en-US" sz="2200" dirty="0"/>
          </a:p>
          <a:p>
            <a:pPr marL="342900" indent="-342900">
              <a:spcAft>
                <a:spcPts val="600"/>
              </a:spcAft>
              <a:buSzPct val="100000"/>
              <a:buChar char="•"/>
            </a:pPr>
            <a:r>
              <a:rPr lang="en-US" sz="2200" dirty="0">
                <a:solidFill>
                  <a:schemeClr val="tx1"/>
                </a:solidFill>
              </a:rPr>
              <a:t>|V| = √(10² + 5²) = 11.18,   θ = tan⁻¹(5/10) = 26.57°</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v = 11.18 sin(ωt + 26.57°)</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Why phasors are useful</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Reduce differential equations to algebra.</a:t>
            </a:r>
            <a:endParaRPr lang="en-US" sz="2200" dirty="0"/>
          </a:p>
          <a:p>
            <a:pPr marL="342900" indent="-342900">
              <a:spcAft>
                <a:spcPts val="600"/>
              </a:spcAft>
              <a:buSzPct val="100000"/>
              <a:buChar char="•"/>
            </a:pPr>
            <a:r>
              <a:rPr lang="en-US" sz="2200" dirty="0">
                <a:solidFill>
                  <a:schemeClr val="tx1"/>
                </a:solidFill>
              </a:rPr>
              <a:t>Voltages in a series circuit add as phasors, never arithmetically.</a:t>
            </a:r>
            <a:endParaRPr lang="en-US" sz="2200" dirty="0"/>
          </a:p>
          <a:p>
            <a:pPr marL="342900" indent="-342900">
              <a:spcAft>
                <a:spcPts val="600"/>
              </a:spcAft>
              <a:buSzPct val="100000"/>
              <a:buChar char="•"/>
            </a:pPr>
            <a:r>
              <a:rPr lang="en-US" sz="2200" dirty="0">
                <a:solidFill>
                  <a:schemeClr val="tx1"/>
                </a:solidFill>
              </a:rPr>
              <a:t>Phasor diagrams reveal lead/lag and power factor at a glance.</a:t>
            </a:r>
            <a:endParaRPr lang="en-US" sz="2200" dirty="0"/>
          </a:p>
          <a:p>
            <a:pPr marL="342900" indent="-342900">
              <a:spcAft>
                <a:spcPts val="600"/>
              </a:spcAft>
              <a:buSzPct val="100000"/>
              <a:buChar char="•"/>
            </a:pPr>
            <a:r>
              <a:rPr lang="en-US" sz="2200" dirty="0">
                <a:solidFill>
                  <a:schemeClr val="tx1"/>
                </a:solidFill>
              </a:rPr>
              <a:t>RMS values are normally used as phasor lengths.</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A phasor rotates at ω; its vertical projection is the instantaneous value</a:t>
            </a:r>
            <a:endParaRPr lang="en-US" sz="2200" dirty="0"/>
          </a:p>
          <a:p>
            <a:pPr marL="342900" indent="-342900">
              <a:spcAft>
                <a:spcPts val="600"/>
              </a:spcAft>
              <a:buSzPct val="100000"/>
              <a:buChar char="•"/>
            </a:pPr>
            <a:r>
              <a:rPr lang="en-US" sz="2200" dirty="0">
                <a:solidFill>
                  <a:schemeClr val="tx1"/>
                </a:solidFill>
              </a:rPr>
              <a:t>Phase difference = angle between phasors</a:t>
            </a:r>
            <a:endParaRPr lang="en-US" sz="2200" dirty="0"/>
          </a:p>
          <a:p>
            <a:pPr marL="342900" indent="-342900">
              <a:spcAft>
                <a:spcPts val="600"/>
              </a:spcAft>
              <a:buSzPct val="100000"/>
              <a:buChar char="•"/>
            </a:pPr>
            <a:r>
              <a:rPr lang="en-US" sz="2200" dirty="0">
                <a:solidFill>
                  <a:schemeClr val="tx1"/>
                </a:solidFill>
              </a:rPr>
              <a:t>Add in rectangular, multiply in polar form</a:t>
            </a:r>
            <a:endParaRPr lang="en-US" sz="2200" dirty="0"/>
          </a:p>
          <a:p>
            <a:pPr marL="342900" indent="-342900">
              <a:spcAft>
                <a:spcPts val="600"/>
              </a:spcAft>
              <a:buSzPct val="100000"/>
              <a:buChar char="•"/>
            </a:pPr>
            <a:r>
              <a:rPr lang="en-US" sz="2200" dirty="0">
                <a:solidFill>
                  <a:schemeClr val="tx1"/>
                </a:solidFill>
              </a:rPr>
              <a:t>Series circuit voltages add as phasors</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Express v = 100 sin(ωt − 30°) as a phasor in polar and rectangular form.</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Add i1 = 4 sin ωt and i2 = 3 sin(ωt − 90°).</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Which leads: v = sin(ωt + 20°) or i = sin(ωt − 40°)? By how much?</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Why must all phasors in one diagram have the same frequency?</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0B1F3A"/>
      </a:dk1>
      <a:lt1>
        <a:srgbClr val="FFFFFF"/>
      </a:lt1>
      <a:dk2>
        <a:srgbClr val="16396B"/>
      </a:dk2>
      <a:lt2>
        <a:srgbClr val="EDF2F8"/>
      </a:lt2>
      <a:accent1>
        <a:srgbClr val="F5A623"/>
      </a:accent1>
      <a:accent2>
        <a:srgbClr val="14777B"/>
      </a:accent2>
      <a:accent3>
        <a:srgbClr val="C93C20"/>
      </a:accent3>
      <a:accent4>
        <a:srgbClr val="5B6B7F"/>
      </a:accent4>
      <a:accent5>
        <a:srgbClr val="3E7CB1"/>
      </a:accent5>
      <a:accent6>
        <a:srgbClr val="7A4FD6"/>
      </a:accent6>
      <a:hlink>
        <a:srgbClr val="3E7CB1"/>
      </a:hlink>
      <a:folHlink>
        <a:srgbClr val="5B6B7F"/>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Phasor Representation of Alternating Quantities</dc:title>
  <dc:subject>PptxGenJS Presentation</dc:subject>
  <dc:creator>Dr. Mitesh Astik</dc:creator>
  <cp:lastModifiedBy>Dr. Mitesh Astik</cp:lastModifiedBy>
  <cp:revision>1</cp:revision>
  <dcterms:created xsi:type="dcterms:W3CDTF">2026-10-29T10:05:20Z</dcterms:created>
  <dcterms:modified xsi:type="dcterms:W3CDTF">2026-10-29T10:05:20Z</dcterms:modified>
</cp:coreProperties>
</file>