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it 1 · Analysis of RL and RC Series Circuits" id="{8f50483f-df16-1e0c-380c-29f234965c2d}">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session we study "Analysis of RL and RC Series Circuits", part of Unit 1 (Circuit Fundamentals) of Basic Electrical and Electronics Engineering.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topic you should be able to do the following. Draw phasor and impedance diagrams for RL and RC series circuits. Compute impedance, current, phase angle and power. Decide whether current lags or leads. Solve numericals.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voltage across the inductor leads the current by ninety degrees, the supply voltage leads the current. We say the circuit is inductive or lagging.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RC series circuit the supply voltage lags the current, a leading power 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 the voltage triangle by the current and you get the impedance triangle.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 power equals V I cos phi, which equals I squared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 may also be computed as V I cos phi: two thirty times five point two nine times zero point six nine, about eight hundred forty watts.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that the phase angle here is current leading the voltage.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this topic. Z = √(R² + X²), V = IZ. RL: current lags; RC: current leads. pf = cos φ = R/Z. Only the resistance dissipates power: P = I²R.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Attempt these on your own, then check your working against your notes and textbook. R = 10 Ω, L = 50 mH in series on 100 V, 50 Hz. Find I, φ, P. R = 20 Ω, C = 100 µF on 230 V, 50 Hz. Find Z, I, pf. A coil has R = 8 Ω, XL = 6 Ω. Find Z and pf. Draw the phasor diagram for an RC circuit with I as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1F3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00600"/>
            <a:ext cx="7132320" cy="228600"/>
          </a:xfrm>
          <a:prstGeom prst="rect">
            <a:avLst/>
          </a:prstGeom>
          <a:noFill/>
          <a:ln/>
        </p:spPr>
        <p:txBody>
          <a:bodyPr wrap="square" lIns="0" tIns="0" rIns="0" bIns="0" rtlCol="0" anchor="ctr"/>
          <a:lstStyle/>
          <a:p>
            <a:pPr indent="0" marL="0">
              <a:buNone/>
            </a:pPr>
            <a:r>
              <a:rPr lang="en-US" sz="1000" dirty="0">
                <a:solidFill>
                  <a:schemeClr val="accent4"/>
                </a:solidFill>
              </a:rPr>
              <a:t>Basic Electrical and Electronics Engineering · Unit 1 · Dr. Mitesh Astik, NMAMIT Nitte</a:t>
            </a:r>
            <a:endParaRPr lang="en-US" sz="1000" dirty="0"/>
          </a:p>
        </p:txBody>
      </p:sp>
      <p:sp>
        <p:nvSpPr>
          <p:cNvPr id="3" name="Text 1"/>
          <p:cNvSpPr/>
          <p:nvPr>
            <p:ph idx="101" type="title" hasCustomPrompt="1"/>
          </p:nvPr>
        </p:nvSpPr>
        <p:spPr>
          <a:xfrm>
            <a:off x="1188720" y="274320"/>
            <a:ext cx="7498080"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Icon circle"/>
          <p:cNvSpPr/>
          <p:nvPr/>
        </p:nvSpPr>
        <p:spPr>
          <a:xfrm>
            <a:off x="6858000" y="822960"/>
            <a:ext cx="1737360" cy="1737360"/>
          </a:xfrm>
          <a:prstGeom prst="ellipse">
            <a:avLst/>
          </a:prstGeom>
          <a:solidFill>
            <a:schemeClr val="accent1"/>
          </a:solidFill>
          <a:ln/>
        </p:spPr>
      </p:sp>
      <p:pic>
        <p:nvPicPr>
          <p:cNvPr id="3" name="Image 0" descr="topic icon">    </p:cNvPr>
          <p:cNvPicPr>
            <a:picLocks noChangeAspect="1"/>
          </p:cNvPicPr>
          <p:nvPr/>
        </p:nvPicPr>
        <p:blipFill>
          <a:blip r:embed="rId1"/>
          <a:stretch>
            <a:fillRect/>
          </a:stretch>
        </p:blipFill>
        <p:spPr>
          <a:xfrm>
            <a:off x="7360920" y="1325880"/>
            <a:ext cx="731520" cy="731520"/>
          </a:xfrm>
          <a:prstGeom prst="rect">
            <a:avLst/>
          </a:prstGeom>
        </p:spPr>
      </p:pic>
      <p:sp>
        <p:nvSpPr>
          <p:cNvPr id="4" name="Text 1"/>
          <p:cNvSpPr txBox="1"/>
          <p:nvPr/>
        </p:nvSpPr>
        <p:spPr>
          <a:xfrm>
            <a:off x="640080" y="822960"/>
            <a:ext cx="6035040" cy="365760"/>
          </a:xfrm>
          <a:prstGeom prst="rect">
            <a:avLst/>
          </a:prstGeom>
          <a:noFill/>
          <a:ln/>
        </p:spPr>
        <p:txBody>
          <a:bodyPr wrap="square" lIns="0" tIns="0" rIns="0" bIns="0" rtlCol="0" anchor="ctr"/>
          <a:lstStyle/>
          <a:p>
            <a:pPr indent="0" marL="0">
              <a:buNone/>
            </a:pPr>
            <a:r>
              <a:rPr lang="en-US" sz="1500" b="1" spc="300" kern="0" dirty="0">
                <a:solidFill>
                  <a:schemeClr val="accent1"/>
                </a:solidFill>
              </a:rPr>
              <a:t>UNIT 1  ·  9 hours</a:t>
            </a:r>
            <a:endParaRPr lang="en-US" sz="1500" dirty="0"/>
          </a:p>
        </p:txBody>
      </p:sp>
      <p:sp>
        <p:nvSpPr>
          <p:cNvPr id="5" name="Text 2"/>
          <p:cNvSpPr txBox="1"/>
          <p:nvPr/>
        </p:nvSpPr>
        <p:spPr>
          <a:xfrm>
            <a:off x="640080" y="1280160"/>
            <a:ext cx="6035040" cy="155448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Analysis of RL and RC Series Circuits</a:t>
            </a:r>
            <a:endParaRPr lang="en-US" sz="3600" dirty="0"/>
          </a:p>
        </p:txBody>
      </p:sp>
      <p:sp>
        <p:nvSpPr>
          <p:cNvPr id="6" name="Text 3"/>
          <p:cNvSpPr txBox="1"/>
          <p:nvPr/>
        </p:nvSpPr>
        <p:spPr>
          <a:xfrm>
            <a:off x="640080" y="2926080"/>
            <a:ext cx="6035040" cy="548640"/>
          </a:xfrm>
          <a:prstGeom prst="rect">
            <a:avLst/>
          </a:prstGeom>
          <a:noFill/>
          <a:ln/>
        </p:spPr>
        <p:txBody>
          <a:bodyPr wrap="square" lIns="0" tIns="0" rIns="0" bIns="0" rtlCol="0" anchor="t"/>
          <a:lstStyle/>
          <a:p>
            <a:pPr indent="0" marL="0">
              <a:buNone/>
            </a:pPr>
            <a:r>
              <a:rPr lang="en-US" sz="1600" dirty="0">
                <a:solidFill>
                  <a:srgbClr val="D5E0EE"/>
                </a:solidFill>
              </a:rPr>
              <a:t>Circuit Fundamentals</a:t>
            </a:r>
            <a:endParaRPr lang="en-US" sz="1600" dirty="0"/>
          </a:p>
        </p:txBody>
      </p:sp>
      <p:sp>
        <p:nvSpPr>
          <p:cNvPr id="7" name="Text 4"/>
          <p:cNvSpPr txBox="1"/>
          <p:nvPr/>
        </p:nvSpPr>
        <p:spPr>
          <a:xfrm>
            <a:off x="640080" y="3657600"/>
            <a:ext cx="7863840" cy="914400"/>
          </a:xfrm>
          <a:prstGeom prst="rect">
            <a:avLst/>
          </a:prstGeom>
          <a:noFill/>
          <a:ln/>
        </p:spPr>
        <p:txBody>
          <a:bodyPr wrap="square" lIns="0" tIns="0" rIns="0" bIns="0" rtlCol="0" anchor="t"/>
          <a:lstStyle/>
          <a:p>
            <a:pPr indent="0" marL="0">
              <a:buNone/>
            </a:pPr>
            <a:r>
              <a:rPr lang="en-US" sz="1400" b="1" dirty="0">
                <a:solidFill>
                  <a:schemeClr val="bg1"/>
                </a:solidFill>
              </a:rPr>
              <a:t>Basic Electrical and Electronics Engineering  (EEE103)</a:t>
            </a:r>
            <a:endParaRPr lang="en-US" sz="1400" dirty="0"/>
          </a:p>
          <a:p>
            <a:pPr indent="0" marL="0">
              <a:buNone/>
            </a:pPr>
            <a:r>
              <a:rPr lang="en-US" sz="1400" dirty="0">
                <a:solidFill>
                  <a:srgbClr val="D5E0EE"/>
                </a:solidFill>
              </a:rPr>
              <a:t>Dr. Mitesh Astik · Dept. of Electrical and Electronics Engineering</a:t>
            </a:r>
            <a:endParaRPr lang="en-US" sz="1400" dirty="0"/>
          </a:p>
          <a:p>
            <a:pPr indent="0" marL="0">
              <a:buNone/>
            </a:pPr>
            <a:r>
              <a:rPr lang="en-US" sz="1400" dirty="0">
                <a:solidFill>
                  <a:srgbClr val="D5E0EE"/>
                </a:solidFill>
              </a:rPr>
              <a:t>NMAM Institute of Technology, Nitte · 2025-26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Learning objectives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Text 3"/>
          <p:cNvSpPr txBox="1"/>
          <p:nvPr/>
        </p:nvSpPr>
        <p:spPr>
          <a:xfrm>
            <a:off x="457200" y="1188720"/>
            <a:ext cx="4846320" cy="338328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Draw phasor and impedance diagrams for RL and RC series circuits</a:t>
            </a:r>
            <a:endParaRPr lang="en-US" sz="2200" dirty="0"/>
          </a:p>
          <a:p>
            <a:pPr marL="342900" indent="-342900">
              <a:spcAft>
                <a:spcPts val="600"/>
              </a:spcAft>
              <a:buSzPct val="100000"/>
              <a:buChar char="•"/>
            </a:pPr>
            <a:r>
              <a:rPr lang="en-US" sz="2200" dirty="0">
                <a:solidFill>
                  <a:schemeClr val="tx1"/>
                </a:solidFill>
              </a:rPr>
              <a:t>Compute impedance, current, phase angle and power</a:t>
            </a:r>
            <a:endParaRPr lang="en-US" sz="2200" dirty="0"/>
          </a:p>
          <a:p>
            <a:pPr marL="342900" indent="-342900">
              <a:spcAft>
                <a:spcPts val="600"/>
              </a:spcAft>
              <a:buSzPct val="100000"/>
              <a:buChar char="•"/>
            </a:pPr>
            <a:r>
              <a:rPr lang="en-US" sz="2200" dirty="0">
                <a:solidFill>
                  <a:schemeClr val="tx1"/>
                </a:solidFill>
              </a:rPr>
              <a:t>Decide whether current lags or leads</a:t>
            </a:r>
            <a:endParaRPr lang="en-US" sz="2200" dirty="0"/>
          </a:p>
          <a:p>
            <a:pPr marL="342900" indent="-342900">
              <a:spcAft>
                <a:spcPts val="600"/>
              </a:spcAft>
              <a:buSzPct val="100000"/>
              <a:buChar char="•"/>
            </a:pPr>
            <a:r>
              <a:rPr lang="en-US" sz="2200" dirty="0">
                <a:solidFill>
                  <a:schemeClr val="tx1"/>
                </a:solidFill>
              </a:rPr>
              <a:t>Solve numericals</a:t>
            </a:r>
            <a:endParaRPr lang="en-US" sz="2200" dirty="0"/>
          </a:p>
        </p:txBody>
      </p:sp>
      <p:sp>
        <p:nvSpPr>
          <p:cNvPr id="7" name="Card"/>
          <p:cNvSpPr/>
          <p:nvPr/>
        </p:nvSpPr>
        <p:spPr>
          <a:xfrm>
            <a:off x="5577840" y="1188720"/>
            <a:ext cx="3108960" cy="3383280"/>
          </a:xfrm>
          <a:prstGeom prst="roundRect">
            <a:avLst>
              <a:gd name="adj" fmla="val 2353"/>
            </a:avLst>
          </a:prstGeom>
          <a:solidFill>
            <a:schemeClr val="bg2"/>
          </a:solidFill>
          <a:ln/>
        </p:spPr>
      </p:sp>
      <p:sp>
        <p:nvSpPr>
          <p:cNvPr id="8" name="Text 5"/>
          <p:cNvSpPr txBox="1"/>
          <p:nvPr/>
        </p:nvSpPr>
        <p:spPr>
          <a:xfrm>
            <a:off x="5715000" y="1261872"/>
            <a:ext cx="2834640" cy="365760"/>
          </a:xfrm>
          <a:prstGeom prst="rect">
            <a:avLst/>
          </a:prstGeom>
          <a:noFill/>
          <a:ln/>
        </p:spPr>
        <p:txBody>
          <a:bodyPr wrap="square" lIns="0" tIns="0" rIns="0" bIns="0" rtlCol="0" anchor="ctr"/>
          <a:lstStyle/>
          <a:p>
            <a:pPr indent="0" marL="0">
              <a:buNone/>
            </a:pPr>
            <a:r>
              <a:rPr lang="en-US" sz="1600" b="1" dirty="0">
                <a:solidFill>
                  <a:schemeClr val="tx2"/>
                </a:solidFill>
              </a:rPr>
              <a:t>Syllabus context</a:t>
            </a:r>
            <a:endParaRPr lang="en-US" sz="1600" dirty="0"/>
          </a:p>
        </p:txBody>
      </p:sp>
      <p:sp>
        <p:nvSpPr>
          <p:cNvPr id="9" name="Text 6"/>
          <p:cNvSpPr txBox="1"/>
          <p:nvPr/>
        </p:nvSpPr>
        <p:spPr>
          <a:xfrm>
            <a:off x="5715000" y="1645920"/>
            <a:ext cx="2834640" cy="285292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Analysis of R, L, C, RL, RC and RLC series circuits, real power, reactive power, apparent power and power factor.</a:t>
            </a:r>
            <a:endParaRPr lang="en-US" sz="2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RL series circuit: impedance and phase</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pic>
        <p:nvPicPr>
          <p:cNvPr id="6" name="Image 0" descr="ph_rl figure">    </p:cNvPr>
          <p:cNvPicPr>
            <a:picLocks noChangeAspect="1"/>
          </p:cNvPicPr>
          <p:nvPr/>
        </p:nvPicPr>
        <p:blipFill>
          <a:blip r:embed="rId1"/>
          <a:stretch>
            <a:fillRect/>
          </a:stretch>
        </p:blipFill>
        <p:spPr>
          <a:xfrm>
            <a:off x="1849806" y="1188720"/>
            <a:ext cx="2335427" cy="3200400"/>
          </a:xfrm>
          <a:prstGeom prst="rect">
            <a:avLst/>
          </a:prstGeom>
        </p:spPr>
      </p:pic>
      <p:sp>
        <p:nvSpPr>
          <p:cNvPr id="7" name="Text 3"/>
          <p:cNvSpPr txBox="1"/>
          <p:nvPr/>
        </p:nvSpPr>
        <p:spPr>
          <a:xfrm>
            <a:off x="5760720" y="1188720"/>
            <a:ext cx="2926080" cy="342900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1"/>
                </a:solidFill>
              </a:rPr>
              <a:t>Same current flows in R and L; use I as reference.</a:t>
            </a:r>
            <a:endParaRPr lang="en-US" sz="1800" dirty="0"/>
          </a:p>
          <a:p>
            <a:pPr marL="342900" indent="-342900">
              <a:spcAft>
                <a:spcPts val="600"/>
              </a:spcAft>
              <a:buSzPct val="100000"/>
              <a:buChar char="•"/>
            </a:pPr>
            <a:r>
              <a:rPr lang="en-US" sz="1800" dirty="0">
                <a:solidFill>
                  <a:schemeClr val="tx1"/>
                </a:solidFill>
              </a:rPr>
              <a:t>VR = IR in phase with I; VL = IXL leads by 90°.</a:t>
            </a:r>
            <a:endParaRPr lang="en-US" sz="1800" dirty="0"/>
          </a:p>
          <a:p>
            <a:pPr marL="342900" indent="-342900">
              <a:spcAft>
                <a:spcPts val="600"/>
              </a:spcAft>
              <a:buSzPct val="100000"/>
              <a:buChar char="•"/>
            </a:pPr>
            <a:r>
              <a:rPr lang="en-US" sz="1800" dirty="0">
                <a:solidFill>
                  <a:schemeClr val="tx1"/>
                </a:solidFill>
              </a:rPr>
              <a:t>V = √(VR² + VL²) = I Z</a:t>
            </a:r>
            <a:endParaRPr lang="en-US" sz="1800" dirty="0"/>
          </a:p>
          <a:p>
            <a:pPr marL="342900" indent="-342900">
              <a:spcAft>
                <a:spcPts val="600"/>
              </a:spcAft>
              <a:buSzPct val="100000"/>
              <a:buChar char="•"/>
            </a:pPr>
            <a:r>
              <a:rPr lang="en-US" sz="1800" dirty="0">
                <a:solidFill>
                  <a:schemeClr val="tx1"/>
                </a:solidFill>
              </a:rPr>
              <a:t>Z = √(R² + XL²),  φ = tan⁻¹(XL/R)</a:t>
            </a:r>
            <a:endParaRPr lang="en-US" sz="1800" dirty="0"/>
          </a:p>
          <a:p>
            <a:pPr marL="342900" indent="-342900">
              <a:spcAft>
                <a:spcPts val="600"/>
              </a:spcAft>
              <a:buSzPct val="100000"/>
              <a:buChar char="•"/>
            </a:pPr>
            <a:r>
              <a:rPr lang="en-US" sz="1800" dirty="0">
                <a:solidFill>
                  <a:schemeClr val="tx1"/>
                </a:solidFill>
              </a:rPr>
              <a:t>Current lags the supply voltage by φ.</a:t>
            </a:r>
            <a:endParaRPr lang="en-US" sz="1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RC series circuit: impedance and phase</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pic>
        <p:nvPicPr>
          <p:cNvPr id="6" name="Image 0" descr="ph_rc figure">    </p:cNvPr>
          <p:cNvPicPr>
            <a:picLocks noChangeAspect="1"/>
          </p:cNvPicPr>
          <p:nvPr/>
        </p:nvPicPr>
        <p:blipFill>
          <a:blip r:embed="rId1"/>
          <a:stretch>
            <a:fillRect/>
          </a:stretch>
        </p:blipFill>
        <p:spPr>
          <a:xfrm>
            <a:off x="1849806" y="1188720"/>
            <a:ext cx="2335427" cy="3200400"/>
          </a:xfrm>
          <a:prstGeom prst="rect">
            <a:avLst/>
          </a:prstGeom>
        </p:spPr>
      </p:pic>
      <p:sp>
        <p:nvSpPr>
          <p:cNvPr id="7" name="Text 3"/>
          <p:cNvSpPr txBox="1"/>
          <p:nvPr/>
        </p:nvSpPr>
        <p:spPr>
          <a:xfrm>
            <a:off x="5760720" y="1188720"/>
            <a:ext cx="2926080" cy="34290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VR = IR in phase with I; VC = IXC lags by 90°.</a:t>
            </a:r>
            <a:endParaRPr lang="en-US" sz="2200" dirty="0"/>
          </a:p>
          <a:p>
            <a:pPr marL="342900" indent="-342900">
              <a:spcAft>
                <a:spcPts val="600"/>
              </a:spcAft>
              <a:buSzPct val="100000"/>
              <a:buChar char="•"/>
            </a:pPr>
            <a:r>
              <a:rPr lang="en-US" sz="2200" dirty="0">
                <a:solidFill>
                  <a:schemeClr val="tx1"/>
                </a:solidFill>
              </a:rPr>
              <a:t>V = √(VR² + VC²) = I Z</a:t>
            </a:r>
            <a:endParaRPr lang="en-US" sz="2200" dirty="0"/>
          </a:p>
          <a:p>
            <a:pPr marL="342900" indent="-342900">
              <a:spcAft>
                <a:spcPts val="600"/>
              </a:spcAft>
              <a:buSzPct val="100000"/>
              <a:buChar char="•"/>
            </a:pPr>
            <a:r>
              <a:rPr lang="en-US" sz="2200" dirty="0">
                <a:solidFill>
                  <a:schemeClr val="tx1"/>
                </a:solidFill>
              </a:rPr>
              <a:t>Z = √(R² + XC²),  φ = tan⁻¹(XC/R)</a:t>
            </a:r>
            <a:endParaRPr lang="en-US" sz="2200" dirty="0"/>
          </a:p>
          <a:p>
            <a:pPr marL="342900" indent="-342900">
              <a:spcAft>
                <a:spcPts val="600"/>
              </a:spcAft>
              <a:buSzPct val="100000"/>
              <a:buChar char="•"/>
            </a:pPr>
            <a:r>
              <a:rPr lang="en-US" sz="2200" dirty="0">
                <a:solidFill>
                  <a:schemeClr val="tx1"/>
                </a:solidFill>
              </a:rPr>
              <a:t>Current leads the supply voltage by φ.</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Impedance triangles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pic>
        <p:nvPicPr>
          <p:cNvPr id="6" name="Image 0" descr="imped figure">    </p:cNvPr>
          <p:cNvPicPr>
            <a:picLocks noChangeAspect="1"/>
          </p:cNvPicPr>
          <p:nvPr/>
        </p:nvPicPr>
        <p:blipFill>
          <a:blip r:embed="rId1"/>
          <a:stretch>
            <a:fillRect/>
          </a:stretch>
        </p:blipFill>
        <p:spPr>
          <a:xfrm>
            <a:off x="2176081" y="1143000"/>
            <a:ext cx="4791838" cy="2148840"/>
          </a:xfrm>
          <a:prstGeom prst="rect">
            <a:avLst/>
          </a:prstGeom>
        </p:spPr>
      </p:pic>
      <p:sp>
        <p:nvSpPr>
          <p:cNvPr id="7" name="Text 3"/>
          <p:cNvSpPr txBox="1"/>
          <p:nvPr/>
        </p:nvSpPr>
        <p:spPr>
          <a:xfrm>
            <a:off x="457200" y="3429000"/>
            <a:ext cx="4023360" cy="12344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1"/>
                </a:solidFill>
              </a:rPr>
              <a:t>Z is the phasor sum of R and X.</a:t>
            </a:r>
            <a:endParaRPr lang="en-US" sz="1800" dirty="0"/>
          </a:p>
          <a:p>
            <a:pPr marL="342900" indent="-342900">
              <a:spcAft>
                <a:spcPts val="600"/>
              </a:spcAft>
              <a:buSzPct val="100000"/>
              <a:buChar char="•"/>
            </a:pPr>
            <a:r>
              <a:rPr lang="en-US" sz="1800" dirty="0">
                <a:solidFill>
                  <a:schemeClr val="tx1"/>
                </a:solidFill>
              </a:rPr>
              <a:t>cos φ = R/Z = power factor.</a:t>
            </a:r>
            <a:endParaRPr lang="en-US" sz="1800" dirty="0"/>
          </a:p>
        </p:txBody>
      </p:sp>
      <p:sp>
        <p:nvSpPr>
          <p:cNvPr id="8" name="Text 4"/>
          <p:cNvSpPr txBox="1"/>
          <p:nvPr/>
        </p:nvSpPr>
        <p:spPr>
          <a:xfrm>
            <a:off x="4663440" y="3429000"/>
            <a:ext cx="4023360" cy="12344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1"/>
                </a:solidFill>
              </a:rPr>
              <a:t>tan φ = X/R.</a:t>
            </a:r>
            <a:endParaRPr lang="en-US" sz="1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Power in RL and RC circuits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Formula"/>
          <p:cNvSpPr/>
          <p:nvPr/>
        </p:nvSpPr>
        <p:spPr>
          <a:xfrm>
            <a:off x="457200" y="1188720"/>
            <a:ext cx="4023360" cy="822960"/>
          </a:xfrm>
          <a:prstGeom prst="roundRect">
            <a:avLst>
              <a:gd name="adj" fmla="val 8889"/>
            </a:avLst>
          </a:prstGeom>
          <a:solidFill>
            <a:schemeClr val="tx2"/>
          </a:solidFill>
          <a:ln/>
        </p:spPr>
      </p:sp>
      <p:sp>
        <p:nvSpPr>
          <p:cNvPr id="7" name="Text 4"/>
          <p:cNvSpPr txBox="1"/>
          <p:nvPr/>
        </p:nvSpPr>
        <p:spPr>
          <a:xfrm>
            <a:off x="457200" y="1188720"/>
            <a:ext cx="4023360" cy="822960"/>
          </a:xfrm>
          <a:prstGeom prst="rect">
            <a:avLst/>
          </a:prstGeom>
          <a:noFill/>
          <a:ln/>
        </p:spPr>
        <p:txBody>
          <a:bodyPr wrap="square" lIns="762" tIns="762" rIns="762" bIns="762"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P = V I cos φ</a:t>
            </a:r>
            <a:endParaRPr lang="en-US" sz="2400" dirty="0"/>
          </a:p>
        </p:txBody>
      </p:sp>
      <p:sp>
        <p:nvSpPr>
          <p:cNvPr id="8" name="Text 5"/>
          <p:cNvSpPr txBox="1"/>
          <p:nvPr/>
        </p:nvSpPr>
        <p:spPr>
          <a:xfrm>
            <a:off x="457200" y="2029968"/>
            <a:ext cx="4023360" cy="411480"/>
          </a:xfrm>
          <a:prstGeom prst="rect">
            <a:avLst/>
          </a:prstGeom>
          <a:noFill/>
          <a:ln/>
        </p:spPr>
        <p:txBody>
          <a:bodyPr wrap="square" lIns="0" tIns="0" rIns="0" bIns="0" rtlCol="0" anchor="t"/>
          <a:lstStyle/>
          <a:p>
            <a:pPr algn="ctr" indent="0" marL="0">
              <a:buNone/>
            </a:pPr>
            <a:r>
              <a:rPr lang="en-US" sz="1300" i="1" dirty="0">
                <a:solidFill>
                  <a:schemeClr val="accent4"/>
                </a:solidFill>
              </a:rPr>
              <a:t>active power (W)</a:t>
            </a:r>
            <a:endParaRPr lang="en-US" sz="1300" dirty="0"/>
          </a:p>
        </p:txBody>
      </p:sp>
      <p:sp>
        <p:nvSpPr>
          <p:cNvPr id="9" name="Formula"/>
          <p:cNvSpPr/>
          <p:nvPr/>
        </p:nvSpPr>
        <p:spPr>
          <a:xfrm>
            <a:off x="4663440" y="1188720"/>
            <a:ext cx="4023360" cy="822960"/>
          </a:xfrm>
          <a:prstGeom prst="roundRect">
            <a:avLst>
              <a:gd name="adj" fmla="val 8889"/>
            </a:avLst>
          </a:prstGeom>
          <a:solidFill>
            <a:schemeClr val="tx2"/>
          </a:solidFill>
          <a:ln/>
        </p:spPr>
      </p:sp>
      <p:sp>
        <p:nvSpPr>
          <p:cNvPr id="10" name="Text 7"/>
          <p:cNvSpPr txBox="1"/>
          <p:nvPr/>
        </p:nvSpPr>
        <p:spPr>
          <a:xfrm>
            <a:off x="4663440" y="1188720"/>
            <a:ext cx="4023360" cy="822960"/>
          </a:xfrm>
          <a:prstGeom prst="rect">
            <a:avLst/>
          </a:prstGeom>
          <a:noFill/>
          <a:ln/>
        </p:spPr>
        <p:txBody>
          <a:bodyPr wrap="square" lIns="762" tIns="762" rIns="762" bIns="762"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P = I² R</a:t>
            </a:r>
            <a:endParaRPr lang="en-US" sz="2400" dirty="0"/>
          </a:p>
        </p:txBody>
      </p:sp>
      <p:sp>
        <p:nvSpPr>
          <p:cNvPr id="11" name="Text 8"/>
          <p:cNvSpPr txBox="1"/>
          <p:nvPr/>
        </p:nvSpPr>
        <p:spPr>
          <a:xfrm>
            <a:off x="4663440" y="2029968"/>
            <a:ext cx="4023360" cy="411480"/>
          </a:xfrm>
          <a:prstGeom prst="rect">
            <a:avLst/>
          </a:prstGeom>
          <a:noFill/>
          <a:ln/>
        </p:spPr>
        <p:txBody>
          <a:bodyPr wrap="square" lIns="0" tIns="0" rIns="0" bIns="0" rtlCol="0" anchor="t"/>
          <a:lstStyle/>
          <a:p>
            <a:pPr algn="ctr" indent="0" marL="0">
              <a:buNone/>
            </a:pPr>
            <a:r>
              <a:rPr lang="en-US" sz="1300" i="1" dirty="0">
                <a:solidFill>
                  <a:schemeClr val="accent4"/>
                </a:solidFill>
              </a:rPr>
              <a:t>only R dissipates</a:t>
            </a:r>
            <a:endParaRPr lang="en-US" sz="1300" dirty="0"/>
          </a:p>
        </p:txBody>
      </p:sp>
      <p:sp>
        <p:nvSpPr>
          <p:cNvPr id="12" name="Text 9"/>
          <p:cNvSpPr txBox="1"/>
          <p:nvPr/>
        </p:nvSpPr>
        <p:spPr>
          <a:xfrm>
            <a:off x="457200" y="2560320"/>
            <a:ext cx="8229600" cy="20574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Instantaneous power p = ½VmIm cos φ − ½VmIm cos(2ωt − φ).</a:t>
            </a:r>
            <a:endParaRPr lang="en-US" sz="2200" dirty="0"/>
          </a:p>
          <a:p>
            <a:pPr marL="342900" indent="-342900">
              <a:spcAft>
                <a:spcPts val="600"/>
              </a:spcAft>
              <a:buSzPct val="100000"/>
              <a:buChar char="•"/>
            </a:pPr>
            <a:r>
              <a:rPr lang="en-US" sz="2200" dirty="0">
                <a:solidFill>
                  <a:schemeClr val="tx1"/>
                </a:solidFill>
              </a:rPr>
              <a:t>The second term averages to zero, so the average is VI cos φ.</a:t>
            </a:r>
            <a:endParaRPr lang="en-US" sz="2200" dirty="0"/>
          </a:p>
          <a:p>
            <a:pPr marL="342900" indent="-342900">
              <a:spcAft>
                <a:spcPts val="600"/>
              </a:spcAft>
              <a:buSzPct val="100000"/>
              <a:buChar char="•"/>
            </a:pPr>
            <a:r>
              <a:rPr lang="en-US" sz="2200" dirty="0">
                <a:solidFill>
                  <a:schemeClr val="tx1"/>
                </a:solidFill>
              </a:rPr>
              <a:t>Positive power lobes are larger than negative ones: net power is absorbed.</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Numerical: RL series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Problem"/>
          <p:cNvSpPr/>
          <p:nvPr/>
        </p:nvSpPr>
        <p:spPr>
          <a:xfrm>
            <a:off x="457200" y="1143000"/>
            <a:ext cx="8229600" cy="868680"/>
          </a:xfrm>
          <a:prstGeom prst="roundRect">
            <a:avLst>
              <a:gd name="adj" fmla="val 8421"/>
            </a:avLst>
          </a:prstGeom>
          <a:solidFill>
            <a:schemeClr val="tx2"/>
          </a:solidFill>
          <a:ln/>
        </p:spPr>
      </p:sp>
      <p:sp>
        <p:nvSpPr>
          <p:cNvPr id="7" name="Text 4"/>
          <p:cNvSpPr txBox="1"/>
          <p:nvPr/>
        </p:nvSpPr>
        <p:spPr>
          <a:xfrm>
            <a:off x="640080" y="1143000"/>
            <a:ext cx="7863840" cy="868680"/>
          </a:xfrm>
          <a:prstGeom prst="rect">
            <a:avLst/>
          </a:prstGeom>
          <a:noFill/>
          <a:ln/>
        </p:spPr>
        <p:txBody>
          <a:bodyPr wrap="square" lIns="0" tIns="0" rIns="0" bIns="0" rtlCol="0" anchor="ctr"/>
          <a:lstStyle/>
          <a:p>
            <a:pPr indent="0" marL="0">
              <a:buNone/>
            </a:pPr>
            <a:r>
              <a:rPr lang="en-US" sz="1500" b="1" dirty="0">
                <a:solidFill>
                  <a:schemeClr val="accent1"/>
                </a:solidFill>
              </a:rPr>
              <a:t>Problem  </a:t>
            </a:r>
            <a:pPr indent="0" marL="0">
              <a:buNone/>
            </a:pPr>
            <a:r>
              <a:rPr lang="en-US" sz="1500" dirty="0">
                <a:solidFill>
                  <a:schemeClr val="bg1"/>
                </a:solidFill>
              </a:rPr>
              <a:t>R = 30 Ω and L = 0.1 H in series across 230 V, 50 Hz. Find Z, I, φ, power factor and P.</a:t>
            </a:r>
            <a:endParaRPr lang="en-US" sz="1500" dirty="0"/>
          </a:p>
        </p:txBody>
      </p:sp>
      <p:sp>
        <p:nvSpPr>
          <p:cNvPr id="8" name="Text 5"/>
          <p:cNvSpPr txBox="1"/>
          <p:nvPr/>
        </p:nvSpPr>
        <p:spPr>
          <a:xfrm>
            <a:off x="457200" y="2148840"/>
            <a:ext cx="8229600" cy="1828800"/>
          </a:xfrm>
          <a:prstGeom prst="rect">
            <a:avLst/>
          </a:prstGeom>
          <a:noFill/>
          <a:ln/>
        </p:spPr>
        <p:txBody>
          <a:bodyPr wrap="square" lIns="0" tIns="0" rIns="0" bIns="0" rtlCol="0" anchor="t"/>
          <a:lstStyle/>
          <a:p>
            <a:pPr marL="342900" indent="-342900">
              <a:spcAft>
                <a:spcPts val="600"/>
              </a:spcAft>
              <a:buSzPct val="100000"/>
              <a:buChar char="•"/>
            </a:pPr>
            <a:r>
              <a:rPr lang="en-US" sz="2000" dirty="0">
                <a:solidFill>
                  <a:schemeClr val="tx1"/>
                </a:solidFill>
              </a:rPr>
              <a:t>XL = 2π·50·0.1 = 31.42 Ω</a:t>
            </a:r>
            <a:endParaRPr lang="en-US" sz="2000" dirty="0"/>
          </a:p>
          <a:p>
            <a:pPr marL="342900" indent="-342900">
              <a:spcAft>
                <a:spcPts val="600"/>
              </a:spcAft>
              <a:buSzPct val="100000"/>
              <a:buChar char="•"/>
            </a:pPr>
            <a:r>
              <a:rPr lang="en-US" sz="2000" dirty="0">
                <a:solidFill>
                  <a:schemeClr val="tx1"/>
                </a:solidFill>
              </a:rPr>
              <a:t>Z = √(30² + 31.42²) = 43.44 Ω</a:t>
            </a:r>
            <a:endParaRPr lang="en-US" sz="2000" dirty="0"/>
          </a:p>
          <a:p>
            <a:pPr marL="342900" indent="-342900">
              <a:spcAft>
                <a:spcPts val="600"/>
              </a:spcAft>
              <a:buSzPct val="100000"/>
              <a:buChar char="•"/>
            </a:pPr>
            <a:r>
              <a:rPr lang="en-US" sz="2000" dirty="0">
                <a:solidFill>
                  <a:schemeClr val="tx1"/>
                </a:solidFill>
              </a:rPr>
              <a:t>I = 230/43.44 = 5.29 A;  φ = tan⁻¹(31.42/30) = 46.3° (lagging)</a:t>
            </a:r>
            <a:endParaRPr lang="en-US" sz="2000" dirty="0"/>
          </a:p>
          <a:p>
            <a:pPr marL="342900" indent="-342900">
              <a:spcAft>
                <a:spcPts val="600"/>
              </a:spcAft>
              <a:buSzPct val="100000"/>
              <a:buChar char="•"/>
            </a:pPr>
            <a:r>
              <a:rPr lang="en-US" sz="2000" dirty="0">
                <a:solidFill>
                  <a:schemeClr val="tx1"/>
                </a:solidFill>
              </a:rPr>
              <a:t>cos φ = 30/43.44 = 0.69;  P = I²R = 5.29² × 30</a:t>
            </a:r>
            <a:endParaRPr lang="en-US" sz="2000" dirty="0"/>
          </a:p>
        </p:txBody>
      </p:sp>
      <p:sp>
        <p:nvSpPr>
          <p:cNvPr id="9" name="Answer"/>
          <p:cNvSpPr/>
          <p:nvPr/>
        </p:nvSpPr>
        <p:spPr>
          <a:xfrm>
            <a:off x="457200" y="4069080"/>
            <a:ext cx="8229600" cy="548640"/>
          </a:xfrm>
          <a:prstGeom prst="roundRect">
            <a:avLst>
              <a:gd name="adj" fmla="val 13333"/>
            </a:avLst>
          </a:prstGeom>
          <a:solidFill>
            <a:schemeClr val="accent1"/>
          </a:solidFill>
          <a:ln/>
        </p:spPr>
      </p:sp>
      <p:sp>
        <p:nvSpPr>
          <p:cNvPr id="10" name="Text 7"/>
          <p:cNvSpPr txBox="1"/>
          <p:nvPr/>
        </p:nvSpPr>
        <p:spPr>
          <a:xfrm>
            <a:off x="640080" y="4069080"/>
            <a:ext cx="7863840" cy="548640"/>
          </a:xfrm>
          <a:prstGeom prst="rect">
            <a:avLst/>
          </a:prstGeom>
          <a:noFill/>
          <a:ln/>
        </p:spPr>
        <p:txBody>
          <a:bodyPr wrap="square" lIns="0" tIns="0" rIns="0" bIns="0" rtlCol="0" anchor="ctr"/>
          <a:lstStyle/>
          <a:p>
            <a:pPr indent="0" marL="0">
              <a:buNone/>
            </a:pPr>
            <a:r>
              <a:rPr lang="en-US" sz="1600" b="1" dirty="0">
                <a:solidFill>
                  <a:schemeClr val="tx1"/>
                </a:solidFill>
              </a:rPr>
              <a:t>Answer:  I = 5.29 A, pf = 0.69 lag, P = 840 W</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Numerical: RC series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Problem"/>
          <p:cNvSpPr/>
          <p:nvPr/>
        </p:nvSpPr>
        <p:spPr>
          <a:xfrm>
            <a:off x="457200" y="1143000"/>
            <a:ext cx="8229600" cy="868680"/>
          </a:xfrm>
          <a:prstGeom prst="roundRect">
            <a:avLst>
              <a:gd name="adj" fmla="val 8421"/>
            </a:avLst>
          </a:prstGeom>
          <a:solidFill>
            <a:schemeClr val="tx2"/>
          </a:solidFill>
          <a:ln/>
        </p:spPr>
      </p:sp>
      <p:sp>
        <p:nvSpPr>
          <p:cNvPr id="7" name="Text 4"/>
          <p:cNvSpPr txBox="1"/>
          <p:nvPr/>
        </p:nvSpPr>
        <p:spPr>
          <a:xfrm>
            <a:off x="640080" y="1143000"/>
            <a:ext cx="7863840" cy="868680"/>
          </a:xfrm>
          <a:prstGeom prst="rect">
            <a:avLst/>
          </a:prstGeom>
          <a:noFill/>
          <a:ln/>
        </p:spPr>
        <p:txBody>
          <a:bodyPr wrap="square" lIns="0" tIns="0" rIns="0" bIns="0" rtlCol="0" anchor="ctr"/>
          <a:lstStyle/>
          <a:p>
            <a:pPr indent="0" marL="0">
              <a:buNone/>
            </a:pPr>
            <a:r>
              <a:rPr lang="en-US" sz="1500" b="1" dirty="0">
                <a:solidFill>
                  <a:schemeClr val="accent1"/>
                </a:solidFill>
              </a:rPr>
              <a:t>Problem  </a:t>
            </a:r>
            <a:pPr indent="0" marL="0">
              <a:buNone/>
            </a:pPr>
            <a:r>
              <a:rPr lang="en-US" sz="1500" dirty="0">
                <a:solidFill>
                  <a:schemeClr val="bg1"/>
                </a:solidFill>
              </a:rPr>
              <a:t>R = 50 Ω and C = 50 µF in series across 230 V, 50 Hz. Find Z, I and φ.</a:t>
            </a:r>
            <a:endParaRPr lang="en-US" sz="1500" dirty="0"/>
          </a:p>
        </p:txBody>
      </p:sp>
      <p:sp>
        <p:nvSpPr>
          <p:cNvPr id="8" name="Text 5"/>
          <p:cNvSpPr txBox="1"/>
          <p:nvPr/>
        </p:nvSpPr>
        <p:spPr>
          <a:xfrm>
            <a:off x="457200" y="2148840"/>
            <a:ext cx="8229600" cy="18288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XC = 1/(2π·50·50×10⁻⁶) = 63.66 Ω</a:t>
            </a:r>
            <a:endParaRPr lang="en-US" sz="2200" dirty="0"/>
          </a:p>
          <a:p>
            <a:pPr marL="342900" indent="-342900">
              <a:spcAft>
                <a:spcPts val="600"/>
              </a:spcAft>
              <a:buSzPct val="100000"/>
              <a:buChar char="•"/>
            </a:pPr>
            <a:r>
              <a:rPr lang="en-US" sz="2200" dirty="0">
                <a:solidFill>
                  <a:schemeClr val="tx1"/>
                </a:solidFill>
              </a:rPr>
              <a:t>Z = √(50² + 63.66²) = 80.95 Ω</a:t>
            </a:r>
            <a:endParaRPr lang="en-US" sz="2200" dirty="0"/>
          </a:p>
          <a:p>
            <a:pPr marL="342900" indent="-342900">
              <a:spcAft>
                <a:spcPts val="600"/>
              </a:spcAft>
              <a:buSzPct val="100000"/>
              <a:buChar char="•"/>
            </a:pPr>
            <a:r>
              <a:rPr lang="en-US" sz="2200" dirty="0">
                <a:solidFill>
                  <a:schemeClr val="tx1"/>
                </a:solidFill>
              </a:rPr>
              <a:t>I = 230/80.95 = 2.84 A</a:t>
            </a:r>
            <a:endParaRPr lang="en-US" sz="2200" dirty="0"/>
          </a:p>
          <a:p>
            <a:pPr marL="342900" indent="-342900">
              <a:spcAft>
                <a:spcPts val="600"/>
              </a:spcAft>
              <a:buSzPct val="100000"/>
              <a:buChar char="•"/>
            </a:pPr>
            <a:r>
              <a:rPr lang="en-US" sz="2200" dirty="0">
                <a:solidFill>
                  <a:schemeClr val="tx1"/>
                </a:solidFill>
              </a:rPr>
              <a:t>φ = tan⁻¹(63.66/50) = 51.9° (current leads)</a:t>
            </a:r>
            <a:endParaRPr lang="en-US" sz="2200" dirty="0"/>
          </a:p>
        </p:txBody>
      </p:sp>
      <p:sp>
        <p:nvSpPr>
          <p:cNvPr id="9" name="Answer"/>
          <p:cNvSpPr/>
          <p:nvPr/>
        </p:nvSpPr>
        <p:spPr>
          <a:xfrm>
            <a:off x="457200" y="4069080"/>
            <a:ext cx="8229600" cy="548640"/>
          </a:xfrm>
          <a:prstGeom prst="roundRect">
            <a:avLst>
              <a:gd name="adj" fmla="val 13333"/>
            </a:avLst>
          </a:prstGeom>
          <a:solidFill>
            <a:schemeClr val="accent1"/>
          </a:solidFill>
          <a:ln/>
        </p:spPr>
      </p:sp>
      <p:sp>
        <p:nvSpPr>
          <p:cNvPr id="10" name="Text 7"/>
          <p:cNvSpPr txBox="1"/>
          <p:nvPr/>
        </p:nvSpPr>
        <p:spPr>
          <a:xfrm>
            <a:off x="640080" y="4069080"/>
            <a:ext cx="7863840" cy="548640"/>
          </a:xfrm>
          <a:prstGeom prst="rect">
            <a:avLst/>
          </a:prstGeom>
          <a:noFill/>
          <a:ln/>
        </p:spPr>
        <p:txBody>
          <a:bodyPr wrap="square" lIns="0" tIns="0" rIns="0" bIns="0" rtlCol="0" anchor="ctr"/>
          <a:lstStyle/>
          <a:p>
            <a:pPr indent="0" marL="0">
              <a:buNone/>
            </a:pPr>
            <a:r>
              <a:rPr lang="en-US" sz="1600" b="1" dirty="0">
                <a:solidFill>
                  <a:schemeClr val="tx1"/>
                </a:solidFill>
              </a:rPr>
              <a:t>Answer:  Z = 80.95 Ω, I = 2.84 A, φ = 51.9° leading</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Key takeaways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Z = √(R² + X²), V = IZ</a:t>
            </a:r>
            <a:endParaRPr lang="en-US" sz="2200" dirty="0"/>
          </a:p>
          <a:p>
            <a:pPr marL="342900" indent="-342900">
              <a:spcAft>
                <a:spcPts val="600"/>
              </a:spcAft>
              <a:buSzPct val="100000"/>
              <a:buChar char="•"/>
            </a:pPr>
            <a:r>
              <a:rPr lang="en-US" sz="2200" dirty="0">
                <a:solidFill>
                  <a:schemeClr val="tx1"/>
                </a:solidFill>
              </a:rPr>
              <a:t>RL: current lags; RC: current leads</a:t>
            </a:r>
            <a:endParaRPr lang="en-US" sz="2200" dirty="0"/>
          </a:p>
          <a:p>
            <a:pPr marL="342900" indent="-342900">
              <a:spcAft>
                <a:spcPts val="600"/>
              </a:spcAft>
              <a:buSzPct val="100000"/>
              <a:buChar char="•"/>
            </a:pPr>
            <a:r>
              <a:rPr lang="en-US" sz="2200" dirty="0">
                <a:solidFill>
                  <a:schemeClr val="tx1"/>
                </a:solidFill>
              </a:rPr>
              <a:t>pf = cos φ = R/Z</a:t>
            </a:r>
            <a:endParaRPr lang="en-US" sz="2200" dirty="0"/>
          </a:p>
          <a:p>
            <a:pPr marL="342900" indent="-342900">
              <a:spcAft>
                <a:spcPts val="600"/>
              </a:spcAft>
              <a:buSzPct val="100000"/>
              <a:buChar char="•"/>
            </a:pPr>
            <a:r>
              <a:rPr lang="en-US" sz="2200" dirty="0">
                <a:solidFill>
                  <a:schemeClr val="tx1"/>
                </a:solidFill>
              </a:rPr>
              <a:t>Only the resistance dissipates power: P = I²R</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Practice questions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1700" b="1" dirty="0">
                <a:solidFill>
                  <a:schemeClr val="tx2"/>
                </a:solidFill>
              </a:rPr>
              <a:t>Q1. </a:t>
            </a:r>
            <a:pPr indent="0" marL="0">
              <a:spcAft>
                <a:spcPts val="600"/>
              </a:spcAft>
              <a:buNone/>
            </a:pPr>
            <a:r>
              <a:rPr lang="en-US" sz="1700" dirty="0">
                <a:solidFill>
                  <a:schemeClr val="tx1"/>
                </a:solidFill>
              </a:rPr>
              <a:t>R = 10 Ω, L = 50 mH in series on 100 V, 50 Hz. Find I, φ, P.</a:t>
            </a:r>
            <a:endParaRPr lang="en-US" sz="1700" dirty="0"/>
          </a:p>
          <a:p>
            <a:pPr marL="342900" indent="-342900">
              <a:spcAft>
                <a:spcPts val="600"/>
              </a:spcAft>
              <a:buSzPct val="100000"/>
              <a:buChar char="•"/>
            </a:pPr>
            <a:r>
              <a:rPr lang="en-US" sz="1700" b="1" dirty="0">
                <a:solidFill>
                  <a:schemeClr val="tx2"/>
                </a:solidFill>
              </a:rPr>
              <a:t>Q2. </a:t>
            </a:r>
            <a:pPr indent="0" marL="0">
              <a:spcAft>
                <a:spcPts val="600"/>
              </a:spcAft>
              <a:buNone/>
            </a:pPr>
            <a:r>
              <a:rPr lang="en-US" sz="1700" dirty="0">
                <a:solidFill>
                  <a:schemeClr val="tx1"/>
                </a:solidFill>
              </a:rPr>
              <a:t>R = 20 Ω, C = 100 µF on 230 V, 50 Hz. Find Z, I, pf.</a:t>
            </a:r>
            <a:endParaRPr lang="en-US" sz="1700" dirty="0"/>
          </a:p>
          <a:p>
            <a:pPr marL="342900" indent="-342900">
              <a:spcAft>
                <a:spcPts val="600"/>
              </a:spcAft>
              <a:buSzPct val="100000"/>
              <a:buChar char="•"/>
            </a:pPr>
            <a:r>
              <a:rPr lang="en-US" sz="1700" b="1" dirty="0">
                <a:solidFill>
                  <a:schemeClr val="tx2"/>
                </a:solidFill>
              </a:rPr>
              <a:t>Q3. </a:t>
            </a:r>
            <a:pPr indent="0" marL="0">
              <a:spcAft>
                <a:spcPts val="600"/>
              </a:spcAft>
              <a:buNone/>
            </a:pPr>
            <a:r>
              <a:rPr lang="en-US" sz="1700" dirty="0">
                <a:solidFill>
                  <a:schemeClr val="tx1"/>
                </a:solidFill>
              </a:rPr>
              <a:t>A coil has R = 8 Ω, XL = 6 Ω. Find Z and pf.</a:t>
            </a:r>
            <a:endParaRPr lang="en-US" sz="1700" dirty="0"/>
          </a:p>
          <a:p>
            <a:pPr marL="342900" indent="-342900">
              <a:spcAft>
                <a:spcPts val="600"/>
              </a:spcAft>
              <a:buSzPct val="100000"/>
              <a:buChar char="•"/>
            </a:pPr>
            <a:r>
              <a:rPr lang="en-US" sz="1700" b="1" dirty="0">
                <a:solidFill>
                  <a:schemeClr val="tx2"/>
                </a:solidFill>
              </a:rPr>
              <a:t>Q4. </a:t>
            </a:r>
            <a:pPr indent="0" marL="0">
              <a:spcAft>
                <a:spcPts val="600"/>
              </a:spcAft>
              <a:buNone/>
            </a:pPr>
            <a:r>
              <a:rPr lang="en-US" sz="1700" dirty="0">
                <a:solidFill>
                  <a:schemeClr val="tx1"/>
                </a:solidFill>
              </a:rPr>
              <a:t>Draw the phasor diagram for an RC circuit with I as reference.</a:t>
            </a:r>
            <a:endParaRPr lang="en-US" sz="17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BEEE">
  <a:themeElements>
    <a:clrScheme name="BEEE">
      <a:dk1>
        <a:srgbClr val="0B1F3A"/>
      </a:dk1>
      <a:lt1>
        <a:srgbClr val="FFFFFF"/>
      </a:lt1>
      <a:dk2>
        <a:srgbClr val="16396B"/>
      </a:dk2>
      <a:lt2>
        <a:srgbClr val="EDF2F8"/>
      </a:lt2>
      <a:accent1>
        <a:srgbClr val="F5A623"/>
      </a:accent1>
      <a:accent2>
        <a:srgbClr val="14777B"/>
      </a:accent2>
      <a:accent3>
        <a:srgbClr val="C93C20"/>
      </a:accent3>
      <a:accent4>
        <a:srgbClr val="5B6B7F"/>
      </a:accent4>
      <a:accent5>
        <a:srgbClr val="3E7CB1"/>
      </a:accent5>
      <a:accent6>
        <a:srgbClr val="7A4FD6"/>
      </a:accent6>
      <a:hlink>
        <a:srgbClr val="3E7CB1"/>
      </a:hlink>
      <a:folHlink>
        <a:srgbClr val="5B6B7F"/>
      </a:folHlink>
    </a:clrScheme>
    <a:fontScheme name="BEE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Dept. of EEE, NMAMIT, Nitte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Analysis of RL and RC Series Circuits</dc:title>
  <dc:subject>PptxGenJS Presentation</dc:subject>
  <dc:creator>Dr. Mitesh Astik</dc:creator>
  <cp:lastModifiedBy>Dr. Mitesh Astik</cp:lastModifiedBy>
  <cp:revision>1</cp:revision>
  <dcterms:created xsi:type="dcterms:W3CDTF">2026-10-29T10:05:20Z</dcterms:created>
  <dcterms:modified xsi:type="dcterms:W3CDTF">2026-10-29T10:05:20Z</dcterms:modified>
</cp:coreProperties>
</file>