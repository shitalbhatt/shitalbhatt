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it 1 · Average, RMS, Form and Peak Factor" id="{ceef7318-d756-38b0-fc5a-015c06d465fc}">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session we study "Average, RMS, Form and Peak Factor", part of Unit 1 (Circuit Fundamentals) of Basic Electrical and Electronics Engineering.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topic you should be able to do the following. Derive average and RMS values of a sinusoid. Explain why RMS is the effective value. Calculate form factor and peak factor. Convert between peak, average and 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average value of an alternating current is the steady DC that transfers the same charge in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RMS stands for root mean square: root of the mean of the square. It is the DC value that gives the same heating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sine wave Kf equals pi over two root two, which is one point one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Memorise this table. It is used in all rectifier and AC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Dividing 10 by zero point seven oh seven gives the same peak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forty five degrees the instantaneous value happens to equal the RMS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topic. Average (half cycle) = 0.637 × peak. RMS = 0.707 × peak: effective heating value. Form factor 1.11 and peak factor 1.414 for a sine. AC ratings (230 V) are RMS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Attempt these on your own, then check your working against your notes and textbook. Derive the RMS value of i = Im sin θ. A voltage has RMS 110 V. Find its peak and average values. A square wave of peak 10 V: what are its RMS and form factor? Why is the average of a full sine cycle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800600"/>
            <a:ext cx="7132320" cy="228600"/>
          </a:xfrm>
          <a:prstGeom prst="rect">
            <a:avLst/>
          </a:prstGeom>
          <a:noFill/>
          <a:ln/>
        </p:spPr>
        <p:txBody>
          <a:bodyPr wrap="square" lIns="0" tIns="0" rIns="0" bIns="0" rtlCol="0" anchor="ctr"/>
          <a:lstStyle/>
          <a:p>
            <a:pPr indent="0" marL="0">
              <a:buNone/>
            </a:pPr>
            <a:r>
              <a:rPr lang="en-US" sz="1000" dirty="0">
                <a:solidFill>
                  <a:schemeClr val="accent4"/>
                </a:solidFill>
              </a:rPr>
              <a:t>Basic Electrical and Electronics Engineering · Unit 1 · Dr. Mitesh Astik, NMAMIT Nitte</a:t>
            </a:r>
            <a:endParaRPr lang="en-US" sz="1000" dirty="0"/>
          </a:p>
        </p:txBody>
      </p:sp>
      <p:sp>
        <p:nvSpPr>
          <p:cNvPr id="3" name="Text 1"/>
          <p:cNvSpPr/>
          <p:nvPr>
            <p:ph idx="101" type="title" hasCustomPrompt="1"/>
          </p:nvPr>
        </p:nvSpPr>
        <p:spPr>
          <a:xfrm>
            <a:off x="1188720" y="274320"/>
            <a:ext cx="7498080" cy="6858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Icon circle"/>
          <p:cNvSpPr/>
          <p:nvPr/>
        </p:nvSpPr>
        <p:spPr>
          <a:xfrm>
            <a:off x="6858000" y="822960"/>
            <a:ext cx="1737360" cy="1737360"/>
          </a:xfrm>
          <a:prstGeom prst="ellipse">
            <a:avLst/>
          </a:prstGeom>
          <a:solidFill>
            <a:schemeClr val="accent1"/>
          </a:solidFill>
          <a:ln/>
        </p:spPr>
      </p:sp>
      <p:pic>
        <p:nvPicPr>
          <p:cNvPr id="3" name="Image 0" descr="topic icon">    </p:cNvPr>
          <p:cNvPicPr>
            <a:picLocks noChangeAspect="1"/>
          </p:cNvPicPr>
          <p:nvPr/>
        </p:nvPicPr>
        <p:blipFill>
          <a:blip r:embed="rId1"/>
          <a:stretch>
            <a:fillRect/>
          </a:stretch>
        </p:blipFill>
        <p:spPr>
          <a:xfrm>
            <a:off x="7360920" y="1325880"/>
            <a:ext cx="731520" cy="731520"/>
          </a:xfrm>
          <a:prstGeom prst="rect">
            <a:avLst/>
          </a:prstGeom>
        </p:spPr>
      </p:pic>
      <p:sp>
        <p:nvSpPr>
          <p:cNvPr id="4" name="Text 1"/>
          <p:cNvSpPr txBox="1"/>
          <p:nvPr/>
        </p:nvSpPr>
        <p:spPr>
          <a:xfrm>
            <a:off x="640080" y="822960"/>
            <a:ext cx="6035040" cy="365760"/>
          </a:xfrm>
          <a:prstGeom prst="rect">
            <a:avLst/>
          </a:prstGeom>
          <a:noFill/>
          <a:ln/>
        </p:spPr>
        <p:txBody>
          <a:bodyPr wrap="square" lIns="0" tIns="0" rIns="0" bIns="0" rtlCol="0" anchor="ctr"/>
          <a:lstStyle/>
          <a:p>
            <a:pPr indent="0" marL="0">
              <a:buNone/>
            </a:pPr>
            <a:r>
              <a:rPr lang="en-US" sz="1500" b="1" spc="300" kern="0" dirty="0">
                <a:solidFill>
                  <a:schemeClr val="accent1"/>
                </a:solidFill>
              </a:rPr>
              <a:t>UNIT 1  ·  9 hours</a:t>
            </a:r>
            <a:endParaRPr lang="en-US" sz="1500" dirty="0"/>
          </a:p>
        </p:txBody>
      </p:sp>
      <p:sp>
        <p:nvSpPr>
          <p:cNvPr id="5" name="Text 2"/>
          <p:cNvSpPr txBox="1"/>
          <p:nvPr/>
        </p:nvSpPr>
        <p:spPr>
          <a:xfrm>
            <a:off x="640080" y="1280160"/>
            <a:ext cx="6035040" cy="1554480"/>
          </a:xfrm>
          <a:prstGeom prst="rect">
            <a:avLst/>
          </a:prstGeom>
          <a:noFill/>
          <a:ln/>
        </p:spPr>
        <p:txBody>
          <a:bodyPr wrap="square" lIns="0" tIns="0" rIns="0" bIns="0" rtlCol="0" anchor="t"/>
          <a:lstStyle/>
          <a:p>
            <a:pPr indent="0" marL="0">
              <a:buNone/>
            </a:pPr>
            <a:r>
              <a:rPr lang="en-US" sz="3600" b="1" dirty="0">
                <a:solidFill>
                  <a:schemeClr val="bg1"/>
                </a:solidFill>
                <a:latin typeface="Cambria" pitchFamily="34" charset="0"/>
                <a:ea typeface="Cambria" pitchFamily="34" charset="-122"/>
                <a:cs typeface="Cambria" pitchFamily="34" charset="-120"/>
              </a:rPr>
              <a:t>Average, RMS, Form and Peak Factor</a:t>
            </a:r>
            <a:endParaRPr lang="en-US" sz="3600" dirty="0"/>
          </a:p>
        </p:txBody>
      </p:sp>
      <p:sp>
        <p:nvSpPr>
          <p:cNvPr id="6" name="Text 3"/>
          <p:cNvSpPr txBox="1"/>
          <p:nvPr/>
        </p:nvSpPr>
        <p:spPr>
          <a:xfrm>
            <a:off x="640080" y="2926080"/>
            <a:ext cx="6035040" cy="548640"/>
          </a:xfrm>
          <a:prstGeom prst="rect">
            <a:avLst/>
          </a:prstGeom>
          <a:noFill/>
          <a:ln/>
        </p:spPr>
        <p:txBody>
          <a:bodyPr wrap="square" lIns="0" tIns="0" rIns="0" bIns="0" rtlCol="0" anchor="t"/>
          <a:lstStyle/>
          <a:p>
            <a:pPr indent="0" marL="0">
              <a:buNone/>
            </a:pPr>
            <a:r>
              <a:rPr lang="en-US" sz="1600" dirty="0">
                <a:solidFill>
                  <a:srgbClr val="D5E0EE"/>
                </a:solidFill>
              </a:rPr>
              <a:t>Circuit Fundamentals</a:t>
            </a:r>
            <a:endParaRPr lang="en-US" sz="1600" dirty="0"/>
          </a:p>
        </p:txBody>
      </p:sp>
      <p:sp>
        <p:nvSpPr>
          <p:cNvPr id="7" name="Text 4"/>
          <p:cNvSpPr txBox="1"/>
          <p:nvPr/>
        </p:nvSpPr>
        <p:spPr>
          <a:xfrm>
            <a:off x="640080" y="3657600"/>
            <a:ext cx="7863840" cy="914400"/>
          </a:xfrm>
          <a:prstGeom prst="rect">
            <a:avLst/>
          </a:prstGeom>
          <a:noFill/>
          <a:ln/>
        </p:spPr>
        <p:txBody>
          <a:bodyPr wrap="square" lIns="0" tIns="0" rIns="0" bIns="0" rtlCol="0" anchor="t"/>
          <a:lstStyle/>
          <a:p>
            <a:pPr indent="0" marL="0">
              <a:buNone/>
            </a:pPr>
            <a:r>
              <a:rPr lang="en-US" sz="1400" b="1" dirty="0">
                <a:solidFill>
                  <a:schemeClr val="bg1"/>
                </a:solidFill>
              </a:rPr>
              <a:t>Basic Electrical and Electronics Engineering  (EEE103)</a:t>
            </a:r>
            <a:endParaRPr lang="en-US" sz="1400" dirty="0"/>
          </a:p>
          <a:p>
            <a:pPr indent="0" marL="0">
              <a:buNone/>
            </a:pPr>
            <a:r>
              <a:rPr lang="en-US" sz="1400" dirty="0">
                <a:solidFill>
                  <a:srgbClr val="D5E0EE"/>
                </a:solidFill>
              </a:rPr>
              <a:t>Dr. Mitesh Astik · Dept. of Electrical and Electronics Engineering</a:t>
            </a:r>
            <a:endParaRPr lang="en-US" sz="1400" dirty="0"/>
          </a:p>
          <a:p>
            <a:pPr indent="0" marL="0">
              <a:buNone/>
            </a:pPr>
            <a:r>
              <a:rPr lang="en-US" sz="1400" dirty="0">
                <a:solidFill>
                  <a:srgbClr val="D5E0EE"/>
                </a:solidFill>
              </a:rPr>
              <a:t>NMAM Institute of Technology, Nitte · 2025-26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Learning objectives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Derive average and RMS values of a sinusoid</a:t>
            </a:r>
            <a:endParaRPr lang="en-US" sz="2200" dirty="0"/>
          </a:p>
          <a:p>
            <a:pPr marL="342900" indent="-342900">
              <a:spcAft>
                <a:spcPts val="600"/>
              </a:spcAft>
              <a:buSzPct val="100000"/>
              <a:buChar char="•"/>
            </a:pPr>
            <a:r>
              <a:rPr lang="en-US" sz="2200" dirty="0">
                <a:solidFill>
                  <a:schemeClr val="tx1"/>
                </a:solidFill>
              </a:rPr>
              <a:t>Explain why RMS is the effective value</a:t>
            </a:r>
            <a:endParaRPr lang="en-US" sz="2200" dirty="0"/>
          </a:p>
          <a:p>
            <a:pPr marL="342900" indent="-342900">
              <a:spcAft>
                <a:spcPts val="600"/>
              </a:spcAft>
              <a:buSzPct val="100000"/>
              <a:buChar char="•"/>
            </a:pPr>
            <a:r>
              <a:rPr lang="en-US" sz="2200" dirty="0">
                <a:solidFill>
                  <a:schemeClr val="tx1"/>
                </a:solidFill>
              </a:rPr>
              <a:t>Calculate form factor and peak factor</a:t>
            </a:r>
            <a:endParaRPr lang="en-US" sz="2200" dirty="0"/>
          </a:p>
          <a:p>
            <a:pPr marL="342900" indent="-342900">
              <a:spcAft>
                <a:spcPts val="600"/>
              </a:spcAft>
              <a:buSzPct val="100000"/>
              <a:buChar char="•"/>
            </a:pPr>
            <a:r>
              <a:rPr lang="en-US" sz="2200" dirty="0">
                <a:solidFill>
                  <a:schemeClr val="tx1"/>
                </a:solidFill>
              </a:rPr>
              <a:t>Convert between peak, average and RMS</a:t>
            </a:r>
            <a:endParaRPr lang="en-US" sz="2200" dirty="0"/>
          </a:p>
        </p:txBody>
      </p:sp>
      <p:sp>
        <p:nvSpPr>
          <p:cNvPr id="7" name="Card"/>
          <p:cNvSpPr/>
          <p:nvPr/>
        </p:nvSpPr>
        <p:spPr>
          <a:xfrm>
            <a:off x="5577840" y="1188720"/>
            <a:ext cx="3108960" cy="3383280"/>
          </a:xfrm>
          <a:prstGeom prst="roundRect">
            <a:avLst>
              <a:gd name="adj" fmla="val 2353"/>
            </a:avLst>
          </a:prstGeom>
          <a:solidFill>
            <a:schemeClr val="bg2"/>
          </a:solidFill>
          <a:ln/>
        </p:spPr>
      </p:sp>
      <p:sp>
        <p:nvSpPr>
          <p:cNvPr id="8" name="Text 5"/>
          <p:cNvSpPr txBox="1"/>
          <p:nvPr/>
        </p:nvSpPr>
        <p:spPr>
          <a:xfrm>
            <a:off x="5715000" y="1261872"/>
            <a:ext cx="2834640" cy="365760"/>
          </a:xfrm>
          <a:prstGeom prst="rect">
            <a:avLst/>
          </a:prstGeom>
          <a:noFill/>
          <a:ln/>
        </p:spPr>
        <p:txBody>
          <a:bodyPr wrap="square" lIns="0" tIns="0" rIns="0" bIns="0" rtlCol="0" anchor="ctr"/>
          <a:lstStyle/>
          <a:p>
            <a:pPr indent="0" marL="0">
              <a:buNone/>
            </a:pPr>
            <a:r>
              <a:rPr lang="en-US" sz="1600" b="1" dirty="0">
                <a:solidFill>
                  <a:schemeClr val="tx2"/>
                </a:solidFill>
              </a:rPr>
              <a:t>Syllabus context</a:t>
            </a:r>
            <a:endParaRPr lang="en-US" sz="1600" dirty="0"/>
          </a:p>
        </p:txBody>
      </p:sp>
      <p:sp>
        <p:nvSpPr>
          <p:cNvPr id="9" name="Text 6"/>
          <p:cNvSpPr txBox="1"/>
          <p:nvPr/>
        </p:nvSpPr>
        <p:spPr>
          <a:xfrm>
            <a:off x="5715000" y="1645920"/>
            <a:ext cx="2834640" cy="2852928"/>
          </a:xfrm>
          <a:prstGeom prst="rect">
            <a:avLst/>
          </a:prstGeom>
          <a:noFill/>
          <a:ln/>
        </p:spPr>
        <p:txBody>
          <a:bodyPr wrap="square" lIns="0" tIns="0" rIns="0" bIns="0" rtlCol="0" anchor="t"/>
          <a:lstStyle/>
          <a:p>
            <a:pPr indent="0" marL="0">
              <a:spcAft>
                <a:spcPts val="300"/>
              </a:spcAft>
              <a:buNone/>
            </a:pPr>
            <a:r>
              <a:rPr lang="en-US" sz="1800" dirty="0">
                <a:solidFill>
                  <a:schemeClr val="tx1"/>
                </a:solidFill>
              </a:rPr>
              <a:t>Basic nodal and mesh analysis excited by independent DC voltage sources, Power and Energy. Generation of sinusoidal voltage, frequency, average value, RMS value, form factor and peak factor, phasor representation of alternating quantities.</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Average value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pic>
        <p:nvPicPr>
          <p:cNvPr id="6" name="Image 0" descr="sine figure">    </p:cNvPr>
          <p:cNvPicPr>
            <a:picLocks noChangeAspect="1"/>
          </p:cNvPicPr>
          <p:nvPr/>
        </p:nvPicPr>
        <p:blipFill>
          <a:blip r:embed="rId1"/>
          <a:stretch>
            <a:fillRect/>
          </a:stretch>
        </p:blipFill>
        <p:spPr>
          <a:xfrm>
            <a:off x="724767" y="1188720"/>
            <a:ext cx="4585507" cy="3200400"/>
          </a:xfrm>
          <a:prstGeom prst="rect">
            <a:avLst/>
          </a:prstGeom>
        </p:spPr>
      </p:pic>
      <p:sp>
        <p:nvSpPr>
          <p:cNvPr id="7" name="Text 3"/>
          <p:cNvSpPr txBox="1"/>
          <p:nvPr/>
        </p:nvSpPr>
        <p:spPr>
          <a:xfrm>
            <a:off x="5760720" y="1188720"/>
            <a:ext cx="2926080" cy="3429000"/>
          </a:xfrm>
          <a:prstGeom prst="rect">
            <a:avLst/>
          </a:prstGeom>
          <a:noFill/>
          <a:ln/>
        </p:spPr>
        <p:txBody>
          <a:bodyPr wrap="square" lIns="0" tIns="0" rIns="0" bIns="0" rtlCol="0" anchor="t"/>
          <a:lstStyle/>
          <a:p>
            <a:pPr marL="342900" indent="-342900">
              <a:spcAft>
                <a:spcPts val="600"/>
              </a:spcAft>
              <a:buSzPct val="100000"/>
              <a:buChar char="•"/>
            </a:pPr>
            <a:r>
              <a:rPr lang="en-US" sz="1800" dirty="0">
                <a:solidFill>
                  <a:schemeClr val="tx1"/>
                </a:solidFill>
              </a:rPr>
              <a:t>Based on charge transferred (q = I × t).</a:t>
            </a:r>
            <a:endParaRPr lang="en-US" sz="1800" dirty="0"/>
          </a:p>
          <a:p>
            <a:pPr marL="342900" indent="-342900">
              <a:spcAft>
                <a:spcPts val="600"/>
              </a:spcAft>
              <a:buSzPct val="100000"/>
              <a:buChar char="•"/>
            </a:pPr>
            <a:r>
              <a:rPr lang="en-US" sz="1800" dirty="0">
                <a:solidFill>
                  <a:schemeClr val="tx1"/>
                </a:solidFill>
              </a:rPr>
              <a:t>Over a full sine cycle the average is zero.</a:t>
            </a:r>
            <a:endParaRPr lang="en-US" sz="1800" dirty="0"/>
          </a:p>
          <a:p>
            <a:pPr marL="342900" indent="-342900">
              <a:spcAft>
                <a:spcPts val="600"/>
              </a:spcAft>
              <a:buSzPct val="100000"/>
              <a:buChar char="•"/>
            </a:pPr>
            <a:r>
              <a:rPr lang="en-US" sz="1800" dirty="0">
                <a:solidFill>
                  <a:schemeClr val="tx1"/>
                </a:solidFill>
              </a:rPr>
              <a:t>So average is taken over a half cycle.</a:t>
            </a:r>
            <a:endParaRPr lang="en-US" sz="1800" dirty="0"/>
          </a:p>
          <a:p>
            <a:pPr marL="342900" indent="-342900">
              <a:spcAft>
                <a:spcPts val="600"/>
              </a:spcAft>
              <a:buSzPct val="100000"/>
              <a:buChar char="•"/>
            </a:pPr>
            <a:r>
              <a:rPr lang="en-US" sz="1800" dirty="0">
                <a:solidFill>
                  <a:schemeClr val="tx1"/>
                </a:solidFill>
              </a:rPr>
              <a:t>Iav = area / base = (1/π)∫ Im sin θ dθ</a:t>
            </a:r>
            <a:endParaRPr lang="en-US" sz="1800" dirty="0"/>
          </a:p>
          <a:p>
            <a:pPr marL="342900" indent="-342900">
              <a:spcAft>
                <a:spcPts val="600"/>
              </a:spcAft>
              <a:buSzPct val="100000"/>
              <a:buChar char="•"/>
            </a:pPr>
            <a:r>
              <a:rPr lang="en-US" sz="1800" dirty="0">
                <a:solidFill>
                  <a:schemeClr val="tx1"/>
                </a:solidFill>
              </a:rPr>
              <a:t>Iav = 2Im/π = 0.637 Im</a:t>
            </a:r>
            <a:endParaRPr lang="en-US" sz="18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Deriving the RMS value</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low step"/>
          <p:cNvSpPr/>
          <p:nvPr/>
        </p:nvSpPr>
        <p:spPr>
          <a:xfrm>
            <a:off x="457200" y="1234440"/>
            <a:ext cx="1954530" cy="2286000"/>
          </a:xfrm>
          <a:prstGeom prst="roundRect">
            <a:avLst>
              <a:gd name="adj" fmla="val 3743"/>
            </a:avLst>
          </a:prstGeom>
          <a:solidFill>
            <a:schemeClr val="bg2"/>
          </a:solidFill>
          <a:ln/>
        </p:spPr>
      </p:sp>
      <p:sp>
        <p:nvSpPr>
          <p:cNvPr id="7" name="Step number"/>
          <p:cNvSpPr/>
          <p:nvPr/>
        </p:nvSpPr>
        <p:spPr>
          <a:xfrm>
            <a:off x="566928" y="1344168"/>
            <a:ext cx="365760" cy="365760"/>
          </a:xfrm>
          <a:prstGeom prst="ellipse">
            <a:avLst/>
          </a:prstGeom>
          <a:solidFill>
            <a:schemeClr val="tx2"/>
          </a:solidFill>
          <a:ln/>
        </p:spPr>
      </p:sp>
      <p:sp>
        <p:nvSpPr>
          <p:cNvPr id="8" name="Text 5"/>
          <p:cNvSpPr txBox="1"/>
          <p:nvPr/>
        </p:nvSpPr>
        <p:spPr>
          <a:xfrm>
            <a:off x="56692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6"/>
          <p:cNvSpPr txBox="1"/>
          <p:nvPr/>
        </p:nvSpPr>
        <p:spPr>
          <a:xfrm>
            <a:off x="56692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Heating</a:t>
            </a:r>
            <a:endParaRPr lang="en-US" sz="1500" dirty="0"/>
          </a:p>
        </p:txBody>
      </p:sp>
      <p:sp>
        <p:nvSpPr>
          <p:cNvPr id="10" name="Text 7"/>
          <p:cNvSpPr txBox="1"/>
          <p:nvPr/>
        </p:nvSpPr>
        <p:spPr>
          <a:xfrm>
            <a:off x="56692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A current i through R produces heat i²R.</a:t>
            </a:r>
            <a:endParaRPr lang="en-US" sz="1500" dirty="0"/>
          </a:p>
        </p:txBody>
      </p:sp>
      <p:sp>
        <p:nvSpPr>
          <p:cNvPr id="11" name="Flow step"/>
          <p:cNvSpPr/>
          <p:nvPr/>
        </p:nvSpPr>
        <p:spPr>
          <a:xfrm>
            <a:off x="2548890" y="1234440"/>
            <a:ext cx="1954530" cy="2286000"/>
          </a:xfrm>
          <a:prstGeom prst="roundRect">
            <a:avLst>
              <a:gd name="adj" fmla="val 3743"/>
            </a:avLst>
          </a:prstGeom>
          <a:solidFill>
            <a:schemeClr val="bg2"/>
          </a:solidFill>
          <a:ln/>
        </p:spPr>
      </p:sp>
      <p:sp>
        <p:nvSpPr>
          <p:cNvPr id="12" name="Step number"/>
          <p:cNvSpPr/>
          <p:nvPr/>
        </p:nvSpPr>
        <p:spPr>
          <a:xfrm>
            <a:off x="2658618" y="1344168"/>
            <a:ext cx="365760" cy="365760"/>
          </a:xfrm>
          <a:prstGeom prst="ellipse">
            <a:avLst/>
          </a:prstGeom>
          <a:solidFill>
            <a:schemeClr val="tx2"/>
          </a:solidFill>
          <a:ln/>
        </p:spPr>
      </p:sp>
      <p:sp>
        <p:nvSpPr>
          <p:cNvPr id="13" name="Text 10"/>
          <p:cNvSpPr txBox="1"/>
          <p:nvPr/>
        </p:nvSpPr>
        <p:spPr>
          <a:xfrm>
            <a:off x="265861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1"/>
          <p:cNvSpPr txBox="1"/>
          <p:nvPr/>
        </p:nvSpPr>
        <p:spPr>
          <a:xfrm>
            <a:off x="265861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Square</a:t>
            </a:r>
            <a:endParaRPr lang="en-US" sz="1500" dirty="0"/>
          </a:p>
        </p:txBody>
      </p:sp>
      <p:sp>
        <p:nvSpPr>
          <p:cNvPr id="15" name="Text 12"/>
          <p:cNvSpPr txBox="1"/>
          <p:nvPr/>
        </p:nvSpPr>
        <p:spPr>
          <a:xfrm>
            <a:off x="265861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Square the instantaneous current: i² = Im² sin²θ.</a:t>
            </a:r>
            <a:endParaRPr lang="en-US" sz="1500" dirty="0"/>
          </a:p>
        </p:txBody>
      </p:sp>
      <p:sp>
        <p:nvSpPr>
          <p:cNvPr id="16" name="Flow step"/>
          <p:cNvSpPr/>
          <p:nvPr/>
        </p:nvSpPr>
        <p:spPr>
          <a:xfrm>
            <a:off x="4640580" y="1234440"/>
            <a:ext cx="1954530" cy="2286000"/>
          </a:xfrm>
          <a:prstGeom prst="roundRect">
            <a:avLst>
              <a:gd name="adj" fmla="val 3743"/>
            </a:avLst>
          </a:prstGeom>
          <a:solidFill>
            <a:schemeClr val="bg2"/>
          </a:solidFill>
          <a:ln/>
        </p:spPr>
      </p:sp>
      <p:sp>
        <p:nvSpPr>
          <p:cNvPr id="17" name="Step number"/>
          <p:cNvSpPr/>
          <p:nvPr/>
        </p:nvSpPr>
        <p:spPr>
          <a:xfrm>
            <a:off x="4750308" y="1344168"/>
            <a:ext cx="365760" cy="365760"/>
          </a:xfrm>
          <a:prstGeom prst="ellipse">
            <a:avLst/>
          </a:prstGeom>
          <a:solidFill>
            <a:schemeClr val="tx2"/>
          </a:solidFill>
          <a:ln/>
        </p:spPr>
      </p:sp>
      <p:sp>
        <p:nvSpPr>
          <p:cNvPr id="18" name="Text 15"/>
          <p:cNvSpPr txBox="1"/>
          <p:nvPr/>
        </p:nvSpPr>
        <p:spPr>
          <a:xfrm>
            <a:off x="475030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6"/>
          <p:cNvSpPr txBox="1"/>
          <p:nvPr/>
        </p:nvSpPr>
        <p:spPr>
          <a:xfrm>
            <a:off x="475030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Mean</a:t>
            </a:r>
            <a:endParaRPr lang="en-US" sz="1500" dirty="0"/>
          </a:p>
        </p:txBody>
      </p:sp>
      <p:sp>
        <p:nvSpPr>
          <p:cNvPr id="20" name="Text 17"/>
          <p:cNvSpPr txBox="1"/>
          <p:nvPr/>
        </p:nvSpPr>
        <p:spPr>
          <a:xfrm>
            <a:off x="475030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Mean of i² over half cycle = (1/π)∫ Im² sin²θ dθ = Im²/2.</a:t>
            </a:r>
            <a:endParaRPr lang="en-US" sz="1500" dirty="0"/>
          </a:p>
        </p:txBody>
      </p:sp>
      <p:sp>
        <p:nvSpPr>
          <p:cNvPr id="21" name="Flow step"/>
          <p:cNvSpPr/>
          <p:nvPr/>
        </p:nvSpPr>
        <p:spPr>
          <a:xfrm>
            <a:off x="6732270" y="1234440"/>
            <a:ext cx="1954530" cy="2286000"/>
          </a:xfrm>
          <a:prstGeom prst="roundRect">
            <a:avLst>
              <a:gd name="adj" fmla="val 3743"/>
            </a:avLst>
          </a:prstGeom>
          <a:solidFill>
            <a:schemeClr val="accent1"/>
          </a:solidFill>
          <a:ln/>
        </p:spPr>
      </p:sp>
      <p:sp>
        <p:nvSpPr>
          <p:cNvPr id="22" name="Step number"/>
          <p:cNvSpPr/>
          <p:nvPr/>
        </p:nvSpPr>
        <p:spPr>
          <a:xfrm>
            <a:off x="6841998" y="1344168"/>
            <a:ext cx="365760" cy="365760"/>
          </a:xfrm>
          <a:prstGeom prst="ellipse">
            <a:avLst/>
          </a:prstGeom>
          <a:solidFill>
            <a:schemeClr val="tx2"/>
          </a:solidFill>
          <a:ln/>
        </p:spPr>
      </p:sp>
      <p:sp>
        <p:nvSpPr>
          <p:cNvPr id="23" name="Text 20"/>
          <p:cNvSpPr txBox="1"/>
          <p:nvPr/>
        </p:nvSpPr>
        <p:spPr>
          <a:xfrm>
            <a:off x="6841998" y="1344168"/>
            <a:ext cx="365760" cy="36576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1"/>
          <p:cNvSpPr txBox="1"/>
          <p:nvPr/>
        </p:nvSpPr>
        <p:spPr>
          <a:xfrm>
            <a:off x="6841998" y="1783080"/>
            <a:ext cx="1735074" cy="256032"/>
          </a:xfrm>
          <a:prstGeom prst="rect">
            <a:avLst/>
          </a:prstGeom>
          <a:noFill/>
          <a:ln/>
        </p:spPr>
        <p:txBody>
          <a:bodyPr wrap="square" lIns="0" tIns="0" rIns="0" bIns="0" rtlCol="0" anchor="t"/>
          <a:lstStyle/>
          <a:p>
            <a:pPr indent="0" marL="0">
              <a:buNone/>
            </a:pPr>
            <a:r>
              <a:rPr lang="en-US" sz="1500" b="1" dirty="0">
                <a:solidFill>
                  <a:schemeClr val="tx1"/>
                </a:solidFill>
              </a:rPr>
              <a:t>Root</a:t>
            </a:r>
            <a:endParaRPr lang="en-US" sz="1500" dirty="0"/>
          </a:p>
        </p:txBody>
      </p:sp>
      <p:sp>
        <p:nvSpPr>
          <p:cNvPr id="25" name="Text 22"/>
          <p:cNvSpPr txBox="1"/>
          <p:nvPr/>
        </p:nvSpPr>
        <p:spPr>
          <a:xfrm>
            <a:off x="6841998" y="2084832"/>
            <a:ext cx="1735074" cy="1389888"/>
          </a:xfrm>
          <a:prstGeom prst="rect">
            <a:avLst/>
          </a:prstGeom>
          <a:noFill/>
          <a:ln/>
        </p:spPr>
        <p:txBody>
          <a:bodyPr wrap="square" lIns="0" tIns="0" rIns="0" bIns="0" rtlCol="0" anchor="t"/>
          <a:lstStyle/>
          <a:p>
            <a:pPr indent="0" marL="0">
              <a:buNone/>
            </a:pPr>
            <a:r>
              <a:rPr lang="en-US" sz="1500" dirty="0">
                <a:solidFill>
                  <a:schemeClr val="tx1"/>
                </a:solidFill>
              </a:rPr>
              <a:t>Take the square root to get the effective current.</a:t>
            </a:r>
            <a:endParaRPr lang="en-US" sz="1500" dirty="0"/>
          </a:p>
        </p:txBody>
      </p:sp>
      <p:sp>
        <p:nvSpPr>
          <p:cNvPr id="26" name="Highlight strip"/>
          <p:cNvSpPr/>
          <p:nvPr/>
        </p:nvSpPr>
        <p:spPr>
          <a:xfrm>
            <a:off x="457200" y="3749040"/>
            <a:ext cx="8229600" cy="822960"/>
          </a:xfrm>
          <a:prstGeom prst="roundRect">
            <a:avLst>
              <a:gd name="adj" fmla="val 8889"/>
            </a:avLst>
          </a:prstGeom>
          <a:solidFill>
            <a:schemeClr val="tx2"/>
          </a:solidFill>
          <a:ln/>
        </p:spPr>
      </p:sp>
      <p:sp>
        <p:nvSpPr>
          <p:cNvPr id="27" name="Text 24"/>
          <p:cNvSpPr txBox="1"/>
          <p:nvPr/>
        </p:nvSpPr>
        <p:spPr>
          <a:xfrm>
            <a:off x="640080" y="3749040"/>
            <a:ext cx="7863840" cy="822960"/>
          </a:xfrm>
          <a:prstGeom prst="rect">
            <a:avLst/>
          </a:prstGeom>
          <a:noFill/>
          <a:ln/>
        </p:spPr>
        <p:txBody>
          <a:bodyPr wrap="square" lIns="0" tIns="0" rIns="0" bIns="0" rtlCol="0" anchor="ctr"/>
          <a:lstStyle/>
          <a:p>
            <a:pPr indent="0" marL="0">
              <a:buNone/>
            </a:pPr>
            <a:r>
              <a:rPr lang="en-US" sz="1500" b="1" dirty="0">
                <a:solidFill>
                  <a:schemeClr val="bg1"/>
                </a:solidFill>
              </a:rPr>
              <a:t>I(rms) = Im / √2 = 0.707 Im   and   V(rms) = Vm / √2</a:t>
            </a:r>
            <a:endParaRPr lang="en-US" sz="15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Form factor and peak factor</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Formula"/>
          <p:cNvSpPr/>
          <p:nvPr/>
        </p:nvSpPr>
        <p:spPr>
          <a:xfrm>
            <a:off x="457200" y="1188720"/>
            <a:ext cx="4023360" cy="822960"/>
          </a:xfrm>
          <a:prstGeom prst="roundRect">
            <a:avLst>
              <a:gd name="adj" fmla="val 8889"/>
            </a:avLst>
          </a:prstGeom>
          <a:solidFill>
            <a:schemeClr val="tx2"/>
          </a:solidFill>
          <a:ln/>
        </p:spPr>
      </p:sp>
      <p:sp>
        <p:nvSpPr>
          <p:cNvPr id="7" name="Text 4"/>
          <p:cNvSpPr txBox="1"/>
          <p:nvPr/>
        </p:nvSpPr>
        <p:spPr>
          <a:xfrm>
            <a:off x="457200" y="1188720"/>
            <a:ext cx="402336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Kf = RMS / Average = 1.11</a:t>
            </a:r>
            <a:endParaRPr lang="en-US" sz="2200" dirty="0"/>
          </a:p>
        </p:txBody>
      </p:sp>
      <p:sp>
        <p:nvSpPr>
          <p:cNvPr id="8" name="Text 5"/>
          <p:cNvSpPr txBox="1"/>
          <p:nvPr/>
        </p:nvSpPr>
        <p:spPr>
          <a:xfrm>
            <a:off x="45720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for a sine wave</a:t>
            </a:r>
            <a:endParaRPr lang="en-US" sz="1300" dirty="0"/>
          </a:p>
        </p:txBody>
      </p:sp>
      <p:sp>
        <p:nvSpPr>
          <p:cNvPr id="9" name="Formula"/>
          <p:cNvSpPr/>
          <p:nvPr/>
        </p:nvSpPr>
        <p:spPr>
          <a:xfrm>
            <a:off x="4663440" y="1188720"/>
            <a:ext cx="4023360" cy="822960"/>
          </a:xfrm>
          <a:prstGeom prst="roundRect">
            <a:avLst>
              <a:gd name="adj" fmla="val 8889"/>
            </a:avLst>
          </a:prstGeom>
          <a:solidFill>
            <a:schemeClr val="tx2"/>
          </a:solidFill>
          <a:ln/>
        </p:spPr>
      </p:sp>
      <p:sp>
        <p:nvSpPr>
          <p:cNvPr id="10" name="Text 7"/>
          <p:cNvSpPr txBox="1"/>
          <p:nvPr/>
        </p:nvSpPr>
        <p:spPr>
          <a:xfrm>
            <a:off x="4663440" y="1188720"/>
            <a:ext cx="4023360" cy="822960"/>
          </a:xfrm>
          <a:prstGeom prst="rect">
            <a:avLst/>
          </a:prstGeom>
          <a:noFill/>
          <a:ln/>
        </p:spPr>
        <p:txBody>
          <a:bodyPr wrap="square" lIns="762" tIns="762" rIns="762" bIns="762" rtlCol="0" anchor="ctr"/>
          <a:lstStyle/>
          <a:p>
            <a:pPr algn="ctr" indent="0" marL="0">
              <a:buNone/>
            </a:pPr>
            <a:r>
              <a:rPr lang="en-US" sz="2200" b="1" dirty="0">
                <a:solidFill>
                  <a:schemeClr val="bg1"/>
                </a:solidFill>
                <a:latin typeface="Cambria" pitchFamily="34" charset="0"/>
                <a:ea typeface="Cambria" pitchFamily="34" charset="-122"/>
                <a:cs typeface="Cambria" pitchFamily="34" charset="-120"/>
              </a:rPr>
              <a:t>Kp = Peak / RMS = 1.414</a:t>
            </a:r>
            <a:endParaRPr lang="en-US" sz="2200" dirty="0"/>
          </a:p>
        </p:txBody>
      </p:sp>
      <p:sp>
        <p:nvSpPr>
          <p:cNvPr id="11" name="Text 8"/>
          <p:cNvSpPr txBox="1"/>
          <p:nvPr/>
        </p:nvSpPr>
        <p:spPr>
          <a:xfrm>
            <a:off x="4663440" y="2029968"/>
            <a:ext cx="4023360" cy="411480"/>
          </a:xfrm>
          <a:prstGeom prst="rect">
            <a:avLst/>
          </a:prstGeom>
          <a:noFill/>
          <a:ln/>
        </p:spPr>
        <p:txBody>
          <a:bodyPr wrap="square" lIns="0" tIns="0" rIns="0" bIns="0" rtlCol="0" anchor="t"/>
          <a:lstStyle/>
          <a:p>
            <a:pPr algn="ctr" indent="0" marL="0">
              <a:buNone/>
            </a:pPr>
            <a:r>
              <a:rPr lang="en-US" sz="1300" i="1" dirty="0">
                <a:solidFill>
                  <a:schemeClr val="accent4"/>
                </a:solidFill>
              </a:rPr>
              <a:t>for a sine wave</a:t>
            </a:r>
            <a:endParaRPr lang="en-US" sz="1300" dirty="0"/>
          </a:p>
        </p:txBody>
      </p:sp>
      <p:sp>
        <p:nvSpPr>
          <p:cNvPr id="12" name="Text 9"/>
          <p:cNvSpPr txBox="1"/>
          <p:nvPr/>
        </p:nvSpPr>
        <p:spPr>
          <a:xfrm>
            <a:off x="457200" y="2560320"/>
            <a:ext cx="8229600" cy="20574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Form factor indicates how peaked or flat the waveform is.</a:t>
            </a:r>
            <a:endParaRPr lang="en-US" sz="2200" dirty="0"/>
          </a:p>
          <a:p>
            <a:pPr marL="342900" indent="-342900">
              <a:spcAft>
                <a:spcPts val="600"/>
              </a:spcAft>
              <a:buSzPct val="100000"/>
              <a:buChar char="•"/>
            </a:pPr>
            <a:r>
              <a:rPr lang="en-US" sz="2200" dirty="0">
                <a:solidFill>
                  <a:schemeClr val="tx1"/>
                </a:solidFill>
              </a:rPr>
              <a:t>Peak factor matters for insulation and rating (peak voltage stress).</a:t>
            </a:r>
            <a:endParaRPr lang="en-US" sz="2200" dirty="0"/>
          </a:p>
          <a:p>
            <a:pPr marL="342900" indent="-342900">
              <a:spcAft>
                <a:spcPts val="600"/>
              </a:spcAft>
              <a:buSzPct val="100000"/>
              <a:buChar char="•"/>
            </a:pPr>
            <a:r>
              <a:rPr lang="en-US" sz="2200" dirty="0">
                <a:solidFill>
                  <a:schemeClr val="tx1"/>
                </a:solidFill>
              </a:rPr>
              <a:t>Moving-coil meters read average but are marked in RMS using Kf = 1.11.</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Summary of sinusoidal values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926080"/>
                <a:gridCol w="2743200"/>
                <a:gridCol w="2560320"/>
              </a:tblGrid>
              <a:tr h="502920">
                <a:tc>
                  <a:txBody>
                    <a:bodyPr/>
                    <a:lstStyle/>
                    <a:p>
                      <a:pPr indent="0" marL="0">
                        <a:buNone/>
                      </a:pPr>
                      <a:r>
                        <a:rPr lang="en-US" sz="1400" b="1" dirty="0">
                          <a:solidFill>
                            <a:schemeClr val="bg1"/>
                          </a:solidFill>
                        </a:rPr>
                        <a:t>Quantity</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Formula</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Value (Vm or Im = 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tx2"/>
                    </a:solidFill>
                  </a:tcPr>
                </a:tc>
              </a:tr>
              <a:tr h="502920">
                <a:tc>
                  <a:txBody>
                    <a:bodyPr/>
                    <a:lstStyle/>
                    <a:p>
                      <a:pPr indent="0" marL="0">
                        <a:buNone/>
                      </a:pPr>
                      <a:r>
                        <a:rPr lang="en-US" sz="1400" b="1" dirty="0">
                          <a:solidFill>
                            <a:schemeClr val="tx1"/>
                          </a:solidFill>
                        </a:rPr>
                        <a:t>Average (half cycle)</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 Vm / π</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0.637</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RMS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Vm / √2</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0.707</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r h="502920">
                <a:tc>
                  <a:txBody>
                    <a:bodyPr/>
                    <a:lstStyle/>
                    <a:p>
                      <a:pPr indent="0" marL="0">
                        <a:buNone/>
                      </a:pPr>
                      <a:r>
                        <a:rPr lang="en-US" sz="1400" b="1" dirty="0">
                          <a:solidFill>
                            <a:schemeClr val="tx1"/>
                          </a:solidFill>
                        </a:rPr>
                        <a:t>Form factor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RMS / Avg</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1.11</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2"/>
                    </a:solidFill>
                  </a:tcPr>
                </a:tc>
              </a:tr>
              <a:tr h="502920">
                <a:tc>
                  <a:txBody>
                    <a:bodyPr/>
                    <a:lstStyle/>
                    <a:p>
                      <a:pPr indent="0" marL="0">
                        <a:buNone/>
                      </a:pPr>
                      <a:r>
                        <a:rPr lang="en-US" sz="1400" b="1" dirty="0">
                          <a:solidFill>
                            <a:schemeClr val="tx1"/>
                          </a:solidFill>
                        </a:rPr>
                        <a:t>Peak factor</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Peak / RMS</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1.414</a:t>
                      </a:r>
                      <a:endParaRPr lang="en-US" sz="1400" dirty="0"/>
                    </a:p>
                  </a:txBody>
                  <a:tcPr marL="73152" marR="73152" marT="27432" marB="27432" anchor="ctr">
                    <a:lnL w="6350" cap="flat" cmpd="sng" algn="ctr">
                      <a:solidFill>
                        <a:srgbClr val="D5DEEA"/>
                      </a:solidFill>
                      <a:prstDash val="solid"/>
                      <a:round/>
                      <a:headEnd type="none" w="med" len="med"/>
                      <a:tailEnd type="none" w="med" len="med"/>
                    </a:lnL>
                    <a:lnR w="6350" cap="flat" cmpd="sng" algn="ctr">
                      <a:solidFill>
                        <a:srgbClr val="D5DEEA"/>
                      </a:solidFill>
                      <a:prstDash val="solid"/>
                      <a:round/>
                      <a:headEnd type="none" w="med" len="med"/>
                      <a:tailEnd type="none" w="med" len="med"/>
                    </a:lnR>
                    <a:lnT w="6350" cap="flat" cmpd="sng" algn="ctr">
                      <a:solidFill>
                        <a:srgbClr val="D5DEEA"/>
                      </a:solidFill>
                      <a:prstDash val="solid"/>
                      <a:round/>
                      <a:headEnd type="none" w="med" len="med"/>
                      <a:tailEnd type="none" w="med" len="med"/>
                    </a:lnT>
                    <a:lnB w="6350" cap="flat" cmpd="sng" algn="ctr">
                      <a:solidFill>
                        <a:srgbClr val="D5DEEA"/>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1: RMS to peak</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A sinusoidal current has RMS value 10 A. Find its peak value and average value.</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Im = I(rms) × √2 = 10 × 1.414 = 14.14 A</a:t>
            </a:r>
            <a:endParaRPr lang="en-US" sz="2200" dirty="0"/>
          </a:p>
          <a:p>
            <a:pPr marL="342900" indent="-342900">
              <a:spcAft>
                <a:spcPts val="600"/>
              </a:spcAft>
              <a:buSzPct val="100000"/>
              <a:buChar char="•"/>
            </a:pPr>
            <a:r>
              <a:rPr lang="en-US" sz="2200" dirty="0">
                <a:solidFill>
                  <a:schemeClr val="tx1"/>
                </a:solidFill>
              </a:rPr>
              <a:t>Average (half-cycle) = 0.637 × 14.14</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Peak ±14.14 A, average 9.0 A</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Example 2: mains supply</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Problem"/>
          <p:cNvSpPr/>
          <p:nvPr/>
        </p:nvSpPr>
        <p:spPr>
          <a:xfrm>
            <a:off x="457200" y="1143000"/>
            <a:ext cx="8229600" cy="868680"/>
          </a:xfrm>
          <a:prstGeom prst="roundRect">
            <a:avLst>
              <a:gd name="adj" fmla="val 8421"/>
            </a:avLst>
          </a:prstGeom>
          <a:solidFill>
            <a:schemeClr val="tx2"/>
          </a:solidFill>
          <a:ln/>
        </p:spPr>
      </p:sp>
      <p:sp>
        <p:nvSpPr>
          <p:cNvPr id="7" name="Text 4"/>
          <p:cNvSpPr txBox="1"/>
          <p:nvPr/>
        </p:nvSpPr>
        <p:spPr>
          <a:xfrm>
            <a:off x="640080" y="1143000"/>
            <a:ext cx="7863840" cy="868680"/>
          </a:xfrm>
          <a:prstGeom prst="rect">
            <a:avLst/>
          </a:prstGeom>
          <a:noFill/>
          <a:ln/>
        </p:spPr>
        <p:txBody>
          <a:bodyPr wrap="square" lIns="0" tIns="0" rIns="0" bIns="0" rtlCol="0" anchor="ctr"/>
          <a:lstStyle/>
          <a:p>
            <a:pPr indent="0" marL="0">
              <a:buNone/>
            </a:pPr>
            <a:r>
              <a:rPr lang="en-US" sz="1500" b="1" dirty="0">
                <a:solidFill>
                  <a:schemeClr val="accent1"/>
                </a:solidFill>
              </a:rPr>
              <a:t>Problem  </a:t>
            </a:r>
            <a:pPr indent="0" marL="0">
              <a:buNone/>
            </a:pPr>
            <a:r>
              <a:rPr lang="en-US" sz="1500" dirty="0">
                <a:solidFill>
                  <a:schemeClr val="bg1"/>
                </a:solidFill>
              </a:rPr>
              <a:t>230 V RMS, 50 Hz mains. Find peak voltage and the voltage 2.5 ms after the zero crossing.</a:t>
            </a:r>
            <a:endParaRPr lang="en-US" sz="1500" dirty="0"/>
          </a:p>
        </p:txBody>
      </p:sp>
      <p:sp>
        <p:nvSpPr>
          <p:cNvPr id="8" name="Text 5"/>
          <p:cNvSpPr txBox="1"/>
          <p:nvPr/>
        </p:nvSpPr>
        <p:spPr>
          <a:xfrm>
            <a:off x="457200" y="2148840"/>
            <a:ext cx="8229600" cy="18288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Vm = 230 × √2 = 325.27 V</a:t>
            </a:r>
            <a:endParaRPr lang="en-US" sz="2200" dirty="0"/>
          </a:p>
          <a:p>
            <a:pPr marL="342900" indent="-342900">
              <a:spcAft>
                <a:spcPts val="600"/>
              </a:spcAft>
              <a:buSzPct val="100000"/>
              <a:buChar char="•"/>
            </a:pPr>
            <a:r>
              <a:rPr lang="en-US" sz="2200" dirty="0">
                <a:solidFill>
                  <a:schemeClr val="tx1"/>
                </a:solidFill>
              </a:rPr>
              <a:t>ω = 2π × 50 = 314 rad/s;  θ = 314 × 0.0025 = 0.785 rad = 45°</a:t>
            </a:r>
            <a:endParaRPr lang="en-US" sz="2200" dirty="0"/>
          </a:p>
          <a:p>
            <a:pPr marL="342900" indent="-342900">
              <a:spcAft>
                <a:spcPts val="600"/>
              </a:spcAft>
              <a:buSzPct val="100000"/>
              <a:buChar char="•"/>
            </a:pPr>
            <a:r>
              <a:rPr lang="en-US" sz="2200" dirty="0">
                <a:solidFill>
                  <a:schemeClr val="tx1"/>
                </a:solidFill>
              </a:rPr>
              <a:t>v = 325.27 sin 45°</a:t>
            </a:r>
            <a:endParaRPr lang="en-US" sz="2200" dirty="0"/>
          </a:p>
        </p:txBody>
      </p:sp>
      <p:sp>
        <p:nvSpPr>
          <p:cNvPr id="9" name="Answer"/>
          <p:cNvSpPr/>
          <p:nvPr/>
        </p:nvSpPr>
        <p:spPr>
          <a:xfrm>
            <a:off x="457200" y="4069080"/>
            <a:ext cx="8229600" cy="548640"/>
          </a:xfrm>
          <a:prstGeom prst="roundRect">
            <a:avLst>
              <a:gd name="adj" fmla="val 13333"/>
            </a:avLst>
          </a:prstGeom>
          <a:solidFill>
            <a:schemeClr val="accent1"/>
          </a:solidFill>
          <a:ln/>
        </p:spPr>
      </p:sp>
      <p:sp>
        <p:nvSpPr>
          <p:cNvPr id="10" name="Text 7"/>
          <p:cNvSpPr txBox="1"/>
          <p:nvPr/>
        </p:nvSpPr>
        <p:spPr>
          <a:xfrm>
            <a:off x="640080" y="4069080"/>
            <a:ext cx="7863840" cy="548640"/>
          </a:xfrm>
          <a:prstGeom prst="rect">
            <a:avLst/>
          </a:prstGeom>
          <a:noFill/>
          <a:ln/>
        </p:spPr>
        <p:txBody>
          <a:bodyPr wrap="square" lIns="0" tIns="0" rIns="0" bIns="0" rtlCol="0" anchor="ctr"/>
          <a:lstStyle/>
          <a:p>
            <a:pPr indent="0" marL="0">
              <a:buNone/>
            </a:pPr>
            <a:r>
              <a:rPr lang="en-US" sz="1600" b="1" dirty="0">
                <a:solidFill>
                  <a:schemeClr val="tx1"/>
                </a:solidFill>
              </a:rPr>
              <a:t>Answer:  Vm = 325.27 V; v = 230 V</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Key takeaways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2200" dirty="0">
                <a:solidFill>
                  <a:schemeClr val="tx1"/>
                </a:solidFill>
              </a:rPr>
              <a:t>Average (half cycle) = 0.637 × peak</a:t>
            </a:r>
            <a:endParaRPr lang="en-US" sz="2200" dirty="0"/>
          </a:p>
          <a:p>
            <a:pPr marL="342900" indent="-342900">
              <a:spcAft>
                <a:spcPts val="600"/>
              </a:spcAft>
              <a:buSzPct val="100000"/>
              <a:buChar char="•"/>
            </a:pPr>
            <a:r>
              <a:rPr lang="en-US" sz="2200" dirty="0">
                <a:solidFill>
                  <a:schemeClr val="tx1"/>
                </a:solidFill>
              </a:rPr>
              <a:t>RMS = 0.707 × peak: effective heating value</a:t>
            </a:r>
            <a:endParaRPr lang="en-US" sz="2200" dirty="0"/>
          </a:p>
          <a:p>
            <a:pPr marL="342900" indent="-342900">
              <a:spcAft>
                <a:spcPts val="600"/>
              </a:spcAft>
              <a:buSzPct val="100000"/>
              <a:buChar char="•"/>
            </a:pPr>
            <a:r>
              <a:rPr lang="en-US" sz="2200" dirty="0">
                <a:solidFill>
                  <a:schemeClr val="tx1"/>
                </a:solidFill>
              </a:rPr>
              <a:t>Form factor 1.11 and peak factor 1.414 for a sine</a:t>
            </a:r>
            <a:endParaRPr lang="en-US" sz="2200" dirty="0"/>
          </a:p>
          <a:p>
            <a:pPr marL="342900" indent="-342900">
              <a:spcAft>
                <a:spcPts val="600"/>
              </a:spcAft>
              <a:buSzPct val="100000"/>
              <a:buChar char="•"/>
            </a:pPr>
            <a:r>
              <a:rPr lang="en-US" sz="2200" dirty="0">
                <a:solidFill>
                  <a:schemeClr val="tx1"/>
                </a:solidFill>
              </a:rPr>
              <a:t>AC ratings (230 V) are RMS values</a:t>
            </a:r>
            <a:endParaRPr lang="en-US" sz="2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1188720" y="274320"/>
            <a:ext cx="7498080" cy="685800"/>
          </a:xfrm>
          <a:prstGeom prst="rect">
            <a:avLst/>
          </a:prstGeom>
          <a:noFill/>
          <a:ln/>
        </p:spPr>
        <p:txBody>
          <a:bodyPr wrap="square" lIns="0" tIns="0" rIns="0" bIns="0" rtlCol="0" anchor="ctr"/>
          <a:lstStyle/>
          <a:p>
            <a:pPr algn="l" indent="0" marL="0">
              <a:buNone/>
            </a:pPr>
            <a:r>
              <a:rPr lang="en-US" sz="2800" b="1" dirty="0">
                <a:solidFill>
                  <a:schemeClr val="tx1"/>
                </a:solidFill>
              </a:rPr>
              <a:t>Practice questions</a:t>
            </a:r>
            <a:endParaRPr lang="en-US" sz="2800" dirty="0"/>
          </a:p>
        </p:txBody>
      </p:sp>
      <p:sp>
        <p:nvSpPr>
          <p:cNvPr id="3" name="Unit badge"/>
          <p:cNvSpPr/>
          <p:nvPr/>
        </p:nvSpPr>
        <p:spPr>
          <a:xfrm>
            <a:off x="457200" y="365760"/>
            <a:ext cx="548640" cy="548640"/>
          </a:xfrm>
          <a:prstGeom prst="ellipse">
            <a:avLst/>
          </a:prstGeom>
          <a:solidFill>
            <a:schemeClr val="accent1"/>
          </a:solidFill>
          <a:ln/>
        </p:spPr>
      </p:sp>
      <p:sp>
        <p:nvSpPr>
          <p:cNvPr id="4" name="Text 2"/>
          <p:cNvSpPr txBox="1"/>
          <p:nvPr/>
        </p:nvSpPr>
        <p:spPr>
          <a:xfrm>
            <a:off x="457200" y="365760"/>
            <a:ext cx="548640" cy="54864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U1</a:t>
            </a:r>
            <a:endParaRPr lang="en-US" sz="1600" dirty="0"/>
          </a:p>
        </p:txBody>
      </p:sp>
      <p:sp>
        <p:nvSpPr>
          <p:cNvPr id="6" name="Text 3"/>
          <p:cNvSpPr txBox="1"/>
          <p:nvPr/>
        </p:nvSpPr>
        <p:spPr>
          <a:xfrm>
            <a:off x="457200" y="1188720"/>
            <a:ext cx="8229600" cy="3429000"/>
          </a:xfrm>
          <a:prstGeom prst="rect">
            <a:avLst/>
          </a:prstGeom>
          <a:noFill/>
          <a:ln/>
        </p:spPr>
        <p:txBody>
          <a:bodyPr wrap="square" lIns="0" tIns="0" rIns="0" bIns="0" rtlCol="0" anchor="t"/>
          <a:lstStyle/>
          <a:p>
            <a:pPr marL="342900" indent="-342900">
              <a:spcAft>
                <a:spcPts val="600"/>
              </a:spcAft>
              <a:buSzPct val="100000"/>
              <a:buChar char="•"/>
            </a:pPr>
            <a:r>
              <a:rPr lang="en-US" sz="1700" b="1" dirty="0">
                <a:solidFill>
                  <a:schemeClr val="tx2"/>
                </a:solidFill>
              </a:rPr>
              <a:t>Q1. </a:t>
            </a:r>
            <a:pPr indent="0" marL="0">
              <a:spcAft>
                <a:spcPts val="600"/>
              </a:spcAft>
              <a:buNone/>
            </a:pPr>
            <a:r>
              <a:rPr lang="en-US" sz="1700" dirty="0">
                <a:solidFill>
                  <a:schemeClr val="tx1"/>
                </a:solidFill>
              </a:rPr>
              <a:t>Derive the RMS value of i = Im sin θ.</a:t>
            </a:r>
            <a:endParaRPr lang="en-US" sz="1700" dirty="0"/>
          </a:p>
          <a:p>
            <a:pPr marL="342900" indent="-342900">
              <a:spcAft>
                <a:spcPts val="600"/>
              </a:spcAft>
              <a:buSzPct val="100000"/>
              <a:buChar char="•"/>
            </a:pPr>
            <a:r>
              <a:rPr lang="en-US" sz="1700" b="1" dirty="0">
                <a:solidFill>
                  <a:schemeClr val="tx2"/>
                </a:solidFill>
              </a:rPr>
              <a:t>Q2. </a:t>
            </a:r>
            <a:pPr indent="0" marL="0">
              <a:spcAft>
                <a:spcPts val="600"/>
              </a:spcAft>
              <a:buNone/>
            </a:pPr>
            <a:r>
              <a:rPr lang="en-US" sz="1700" dirty="0">
                <a:solidFill>
                  <a:schemeClr val="tx1"/>
                </a:solidFill>
              </a:rPr>
              <a:t>A voltage has RMS 110 V. Find its peak and average values.</a:t>
            </a:r>
            <a:endParaRPr lang="en-US" sz="1700" dirty="0"/>
          </a:p>
          <a:p>
            <a:pPr marL="342900" indent="-342900">
              <a:spcAft>
                <a:spcPts val="600"/>
              </a:spcAft>
              <a:buSzPct val="100000"/>
              <a:buChar char="•"/>
            </a:pPr>
            <a:r>
              <a:rPr lang="en-US" sz="1700" b="1" dirty="0">
                <a:solidFill>
                  <a:schemeClr val="tx2"/>
                </a:solidFill>
              </a:rPr>
              <a:t>Q3. </a:t>
            </a:r>
            <a:pPr indent="0" marL="0">
              <a:spcAft>
                <a:spcPts val="600"/>
              </a:spcAft>
              <a:buNone/>
            </a:pPr>
            <a:r>
              <a:rPr lang="en-US" sz="1700" dirty="0">
                <a:solidFill>
                  <a:schemeClr val="tx1"/>
                </a:solidFill>
              </a:rPr>
              <a:t>A square wave of peak 10 V: what are its RMS and form factor?</a:t>
            </a:r>
            <a:endParaRPr lang="en-US" sz="1700" dirty="0"/>
          </a:p>
          <a:p>
            <a:pPr marL="342900" indent="-342900">
              <a:spcAft>
                <a:spcPts val="600"/>
              </a:spcAft>
              <a:buSzPct val="100000"/>
              <a:buChar char="•"/>
            </a:pPr>
            <a:r>
              <a:rPr lang="en-US" sz="1700" b="1" dirty="0">
                <a:solidFill>
                  <a:schemeClr val="tx2"/>
                </a:solidFill>
              </a:rPr>
              <a:t>Q4. </a:t>
            </a:r>
            <a:pPr indent="0" marL="0">
              <a:spcAft>
                <a:spcPts val="600"/>
              </a:spcAft>
              <a:buNone/>
            </a:pPr>
            <a:r>
              <a:rPr lang="en-US" sz="1700" dirty="0">
                <a:solidFill>
                  <a:schemeClr val="tx1"/>
                </a:solidFill>
              </a:rPr>
              <a:t>Why is the average of a full sine cycle zero?</a:t>
            </a:r>
            <a:endParaRPr lang="en-US" sz="17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0B1F3A"/>
      </a:dk1>
      <a:lt1>
        <a:srgbClr val="FFFFFF"/>
      </a:lt1>
      <a:dk2>
        <a:srgbClr val="16396B"/>
      </a:dk2>
      <a:lt2>
        <a:srgbClr val="EDF2F8"/>
      </a:lt2>
      <a:accent1>
        <a:srgbClr val="F5A623"/>
      </a:accent1>
      <a:accent2>
        <a:srgbClr val="14777B"/>
      </a:accent2>
      <a:accent3>
        <a:srgbClr val="C93C20"/>
      </a:accent3>
      <a:accent4>
        <a:srgbClr val="5B6B7F"/>
      </a:accent4>
      <a:accent5>
        <a:srgbClr val="3E7CB1"/>
      </a:accent5>
      <a:accent6>
        <a:srgbClr val="7A4FD6"/>
      </a:accent6>
      <a:hlink>
        <a:srgbClr val="3E7CB1"/>
      </a:hlink>
      <a:folHlink>
        <a:srgbClr val="5B6B7F"/>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Dept. of EEE, NMAMIT, Nitte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Average, RMS, Form and Peak Factor</dc:title>
  <dc:subject>PptxGenJS Presentation</dc:subject>
  <dc:creator>Dr. Mitesh Astik</dc:creator>
  <cp:lastModifiedBy>Dr. Mitesh Astik</cp:lastModifiedBy>
  <cp:revision>1</cp:revision>
  <dcterms:created xsi:type="dcterms:W3CDTF">2026-10-29T10:05:19Z</dcterms:created>
  <dcterms:modified xsi:type="dcterms:W3CDTF">2026-10-29T10:05:19Z</dcterms:modified>
</cp:coreProperties>
</file>