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it 1 · Generation of Sinusoidal Voltage" id="{358f08a3-f6bf-b099-f387-9cb331b96370}">
          <p14:sldIdLst>
            <p14:sldId id="256"/>
            <p14:sldId id="257"/>
            <p14:sldId id="258"/>
            <p14:sldId id="259"/>
            <p14:sldId id="260"/>
            <p14:sldId id="261"/>
            <p14:sldId id="262"/>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In this session we study "Generation of Sinusoidal Voltage", part of Unit 1 (Circuit Fundamentals) of Basic Electrical and Electronics Engineering.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topic you should be able to do the following. Explain how a rotating coil generates a sinusoidal EMF. Define cycle, period, frequency, amplitude, phase. Write the instantaneous equation e = Em sin ωt. Relate ω, f and 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Alternating current is the basis of nearly all power systems because transformers can change voltage levels efficiently.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instant the coil sides move along the flux lines no EMF is induced. At ninety degrees the cutting rate is maximum, so EMF is maximum.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voltage varies as a sine function of the angle turned by the coil.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 these definitions. They are asked frequently.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calculator in radian mode if you use the argument directly, or convert to degrees as done in your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frequency equals the number of pole pairs times revolutions per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this topic. A coil rotating in a magnetic field induces e = Em sin ωt. ω = 2πf and f = 1/T. Peak-to-peak value of a sine is twice the peak. f = PN/120 for a P-pole machine at N rpm.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Attempt these on your own, then check your working against your notes and textbook. Find the period and angular frequency of a 50 Hz supply. v = 325 sin 314t. Find Vm, f, and v at t = 5 ms. A 6-pole alternator runs at 1000 rpm. Find its frequency. Why does the EMF reverse polarity every half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B1F3A"/>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800600"/>
            <a:ext cx="7132320" cy="228600"/>
          </a:xfrm>
          <a:prstGeom prst="rect">
            <a:avLst/>
          </a:prstGeom>
          <a:noFill/>
          <a:ln/>
        </p:spPr>
        <p:txBody>
          <a:bodyPr wrap="square" lIns="0" tIns="0" rIns="0" bIns="0" rtlCol="0" anchor="ctr"/>
          <a:lstStyle/>
          <a:p>
            <a:pPr indent="0" marL="0">
              <a:buNone/>
            </a:pPr>
            <a:r>
              <a:rPr lang="en-US" sz="1000" dirty="0">
                <a:solidFill>
                  <a:schemeClr val="accent4"/>
                </a:solidFill>
              </a:rPr>
              <a:t>Basic Electrical and Electronics Engineering · Unit 1 · Dr. Mitesh Astik, NMAMIT Nitte</a:t>
            </a:r>
            <a:endParaRPr lang="en-US" sz="1000" dirty="0"/>
          </a:p>
        </p:txBody>
      </p:sp>
      <p:sp>
        <p:nvSpPr>
          <p:cNvPr id="3" name="Text 1"/>
          <p:cNvSpPr/>
          <p:nvPr>
            <p:ph idx="101" type="title" hasCustomPrompt="1"/>
          </p:nvPr>
        </p:nvSpPr>
        <p:spPr>
          <a:xfrm>
            <a:off x="1188720" y="274320"/>
            <a:ext cx="7498080" cy="68580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Icon circle"/>
          <p:cNvSpPr/>
          <p:nvPr/>
        </p:nvSpPr>
        <p:spPr>
          <a:xfrm>
            <a:off x="6858000" y="822960"/>
            <a:ext cx="1737360" cy="1737360"/>
          </a:xfrm>
          <a:prstGeom prst="ellipse">
            <a:avLst/>
          </a:prstGeom>
          <a:solidFill>
            <a:schemeClr val="accent1"/>
          </a:solidFill>
          <a:ln/>
        </p:spPr>
      </p:sp>
      <p:pic>
        <p:nvPicPr>
          <p:cNvPr id="3" name="Image 0" descr="topic icon">    </p:cNvPr>
          <p:cNvPicPr>
            <a:picLocks noChangeAspect="1"/>
          </p:cNvPicPr>
          <p:nvPr/>
        </p:nvPicPr>
        <p:blipFill>
          <a:blip r:embed="rId1"/>
          <a:stretch>
            <a:fillRect/>
          </a:stretch>
        </p:blipFill>
        <p:spPr>
          <a:xfrm>
            <a:off x="7360920" y="1325880"/>
            <a:ext cx="731520" cy="731520"/>
          </a:xfrm>
          <a:prstGeom prst="rect">
            <a:avLst/>
          </a:prstGeom>
        </p:spPr>
      </p:pic>
      <p:sp>
        <p:nvSpPr>
          <p:cNvPr id="4" name="Text 1"/>
          <p:cNvSpPr txBox="1"/>
          <p:nvPr/>
        </p:nvSpPr>
        <p:spPr>
          <a:xfrm>
            <a:off x="640080" y="822960"/>
            <a:ext cx="6035040" cy="365760"/>
          </a:xfrm>
          <a:prstGeom prst="rect">
            <a:avLst/>
          </a:prstGeom>
          <a:noFill/>
          <a:ln/>
        </p:spPr>
        <p:txBody>
          <a:bodyPr wrap="square" lIns="0" tIns="0" rIns="0" bIns="0" rtlCol="0" anchor="ctr"/>
          <a:lstStyle/>
          <a:p>
            <a:pPr indent="0" marL="0">
              <a:buNone/>
            </a:pPr>
            <a:r>
              <a:rPr lang="en-US" sz="1500" b="1" spc="300" kern="0" dirty="0">
                <a:solidFill>
                  <a:schemeClr val="accent1"/>
                </a:solidFill>
              </a:rPr>
              <a:t>UNIT 1  ·  9 hours</a:t>
            </a:r>
            <a:endParaRPr lang="en-US" sz="1500" dirty="0"/>
          </a:p>
        </p:txBody>
      </p:sp>
      <p:sp>
        <p:nvSpPr>
          <p:cNvPr id="5" name="Text 2"/>
          <p:cNvSpPr txBox="1"/>
          <p:nvPr/>
        </p:nvSpPr>
        <p:spPr>
          <a:xfrm>
            <a:off x="640080" y="1280160"/>
            <a:ext cx="6035040" cy="1554480"/>
          </a:xfrm>
          <a:prstGeom prst="rect">
            <a:avLst/>
          </a:prstGeom>
          <a:noFill/>
          <a:ln/>
        </p:spPr>
        <p:txBody>
          <a:bodyPr wrap="square" lIns="0" tIns="0" rIns="0" bIns="0" rtlCol="0" anchor="t"/>
          <a:lstStyle/>
          <a:p>
            <a:pPr indent="0" marL="0">
              <a:buNone/>
            </a:pPr>
            <a:r>
              <a:rPr lang="en-US" sz="3600" b="1" dirty="0">
                <a:solidFill>
                  <a:schemeClr val="bg1"/>
                </a:solidFill>
                <a:latin typeface="Cambria" pitchFamily="34" charset="0"/>
                <a:ea typeface="Cambria" pitchFamily="34" charset="-122"/>
                <a:cs typeface="Cambria" pitchFamily="34" charset="-120"/>
              </a:rPr>
              <a:t>Generation of Sinusoidal Voltage</a:t>
            </a:r>
            <a:endParaRPr lang="en-US" sz="3600" dirty="0"/>
          </a:p>
        </p:txBody>
      </p:sp>
      <p:sp>
        <p:nvSpPr>
          <p:cNvPr id="6" name="Text 3"/>
          <p:cNvSpPr txBox="1"/>
          <p:nvPr/>
        </p:nvSpPr>
        <p:spPr>
          <a:xfrm>
            <a:off x="640080" y="2926080"/>
            <a:ext cx="6035040" cy="548640"/>
          </a:xfrm>
          <a:prstGeom prst="rect">
            <a:avLst/>
          </a:prstGeom>
          <a:noFill/>
          <a:ln/>
        </p:spPr>
        <p:txBody>
          <a:bodyPr wrap="square" lIns="0" tIns="0" rIns="0" bIns="0" rtlCol="0" anchor="t"/>
          <a:lstStyle/>
          <a:p>
            <a:pPr indent="0" marL="0">
              <a:buNone/>
            </a:pPr>
            <a:r>
              <a:rPr lang="en-US" sz="1600" dirty="0">
                <a:solidFill>
                  <a:srgbClr val="D5E0EE"/>
                </a:solidFill>
              </a:rPr>
              <a:t>Circuit Fundamentals</a:t>
            </a:r>
            <a:endParaRPr lang="en-US" sz="1600" dirty="0"/>
          </a:p>
        </p:txBody>
      </p:sp>
      <p:sp>
        <p:nvSpPr>
          <p:cNvPr id="7" name="Text 4"/>
          <p:cNvSpPr txBox="1"/>
          <p:nvPr/>
        </p:nvSpPr>
        <p:spPr>
          <a:xfrm>
            <a:off x="640080" y="3657600"/>
            <a:ext cx="7863840" cy="914400"/>
          </a:xfrm>
          <a:prstGeom prst="rect">
            <a:avLst/>
          </a:prstGeom>
          <a:noFill/>
          <a:ln/>
        </p:spPr>
        <p:txBody>
          <a:bodyPr wrap="square" lIns="0" tIns="0" rIns="0" bIns="0" rtlCol="0" anchor="t"/>
          <a:lstStyle/>
          <a:p>
            <a:pPr indent="0" marL="0">
              <a:buNone/>
            </a:pPr>
            <a:r>
              <a:rPr lang="en-US" sz="1400" b="1" dirty="0">
                <a:solidFill>
                  <a:schemeClr val="bg1"/>
                </a:solidFill>
              </a:rPr>
              <a:t>Basic Electrical and Electronics Engineering  (EEE103)</a:t>
            </a:r>
            <a:endParaRPr lang="en-US" sz="1400" dirty="0"/>
          </a:p>
          <a:p>
            <a:pPr indent="0" marL="0">
              <a:buNone/>
            </a:pPr>
            <a:r>
              <a:rPr lang="en-US" sz="1400" dirty="0">
                <a:solidFill>
                  <a:srgbClr val="D5E0EE"/>
                </a:solidFill>
              </a:rPr>
              <a:t>Dr. Mitesh Astik · Dept. of Electrical and Electronics Engineering</a:t>
            </a:r>
            <a:endParaRPr lang="en-US" sz="1400" dirty="0"/>
          </a:p>
          <a:p>
            <a:pPr indent="0" marL="0">
              <a:buNone/>
            </a:pPr>
            <a:r>
              <a:rPr lang="en-US" sz="1400" dirty="0">
                <a:solidFill>
                  <a:srgbClr val="D5E0EE"/>
                </a:solidFill>
              </a:rPr>
              <a:t>NMAM Institute of Technology, Nitte · 2025-26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Learning objectives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U1</a:t>
            </a:r>
            <a:endParaRPr lang="en-US" sz="1600" dirty="0"/>
          </a:p>
        </p:txBody>
      </p:sp>
      <p:sp>
        <p:nvSpPr>
          <p:cNvPr id="6" name="Text 3"/>
          <p:cNvSpPr txBox="1"/>
          <p:nvPr/>
        </p:nvSpPr>
        <p:spPr>
          <a:xfrm>
            <a:off x="457200" y="1188720"/>
            <a:ext cx="4846320" cy="338328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Explain how a rotating coil generates a sinusoidal EMF</a:t>
            </a:r>
            <a:endParaRPr lang="en-US" sz="2200" dirty="0"/>
          </a:p>
          <a:p>
            <a:pPr marL="342900" indent="-342900">
              <a:spcAft>
                <a:spcPts val="600"/>
              </a:spcAft>
              <a:buSzPct val="100000"/>
              <a:buChar char="•"/>
            </a:pPr>
            <a:r>
              <a:rPr lang="en-US" sz="2200" dirty="0">
                <a:solidFill>
                  <a:schemeClr val="tx1"/>
                </a:solidFill>
              </a:rPr>
              <a:t>Define cycle, period, frequency, amplitude, phase</a:t>
            </a:r>
            <a:endParaRPr lang="en-US" sz="2200" dirty="0"/>
          </a:p>
          <a:p>
            <a:pPr marL="342900" indent="-342900">
              <a:spcAft>
                <a:spcPts val="600"/>
              </a:spcAft>
              <a:buSzPct val="100000"/>
              <a:buChar char="•"/>
            </a:pPr>
            <a:r>
              <a:rPr lang="en-US" sz="2200" dirty="0">
                <a:solidFill>
                  <a:schemeClr val="tx1"/>
                </a:solidFill>
              </a:rPr>
              <a:t>Write the instantaneous equation e = Em sin ωt</a:t>
            </a:r>
            <a:endParaRPr lang="en-US" sz="2200" dirty="0"/>
          </a:p>
          <a:p>
            <a:pPr marL="342900" indent="-342900">
              <a:spcAft>
                <a:spcPts val="600"/>
              </a:spcAft>
              <a:buSzPct val="100000"/>
              <a:buChar char="•"/>
            </a:pPr>
            <a:r>
              <a:rPr lang="en-US" sz="2200" dirty="0">
                <a:solidFill>
                  <a:schemeClr val="tx1"/>
                </a:solidFill>
              </a:rPr>
              <a:t>Relate ω, f and T</a:t>
            </a:r>
            <a:endParaRPr lang="en-US" sz="2200" dirty="0"/>
          </a:p>
        </p:txBody>
      </p:sp>
      <p:sp>
        <p:nvSpPr>
          <p:cNvPr id="7" name="Card"/>
          <p:cNvSpPr/>
          <p:nvPr/>
        </p:nvSpPr>
        <p:spPr>
          <a:xfrm>
            <a:off x="5577840" y="1188720"/>
            <a:ext cx="3108960" cy="3383280"/>
          </a:xfrm>
          <a:prstGeom prst="roundRect">
            <a:avLst>
              <a:gd name="adj" fmla="val 2353"/>
            </a:avLst>
          </a:prstGeom>
          <a:solidFill>
            <a:schemeClr val="bg2"/>
          </a:solidFill>
          <a:ln/>
        </p:spPr>
      </p:sp>
      <p:sp>
        <p:nvSpPr>
          <p:cNvPr id="8" name="Text 5"/>
          <p:cNvSpPr txBox="1"/>
          <p:nvPr/>
        </p:nvSpPr>
        <p:spPr>
          <a:xfrm>
            <a:off x="5715000" y="1261872"/>
            <a:ext cx="2834640" cy="365760"/>
          </a:xfrm>
          <a:prstGeom prst="rect">
            <a:avLst/>
          </a:prstGeom>
          <a:noFill/>
          <a:ln/>
        </p:spPr>
        <p:txBody>
          <a:bodyPr wrap="square" lIns="0" tIns="0" rIns="0" bIns="0" rtlCol="0" anchor="ctr"/>
          <a:lstStyle/>
          <a:p>
            <a:pPr indent="0" marL="0">
              <a:buNone/>
            </a:pPr>
            <a:r>
              <a:rPr lang="en-US" sz="1600" b="1" dirty="0">
                <a:solidFill>
                  <a:schemeClr val="tx2"/>
                </a:solidFill>
              </a:rPr>
              <a:t>Syllabus context</a:t>
            </a:r>
            <a:endParaRPr lang="en-US" sz="1600" dirty="0"/>
          </a:p>
        </p:txBody>
      </p:sp>
      <p:sp>
        <p:nvSpPr>
          <p:cNvPr id="9" name="Text 6"/>
          <p:cNvSpPr txBox="1"/>
          <p:nvPr/>
        </p:nvSpPr>
        <p:spPr>
          <a:xfrm>
            <a:off x="5715000" y="1645920"/>
            <a:ext cx="2834640" cy="2852928"/>
          </a:xfrm>
          <a:prstGeom prst="rect">
            <a:avLst/>
          </a:prstGeom>
          <a:noFill/>
          <a:ln/>
        </p:spPr>
        <p:txBody>
          <a:bodyPr wrap="square" lIns="0" tIns="0" rIns="0" bIns="0" rtlCol="0" anchor="t"/>
          <a:lstStyle/>
          <a:p>
            <a:pPr indent="0" marL="0">
              <a:spcAft>
                <a:spcPts val="300"/>
              </a:spcAft>
              <a:buNone/>
            </a:pPr>
            <a:r>
              <a:rPr lang="en-US" sz="1800" dirty="0">
                <a:solidFill>
                  <a:schemeClr val="tx1"/>
                </a:solidFill>
              </a:rPr>
              <a:t>Basic nodal and mesh analysis excited by independent DC voltage sources, Power and Energy. Generation of sinusoidal voltage, frequency, average value, RMS value, form factor and peak factor, phasor representation of alternating quantities.</a:t>
            </a:r>
            <a:endParaRPr lang="en-US" sz="18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Why alternating current?</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U1</a:t>
            </a:r>
            <a:endParaRPr lang="en-US" sz="1600" dirty="0"/>
          </a:p>
        </p:txBody>
      </p:sp>
      <p:sp>
        <p:nvSpPr>
          <p:cNvPr id="6" name="Text 3"/>
          <p:cNvSpPr txBox="1"/>
          <p:nvPr/>
        </p:nvSpPr>
        <p:spPr>
          <a:xfrm>
            <a:off x="457200" y="1188720"/>
            <a:ext cx="8229600" cy="3429000"/>
          </a:xfrm>
          <a:prstGeom prst="rect">
            <a:avLst/>
          </a:prstGeom>
          <a:noFill/>
          <a:ln/>
        </p:spPr>
        <p:txBody>
          <a:bodyPr wrap="square" lIns="0" tIns="0" rIns="0" bIns="0" rtlCol="0" anchor="t"/>
          <a:lstStyle/>
          <a:p>
            <a:pPr marL="342900" indent="-342900">
              <a:spcAft>
                <a:spcPts val="600"/>
              </a:spcAft>
              <a:buSzPct val="100000"/>
              <a:buChar char="•"/>
            </a:pPr>
            <a:r>
              <a:rPr lang="en-US" sz="2200" b="1" dirty="0">
                <a:solidFill>
                  <a:schemeClr val="tx2"/>
                </a:solidFill>
              </a:rPr>
              <a:t>Easy to generate </a:t>
            </a:r>
            <a:pPr indent="0" marL="0">
              <a:spcAft>
                <a:spcPts val="600"/>
              </a:spcAft>
              <a:buNone/>
            </a:pPr>
            <a:r>
              <a:rPr lang="en-US" sz="2200" dirty="0">
                <a:solidFill>
                  <a:schemeClr val="tx1"/>
                </a:solidFill>
              </a:rPr>
              <a:t>at high voltage by rotating machines.</a:t>
            </a:r>
            <a:endParaRPr lang="en-US" sz="2200" dirty="0"/>
          </a:p>
          <a:p>
            <a:pPr marL="342900" indent="-342900">
              <a:spcAft>
                <a:spcPts val="600"/>
              </a:spcAft>
              <a:buSzPct val="100000"/>
              <a:buChar char="•"/>
            </a:pPr>
            <a:r>
              <a:rPr lang="en-US" sz="2200" b="1" dirty="0">
                <a:solidFill>
                  <a:schemeClr val="tx2"/>
                </a:solidFill>
              </a:rPr>
              <a:t>Transformers </a:t>
            </a:r>
            <a:pPr indent="0" marL="0">
              <a:spcAft>
                <a:spcPts val="600"/>
              </a:spcAft>
              <a:buNone/>
            </a:pPr>
            <a:r>
              <a:rPr lang="en-US" sz="2200" dirty="0">
                <a:solidFill>
                  <a:schemeClr val="tx1"/>
                </a:solidFill>
              </a:rPr>
              <a:t>step voltage up for transmission and down for use, impossible with DC.</a:t>
            </a:r>
            <a:endParaRPr lang="en-US" sz="2200" dirty="0"/>
          </a:p>
          <a:p>
            <a:pPr marL="342900" indent="-342900">
              <a:spcAft>
                <a:spcPts val="600"/>
              </a:spcAft>
              <a:buSzPct val="100000"/>
              <a:buChar char="•"/>
            </a:pPr>
            <a:r>
              <a:rPr lang="en-US" sz="2200" b="1" dirty="0">
                <a:solidFill>
                  <a:schemeClr val="tx2"/>
                </a:solidFill>
              </a:rPr>
              <a:t>Motors </a:t>
            </a:r>
            <a:pPr indent="0" marL="0">
              <a:spcAft>
                <a:spcPts val="600"/>
              </a:spcAft>
              <a:buNone/>
            </a:pPr>
            <a:r>
              <a:rPr lang="en-US" sz="2200" dirty="0">
                <a:solidFill>
                  <a:schemeClr val="tx1"/>
                </a:solidFill>
              </a:rPr>
              <a:t>such as the induction motor, run directly from AC.</a:t>
            </a:r>
            <a:endParaRPr lang="en-US" sz="2200" dirty="0"/>
          </a:p>
          <a:p>
            <a:pPr marL="342900" indent="-342900">
              <a:spcAft>
                <a:spcPts val="600"/>
              </a:spcAft>
              <a:buSzPct val="100000"/>
              <a:buChar char="•"/>
            </a:pPr>
            <a:r>
              <a:rPr lang="en-US" sz="2200" b="1" dirty="0">
                <a:solidFill>
                  <a:schemeClr val="tx2"/>
                </a:solidFill>
              </a:rPr>
              <a:t>Standard supply: </a:t>
            </a:r>
            <a:pPr indent="0" marL="0">
              <a:spcAft>
                <a:spcPts val="600"/>
              </a:spcAft>
              <a:buNone/>
            </a:pPr>
            <a:r>
              <a:rPr lang="en-US" sz="2200" dirty="0">
                <a:solidFill>
                  <a:schemeClr val="tx1"/>
                </a:solidFill>
              </a:rPr>
              <a:t>230 V (RMS), 50 Hz single-phase in India.</a:t>
            </a:r>
            <a:endParaRPr lang="en-US" sz="2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Generating an EMF: coil in a field</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U1</a:t>
            </a:r>
            <a:endParaRPr lang="en-US" sz="1600" dirty="0"/>
          </a:p>
        </p:txBody>
      </p:sp>
      <p:sp>
        <p:nvSpPr>
          <p:cNvPr id="6" name="Flow step"/>
          <p:cNvSpPr/>
          <p:nvPr/>
        </p:nvSpPr>
        <p:spPr>
          <a:xfrm>
            <a:off x="457200" y="1234440"/>
            <a:ext cx="1536192" cy="2286000"/>
          </a:xfrm>
          <a:prstGeom prst="roundRect">
            <a:avLst>
              <a:gd name="adj" fmla="val 4762"/>
            </a:avLst>
          </a:prstGeom>
          <a:solidFill>
            <a:schemeClr val="bg2"/>
          </a:solidFill>
          <a:ln/>
        </p:spPr>
      </p:sp>
      <p:sp>
        <p:nvSpPr>
          <p:cNvPr id="7" name="Step number"/>
          <p:cNvSpPr/>
          <p:nvPr/>
        </p:nvSpPr>
        <p:spPr>
          <a:xfrm>
            <a:off x="566928" y="1344168"/>
            <a:ext cx="365760" cy="365760"/>
          </a:xfrm>
          <a:prstGeom prst="ellipse">
            <a:avLst/>
          </a:prstGeom>
          <a:solidFill>
            <a:schemeClr val="tx2"/>
          </a:solidFill>
          <a:ln/>
        </p:spPr>
      </p:sp>
      <p:sp>
        <p:nvSpPr>
          <p:cNvPr id="8" name="Text 5"/>
          <p:cNvSpPr txBox="1"/>
          <p:nvPr/>
        </p:nvSpPr>
        <p:spPr>
          <a:xfrm>
            <a:off x="566928" y="134416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9" name="Text 6"/>
          <p:cNvSpPr txBox="1"/>
          <p:nvPr/>
        </p:nvSpPr>
        <p:spPr>
          <a:xfrm>
            <a:off x="566928" y="1783080"/>
            <a:ext cx="1316736" cy="256032"/>
          </a:xfrm>
          <a:prstGeom prst="rect">
            <a:avLst/>
          </a:prstGeom>
          <a:noFill/>
          <a:ln/>
        </p:spPr>
        <p:txBody>
          <a:bodyPr wrap="square" lIns="0" tIns="0" rIns="0" bIns="0" rtlCol="0" anchor="t"/>
          <a:lstStyle/>
          <a:p>
            <a:pPr indent="0" marL="0">
              <a:buNone/>
            </a:pPr>
            <a:r>
              <a:rPr lang="en-US" sz="1500" b="1" dirty="0">
                <a:solidFill>
                  <a:schemeClr val="tx1"/>
                </a:solidFill>
              </a:rPr>
              <a:t>Coil</a:t>
            </a:r>
            <a:endParaRPr lang="en-US" sz="1500" dirty="0"/>
          </a:p>
        </p:txBody>
      </p:sp>
      <p:sp>
        <p:nvSpPr>
          <p:cNvPr id="10" name="Text 7"/>
          <p:cNvSpPr txBox="1"/>
          <p:nvPr/>
        </p:nvSpPr>
        <p:spPr>
          <a:xfrm>
            <a:off x="566928" y="2084832"/>
            <a:ext cx="1316736" cy="1389888"/>
          </a:xfrm>
          <a:prstGeom prst="rect">
            <a:avLst/>
          </a:prstGeom>
          <a:noFill/>
          <a:ln/>
        </p:spPr>
        <p:txBody>
          <a:bodyPr wrap="square" lIns="0" tIns="0" rIns="0" bIns="0" rtlCol="0" anchor="t"/>
          <a:lstStyle/>
          <a:p>
            <a:pPr indent="0" marL="0">
              <a:buNone/>
            </a:pPr>
            <a:r>
              <a:rPr lang="en-US" sz="1500" dirty="0">
                <a:solidFill>
                  <a:schemeClr val="tx1"/>
                </a:solidFill>
              </a:rPr>
              <a:t>A coil AB rotates at uniform speed in a uniform magnetic field.</a:t>
            </a:r>
            <a:endParaRPr lang="en-US" sz="1500" dirty="0"/>
          </a:p>
        </p:txBody>
      </p:sp>
      <p:sp>
        <p:nvSpPr>
          <p:cNvPr id="11" name="Flow step"/>
          <p:cNvSpPr/>
          <p:nvPr/>
        </p:nvSpPr>
        <p:spPr>
          <a:xfrm>
            <a:off x="2130552" y="1234440"/>
            <a:ext cx="1536192" cy="2286000"/>
          </a:xfrm>
          <a:prstGeom prst="roundRect">
            <a:avLst>
              <a:gd name="adj" fmla="val 4762"/>
            </a:avLst>
          </a:prstGeom>
          <a:solidFill>
            <a:schemeClr val="bg2"/>
          </a:solidFill>
          <a:ln/>
        </p:spPr>
      </p:sp>
      <p:sp>
        <p:nvSpPr>
          <p:cNvPr id="12" name="Step number"/>
          <p:cNvSpPr/>
          <p:nvPr/>
        </p:nvSpPr>
        <p:spPr>
          <a:xfrm>
            <a:off x="2240280" y="1344168"/>
            <a:ext cx="365760" cy="365760"/>
          </a:xfrm>
          <a:prstGeom prst="ellipse">
            <a:avLst/>
          </a:prstGeom>
          <a:solidFill>
            <a:schemeClr val="tx2"/>
          </a:solidFill>
          <a:ln/>
        </p:spPr>
      </p:sp>
      <p:sp>
        <p:nvSpPr>
          <p:cNvPr id="13" name="Text 10"/>
          <p:cNvSpPr txBox="1"/>
          <p:nvPr/>
        </p:nvSpPr>
        <p:spPr>
          <a:xfrm>
            <a:off x="2240280" y="134416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4" name="Text 11"/>
          <p:cNvSpPr txBox="1"/>
          <p:nvPr/>
        </p:nvSpPr>
        <p:spPr>
          <a:xfrm>
            <a:off x="2240280" y="1783080"/>
            <a:ext cx="1316736" cy="256032"/>
          </a:xfrm>
          <a:prstGeom prst="rect">
            <a:avLst/>
          </a:prstGeom>
          <a:noFill/>
          <a:ln/>
        </p:spPr>
        <p:txBody>
          <a:bodyPr wrap="square" lIns="0" tIns="0" rIns="0" bIns="0" rtlCol="0" anchor="t"/>
          <a:lstStyle/>
          <a:p>
            <a:pPr indent="0" marL="0">
              <a:buNone/>
            </a:pPr>
            <a:r>
              <a:rPr lang="en-US" sz="1500" b="1" dirty="0">
                <a:solidFill>
                  <a:schemeClr val="tx1"/>
                </a:solidFill>
              </a:rPr>
              <a:t>Flux cutting</a:t>
            </a:r>
            <a:endParaRPr lang="en-US" sz="1500" dirty="0"/>
          </a:p>
        </p:txBody>
      </p:sp>
      <p:sp>
        <p:nvSpPr>
          <p:cNvPr id="15" name="Text 12"/>
          <p:cNvSpPr txBox="1"/>
          <p:nvPr/>
        </p:nvSpPr>
        <p:spPr>
          <a:xfrm>
            <a:off x="2240280" y="2084832"/>
            <a:ext cx="1316736" cy="1389888"/>
          </a:xfrm>
          <a:prstGeom prst="rect">
            <a:avLst/>
          </a:prstGeom>
          <a:noFill/>
          <a:ln/>
        </p:spPr>
        <p:txBody>
          <a:bodyPr wrap="square" lIns="0" tIns="0" rIns="0" bIns="0" rtlCol="0" anchor="t"/>
          <a:lstStyle/>
          <a:p>
            <a:pPr indent="0" marL="0">
              <a:buNone/>
            </a:pPr>
            <a:r>
              <a:rPr lang="en-US" sz="1500" dirty="0">
                <a:solidFill>
                  <a:schemeClr val="tx1"/>
                </a:solidFill>
              </a:rPr>
              <a:t>Sides of the coil cut flux; Faraday's law gives EMF e = B l v sin θ.</a:t>
            </a:r>
            <a:endParaRPr lang="en-US" sz="1500" dirty="0"/>
          </a:p>
        </p:txBody>
      </p:sp>
      <p:sp>
        <p:nvSpPr>
          <p:cNvPr id="16" name="Flow step"/>
          <p:cNvSpPr/>
          <p:nvPr/>
        </p:nvSpPr>
        <p:spPr>
          <a:xfrm>
            <a:off x="3803904" y="1234440"/>
            <a:ext cx="1536192" cy="2286000"/>
          </a:xfrm>
          <a:prstGeom prst="roundRect">
            <a:avLst>
              <a:gd name="adj" fmla="val 4762"/>
            </a:avLst>
          </a:prstGeom>
          <a:solidFill>
            <a:schemeClr val="bg2"/>
          </a:solidFill>
          <a:ln/>
        </p:spPr>
      </p:sp>
      <p:sp>
        <p:nvSpPr>
          <p:cNvPr id="17" name="Step number"/>
          <p:cNvSpPr/>
          <p:nvPr/>
        </p:nvSpPr>
        <p:spPr>
          <a:xfrm>
            <a:off x="3913632" y="1344168"/>
            <a:ext cx="365760" cy="365760"/>
          </a:xfrm>
          <a:prstGeom prst="ellipse">
            <a:avLst/>
          </a:prstGeom>
          <a:solidFill>
            <a:schemeClr val="tx2"/>
          </a:solidFill>
          <a:ln/>
        </p:spPr>
      </p:sp>
      <p:sp>
        <p:nvSpPr>
          <p:cNvPr id="18" name="Text 15"/>
          <p:cNvSpPr txBox="1"/>
          <p:nvPr/>
        </p:nvSpPr>
        <p:spPr>
          <a:xfrm>
            <a:off x="3913632" y="134416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9" name="Text 16"/>
          <p:cNvSpPr txBox="1"/>
          <p:nvPr/>
        </p:nvSpPr>
        <p:spPr>
          <a:xfrm>
            <a:off x="3913632" y="1783080"/>
            <a:ext cx="1316736" cy="256032"/>
          </a:xfrm>
          <a:prstGeom prst="rect">
            <a:avLst/>
          </a:prstGeom>
          <a:noFill/>
          <a:ln/>
        </p:spPr>
        <p:txBody>
          <a:bodyPr wrap="square" lIns="0" tIns="0" rIns="0" bIns="0" rtlCol="0" anchor="t"/>
          <a:lstStyle/>
          <a:p>
            <a:pPr indent="0" marL="0">
              <a:buNone/>
            </a:pPr>
            <a:r>
              <a:rPr lang="en-US" sz="1500" b="1" dirty="0">
                <a:solidFill>
                  <a:schemeClr val="tx1"/>
                </a:solidFill>
              </a:rPr>
              <a:t>Zero EMF</a:t>
            </a:r>
            <a:endParaRPr lang="en-US" sz="1500" dirty="0"/>
          </a:p>
        </p:txBody>
      </p:sp>
      <p:sp>
        <p:nvSpPr>
          <p:cNvPr id="20" name="Text 17"/>
          <p:cNvSpPr txBox="1"/>
          <p:nvPr/>
        </p:nvSpPr>
        <p:spPr>
          <a:xfrm>
            <a:off x="3913632" y="2084832"/>
            <a:ext cx="1316736" cy="1389888"/>
          </a:xfrm>
          <a:prstGeom prst="rect">
            <a:avLst/>
          </a:prstGeom>
          <a:noFill/>
          <a:ln/>
        </p:spPr>
        <p:txBody>
          <a:bodyPr wrap="square" lIns="0" tIns="0" rIns="0" bIns="0" rtlCol="0" anchor="t"/>
          <a:lstStyle/>
          <a:p>
            <a:pPr indent="0" marL="0">
              <a:buNone/>
            </a:pPr>
            <a:r>
              <a:rPr lang="en-US" sz="1500" dirty="0">
                <a:solidFill>
                  <a:schemeClr val="tx1"/>
                </a:solidFill>
              </a:rPr>
              <a:t>When the coil sides move parallel to the field (position 1), no flux is cut.</a:t>
            </a:r>
            <a:endParaRPr lang="en-US" sz="1500" dirty="0"/>
          </a:p>
        </p:txBody>
      </p:sp>
      <p:sp>
        <p:nvSpPr>
          <p:cNvPr id="21" name="Flow step"/>
          <p:cNvSpPr/>
          <p:nvPr/>
        </p:nvSpPr>
        <p:spPr>
          <a:xfrm>
            <a:off x="5477256" y="1234440"/>
            <a:ext cx="1536192" cy="2286000"/>
          </a:xfrm>
          <a:prstGeom prst="roundRect">
            <a:avLst>
              <a:gd name="adj" fmla="val 4762"/>
            </a:avLst>
          </a:prstGeom>
          <a:solidFill>
            <a:schemeClr val="bg2"/>
          </a:solidFill>
          <a:ln/>
        </p:spPr>
      </p:sp>
      <p:sp>
        <p:nvSpPr>
          <p:cNvPr id="22" name="Step number"/>
          <p:cNvSpPr/>
          <p:nvPr/>
        </p:nvSpPr>
        <p:spPr>
          <a:xfrm>
            <a:off x="5586984" y="1344168"/>
            <a:ext cx="365760" cy="365760"/>
          </a:xfrm>
          <a:prstGeom prst="ellipse">
            <a:avLst/>
          </a:prstGeom>
          <a:solidFill>
            <a:schemeClr val="tx2"/>
          </a:solidFill>
          <a:ln/>
        </p:spPr>
      </p:sp>
      <p:sp>
        <p:nvSpPr>
          <p:cNvPr id="23" name="Text 20"/>
          <p:cNvSpPr txBox="1"/>
          <p:nvPr/>
        </p:nvSpPr>
        <p:spPr>
          <a:xfrm>
            <a:off x="5586984" y="134416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4" name="Text 21"/>
          <p:cNvSpPr txBox="1"/>
          <p:nvPr/>
        </p:nvSpPr>
        <p:spPr>
          <a:xfrm>
            <a:off x="5586984" y="1783080"/>
            <a:ext cx="1316736" cy="256032"/>
          </a:xfrm>
          <a:prstGeom prst="rect">
            <a:avLst/>
          </a:prstGeom>
          <a:noFill/>
          <a:ln/>
        </p:spPr>
        <p:txBody>
          <a:bodyPr wrap="square" lIns="0" tIns="0" rIns="0" bIns="0" rtlCol="0" anchor="t"/>
          <a:lstStyle/>
          <a:p>
            <a:pPr indent="0" marL="0">
              <a:buNone/>
            </a:pPr>
            <a:r>
              <a:rPr lang="en-US" sz="1500" b="1" dirty="0">
                <a:solidFill>
                  <a:schemeClr val="tx1"/>
                </a:solidFill>
              </a:rPr>
              <a:t>Peak EMF</a:t>
            </a:r>
            <a:endParaRPr lang="en-US" sz="1500" dirty="0"/>
          </a:p>
        </p:txBody>
      </p:sp>
      <p:sp>
        <p:nvSpPr>
          <p:cNvPr id="25" name="Text 22"/>
          <p:cNvSpPr txBox="1"/>
          <p:nvPr/>
        </p:nvSpPr>
        <p:spPr>
          <a:xfrm>
            <a:off x="5586984" y="2084832"/>
            <a:ext cx="1316736" cy="1389888"/>
          </a:xfrm>
          <a:prstGeom prst="rect">
            <a:avLst/>
          </a:prstGeom>
          <a:noFill/>
          <a:ln/>
        </p:spPr>
        <p:txBody>
          <a:bodyPr wrap="square" lIns="0" tIns="0" rIns="0" bIns="0" rtlCol="0" anchor="t"/>
          <a:lstStyle/>
          <a:p>
            <a:pPr indent="0" marL="0">
              <a:buNone/>
            </a:pPr>
            <a:r>
              <a:rPr lang="en-US" sz="1500" dirty="0">
                <a:solidFill>
                  <a:schemeClr val="tx1"/>
                </a:solidFill>
              </a:rPr>
              <a:t>When sides move perpendicular to the field (position 3), cutting is maximum.</a:t>
            </a:r>
            <a:endParaRPr lang="en-US" sz="1500" dirty="0"/>
          </a:p>
        </p:txBody>
      </p:sp>
      <p:sp>
        <p:nvSpPr>
          <p:cNvPr id="26" name="Flow step"/>
          <p:cNvSpPr/>
          <p:nvPr/>
        </p:nvSpPr>
        <p:spPr>
          <a:xfrm>
            <a:off x="7150608" y="1234440"/>
            <a:ext cx="1536192" cy="2286000"/>
          </a:xfrm>
          <a:prstGeom prst="roundRect">
            <a:avLst>
              <a:gd name="adj" fmla="val 4762"/>
            </a:avLst>
          </a:prstGeom>
          <a:solidFill>
            <a:schemeClr val="bg2"/>
          </a:solidFill>
          <a:ln/>
        </p:spPr>
      </p:sp>
      <p:sp>
        <p:nvSpPr>
          <p:cNvPr id="27" name="Step number"/>
          <p:cNvSpPr/>
          <p:nvPr/>
        </p:nvSpPr>
        <p:spPr>
          <a:xfrm>
            <a:off x="7260336" y="1344168"/>
            <a:ext cx="365760" cy="365760"/>
          </a:xfrm>
          <a:prstGeom prst="ellipse">
            <a:avLst/>
          </a:prstGeom>
          <a:solidFill>
            <a:schemeClr val="tx2"/>
          </a:solidFill>
          <a:ln/>
        </p:spPr>
      </p:sp>
      <p:sp>
        <p:nvSpPr>
          <p:cNvPr id="28" name="Text 25"/>
          <p:cNvSpPr txBox="1"/>
          <p:nvPr/>
        </p:nvSpPr>
        <p:spPr>
          <a:xfrm>
            <a:off x="7260336" y="134416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9" name="Text 26"/>
          <p:cNvSpPr txBox="1"/>
          <p:nvPr/>
        </p:nvSpPr>
        <p:spPr>
          <a:xfrm>
            <a:off x="7260336" y="1783080"/>
            <a:ext cx="1316736" cy="256032"/>
          </a:xfrm>
          <a:prstGeom prst="rect">
            <a:avLst/>
          </a:prstGeom>
          <a:noFill/>
          <a:ln/>
        </p:spPr>
        <p:txBody>
          <a:bodyPr wrap="square" lIns="0" tIns="0" rIns="0" bIns="0" rtlCol="0" anchor="t"/>
          <a:lstStyle/>
          <a:p>
            <a:pPr indent="0" marL="0">
              <a:buNone/>
            </a:pPr>
            <a:r>
              <a:rPr lang="en-US" sz="1500" b="1" dirty="0">
                <a:solidFill>
                  <a:schemeClr val="tx1"/>
                </a:solidFill>
              </a:rPr>
              <a:t>Reversal</a:t>
            </a:r>
            <a:endParaRPr lang="en-US" sz="1500" dirty="0"/>
          </a:p>
        </p:txBody>
      </p:sp>
      <p:sp>
        <p:nvSpPr>
          <p:cNvPr id="30" name="Text 27"/>
          <p:cNvSpPr txBox="1"/>
          <p:nvPr/>
        </p:nvSpPr>
        <p:spPr>
          <a:xfrm>
            <a:off x="7260336" y="2084832"/>
            <a:ext cx="1316736" cy="1389888"/>
          </a:xfrm>
          <a:prstGeom prst="rect">
            <a:avLst/>
          </a:prstGeom>
          <a:noFill/>
          <a:ln/>
        </p:spPr>
        <p:txBody>
          <a:bodyPr wrap="square" lIns="0" tIns="0" rIns="0" bIns="0" rtlCol="0" anchor="t"/>
          <a:lstStyle/>
          <a:p>
            <a:pPr indent="0" marL="0">
              <a:buNone/>
            </a:pPr>
            <a:r>
              <a:rPr lang="en-US" sz="1500" dirty="0">
                <a:solidFill>
                  <a:schemeClr val="tx1"/>
                </a:solidFill>
              </a:rPr>
              <a:t>In the second half-cycle the polarity reverses; the cycle repeats.</a:t>
            </a:r>
            <a:endParaRPr lang="en-US" sz="1500" dirty="0"/>
          </a:p>
        </p:txBody>
      </p:sp>
      <p:sp>
        <p:nvSpPr>
          <p:cNvPr id="31" name="Highlight strip"/>
          <p:cNvSpPr/>
          <p:nvPr/>
        </p:nvSpPr>
        <p:spPr>
          <a:xfrm>
            <a:off x="457200" y="3749040"/>
            <a:ext cx="8229600" cy="822960"/>
          </a:xfrm>
          <a:prstGeom prst="roundRect">
            <a:avLst>
              <a:gd name="adj" fmla="val 8889"/>
            </a:avLst>
          </a:prstGeom>
          <a:solidFill>
            <a:schemeClr val="tx2"/>
          </a:solidFill>
          <a:ln/>
        </p:spPr>
      </p:sp>
      <p:sp>
        <p:nvSpPr>
          <p:cNvPr id="32" name="Text 29"/>
          <p:cNvSpPr txBox="1"/>
          <p:nvPr/>
        </p:nvSpPr>
        <p:spPr>
          <a:xfrm>
            <a:off x="640080" y="3749040"/>
            <a:ext cx="7863840" cy="822960"/>
          </a:xfrm>
          <a:prstGeom prst="rect">
            <a:avLst/>
          </a:prstGeom>
          <a:noFill/>
          <a:ln/>
        </p:spPr>
        <p:txBody>
          <a:bodyPr wrap="square" lIns="0" tIns="0" rIns="0" bIns="0" rtlCol="0" anchor="ctr"/>
          <a:lstStyle/>
          <a:p>
            <a:pPr indent="0" marL="0">
              <a:buNone/>
            </a:pPr>
            <a:r>
              <a:rPr lang="en-US" sz="1500" b="1" dirty="0">
                <a:solidFill>
                  <a:schemeClr val="bg1"/>
                </a:solidFill>
              </a:rPr>
              <a:t>One revolution of a two-pole machine = one complete cycle of EMF.</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The sinusoidal waveform</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U1</a:t>
            </a:r>
            <a:endParaRPr lang="en-US" sz="1600" dirty="0"/>
          </a:p>
        </p:txBody>
      </p:sp>
      <p:pic>
        <p:nvPicPr>
          <p:cNvPr id="6" name="Image 0" descr="sine figure">    </p:cNvPr>
          <p:cNvPicPr>
            <a:picLocks noChangeAspect="1"/>
          </p:cNvPicPr>
          <p:nvPr/>
        </p:nvPicPr>
        <p:blipFill>
          <a:blip r:embed="rId1"/>
          <a:stretch>
            <a:fillRect/>
          </a:stretch>
        </p:blipFill>
        <p:spPr>
          <a:xfrm>
            <a:off x="724767" y="1188720"/>
            <a:ext cx="4585507" cy="3200400"/>
          </a:xfrm>
          <a:prstGeom prst="rect">
            <a:avLst/>
          </a:prstGeom>
        </p:spPr>
      </p:pic>
      <p:sp>
        <p:nvSpPr>
          <p:cNvPr id="7" name="Text 3"/>
          <p:cNvSpPr txBox="1"/>
          <p:nvPr/>
        </p:nvSpPr>
        <p:spPr>
          <a:xfrm>
            <a:off x="5760720" y="1188720"/>
            <a:ext cx="2926080" cy="342900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e = Em sin ωt = Em sin θ</a:t>
            </a:r>
            <a:endParaRPr lang="en-US" sz="2200" dirty="0"/>
          </a:p>
          <a:p>
            <a:pPr marL="342900" indent="-342900">
              <a:spcAft>
                <a:spcPts val="600"/>
              </a:spcAft>
              <a:buSzPct val="100000"/>
              <a:buChar char="•"/>
            </a:pPr>
            <a:r>
              <a:rPr lang="en-US" sz="2200" dirty="0">
                <a:solidFill>
                  <a:schemeClr val="tx1"/>
                </a:solidFill>
              </a:rPr>
              <a:t>θ = ωt  (radians)</a:t>
            </a:r>
            <a:endParaRPr lang="en-US" sz="2200" dirty="0"/>
          </a:p>
          <a:p>
            <a:pPr marL="342900" indent="-342900">
              <a:spcAft>
                <a:spcPts val="600"/>
              </a:spcAft>
              <a:buSzPct val="100000"/>
              <a:buChar char="•"/>
            </a:pPr>
            <a:r>
              <a:rPr lang="en-US" sz="2200" dirty="0">
                <a:solidFill>
                  <a:schemeClr val="tx1"/>
                </a:solidFill>
              </a:rPr>
              <a:t>ω = 2πf = 2π/T rad/s</a:t>
            </a:r>
            <a:endParaRPr lang="en-US" sz="2200" dirty="0"/>
          </a:p>
          <a:p>
            <a:pPr marL="342900" indent="-342900">
              <a:spcAft>
                <a:spcPts val="600"/>
              </a:spcAft>
              <a:buSzPct val="100000"/>
              <a:buChar char="•"/>
            </a:pPr>
            <a:r>
              <a:rPr lang="en-US" sz="2200" dirty="0">
                <a:solidFill>
                  <a:schemeClr val="tx1"/>
                </a:solidFill>
              </a:rPr>
              <a:t>f = 1/T  (hertz)</a:t>
            </a:r>
            <a:endParaRPr lang="en-US" sz="2200" dirty="0"/>
          </a:p>
          <a:p>
            <a:pPr marL="342900" indent="-342900">
              <a:spcAft>
                <a:spcPts val="600"/>
              </a:spcAft>
              <a:buSzPct val="100000"/>
              <a:buChar char="•"/>
            </a:pPr>
            <a:r>
              <a:rPr lang="en-US" sz="2200" dirty="0">
                <a:solidFill>
                  <a:schemeClr val="tx1"/>
                </a:solidFill>
              </a:rPr>
              <a:t>50 Hz → T = 20 ms, ω = 314 rad/s</a:t>
            </a:r>
            <a:endParaRPr lang="en-US" sz="2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Terms used with alternating quantities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U1</a:t>
            </a:r>
            <a:endParaRPr lang="en-US" sz="1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377440"/>
                <a:gridCol w="5852160"/>
              </a:tblGrid>
              <a:tr h="375920">
                <a:tc>
                  <a:txBody>
                    <a:bodyPr/>
                    <a:lstStyle/>
                    <a:p>
                      <a:pPr indent="0" marL="0">
                        <a:buNone/>
                      </a:pPr>
                      <a:r>
                        <a:rPr lang="en-US" sz="1300" b="1" dirty="0">
                          <a:solidFill>
                            <a:schemeClr val="bg1"/>
                          </a:solidFill>
                        </a:rPr>
                        <a:t>Term</a:t>
                      </a:r>
                      <a:endParaRPr lang="en-US" sz="13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Meaning</a:t>
                      </a:r>
                      <a:endParaRPr lang="en-US" sz="13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tx2"/>
                    </a:solidFill>
                  </a:tcPr>
                </a:tc>
              </a:tr>
              <a:tr h="375920">
                <a:tc>
                  <a:txBody>
                    <a:bodyPr/>
                    <a:lstStyle/>
                    <a:p>
                      <a:pPr indent="0" marL="0">
                        <a:buNone/>
                      </a:pPr>
                      <a:r>
                        <a:rPr lang="en-US" sz="1300" b="1" dirty="0">
                          <a:solidFill>
                            <a:schemeClr val="tx1"/>
                          </a:solidFill>
                        </a:rPr>
                        <a:t>Waveform</a:t>
                      </a:r>
                      <a:endParaRPr lang="en-US" sz="13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Graph of the quantity against time or angle</a:t>
                      </a:r>
                      <a:endParaRPr lang="en-US" sz="13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r>
              <a:tr h="375920">
                <a:tc>
                  <a:txBody>
                    <a:bodyPr/>
                    <a:lstStyle/>
                    <a:p>
                      <a:pPr indent="0" marL="0">
                        <a:buNone/>
                      </a:pPr>
                      <a:r>
                        <a:rPr lang="en-US" sz="1300" b="1" dirty="0">
                          <a:solidFill>
                            <a:schemeClr val="tx1"/>
                          </a:solidFill>
                        </a:rPr>
                        <a:t>Cycle</a:t>
                      </a:r>
                      <a:endParaRPr lang="en-US" sz="13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One complete repetition of the variation</a:t>
                      </a:r>
                      <a:endParaRPr lang="en-US" sz="13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r>
              <a:tr h="375920">
                <a:tc>
                  <a:txBody>
                    <a:bodyPr/>
                    <a:lstStyle/>
                    <a:p>
                      <a:pPr indent="0" marL="0">
                        <a:buNone/>
                      </a:pPr>
                      <a:r>
                        <a:rPr lang="en-US" sz="1300" b="1" dirty="0">
                          <a:solidFill>
                            <a:schemeClr val="tx1"/>
                          </a:solidFill>
                        </a:rPr>
                        <a:t>Time period T</a:t>
                      </a:r>
                      <a:endParaRPr lang="en-US" sz="13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Duration of one cycle (s)</a:t>
                      </a:r>
                      <a:endParaRPr lang="en-US" sz="13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r>
              <a:tr h="375920">
                <a:tc>
                  <a:txBody>
                    <a:bodyPr/>
                    <a:lstStyle/>
                    <a:p>
                      <a:pPr indent="0" marL="0">
                        <a:buNone/>
                      </a:pPr>
                      <a:r>
                        <a:rPr lang="en-US" sz="1300" b="1" dirty="0">
                          <a:solidFill>
                            <a:schemeClr val="tx1"/>
                          </a:solidFill>
                        </a:rPr>
                        <a:t>Frequency f</a:t>
                      </a:r>
                      <a:endParaRPr lang="en-US" sz="13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Number of cycles per second (Hz) = 1/T</a:t>
                      </a:r>
                      <a:endParaRPr lang="en-US" sz="13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r>
              <a:tr h="375920">
                <a:tc>
                  <a:txBody>
                    <a:bodyPr/>
                    <a:lstStyle/>
                    <a:p>
                      <a:pPr indent="0" marL="0">
                        <a:buNone/>
                      </a:pPr>
                      <a:r>
                        <a:rPr lang="en-US" sz="1300" b="1" dirty="0">
                          <a:solidFill>
                            <a:schemeClr val="tx1"/>
                          </a:solidFill>
                        </a:rPr>
                        <a:t>Instantaneous value</a:t>
                      </a:r>
                      <a:endParaRPr lang="en-US" sz="13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Value at any instant: e, v, i</a:t>
                      </a:r>
                      <a:endParaRPr lang="en-US" sz="13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r>
              <a:tr h="375920">
                <a:tc>
                  <a:txBody>
                    <a:bodyPr/>
                    <a:lstStyle/>
                    <a:p>
                      <a:pPr indent="0" marL="0">
                        <a:buNone/>
                      </a:pPr>
                      <a:r>
                        <a:rPr lang="en-US" sz="1300" b="1" dirty="0">
                          <a:solidFill>
                            <a:schemeClr val="tx1"/>
                          </a:solidFill>
                        </a:rPr>
                        <a:t>Peak (amplitude) Em</a:t>
                      </a:r>
                      <a:endParaRPr lang="en-US" sz="13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Maximum instantaneous value</a:t>
                      </a:r>
                      <a:endParaRPr lang="en-US" sz="13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r>
              <a:tr h="375920">
                <a:tc>
                  <a:txBody>
                    <a:bodyPr/>
                    <a:lstStyle/>
                    <a:p>
                      <a:pPr indent="0" marL="0">
                        <a:buNone/>
                      </a:pPr>
                      <a:r>
                        <a:rPr lang="en-US" sz="1300" b="1" dirty="0">
                          <a:solidFill>
                            <a:schemeClr val="tx1"/>
                          </a:solidFill>
                        </a:rPr>
                        <a:t>Peak-to-peak</a:t>
                      </a:r>
                      <a:endParaRPr lang="en-US" sz="13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Maximum positive to maximum negative: 2Em for a sine</a:t>
                      </a:r>
                      <a:endParaRPr lang="en-US" sz="13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r>
              <a:tr h="375920">
                <a:tc>
                  <a:txBody>
                    <a:bodyPr/>
                    <a:lstStyle/>
                    <a:p>
                      <a:pPr indent="0" marL="0">
                        <a:buNone/>
                      </a:pPr>
                      <a:r>
                        <a:rPr lang="en-US" sz="1300" b="1" dirty="0">
                          <a:solidFill>
                            <a:schemeClr val="tx1"/>
                          </a:solidFill>
                        </a:rPr>
                        <a:t>Phase</a:t>
                      </a:r>
                      <a:endParaRPr lang="en-US" sz="13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Fraction of the cycle advanced from the reference</a:t>
                      </a:r>
                      <a:endParaRPr lang="en-US" sz="13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Example: reading an equation</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U1</a:t>
            </a:r>
            <a:endParaRPr lang="en-US" sz="1600" dirty="0"/>
          </a:p>
        </p:txBody>
      </p:sp>
      <p:sp>
        <p:nvSpPr>
          <p:cNvPr id="6" name="Problem"/>
          <p:cNvSpPr/>
          <p:nvPr/>
        </p:nvSpPr>
        <p:spPr>
          <a:xfrm>
            <a:off x="457200" y="1143000"/>
            <a:ext cx="8229600" cy="868680"/>
          </a:xfrm>
          <a:prstGeom prst="roundRect">
            <a:avLst>
              <a:gd name="adj" fmla="val 8421"/>
            </a:avLst>
          </a:prstGeom>
          <a:solidFill>
            <a:schemeClr val="tx2"/>
          </a:solidFill>
          <a:ln/>
        </p:spPr>
      </p:sp>
      <p:sp>
        <p:nvSpPr>
          <p:cNvPr id="7" name="Text 4"/>
          <p:cNvSpPr txBox="1"/>
          <p:nvPr/>
        </p:nvSpPr>
        <p:spPr>
          <a:xfrm>
            <a:off x="640080" y="1143000"/>
            <a:ext cx="7863840" cy="868680"/>
          </a:xfrm>
          <a:prstGeom prst="rect">
            <a:avLst/>
          </a:prstGeom>
          <a:noFill/>
          <a:ln/>
        </p:spPr>
        <p:txBody>
          <a:bodyPr wrap="square" lIns="0" tIns="0" rIns="0" bIns="0" rtlCol="0" anchor="ctr"/>
          <a:lstStyle/>
          <a:p>
            <a:pPr indent="0" marL="0">
              <a:buNone/>
            </a:pPr>
            <a:r>
              <a:rPr lang="en-US" sz="1500" b="1" dirty="0">
                <a:solidFill>
                  <a:schemeClr val="accent1"/>
                </a:solidFill>
              </a:rPr>
              <a:t>Problem  </a:t>
            </a:r>
            <a:pPr indent="0" marL="0">
              <a:buNone/>
            </a:pPr>
            <a:r>
              <a:rPr lang="en-US" sz="1500" dirty="0">
                <a:solidFill>
                  <a:schemeClr val="bg1"/>
                </a:solidFill>
              </a:rPr>
              <a:t>An alternating voltage is v = 141.4 sin 377t volts. Find peak value, frequency, period and v at t = 3 ms.</a:t>
            </a:r>
            <a:endParaRPr lang="en-US" sz="1500" dirty="0"/>
          </a:p>
        </p:txBody>
      </p:sp>
      <p:sp>
        <p:nvSpPr>
          <p:cNvPr id="8" name="Text 5"/>
          <p:cNvSpPr txBox="1"/>
          <p:nvPr/>
        </p:nvSpPr>
        <p:spPr>
          <a:xfrm>
            <a:off x="457200" y="2148840"/>
            <a:ext cx="8229600" cy="182880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Peak Vm = 141.4 V</a:t>
            </a:r>
            <a:endParaRPr lang="en-US" sz="2200" dirty="0"/>
          </a:p>
          <a:p>
            <a:pPr marL="342900" indent="-342900">
              <a:spcAft>
                <a:spcPts val="600"/>
              </a:spcAft>
              <a:buSzPct val="100000"/>
              <a:buChar char="•"/>
            </a:pPr>
            <a:r>
              <a:rPr lang="en-US" sz="2200" dirty="0">
                <a:solidFill>
                  <a:schemeClr val="tx1"/>
                </a:solidFill>
              </a:rPr>
              <a:t>f = ω/2π = 377/2π = 60 Hz,   T = 1/60 = 16.67 ms</a:t>
            </a:r>
            <a:endParaRPr lang="en-US" sz="2200" dirty="0"/>
          </a:p>
          <a:p>
            <a:pPr marL="342900" indent="-342900">
              <a:spcAft>
                <a:spcPts val="600"/>
              </a:spcAft>
              <a:buSzPct val="100000"/>
              <a:buChar char="•"/>
            </a:pPr>
            <a:r>
              <a:rPr lang="en-US" sz="2200" dirty="0">
                <a:solidFill>
                  <a:schemeClr val="tx1"/>
                </a:solidFill>
              </a:rPr>
              <a:t>v(3 ms) = 141.4 sin(377 × 0.003 rad) = 141.4 sin(1.131 rad = 64.8°)</a:t>
            </a:r>
            <a:endParaRPr lang="en-US" sz="2200" dirty="0"/>
          </a:p>
        </p:txBody>
      </p:sp>
      <p:sp>
        <p:nvSpPr>
          <p:cNvPr id="9" name="Answer"/>
          <p:cNvSpPr/>
          <p:nvPr/>
        </p:nvSpPr>
        <p:spPr>
          <a:xfrm>
            <a:off x="457200" y="4069080"/>
            <a:ext cx="8229600" cy="548640"/>
          </a:xfrm>
          <a:prstGeom prst="roundRect">
            <a:avLst>
              <a:gd name="adj" fmla="val 13333"/>
            </a:avLst>
          </a:prstGeom>
          <a:solidFill>
            <a:schemeClr val="accent1"/>
          </a:solidFill>
          <a:ln/>
        </p:spPr>
      </p:sp>
      <p:sp>
        <p:nvSpPr>
          <p:cNvPr id="10" name="Text 7"/>
          <p:cNvSpPr txBox="1"/>
          <p:nvPr/>
        </p:nvSpPr>
        <p:spPr>
          <a:xfrm>
            <a:off x="640080" y="4069080"/>
            <a:ext cx="7863840" cy="548640"/>
          </a:xfrm>
          <a:prstGeom prst="rect">
            <a:avLst/>
          </a:prstGeom>
          <a:noFill/>
          <a:ln/>
        </p:spPr>
        <p:txBody>
          <a:bodyPr wrap="square" lIns="0" tIns="0" rIns="0" bIns="0" rtlCol="0" anchor="ctr"/>
          <a:lstStyle/>
          <a:p>
            <a:pPr indent="0" marL="0">
              <a:buNone/>
            </a:pPr>
            <a:r>
              <a:rPr lang="en-US" sz="1600" b="1" dirty="0">
                <a:solidFill>
                  <a:schemeClr val="tx1"/>
                </a:solidFill>
              </a:rPr>
              <a:t>Answer:  Vm = 141.4 V, f = 60 Hz, v = 127.94 V</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Frequency of a multi-pole generator</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U1</a:t>
            </a:r>
            <a:endParaRPr lang="en-US" sz="1600" dirty="0"/>
          </a:p>
        </p:txBody>
      </p:sp>
      <p:sp>
        <p:nvSpPr>
          <p:cNvPr id="6" name="Text 3"/>
          <p:cNvSpPr txBox="1"/>
          <p:nvPr/>
        </p:nvSpPr>
        <p:spPr>
          <a:xfrm>
            <a:off x="457200" y="1188720"/>
            <a:ext cx="8229600" cy="342900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One pair of poles → one cycle per revolution.</a:t>
            </a:r>
            <a:endParaRPr lang="en-US" sz="2200" dirty="0"/>
          </a:p>
          <a:p>
            <a:pPr marL="342900" indent="-342900">
              <a:spcAft>
                <a:spcPts val="600"/>
              </a:spcAft>
              <a:buSzPct val="100000"/>
              <a:buChar char="•"/>
            </a:pPr>
            <a:r>
              <a:rPr lang="en-US" sz="2200" dirty="0">
                <a:solidFill>
                  <a:schemeClr val="tx1"/>
                </a:solidFill>
              </a:rPr>
              <a:t>P poles, speed N rpm:  f = P N / 120 Hz.</a:t>
            </a:r>
            <a:endParaRPr lang="en-US" sz="2200" dirty="0"/>
          </a:p>
          <a:p>
            <a:pPr marL="342900" indent="-342900">
              <a:spcAft>
                <a:spcPts val="600"/>
              </a:spcAft>
              <a:buSzPct val="100000"/>
              <a:buChar char="•"/>
            </a:pPr>
            <a:r>
              <a:rPr lang="en-US" sz="2200" dirty="0">
                <a:solidFill>
                  <a:schemeClr val="tx1"/>
                </a:solidFill>
              </a:rPr>
              <a:t>Example: a 4-pole alternator at 1500 rpm gives f = 4 × 1500 / 120 = 50 Hz.</a:t>
            </a:r>
            <a:endParaRPr lang="en-US" sz="2200" dirty="0"/>
          </a:p>
          <a:p>
            <a:pPr marL="342900" indent="-342900">
              <a:spcAft>
                <a:spcPts val="600"/>
              </a:spcAft>
              <a:buSzPct val="100000"/>
              <a:buChar char="•"/>
            </a:pPr>
            <a:r>
              <a:rPr lang="en-US" sz="2200" dirty="0">
                <a:solidFill>
                  <a:schemeClr val="tx1"/>
                </a:solidFill>
              </a:rPr>
              <a:t>This is the same relation as the synchronous speed of an induction motor, Ns = 120 f / P.</a:t>
            </a:r>
            <a:endParaRPr lang="en-US" sz="2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Key takeaways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U1</a:t>
            </a:r>
            <a:endParaRPr lang="en-US" sz="1600" dirty="0"/>
          </a:p>
        </p:txBody>
      </p:sp>
      <p:sp>
        <p:nvSpPr>
          <p:cNvPr id="6" name="Text 3"/>
          <p:cNvSpPr txBox="1"/>
          <p:nvPr/>
        </p:nvSpPr>
        <p:spPr>
          <a:xfrm>
            <a:off x="457200" y="1188720"/>
            <a:ext cx="8229600" cy="342900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A coil rotating in a magnetic field induces e = Em sin ωt</a:t>
            </a:r>
            <a:endParaRPr lang="en-US" sz="2200" dirty="0"/>
          </a:p>
          <a:p>
            <a:pPr marL="342900" indent="-342900">
              <a:spcAft>
                <a:spcPts val="600"/>
              </a:spcAft>
              <a:buSzPct val="100000"/>
              <a:buChar char="•"/>
            </a:pPr>
            <a:r>
              <a:rPr lang="en-US" sz="2200" dirty="0">
                <a:solidFill>
                  <a:schemeClr val="tx1"/>
                </a:solidFill>
              </a:rPr>
              <a:t>ω = 2πf and f = 1/T</a:t>
            </a:r>
            <a:endParaRPr lang="en-US" sz="2200" dirty="0"/>
          </a:p>
          <a:p>
            <a:pPr marL="342900" indent="-342900">
              <a:spcAft>
                <a:spcPts val="600"/>
              </a:spcAft>
              <a:buSzPct val="100000"/>
              <a:buChar char="•"/>
            </a:pPr>
            <a:r>
              <a:rPr lang="en-US" sz="2200" dirty="0">
                <a:solidFill>
                  <a:schemeClr val="tx1"/>
                </a:solidFill>
              </a:rPr>
              <a:t>Peak-to-peak value of a sine is twice the peak</a:t>
            </a:r>
            <a:endParaRPr lang="en-US" sz="2200" dirty="0"/>
          </a:p>
          <a:p>
            <a:pPr marL="342900" indent="-342900">
              <a:spcAft>
                <a:spcPts val="600"/>
              </a:spcAft>
              <a:buSzPct val="100000"/>
              <a:buChar char="•"/>
            </a:pPr>
            <a:r>
              <a:rPr lang="en-US" sz="2200" dirty="0">
                <a:solidFill>
                  <a:schemeClr val="tx1"/>
                </a:solidFill>
              </a:rPr>
              <a:t>f = PN/120 for a P-pole machine at N rpm</a:t>
            </a:r>
            <a:endParaRPr lang="en-US" sz="2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Practice questions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U1</a:t>
            </a:r>
            <a:endParaRPr lang="en-US" sz="1600" dirty="0"/>
          </a:p>
        </p:txBody>
      </p:sp>
      <p:sp>
        <p:nvSpPr>
          <p:cNvPr id="6" name="Text 3"/>
          <p:cNvSpPr txBox="1"/>
          <p:nvPr/>
        </p:nvSpPr>
        <p:spPr>
          <a:xfrm>
            <a:off x="457200" y="1188720"/>
            <a:ext cx="8229600" cy="3429000"/>
          </a:xfrm>
          <a:prstGeom prst="rect">
            <a:avLst/>
          </a:prstGeom>
          <a:noFill/>
          <a:ln/>
        </p:spPr>
        <p:txBody>
          <a:bodyPr wrap="square" lIns="0" tIns="0" rIns="0" bIns="0" rtlCol="0" anchor="t"/>
          <a:lstStyle/>
          <a:p>
            <a:pPr marL="342900" indent="-342900">
              <a:spcAft>
                <a:spcPts val="600"/>
              </a:spcAft>
              <a:buSzPct val="100000"/>
              <a:buChar char="•"/>
            </a:pPr>
            <a:r>
              <a:rPr lang="en-US" sz="1700" b="1" dirty="0">
                <a:solidFill>
                  <a:schemeClr val="tx2"/>
                </a:solidFill>
              </a:rPr>
              <a:t>Q1. </a:t>
            </a:r>
            <a:pPr indent="0" marL="0">
              <a:spcAft>
                <a:spcPts val="600"/>
              </a:spcAft>
              <a:buNone/>
            </a:pPr>
            <a:r>
              <a:rPr lang="en-US" sz="1700" dirty="0">
                <a:solidFill>
                  <a:schemeClr val="tx1"/>
                </a:solidFill>
              </a:rPr>
              <a:t>Find the period and angular frequency of a 50 Hz supply.</a:t>
            </a:r>
            <a:endParaRPr lang="en-US" sz="1700" dirty="0"/>
          </a:p>
          <a:p>
            <a:pPr marL="342900" indent="-342900">
              <a:spcAft>
                <a:spcPts val="600"/>
              </a:spcAft>
              <a:buSzPct val="100000"/>
              <a:buChar char="•"/>
            </a:pPr>
            <a:r>
              <a:rPr lang="en-US" sz="1700" b="1" dirty="0">
                <a:solidFill>
                  <a:schemeClr val="tx2"/>
                </a:solidFill>
              </a:rPr>
              <a:t>Q2. </a:t>
            </a:r>
            <a:pPr indent="0" marL="0">
              <a:spcAft>
                <a:spcPts val="600"/>
              </a:spcAft>
              <a:buNone/>
            </a:pPr>
            <a:r>
              <a:rPr lang="en-US" sz="1700" dirty="0">
                <a:solidFill>
                  <a:schemeClr val="tx1"/>
                </a:solidFill>
              </a:rPr>
              <a:t>v = 325 sin 314t. Find Vm, f, and v at t = 5 ms.</a:t>
            </a:r>
            <a:endParaRPr lang="en-US" sz="1700" dirty="0"/>
          </a:p>
          <a:p>
            <a:pPr marL="342900" indent="-342900">
              <a:spcAft>
                <a:spcPts val="600"/>
              </a:spcAft>
              <a:buSzPct val="100000"/>
              <a:buChar char="•"/>
            </a:pPr>
            <a:r>
              <a:rPr lang="en-US" sz="1700" b="1" dirty="0">
                <a:solidFill>
                  <a:schemeClr val="tx2"/>
                </a:solidFill>
              </a:rPr>
              <a:t>Q3. </a:t>
            </a:r>
            <a:pPr indent="0" marL="0">
              <a:spcAft>
                <a:spcPts val="600"/>
              </a:spcAft>
              <a:buNone/>
            </a:pPr>
            <a:r>
              <a:rPr lang="en-US" sz="1700" dirty="0">
                <a:solidFill>
                  <a:schemeClr val="tx1"/>
                </a:solidFill>
              </a:rPr>
              <a:t>A 6-pole alternator runs at 1000 rpm. Find its frequency.</a:t>
            </a:r>
            <a:endParaRPr lang="en-US" sz="1700" dirty="0"/>
          </a:p>
          <a:p>
            <a:pPr marL="342900" indent="-342900">
              <a:spcAft>
                <a:spcPts val="600"/>
              </a:spcAft>
              <a:buSzPct val="100000"/>
              <a:buChar char="•"/>
            </a:pPr>
            <a:r>
              <a:rPr lang="en-US" sz="1700" b="1" dirty="0">
                <a:solidFill>
                  <a:schemeClr val="tx2"/>
                </a:solidFill>
              </a:rPr>
              <a:t>Q4. </a:t>
            </a:r>
            <a:pPr indent="0" marL="0">
              <a:spcAft>
                <a:spcPts val="600"/>
              </a:spcAft>
              <a:buNone/>
            </a:pPr>
            <a:r>
              <a:rPr lang="en-US" sz="1700" dirty="0">
                <a:solidFill>
                  <a:schemeClr val="tx1"/>
                </a:solidFill>
              </a:rPr>
              <a:t>Why does the EMF reverse polarity every half cycle?</a:t>
            </a:r>
            <a:endParaRPr lang="en-US" sz="17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BEEE">
  <a:themeElements>
    <a:clrScheme name="BEEE">
      <a:dk1>
        <a:srgbClr val="0B1F3A"/>
      </a:dk1>
      <a:lt1>
        <a:srgbClr val="FFFFFF"/>
      </a:lt1>
      <a:dk2>
        <a:srgbClr val="16396B"/>
      </a:dk2>
      <a:lt2>
        <a:srgbClr val="EDF2F8"/>
      </a:lt2>
      <a:accent1>
        <a:srgbClr val="F5A623"/>
      </a:accent1>
      <a:accent2>
        <a:srgbClr val="14777B"/>
      </a:accent2>
      <a:accent3>
        <a:srgbClr val="C93C20"/>
      </a:accent3>
      <a:accent4>
        <a:srgbClr val="5B6B7F"/>
      </a:accent4>
      <a:accent5>
        <a:srgbClr val="3E7CB1"/>
      </a:accent5>
      <a:accent6>
        <a:srgbClr val="7A4FD6"/>
      </a:accent6>
      <a:hlink>
        <a:srgbClr val="3E7CB1"/>
      </a:hlink>
      <a:folHlink>
        <a:srgbClr val="5B6B7F"/>
      </a:folHlink>
    </a:clrScheme>
    <a:fontScheme name="BEE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Dept. of EEE, NMAMIT, Nitte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Generation of Sinusoidal Voltage</dc:title>
  <dc:subject>PptxGenJS Presentation</dc:subject>
  <dc:creator>Dr. Mitesh Astik</dc:creator>
  <cp:lastModifiedBy>Dr. Mitesh Astik</cp:lastModifiedBy>
  <cp:revision>1</cp:revision>
  <dcterms:created xsi:type="dcterms:W3CDTF">2026-10-29T10:05:19Z</dcterms:created>
  <dcterms:modified xsi:type="dcterms:W3CDTF">2026-10-29T10:05:19Z</dcterms:modified>
</cp:coreProperties>
</file>