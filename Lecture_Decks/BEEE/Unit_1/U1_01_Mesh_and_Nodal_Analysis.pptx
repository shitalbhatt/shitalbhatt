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Mesh and Nodal Analysis" id="{39b8ff1e-3a7b-6d4a-3a65-9babd390e88c}">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"Mesh and Nodal Analysis", part of Unit 1 (Circuit Fundamentals) of Basic Electrical and Electronics Engineering. We solve DC networks systematically using Kirchhoff's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State Kirchhoff's current and voltage laws. Write mesh equations for a planar network with independent voltage sources. Write nodal equations using a reference node. Choose between mesh and nodal analysis for a given circuit. Solve for branch currents, node voltages and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circuits contain many elements. Instead of guessing, we use Kirchhoff's two laws to write a set of equations, then solve them. Mesh analysis uses voltage law around loops; nodal analysis uses current law at junctions.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KCL expresses conservation of charge; KVL expresses conservation of energy. Both are used in every analysis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mesh comes from the similarity of closed loops to a wire mesh fence. Remember that a shared branch carries the difference of the two loop currents when the loops circulate in the same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from your notes. Solving gives I one equals one point nine six four amps and I two equals one point five one eight 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Eliminate by determinants or substitution. Always verify by substituting back: thirteen times zero point nine three six minus eight times minus zero point nine seven nine equals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network of N nodes, only N minus one independent KCL equations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unknown node voltages and two equations. Solving gives V one equals eleven volts and V two equals twelve volts.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method that gives fewer equations.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KVL: sum of EMFs equals sum of voltage drops around a mesh. KCL: currents at a node sum to zero. Mesh analysis gives loop currents; branch current = algebraic sum of loop currents. Nodal analysis gives node voltages with one node as reference. Pick the method with fewer equations.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Using mesh analysis, find the current in each branch for 20 V and 30 V sources with 5 Ω, 8 Ω and 15 Ω resistors. Find the node voltages V1 and V2 of the network in the nodal example. A network has 5 nodes and 4 meshes. How many equations does each method need? Why can a negative loop current appear in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Mesh and Nodal Analysis</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State Kirchhoff's current and voltage laws</a:t>
            </a:r>
            <a:endParaRPr lang="en-US" sz="1800" dirty="0"/>
          </a:p>
          <a:p>
            <a:pPr marL="342900" indent="-342900">
              <a:spcAft>
                <a:spcPts val="600"/>
              </a:spcAft>
              <a:buSzPct val="100000"/>
              <a:buChar char="•"/>
            </a:pPr>
            <a:r>
              <a:rPr lang="en-US" sz="1800" dirty="0">
                <a:solidFill>
                  <a:schemeClr val="tx1"/>
                </a:solidFill>
              </a:rPr>
              <a:t>Write mesh equations for a planar network with independent voltage sources</a:t>
            </a:r>
            <a:endParaRPr lang="en-US" sz="1800" dirty="0"/>
          </a:p>
          <a:p>
            <a:pPr marL="342900" indent="-342900">
              <a:spcAft>
                <a:spcPts val="600"/>
              </a:spcAft>
              <a:buSzPct val="100000"/>
              <a:buChar char="•"/>
            </a:pPr>
            <a:r>
              <a:rPr lang="en-US" sz="1800" dirty="0">
                <a:solidFill>
                  <a:schemeClr val="tx1"/>
                </a:solidFill>
              </a:rPr>
              <a:t>Write nodal equations using a reference node</a:t>
            </a:r>
            <a:endParaRPr lang="en-US" sz="1800" dirty="0"/>
          </a:p>
          <a:p>
            <a:pPr marL="342900" indent="-342900">
              <a:spcAft>
                <a:spcPts val="600"/>
              </a:spcAft>
              <a:buSzPct val="100000"/>
              <a:buChar char="•"/>
            </a:pPr>
            <a:r>
              <a:rPr lang="en-US" sz="1800" dirty="0">
                <a:solidFill>
                  <a:schemeClr val="tx1"/>
                </a:solidFill>
              </a:rPr>
              <a:t>Choose between mesh and nodal analysis for a given circuit</a:t>
            </a:r>
            <a:endParaRPr lang="en-US" sz="1800" dirty="0"/>
          </a:p>
          <a:p>
            <a:pPr marL="342900" indent="-342900">
              <a:spcAft>
                <a:spcPts val="600"/>
              </a:spcAft>
              <a:buSzPct val="100000"/>
              <a:buChar char="•"/>
            </a:pPr>
            <a:r>
              <a:rPr lang="en-US" sz="1800" dirty="0">
                <a:solidFill>
                  <a:schemeClr val="tx1"/>
                </a:solidFill>
              </a:rPr>
              <a:t>Solve for branch currents, node voltages and power</a:t>
            </a:r>
            <a:endParaRPr lang="en-US" sz="18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Basic nodal and mesh analysis excited by independent DC voltage sources, Power and Energy. Generation of sinusoidal voltage, frequency, average value, RMS value, form factor and peak factor, phasor representation of alternating quantities.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systematic circuit analysis?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000" b="1" dirty="0">
                <a:solidFill>
                  <a:schemeClr val="tx2"/>
                </a:solidFill>
              </a:rPr>
              <a:t>Goal: </a:t>
            </a:r>
            <a:pPr indent="0" marL="0">
              <a:spcAft>
                <a:spcPts val="600"/>
              </a:spcAft>
              <a:buNone/>
            </a:pPr>
            <a:r>
              <a:rPr lang="en-US" sz="2000" dirty="0">
                <a:solidFill>
                  <a:schemeClr val="tx1"/>
                </a:solidFill>
              </a:rPr>
              <a:t>find unknown voltages, currents and power in a network of sources and resistors.</a:t>
            </a:r>
            <a:endParaRPr lang="en-US" sz="2000" dirty="0"/>
          </a:p>
          <a:p>
            <a:pPr marL="342900" indent="-342900">
              <a:spcAft>
                <a:spcPts val="600"/>
              </a:spcAft>
              <a:buSzPct val="100000"/>
              <a:buChar char="•"/>
            </a:pPr>
            <a:r>
              <a:rPr lang="en-US" sz="2000" b="1" dirty="0">
                <a:solidFill>
                  <a:schemeClr val="tx2"/>
                </a:solidFill>
              </a:rPr>
              <a:t>Ohm's law alone </a:t>
            </a:r>
            <a:pPr indent="0" marL="0">
              <a:spcAft>
                <a:spcPts val="600"/>
              </a:spcAft>
              <a:buNone/>
            </a:pPr>
            <a:r>
              <a:rPr lang="en-US" sz="2000" dirty="0">
                <a:solidFill>
                  <a:schemeClr val="tx1"/>
                </a:solidFill>
              </a:rPr>
              <a:t>is not enough once a circuit has several loops and sources.</a:t>
            </a:r>
            <a:endParaRPr lang="en-US" sz="2000" dirty="0"/>
          </a:p>
          <a:p>
            <a:pPr marL="342900" indent="-342900">
              <a:spcAft>
                <a:spcPts val="600"/>
              </a:spcAft>
              <a:buSzPct val="100000"/>
              <a:buChar char="•"/>
            </a:pPr>
            <a:r>
              <a:rPr lang="en-US" sz="2000" b="1" dirty="0">
                <a:solidFill>
                  <a:schemeClr val="tx2"/>
                </a:solidFill>
              </a:rPr>
              <a:t>Two systematic methods: </a:t>
            </a:r>
            <a:pPr indent="0" marL="0">
              <a:spcAft>
                <a:spcPts val="600"/>
              </a:spcAft>
              <a:buNone/>
            </a:pPr>
            <a:r>
              <a:rPr lang="en-US" sz="2000" dirty="0">
                <a:solidFill>
                  <a:schemeClr val="tx1"/>
                </a:solidFill>
              </a:rPr>
              <a:t>mesh analysis (based on KVL) and nodal analysis (based on KCL).</a:t>
            </a:r>
            <a:endParaRPr lang="en-US" sz="2000" dirty="0"/>
          </a:p>
          <a:p>
            <a:pPr marL="342900" indent="-342900">
              <a:spcAft>
                <a:spcPts val="600"/>
              </a:spcAft>
              <a:buSzPct val="100000"/>
              <a:buChar char="•"/>
            </a:pPr>
            <a:r>
              <a:rPr lang="en-US" sz="2000" b="1" dirty="0">
                <a:solidFill>
                  <a:schemeClr val="tx2"/>
                </a:solidFill>
              </a:rPr>
              <a:t>Scope here: </a:t>
            </a:r>
            <a:pPr indent="0" marL="0">
              <a:spcAft>
                <a:spcPts val="600"/>
              </a:spcAft>
              <a:buNone/>
            </a:pPr>
            <a:r>
              <a:rPr lang="en-US" sz="2000" dirty="0">
                <a:solidFill>
                  <a:schemeClr val="tx1"/>
                </a:solidFill>
              </a:rPr>
              <a:t>networks excited by independent DC voltage sources.</a:t>
            </a:r>
            <a:endParaRPr lang="en-US" sz="2000" dirty="0"/>
          </a:p>
          <a:p>
            <a:pPr marL="342900" indent="-342900">
              <a:spcAft>
                <a:spcPts val="600"/>
              </a:spcAft>
              <a:buSzPct val="100000"/>
              <a:buChar char="•"/>
            </a:pPr>
            <a:r>
              <a:rPr lang="en-US" sz="2000" b="1" dirty="0">
                <a:solidFill>
                  <a:schemeClr val="tx2"/>
                </a:solidFill>
              </a:rPr>
              <a:t>Same ideas </a:t>
            </a:r>
            <a:pPr indent="0" marL="0">
              <a:spcAft>
                <a:spcPts val="600"/>
              </a:spcAft>
              <a:buNone/>
            </a:pPr>
            <a:r>
              <a:rPr lang="en-US" sz="2000" dirty="0">
                <a:solidFill>
                  <a:schemeClr val="tx1"/>
                </a:solidFill>
              </a:rPr>
              <a:t>model mechanical, thermal and hydraulic systems by analogy.</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Kirchhoff's laws recap</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KCL (current law)</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The algebraic sum of currents at a node is zero.</a:t>
            </a:r>
            <a:endParaRPr lang="en-US" sz="2000" dirty="0"/>
          </a:p>
          <a:p>
            <a:pPr indent="0" marL="0">
              <a:spcAft>
                <a:spcPts val="300"/>
              </a:spcAft>
              <a:buNone/>
            </a:pPr>
            <a:r>
              <a:rPr lang="en-US" sz="2000" dirty="0">
                <a:solidFill>
                  <a:schemeClr val="tx1"/>
                </a:solidFill>
              </a:rPr>
              <a:t>Σ I(in) = Σ I(out)</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KVL (voltage law)</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The algebraic sum of voltages around any closed loop is zero.</a:t>
            </a:r>
            <a:endParaRPr lang="en-US" sz="2000" dirty="0"/>
          </a:p>
          <a:p>
            <a:pPr indent="0" marL="0">
              <a:spcAft>
                <a:spcPts val="300"/>
              </a:spcAft>
              <a:buNone/>
            </a:pPr>
            <a:r>
              <a:rPr lang="en-US" sz="2000" dirty="0">
                <a:solidFill>
                  <a:schemeClr val="tx1"/>
                </a:solidFill>
              </a:rPr>
              <a:t>Σ EMF = Σ IR drops</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Sign convention</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Current entering a resistor makes that end positive. Cross a source from − to + and the voltage rises.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Mesh analysis: procedure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low step"/>
          <p:cNvSpPr/>
          <p:nvPr/>
        </p:nvSpPr>
        <p:spPr>
          <a:xfrm>
            <a:off x="457200" y="1234440"/>
            <a:ext cx="1536192" cy="2286000"/>
          </a:xfrm>
          <a:prstGeom prst="roundRect">
            <a:avLst>
              <a:gd name="adj" fmla="val 4762"/>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Mark meshes</a:t>
            </a:r>
            <a:endParaRPr lang="en-US" sz="1500" dirty="0"/>
          </a:p>
        </p:txBody>
      </p:sp>
      <p:sp>
        <p:nvSpPr>
          <p:cNvPr id="10" name="Text 7"/>
          <p:cNvSpPr txBox="1"/>
          <p:nvPr/>
        </p:nvSpPr>
        <p:spPr>
          <a:xfrm>
            <a:off x="566928"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Assign a clockwise loop current to each window of the network.</a:t>
            </a:r>
            <a:endParaRPr lang="en-US" sz="1500" dirty="0"/>
          </a:p>
        </p:txBody>
      </p:sp>
      <p:sp>
        <p:nvSpPr>
          <p:cNvPr id="11" name="Flow step"/>
          <p:cNvSpPr/>
          <p:nvPr/>
        </p:nvSpPr>
        <p:spPr>
          <a:xfrm>
            <a:off x="2130552" y="1234440"/>
            <a:ext cx="1536192" cy="2286000"/>
          </a:xfrm>
          <a:prstGeom prst="roundRect">
            <a:avLst>
              <a:gd name="adj" fmla="val 4762"/>
            </a:avLst>
          </a:prstGeom>
          <a:solidFill>
            <a:schemeClr val="bg2"/>
          </a:solidFill>
          <a:ln/>
        </p:spPr>
      </p:sp>
      <p:sp>
        <p:nvSpPr>
          <p:cNvPr id="12" name="Step number"/>
          <p:cNvSpPr/>
          <p:nvPr/>
        </p:nvSpPr>
        <p:spPr>
          <a:xfrm>
            <a:off x="2240280" y="1344168"/>
            <a:ext cx="365760" cy="365760"/>
          </a:xfrm>
          <a:prstGeom prst="ellipse">
            <a:avLst/>
          </a:prstGeom>
          <a:solidFill>
            <a:schemeClr val="tx2"/>
          </a:solidFill>
          <a:ln/>
        </p:spPr>
      </p:sp>
      <p:sp>
        <p:nvSpPr>
          <p:cNvPr id="13" name="Text 10"/>
          <p:cNvSpPr txBox="1"/>
          <p:nvPr/>
        </p:nvSpPr>
        <p:spPr>
          <a:xfrm>
            <a:off x="2240280"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240280" y="1783080"/>
            <a:ext cx="1316736" cy="484632"/>
          </a:xfrm>
          <a:prstGeom prst="rect">
            <a:avLst/>
          </a:prstGeom>
          <a:noFill/>
          <a:ln/>
        </p:spPr>
        <p:txBody>
          <a:bodyPr wrap="square" lIns="0" tIns="0" rIns="0" bIns="0" rtlCol="0" anchor="t"/>
          <a:lstStyle/>
          <a:p>
            <a:pPr indent="0" marL="0">
              <a:buNone/>
            </a:pPr>
            <a:r>
              <a:rPr lang="en-US" sz="1500" b="1" dirty="0">
                <a:solidFill>
                  <a:schemeClr val="tx1"/>
                </a:solidFill>
              </a:rPr>
              <a:t>Mark polarities</a:t>
            </a:r>
            <a:endParaRPr lang="en-US" sz="1500" dirty="0"/>
          </a:p>
        </p:txBody>
      </p:sp>
      <p:sp>
        <p:nvSpPr>
          <p:cNvPr id="15" name="Text 12"/>
          <p:cNvSpPr txBox="1"/>
          <p:nvPr/>
        </p:nvSpPr>
        <p:spPr>
          <a:xfrm>
            <a:off x="2240280" y="2313432"/>
            <a:ext cx="1316736" cy="1161288"/>
          </a:xfrm>
          <a:prstGeom prst="rect">
            <a:avLst/>
          </a:prstGeom>
          <a:noFill/>
          <a:ln/>
        </p:spPr>
        <p:txBody>
          <a:bodyPr wrap="square" lIns="0" tIns="0" rIns="0" bIns="0" rtlCol="0" anchor="t"/>
          <a:lstStyle/>
          <a:p>
            <a:pPr indent="0" marL="0">
              <a:buNone/>
            </a:pPr>
            <a:r>
              <a:rPr lang="en-US" sz="1500" dirty="0">
                <a:solidFill>
                  <a:schemeClr val="tx1"/>
                </a:solidFill>
              </a:rPr>
              <a:t>Draw + and − on every resistor consistent with the loop current.</a:t>
            </a:r>
            <a:endParaRPr lang="en-US" sz="1500" dirty="0"/>
          </a:p>
        </p:txBody>
      </p:sp>
      <p:sp>
        <p:nvSpPr>
          <p:cNvPr id="16" name="Flow step"/>
          <p:cNvSpPr/>
          <p:nvPr/>
        </p:nvSpPr>
        <p:spPr>
          <a:xfrm>
            <a:off x="3803904" y="1234440"/>
            <a:ext cx="1536192" cy="2286000"/>
          </a:xfrm>
          <a:prstGeom prst="roundRect">
            <a:avLst>
              <a:gd name="adj" fmla="val 4762"/>
            </a:avLst>
          </a:prstGeom>
          <a:solidFill>
            <a:schemeClr val="bg2"/>
          </a:solidFill>
          <a:ln/>
        </p:spPr>
      </p:sp>
      <p:sp>
        <p:nvSpPr>
          <p:cNvPr id="17" name="Step number"/>
          <p:cNvSpPr/>
          <p:nvPr/>
        </p:nvSpPr>
        <p:spPr>
          <a:xfrm>
            <a:off x="3913632" y="1344168"/>
            <a:ext cx="365760" cy="365760"/>
          </a:xfrm>
          <a:prstGeom prst="ellipse">
            <a:avLst/>
          </a:prstGeom>
          <a:solidFill>
            <a:schemeClr val="tx2"/>
          </a:solidFill>
          <a:ln/>
        </p:spPr>
      </p:sp>
      <p:sp>
        <p:nvSpPr>
          <p:cNvPr id="18" name="Text 15"/>
          <p:cNvSpPr txBox="1"/>
          <p:nvPr/>
        </p:nvSpPr>
        <p:spPr>
          <a:xfrm>
            <a:off x="3913632"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3913632"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Apply KVL</a:t>
            </a:r>
            <a:endParaRPr lang="en-US" sz="1500" dirty="0"/>
          </a:p>
        </p:txBody>
      </p:sp>
      <p:sp>
        <p:nvSpPr>
          <p:cNvPr id="20" name="Text 17"/>
          <p:cNvSpPr txBox="1"/>
          <p:nvPr/>
        </p:nvSpPr>
        <p:spPr>
          <a:xfrm>
            <a:off x="3913632"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Sum of EMFs = sum of IR drops. A shared resistor carries (I1 − I2).</a:t>
            </a:r>
            <a:endParaRPr lang="en-US" sz="1500" dirty="0"/>
          </a:p>
        </p:txBody>
      </p:sp>
      <p:sp>
        <p:nvSpPr>
          <p:cNvPr id="21" name="Flow step"/>
          <p:cNvSpPr/>
          <p:nvPr/>
        </p:nvSpPr>
        <p:spPr>
          <a:xfrm>
            <a:off x="5477256" y="1234440"/>
            <a:ext cx="1536192" cy="2286000"/>
          </a:xfrm>
          <a:prstGeom prst="roundRect">
            <a:avLst>
              <a:gd name="adj" fmla="val 4762"/>
            </a:avLst>
          </a:prstGeom>
          <a:solidFill>
            <a:schemeClr val="bg2"/>
          </a:solidFill>
          <a:ln/>
        </p:spPr>
      </p:sp>
      <p:sp>
        <p:nvSpPr>
          <p:cNvPr id="22" name="Step number"/>
          <p:cNvSpPr/>
          <p:nvPr/>
        </p:nvSpPr>
        <p:spPr>
          <a:xfrm>
            <a:off x="5586984" y="1344168"/>
            <a:ext cx="365760" cy="365760"/>
          </a:xfrm>
          <a:prstGeom prst="ellipse">
            <a:avLst/>
          </a:prstGeom>
          <a:solidFill>
            <a:schemeClr val="tx2"/>
          </a:solidFill>
          <a:ln/>
        </p:spPr>
      </p:sp>
      <p:sp>
        <p:nvSpPr>
          <p:cNvPr id="23" name="Text 20"/>
          <p:cNvSpPr txBox="1"/>
          <p:nvPr/>
        </p:nvSpPr>
        <p:spPr>
          <a:xfrm>
            <a:off x="5586984"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5586984"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Rearrange</a:t>
            </a:r>
            <a:endParaRPr lang="en-US" sz="1500" dirty="0"/>
          </a:p>
        </p:txBody>
      </p:sp>
      <p:sp>
        <p:nvSpPr>
          <p:cNvPr id="25" name="Text 22"/>
          <p:cNvSpPr txBox="1"/>
          <p:nvPr/>
        </p:nvSpPr>
        <p:spPr>
          <a:xfrm>
            <a:off x="5586984"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Write as simultaneous equations in the loop currents.</a:t>
            </a:r>
            <a:endParaRPr lang="en-US" sz="1500" dirty="0"/>
          </a:p>
        </p:txBody>
      </p:sp>
      <p:sp>
        <p:nvSpPr>
          <p:cNvPr id="26" name="Flow step"/>
          <p:cNvSpPr/>
          <p:nvPr/>
        </p:nvSpPr>
        <p:spPr>
          <a:xfrm>
            <a:off x="7150608" y="1234440"/>
            <a:ext cx="1536192" cy="2286000"/>
          </a:xfrm>
          <a:prstGeom prst="roundRect">
            <a:avLst>
              <a:gd name="adj" fmla="val 4762"/>
            </a:avLst>
          </a:prstGeom>
          <a:solidFill>
            <a:schemeClr val="bg2"/>
          </a:solidFill>
          <a:ln/>
        </p:spPr>
      </p:sp>
      <p:sp>
        <p:nvSpPr>
          <p:cNvPr id="27" name="Step number"/>
          <p:cNvSpPr/>
          <p:nvPr/>
        </p:nvSpPr>
        <p:spPr>
          <a:xfrm>
            <a:off x="7260336" y="1344168"/>
            <a:ext cx="365760" cy="365760"/>
          </a:xfrm>
          <a:prstGeom prst="ellipse">
            <a:avLst/>
          </a:prstGeom>
          <a:solidFill>
            <a:schemeClr val="tx2"/>
          </a:solidFill>
          <a:ln/>
        </p:spPr>
      </p:sp>
      <p:sp>
        <p:nvSpPr>
          <p:cNvPr id="28" name="Text 25"/>
          <p:cNvSpPr txBox="1"/>
          <p:nvPr/>
        </p:nvSpPr>
        <p:spPr>
          <a:xfrm>
            <a:off x="7260336"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6"/>
          <p:cNvSpPr txBox="1"/>
          <p:nvPr/>
        </p:nvSpPr>
        <p:spPr>
          <a:xfrm>
            <a:off x="7260336"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Solve</a:t>
            </a:r>
            <a:endParaRPr lang="en-US" sz="1500" dirty="0"/>
          </a:p>
        </p:txBody>
      </p:sp>
      <p:sp>
        <p:nvSpPr>
          <p:cNvPr id="30" name="Text 27"/>
          <p:cNvSpPr txBox="1"/>
          <p:nvPr/>
        </p:nvSpPr>
        <p:spPr>
          <a:xfrm>
            <a:off x="7260336"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Branch current = algebraic sum of the loop currents through it.</a:t>
            </a:r>
            <a:endParaRPr lang="en-US" sz="1500" dirty="0"/>
          </a:p>
        </p:txBody>
      </p:sp>
      <p:sp>
        <p:nvSpPr>
          <p:cNvPr id="31" name="Highlight strip"/>
          <p:cNvSpPr/>
          <p:nvPr/>
        </p:nvSpPr>
        <p:spPr>
          <a:xfrm>
            <a:off x="457200" y="3749040"/>
            <a:ext cx="8229600" cy="822960"/>
          </a:xfrm>
          <a:prstGeom prst="roundRect">
            <a:avLst>
              <a:gd name="adj" fmla="val 8889"/>
            </a:avLst>
          </a:prstGeom>
          <a:solidFill>
            <a:schemeClr val="tx2"/>
          </a:solidFill>
          <a:ln/>
        </p:spPr>
      </p:sp>
      <p:sp>
        <p:nvSpPr>
          <p:cNvPr id="32" name="Text 29"/>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A negative loop current only means the real current opposes the assumed direction.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Mesh example: two-source network</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114800" cy="34290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10 V source with 1 Ω; shared 18 Ω; 2 Ω with 5 V source.</a:t>
            </a:r>
            <a:endParaRPr lang="en-US" sz="1700" dirty="0"/>
          </a:p>
          <a:p>
            <a:pPr marL="342900" indent="-342900">
              <a:spcAft>
                <a:spcPts val="600"/>
              </a:spcAft>
              <a:buSzPct val="100000"/>
              <a:buChar char="•"/>
            </a:pPr>
            <a:r>
              <a:rPr lang="en-US" sz="1700" dirty="0">
                <a:solidFill>
                  <a:schemeClr val="tx1"/>
                </a:solidFill>
              </a:rPr>
              <a:t>Mesh 1:  10 − 1·I1 − 18(I1 − I2) = 0</a:t>
            </a:r>
            <a:endParaRPr lang="en-US" sz="1700" dirty="0"/>
          </a:p>
          <a:p>
            <a:pPr marL="342900" indent="-342900">
              <a:spcAft>
                <a:spcPts val="600"/>
              </a:spcAft>
              <a:buSzPct val="100000"/>
              <a:buChar char="•"/>
            </a:pPr>
            <a:r>
              <a:rPr lang="en-US" sz="1700" dirty="0">
                <a:solidFill>
                  <a:schemeClr val="tx1"/>
                </a:solidFill>
              </a:rPr>
              <a:t>Mesh 2:  −18(I2 − I1) − 2·I2 − 5 = 0</a:t>
            </a:r>
            <a:endParaRPr lang="en-US" sz="1700" dirty="0"/>
          </a:p>
          <a:p>
            <a:pPr marL="342900" indent="-342900">
              <a:spcAft>
                <a:spcPts val="600"/>
              </a:spcAft>
              <a:buSzPct val="100000"/>
              <a:buChar char="•"/>
            </a:pPr>
            <a:r>
              <a:rPr lang="en-US" sz="1700" dirty="0">
                <a:solidFill>
                  <a:schemeClr val="tx1"/>
                </a:solidFill>
              </a:rPr>
              <a:t>Rearranged:  −19 I1 + 18 I2 = −10  and  18 I1 − 20 I2 = 5</a:t>
            </a:r>
            <a:endParaRPr lang="en-US" sz="1700" dirty="0"/>
          </a:p>
          <a:p>
            <a:pPr marL="342900" indent="-342900">
              <a:spcAft>
                <a:spcPts val="600"/>
              </a:spcAft>
              <a:buSzPct val="100000"/>
              <a:buChar char="•"/>
            </a:pPr>
            <a:r>
              <a:rPr lang="en-US" sz="1700" dirty="0">
                <a:solidFill>
                  <a:schemeClr val="tx1"/>
                </a:solidFill>
              </a:rPr>
              <a:t>I1 = 1.964 A, I2 = 1.518 A;  I(18 Ω) = 0.446 A</a:t>
            </a:r>
            <a:endParaRPr lang="en-US" sz="1700" dirty="0"/>
          </a:p>
          <a:p>
            <a:pPr marL="342900" indent="-342900">
              <a:spcAft>
                <a:spcPts val="600"/>
              </a:spcAft>
              <a:buSzPct val="100000"/>
              <a:buChar char="•"/>
            </a:pPr>
            <a:r>
              <a:rPr lang="en-US" sz="1700" dirty="0">
                <a:solidFill>
                  <a:schemeClr val="tx1"/>
                </a:solidFill>
              </a:rPr>
              <a:t>P(18 Ω) = I²R = 3.59 W,  P(10 V source) = 19.64 W</a:t>
            </a:r>
            <a:endParaRPr lang="en-US" sz="1700" dirty="0"/>
          </a:p>
        </p:txBody>
      </p:sp>
      <p:pic>
        <p:nvPicPr>
          <p:cNvPr id="7" name="Image 0" descr="mesh figure">    </p:cNvPr>
          <p:cNvPicPr>
            <a:picLocks noChangeAspect="1"/>
          </p:cNvPicPr>
          <p:nvPr/>
        </p:nvPicPr>
        <p:blipFill>
          <a:blip r:embed="rId1"/>
          <a:stretch>
            <a:fillRect/>
          </a:stretch>
        </p:blipFill>
        <p:spPr>
          <a:xfrm>
            <a:off x="4754880" y="1690275"/>
            <a:ext cx="3931920" cy="228873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Worked example: three-branch network</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20 V and 30 V sources with 5 Ω, 15 Ω and a shared 8 Ω. Find the current in the 8 Ω resistor.</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Mesh 1:  20 = I1(5 + 8) − 8·I2  →  13 I1 − 8 I2 = 20</a:t>
            </a:r>
            <a:endParaRPr lang="en-US" sz="1800" dirty="0"/>
          </a:p>
          <a:p>
            <a:pPr marL="342900" indent="-342900">
              <a:spcAft>
                <a:spcPts val="600"/>
              </a:spcAft>
              <a:buSzPct val="100000"/>
              <a:buChar char="•"/>
            </a:pPr>
            <a:r>
              <a:rPr lang="en-US" sz="1800" dirty="0">
                <a:solidFill>
                  <a:schemeClr val="tx1"/>
                </a:solidFill>
              </a:rPr>
              <a:t>Mesh 2:  −30 = I2(8 + 15) − 8·I1  →  −8 I1 + 23 I2 = −30</a:t>
            </a:r>
            <a:endParaRPr lang="en-US" sz="1800" dirty="0"/>
          </a:p>
          <a:p>
            <a:pPr marL="342900" indent="-342900">
              <a:spcAft>
                <a:spcPts val="600"/>
              </a:spcAft>
              <a:buSzPct val="100000"/>
              <a:buChar char="•"/>
            </a:pPr>
            <a:r>
              <a:rPr lang="en-US" sz="1800" dirty="0">
                <a:solidFill>
                  <a:schemeClr val="tx1"/>
                </a:solidFill>
              </a:rPr>
              <a:t>Determinant  Δ = 13·23 − 64 = 235</a:t>
            </a:r>
            <a:endParaRPr lang="en-US" sz="1800" dirty="0"/>
          </a:p>
          <a:p>
            <a:pPr marL="342900" indent="-342900">
              <a:spcAft>
                <a:spcPts val="600"/>
              </a:spcAft>
              <a:buSzPct val="100000"/>
              <a:buChar char="•"/>
            </a:pPr>
            <a:r>
              <a:rPr lang="en-US" sz="1800" dirty="0">
                <a:solidFill>
                  <a:schemeClr val="tx1"/>
                </a:solidFill>
              </a:rPr>
              <a:t>I1 = (20·23 − 240)/235 = 0.936 A;   I2 = (13·(−30) + 160)/235 = −0.979 A</a:t>
            </a:r>
            <a:endParaRPr lang="en-US" sz="1800" dirty="0"/>
          </a:p>
          <a:p>
            <a:pPr marL="342900" indent="-342900">
              <a:spcAft>
                <a:spcPts val="600"/>
              </a:spcAft>
              <a:buSzPct val="100000"/>
              <a:buChar char="•"/>
            </a:pPr>
            <a:r>
              <a:rPr lang="en-US" sz="1800" dirty="0">
                <a:solidFill>
                  <a:schemeClr val="tx1"/>
                </a:solidFill>
              </a:rPr>
              <a:t>Current in 8 Ω = I1 − I2</a:t>
            </a:r>
            <a:endParaRPr lang="en-US" sz="18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1.915 A in the 8 Ω resistor</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Nodal analysis: procedure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Choose reference</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Pick a node as 0 V (ground), usually the one with most branches.</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Label nodes</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Give the other N − 1 nodes voltages V1, V2, …</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Apply KCL</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Write branch currents as (Va − Vb)/R and sum to zero at each node.</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bg2"/>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Solve</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Solve N − 1 simultaneous equations for the node voltages.</a:t>
            </a:r>
            <a:endParaRPr lang="en-US" sz="1500" dirty="0"/>
          </a:p>
        </p:txBody>
      </p:sp>
      <p:sp>
        <p:nvSpPr>
          <p:cNvPr id="26" name="Highlight strip"/>
          <p:cNvSpPr/>
          <p:nvPr/>
        </p:nvSpPr>
        <p:spPr>
          <a:xfrm>
            <a:off x="457200" y="3749040"/>
            <a:ext cx="8229600" cy="822960"/>
          </a:xfrm>
          <a:prstGeom prst="roundRect">
            <a:avLst>
              <a:gd name="adj" fmla="val 8889"/>
            </a:avLst>
          </a:prstGeom>
          <a:solidFill>
            <a:schemeClr val="tx2"/>
          </a:solidFill>
          <a:ln/>
        </p:spPr>
      </p:sp>
      <p:sp>
        <p:nvSpPr>
          <p:cNvPr id="27" name="Text 2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Branch current = (voltage difference across the branch) / resistance.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Nodal example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nodal figure">    </p:cNvPr>
          <p:cNvPicPr>
            <a:picLocks noChangeAspect="1"/>
          </p:cNvPicPr>
          <p:nvPr/>
        </p:nvPicPr>
        <p:blipFill>
          <a:blip r:embed="rId1"/>
          <a:stretch>
            <a:fillRect/>
          </a:stretch>
        </p:blipFill>
        <p:spPr>
          <a:xfrm>
            <a:off x="457200" y="1222157"/>
            <a:ext cx="5120640" cy="3133526"/>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Node 1:  V1/1 + (V1 − V2)/0.5 = (20 − V1)/1</a:t>
            </a:r>
            <a:endParaRPr lang="en-US" sz="2000" dirty="0"/>
          </a:p>
          <a:p>
            <a:pPr marL="342900" indent="-342900">
              <a:spcAft>
                <a:spcPts val="600"/>
              </a:spcAft>
              <a:buSzPct val="100000"/>
              <a:buChar char="•"/>
            </a:pPr>
            <a:r>
              <a:rPr lang="en-US" sz="2000" dirty="0">
                <a:solidFill>
                  <a:schemeClr val="tx1"/>
                </a:solidFill>
              </a:rPr>
              <a:t>→ 4V1 − 2V2 = 20</a:t>
            </a:r>
            <a:endParaRPr lang="en-US" sz="2000" dirty="0"/>
          </a:p>
          <a:p>
            <a:pPr marL="342900" indent="-342900">
              <a:spcAft>
                <a:spcPts val="600"/>
              </a:spcAft>
              <a:buSzPct val="100000"/>
              <a:buChar char="•"/>
            </a:pPr>
            <a:r>
              <a:rPr lang="en-US" sz="2000" dirty="0">
                <a:solidFill>
                  <a:schemeClr val="tx1"/>
                </a:solidFill>
              </a:rPr>
              <a:t>Node 2:  (V1 − V2)/0.5 = (V2 − 20)/1 + V2/2</a:t>
            </a:r>
            <a:endParaRPr lang="en-US" sz="2000" dirty="0"/>
          </a:p>
          <a:p>
            <a:pPr marL="342900" indent="-342900">
              <a:spcAft>
                <a:spcPts val="600"/>
              </a:spcAft>
              <a:buSzPct val="100000"/>
              <a:buChar char="•"/>
            </a:pPr>
            <a:r>
              <a:rPr lang="en-US" sz="2000" dirty="0">
                <a:solidFill>
                  <a:schemeClr val="tx1"/>
                </a:solidFill>
              </a:rPr>
              <a:t>→ 2V1 − 3.5V2 = −20</a:t>
            </a:r>
            <a:endParaRPr lang="en-US" sz="2000" dirty="0"/>
          </a:p>
          <a:p>
            <a:pPr marL="342900" indent="-342900">
              <a:spcAft>
                <a:spcPts val="600"/>
              </a:spcAft>
              <a:buSzPct val="100000"/>
              <a:buChar char="•"/>
            </a:pPr>
            <a:r>
              <a:rPr lang="en-US" sz="2000" dirty="0">
                <a:solidFill>
                  <a:schemeClr val="tx1"/>
                </a:solidFill>
              </a:rPr>
              <a:t>Solve:  V1 = 11 V,  V2 = 12 V</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Mesh versus nodal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Compare card"/>
          <p:cNvSpPr/>
          <p:nvPr/>
        </p:nvSpPr>
        <p:spPr>
          <a:xfrm>
            <a:off x="457200" y="1188720"/>
            <a:ext cx="4023360" cy="3429000"/>
          </a:xfrm>
          <a:prstGeom prst="roundRect">
            <a:avLst>
              <a:gd name="adj" fmla="val 2133"/>
            </a:avLst>
          </a:prstGeom>
          <a:solidFill>
            <a:schemeClr val="bg2"/>
          </a:solidFill>
          <a:ln/>
        </p:spPr>
      </p:sp>
      <p:sp>
        <p:nvSpPr>
          <p:cNvPr id="7" name="Compare header"/>
          <p:cNvSpPr/>
          <p:nvPr/>
        </p:nvSpPr>
        <p:spPr>
          <a:xfrm>
            <a:off x="457200" y="1188720"/>
            <a:ext cx="4023360" cy="502920"/>
          </a:xfrm>
          <a:prstGeom prst="roundRect">
            <a:avLst>
              <a:gd name="adj" fmla="val 14545"/>
            </a:avLst>
          </a:prstGeom>
          <a:solidFill>
            <a:schemeClr val="tx2"/>
          </a:solidFill>
          <a:ln/>
        </p:spPr>
      </p:sp>
      <p:sp>
        <p:nvSpPr>
          <p:cNvPr id="8" name="Text 5"/>
          <p:cNvSpPr txBox="1"/>
          <p:nvPr/>
        </p:nvSpPr>
        <p:spPr>
          <a:xfrm>
            <a:off x="59436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Mesh analysis</a:t>
            </a:r>
            <a:endParaRPr lang="en-US" sz="1700" dirty="0"/>
          </a:p>
        </p:txBody>
      </p:sp>
      <p:sp>
        <p:nvSpPr>
          <p:cNvPr id="9" name="Text 6"/>
          <p:cNvSpPr txBox="1"/>
          <p:nvPr/>
        </p:nvSpPr>
        <p:spPr>
          <a:xfrm>
            <a:off x="59436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Uses KVL</a:t>
            </a:r>
            <a:endParaRPr lang="en-US" sz="2000" dirty="0"/>
          </a:p>
          <a:p>
            <a:pPr marL="342900" indent="-342900">
              <a:spcAft>
                <a:spcPts val="600"/>
              </a:spcAft>
              <a:buSzPct val="100000"/>
              <a:buChar char="•"/>
            </a:pPr>
            <a:r>
              <a:rPr lang="en-US" sz="2000" dirty="0">
                <a:solidFill>
                  <a:schemeClr val="tx1"/>
                </a:solidFill>
              </a:rPr>
              <a:t>Unknowns: loop currents</a:t>
            </a:r>
            <a:endParaRPr lang="en-US" sz="2000" dirty="0"/>
          </a:p>
          <a:p>
            <a:pPr marL="342900" indent="-342900">
              <a:spcAft>
                <a:spcPts val="600"/>
              </a:spcAft>
              <a:buSzPct val="100000"/>
              <a:buChar char="•"/>
            </a:pPr>
            <a:r>
              <a:rPr lang="en-US" sz="2000" dirty="0">
                <a:solidFill>
                  <a:schemeClr val="tx1"/>
                </a:solidFill>
              </a:rPr>
              <a:t>Equations = number of meshes</a:t>
            </a:r>
            <a:endParaRPr lang="en-US" sz="2000" dirty="0"/>
          </a:p>
          <a:p>
            <a:pPr marL="342900" indent="-342900">
              <a:spcAft>
                <a:spcPts val="600"/>
              </a:spcAft>
              <a:buSzPct val="100000"/>
              <a:buChar char="•"/>
            </a:pPr>
            <a:r>
              <a:rPr lang="en-US" sz="2000" dirty="0">
                <a:solidFill>
                  <a:schemeClr val="tx1"/>
                </a:solidFill>
              </a:rPr>
              <a:t>Best for many series elements and voltage sources</a:t>
            </a:r>
            <a:endParaRPr lang="en-US" sz="2000" dirty="0"/>
          </a:p>
        </p:txBody>
      </p:sp>
      <p:sp>
        <p:nvSpPr>
          <p:cNvPr id="10" name="Compare card"/>
          <p:cNvSpPr/>
          <p:nvPr/>
        </p:nvSpPr>
        <p:spPr>
          <a:xfrm>
            <a:off x="4663440" y="1188720"/>
            <a:ext cx="4023360" cy="3429000"/>
          </a:xfrm>
          <a:prstGeom prst="roundRect">
            <a:avLst>
              <a:gd name="adj" fmla="val 2133"/>
            </a:avLst>
          </a:prstGeom>
          <a:solidFill>
            <a:schemeClr val="bg2"/>
          </a:solidFill>
          <a:ln/>
        </p:spPr>
      </p:sp>
      <p:sp>
        <p:nvSpPr>
          <p:cNvPr id="11" name="Compare header"/>
          <p:cNvSpPr/>
          <p:nvPr/>
        </p:nvSpPr>
        <p:spPr>
          <a:xfrm>
            <a:off x="4663440" y="1188720"/>
            <a:ext cx="4023360" cy="502920"/>
          </a:xfrm>
          <a:prstGeom prst="roundRect">
            <a:avLst>
              <a:gd name="adj" fmla="val 14545"/>
            </a:avLst>
          </a:prstGeom>
          <a:solidFill>
            <a:schemeClr val="accent2"/>
          </a:solidFill>
          <a:ln/>
        </p:spPr>
      </p:sp>
      <p:sp>
        <p:nvSpPr>
          <p:cNvPr id="12" name="Text 9"/>
          <p:cNvSpPr txBox="1"/>
          <p:nvPr/>
        </p:nvSpPr>
        <p:spPr>
          <a:xfrm>
            <a:off x="480060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Nodal analysis</a:t>
            </a:r>
            <a:endParaRPr lang="en-US" sz="1700" dirty="0"/>
          </a:p>
        </p:txBody>
      </p:sp>
      <p:sp>
        <p:nvSpPr>
          <p:cNvPr id="13" name="Text 10"/>
          <p:cNvSpPr txBox="1"/>
          <p:nvPr/>
        </p:nvSpPr>
        <p:spPr>
          <a:xfrm>
            <a:off x="480060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Uses KCL</a:t>
            </a:r>
            <a:endParaRPr lang="en-US" sz="2000" dirty="0"/>
          </a:p>
          <a:p>
            <a:pPr marL="342900" indent="-342900">
              <a:spcAft>
                <a:spcPts val="600"/>
              </a:spcAft>
              <a:buSzPct val="100000"/>
              <a:buChar char="•"/>
            </a:pPr>
            <a:r>
              <a:rPr lang="en-US" sz="2000" dirty="0">
                <a:solidFill>
                  <a:schemeClr val="tx1"/>
                </a:solidFill>
              </a:rPr>
              <a:t>Unknowns: node voltages</a:t>
            </a:r>
            <a:endParaRPr lang="en-US" sz="2000" dirty="0"/>
          </a:p>
          <a:p>
            <a:pPr marL="342900" indent="-342900">
              <a:spcAft>
                <a:spcPts val="600"/>
              </a:spcAft>
              <a:buSzPct val="100000"/>
              <a:buChar char="•"/>
            </a:pPr>
            <a:r>
              <a:rPr lang="en-US" sz="2000" dirty="0">
                <a:solidFill>
                  <a:schemeClr val="tx1"/>
                </a:solidFill>
              </a:rPr>
              <a:t>Equations = nodes − 1</a:t>
            </a:r>
            <a:endParaRPr lang="en-US" sz="2000" dirty="0"/>
          </a:p>
          <a:p>
            <a:pPr marL="342900" indent="-342900">
              <a:spcAft>
                <a:spcPts val="600"/>
              </a:spcAft>
              <a:buSzPct val="100000"/>
              <a:buChar char="•"/>
            </a:pPr>
            <a:r>
              <a:rPr lang="en-US" sz="2000" dirty="0">
                <a:solidFill>
                  <a:schemeClr val="tx1"/>
                </a:solidFill>
              </a:rPr>
              <a:t>Best for many parallel branches and current sources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KVL: sum of EMFs equals sum of voltage drops around a mesh</a:t>
            </a:r>
            <a:endParaRPr lang="en-US" sz="2200" dirty="0"/>
          </a:p>
          <a:p>
            <a:pPr marL="342900" indent="-342900">
              <a:spcAft>
                <a:spcPts val="600"/>
              </a:spcAft>
              <a:buSzPct val="100000"/>
              <a:buChar char="•"/>
            </a:pPr>
            <a:r>
              <a:rPr lang="en-US" sz="2200" dirty="0">
                <a:solidFill>
                  <a:schemeClr val="tx1"/>
                </a:solidFill>
              </a:rPr>
              <a:t>KCL: currents at a node sum to zero</a:t>
            </a:r>
            <a:endParaRPr lang="en-US" sz="2200" dirty="0"/>
          </a:p>
          <a:p>
            <a:pPr marL="342900" indent="-342900">
              <a:spcAft>
                <a:spcPts val="600"/>
              </a:spcAft>
              <a:buSzPct val="100000"/>
              <a:buChar char="•"/>
            </a:pPr>
            <a:r>
              <a:rPr lang="en-US" sz="2200" dirty="0">
                <a:solidFill>
                  <a:schemeClr val="tx1"/>
                </a:solidFill>
              </a:rPr>
              <a:t>Mesh analysis gives loop currents; branch current = algebraic sum of loop currents</a:t>
            </a:r>
            <a:endParaRPr lang="en-US" sz="2200" dirty="0"/>
          </a:p>
          <a:p>
            <a:pPr marL="342900" indent="-342900">
              <a:spcAft>
                <a:spcPts val="600"/>
              </a:spcAft>
              <a:buSzPct val="100000"/>
              <a:buChar char="•"/>
            </a:pPr>
            <a:r>
              <a:rPr lang="en-US" sz="2200" dirty="0">
                <a:solidFill>
                  <a:schemeClr val="tx1"/>
                </a:solidFill>
              </a:rPr>
              <a:t>Nodal analysis gives node voltages with one node as reference</a:t>
            </a:r>
            <a:endParaRPr lang="en-US" sz="2200" dirty="0"/>
          </a:p>
          <a:p>
            <a:pPr marL="342900" indent="-342900">
              <a:spcAft>
                <a:spcPts val="600"/>
              </a:spcAft>
              <a:buSzPct val="100000"/>
              <a:buChar char="•"/>
            </a:pPr>
            <a:r>
              <a:rPr lang="en-US" sz="2200" dirty="0">
                <a:solidFill>
                  <a:schemeClr val="tx1"/>
                </a:solidFill>
              </a:rPr>
              <a:t>Pick the method with fewer equations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Using mesh analysis, find the current in each branch for 20 V and 30 V sources with 5 Ω, 8 Ω and 15 Ω resistors.</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Find the node voltages V1 and V2 of the network in the nodal example.</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A network has 5 nodes and 4 meshes. How many equations does each method need?</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can a negative loop current appear in the solution?</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Mesh and Nodal Analysis</dc:title>
  <dc:subject>PptxGenJS Presentation</dc:subject>
  <dc:creator>Dr. Mitesh Astik</dc:creator>
  <cp:lastModifiedBy>Dr. Mitesh Astik</cp:lastModifiedBy>
  <cp:revision>1</cp:revision>
  <dcterms:created xsi:type="dcterms:W3CDTF">2026-10-29T10:05:19Z</dcterms:created>
  <dcterms:modified xsi:type="dcterms:W3CDTF">2026-10-29T10:05:19Z</dcterms:modified>
</cp:coreProperties>
</file>