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it 3 · Semiconductor Diode and the PN Junction" id="{fa9cd888-10e8-c788-6083-9d843f6d5027}">
          <p14:sldIdLst>
            <p14:sldId id="256"/>
            <p14:sldId id="257"/>
            <p14:sldId id="258"/>
            <p14:sldId id="259"/>
            <p14:sldId id="260"/>
            <p14:sldId id="261"/>
            <p14:sldId id="262"/>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In this session we study "Semiconductor Diode and the PN Junction", part of Unit 3 (Diodes, Transistors and their Applications) of Basic Electrical and Electronics Engineering.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topic you should be able to do the following. Describe intrinsic and extrinsic semiconductors. Explain formation of the depletion region and barrier potential. Explain forward and reverse bias. State the diode symbol and its terminals.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Semiconductors such as silicon and germanium have conductivity between conductors and insulators.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depletion region has positive donor ions on the N side and negative acceptor ions on the P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forward bias the applied potential acts in opposition to the internal potential barrier.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Reverse leakage current doubles roughly for every ten degrees Celsius rise.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diode is essentially a one-way valve for electric current.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this topic. N-type: electrons majority; P-type: holes majority. Depletion region and barrier potential form at the junction. Forward bias reduces the barrier; reverse bias increases it. Si turns on near 0.7 V, Ge near 0.3 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Attempt these on your own, then check your working against your notes and textbook. Explain how the depletion region is formed. What happens to the depletion width in forward and reverse bias? Compare N-type and P-type semiconductors. Why does a reverse-biased diode still carry a small current?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B1F3A"/>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800600"/>
            <a:ext cx="7132320" cy="228600"/>
          </a:xfrm>
          <a:prstGeom prst="rect">
            <a:avLst/>
          </a:prstGeom>
          <a:noFill/>
          <a:ln/>
        </p:spPr>
        <p:txBody>
          <a:bodyPr wrap="square" lIns="0" tIns="0" rIns="0" bIns="0" rtlCol="0" anchor="ctr"/>
          <a:lstStyle/>
          <a:p>
            <a:pPr indent="0" marL="0">
              <a:buNone/>
            </a:pPr>
            <a:r>
              <a:rPr lang="en-US" sz="1000" dirty="0">
                <a:solidFill>
                  <a:schemeClr val="accent4"/>
                </a:solidFill>
              </a:rPr>
              <a:t>Basic Electrical and Electronics Engineering · Unit 3 · Dr. Mitesh Astik, NMAMIT Nitte</a:t>
            </a:r>
            <a:endParaRPr lang="en-US" sz="1000" dirty="0"/>
          </a:p>
        </p:txBody>
      </p:sp>
      <p:sp>
        <p:nvSpPr>
          <p:cNvPr id="3" name="Text 1"/>
          <p:cNvSpPr/>
          <p:nvPr>
            <p:ph idx="101" type="title" hasCustomPrompt="1"/>
          </p:nvPr>
        </p:nvSpPr>
        <p:spPr>
          <a:xfrm>
            <a:off x="1188720" y="274320"/>
            <a:ext cx="7498080" cy="68580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Icon circle"/>
          <p:cNvSpPr/>
          <p:nvPr/>
        </p:nvSpPr>
        <p:spPr>
          <a:xfrm>
            <a:off x="6858000" y="822960"/>
            <a:ext cx="1737360" cy="1737360"/>
          </a:xfrm>
          <a:prstGeom prst="ellipse">
            <a:avLst/>
          </a:prstGeom>
          <a:solidFill>
            <a:schemeClr val="accent1"/>
          </a:solidFill>
          <a:ln/>
        </p:spPr>
      </p:sp>
      <p:pic>
        <p:nvPicPr>
          <p:cNvPr id="3" name="Image 0" descr="topic icon">    </p:cNvPr>
          <p:cNvPicPr>
            <a:picLocks noChangeAspect="1"/>
          </p:cNvPicPr>
          <p:nvPr/>
        </p:nvPicPr>
        <p:blipFill>
          <a:blip r:embed="rId1"/>
          <a:stretch>
            <a:fillRect/>
          </a:stretch>
        </p:blipFill>
        <p:spPr>
          <a:xfrm>
            <a:off x="7360920" y="1325880"/>
            <a:ext cx="731520" cy="731520"/>
          </a:xfrm>
          <a:prstGeom prst="rect">
            <a:avLst/>
          </a:prstGeom>
        </p:spPr>
      </p:pic>
      <p:sp>
        <p:nvSpPr>
          <p:cNvPr id="4" name="Text 1"/>
          <p:cNvSpPr txBox="1"/>
          <p:nvPr/>
        </p:nvSpPr>
        <p:spPr>
          <a:xfrm>
            <a:off x="640080" y="822960"/>
            <a:ext cx="6035040" cy="365760"/>
          </a:xfrm>
          <a:prstGeom prst="rect">
            <a:avLst/>
          </a:prstGeom>
          <a:noFill/>
          <a:ln/>
        </p:spPr>
        <p:txBody>
          <a:bodyPr wrap="square" lIns="0" tIns="0" rIns="0" bIns="0" rtlCol="0" anchor="ctr"/>
          <a:lstStyle/>
          <a:p>
            <a:pPr indent="0" marL="0">
              <a:buNone/>
            </a:pPr>
            <a:r>
              <a:rPr lang="en-US" sz="1500" b="1" spc="300" kern="0" dirty="0">
                <a:solidFill>
                  <a:schemeClr val="accent1"/>
                </a:solidFill>
              </a:rPr>
              <a:t>UNIT 3  ·  9 hours</a:t>
            </a:r>
            <a:endParaRPr lang="en-US" sz="1500" dirty="0"/>
          </a:p>
        </p:txBody>
      </p:sp>
      <p:sp>
        <p:nvSpPr>
          <p:cNvPr id="5" name="Text 2"/>
          <p:cNvSpPr txBox="1"/>
          <p:nvPr/>
        </p:nvSpPr>
        <p:spPr>
          <a:xfrm>
            <a:off x="640080" y="1280160"/>
            <a:ext cx="6035040" cy="1554480"/>
          </a:xfrm>
          <a:prstGeom prst="rect">
            <a:avLst/>
          </a:prstGeom>
          <a:noFill/>
          <a:ln/>
        </p:spPr>
        <p:txBody>
          <a:bodyPr wrap="square" lIns="0" tIns="0" rIns="0" bIns="0" rtlCol="0" anchor="t"/>
          <a:lstStyle/>
          <a:p>
            <a:pPr indent="0" marL="0">
              <a:buNone/>
            </a:pPr>
            <a:r>
              <a:rPr lang="en-US" sz="3000" b="1" dirty="0">
                <a:solidFill>
                  <a:schemeClr val="bg1"/>
                </a:solidFill>
                <a:latin typeface="Cambria" pitchFamily="34" charset="0"/>
                <a:ea typeface="Cambria" pitchFamily="34" charset="-122"/>
                <a:cs typeface="Cambria" pitchFamily="34" charset="-120"/>
              </a:rPr>
              <a:t>Semiconductor Diode and the PN Junction</a:t>
            </a:r>
            <a:endParaRPr lang="en-US" sz="3000" dirty="0"/>
          </a:p>
        </p:txBody>
      </p:sp>
      <p:sp>
        <p:nvSpPr>
          <p:cNvPr id="6" name="Text 3"/>
          <p:cNvSpPr txBox="1"/>
          <p:nvPr/>
        </p:nvSpPr>
        <p:spPr>
          <a:xfrm>
            <a:off x="640080" y="2926080"/>
            <a:ext cx="6035040" cy="548640"/>
          </a:xfrm>
          <a:prstGeom prst="rect">
            <a:avLst/>
          </a:prstGeom>
          <a:noFill/>
          <a:ln/>
        </p:spPr>
        <p:txBody>
          <a:bodyPr wrap="square" lIns="0" tIns="0" rIns="0" bIns="0" rtlCol="0" anchor="t"/>
          <a:lstStyle/>
          <a:p>
            <a:pPr indent="0" marL="0">
              <a:buNone/>
            </a:pPr>
            <a:r>
              <a:rPr lang="en-US" sz="1600" dirty="0">
                <a:solidFill>
                  <a:srgbClr val="D5E0EE"/>
                </a:solidFill>
              </a:rPr>
              <a:t>Diodes, Transistors and their Applications</a:t>
            </a:r>
            <a:endParaRPr lang="en-US" sz="1600" dirty="0"/>
          </a:p>
        </p:txBody>
      </p:sp>
      <p:sp>
        <p:nvSpPr>
          <p:cNvPr id="7" name="Text 4"/>
          <p:cNvSpPr txBox="1"/>
          <p:nvPr/>
        </p:nvSpPr>
        <p:spPr>
          <a:xfrm>
            <a:off x="640080" y="3657600"/>
            <a:ext cx="7863840" cy="914400"/>
          </a:xfrm>
          <a:prstGeom prst="rect">
            <a:avLst/>
          </a:prstGeom>
          <a:noFill/>
          <a:ln/>
        </p:spPr>
        <p:txBody>
          <a:bodyPr wrap="square" lIns="0" tIns="0" rIns="0" bIns="0" rtlCol="0" anchor="t"/>
          <a:lstStyle/>
          <a:p>
            <a:pPr indent="0" marL="0">
              <a:buNone/>
            </a:pPr>
            <a:r>
              <a:rPr lang="en-US" sz="1400" b="1" dirty="0">
                <a:solidFill>
                  <a:schemeClr val="bg1"/>
                </a:solidFill>
              </a:rPr>
              <a:t>Basic Electrical and Electronics Engineering  (EEE103)</a:t>
            </a:r>
            <a:endParaRPr lang="en-US" sz="1400" dirty="0"/>
          </a:p>
          <a:p>
            <a:pPr indent="0" marL="0">
              <a:buNone/>
            </a:pPr>
            <a:r>
              <a:rPr lang="en-US" sz="1400" dirty="0">
                <a:solidFill>
                  <a:srgbClr val="D5E0EE"/>
                </a:solidFill>
              </a:rPr>
              <a:t>Dr. Mitesh Astik · Dept. of Electrical and Electronics Engineering</a:t>
            </a:r>
            <a:endParaRPr lang="en-US" sz="1400" dirty="0"/>
          </a:p>
          <a:p>
            <a:pPr indent="0" marL="0">
              <a:buNone/>
            </a:pPr>
            <a:r>
              <a:rPr lang="en-US" sz="1400" dirty="0">
                <a:solidFill>
                  <a:srgbClr val="D5E0EE"/>
                </a:solidFill>
              </a:rPr>
              <a:t>NMAM Institute of Technology, Nitte · 2025-26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Learning objectives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U3</a:t>
            </a:r>
            <a:endParaRPr lang="en-US" sz="1600" dirty="0"/>
          </a:p>
        </p:txBody>
      </p:sp>
      <p:sp>
        <p:nvSpPr>
          <p:cNvPr id="6" name="Text 3"/>
          <p:cNvSpPr txBox="1"/>
          <p:nvPr/>
        </p:nvSpPr>
        <p:spPr>
          <a:xfrm>
            <a:off x="457200" y="1188720"/>
            <a:ext cx="4846320" cy="338328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Describe intrinsic and extrinsic semiconductors</a:t>
            </a:r>
            <a:endParaRPr lang="en-US" sz="2200" dirty="0"/>
          </a:p>
          <a:p>
            <a:pPr marL="342900" indent="-342900">
              <a:spcAft>
                <a:spcPts val="600"/>
              </a:spcAft>
              <a:buSzPct val="100000"/>
              <a:buChar char="•"/>
            </a:pPr>
            <a:r>
              <a:rPr lang="en-US" sz="2200" dirty="0">
                <a:solidFill>
                  <a:schemeClr val="tx1"/>
                </a:solidFill>
              </a:rPr>
              <a:t>Explain formation of the depletion region and barrier potential</a:t>
            </a:r>
            <a:endParaRPr lang="en-US" sz="2200" dirty="0"/>
          </a:p>
          <a:p>
            <a:pPr marL="342900" indent="-342900">
              <a:spcAft>
                <a:spcPts val="600"/>
              </a:spcAft>
              <a:buSzPct val="100000"/>
              <a:buChar char="•"/>
            </a:pPr>
            <a:r>
              <a:rPr lang="en-US" sz="2200" dirty="0">
                <a:solidFill>
                  <a:schemeClr val="tx1"/>
                </a:solidFill>
              </a:rPr>
              <a:t>Explain forward and reverse bias</a:t>
            </a:r>
            <a:endParaRPr lang="en-US" sz="2200" dirty="0"/>
          </a:p>
          <a:p>
            <a:pPr marL="342900" indent="-342900">
              <a:spcAft>
                <a:spcPts val="600"/>
              </a:spcAft>
              <a:buSzPct val="100000"/>
              <a:buChar char="•"/>
            </a:pPr>
            <a:r>
              <a:rPr lang="en-US" sz="2200" dirty="0">
                <a:solidFill>
                  <a:schemeClr val="tx1"/>
                </a:solidFill>
              </a:rPr>
              <a:t>State the diode symbol and its terminals</a:t>
            </a:r>
            <a:endParaRPr lang="en-US" sz="2200" dirty="0"/>
          </a:p>
        </p:txBody>
      </p:sp>
      <p:sp>
        <p:nvSpPr>
          <p:cNvPr id="7" name="Card"/>
          <p:cNvSpPr/>
          <p:nvPr/>
        </p:nvSpPr>
        <p:spPr>
          <a:xfrm>
            <a:off x="5577840" y="1188720"/>
            <a:ext cx="3108960" cy="3383280"/>
          </a:xfrm>
          <a:prstGeom prst="roundRect">
            <a:avLst>
              <a:gd name="adj" fmla="val 2353"/>
            </a:avLst>
          </a:prstGeom>
          <a:solidFill>
            <a:schemeClr val="bg2"/>
          </a:solidFill>
          <a:ln/>
        </p:spPr>
      </p:sp>
      <p:sp>
        <p:nvSpPr>
          <p:cNvPr id="8" name="Text 5"/>
          <p:cNvSpPr txBox="1"/>
          <p:nvPr/>
        </p:nvSpPr>
        <p:spPr>
          <a:xfrm>
            <a:off x="5715000" y="1261872"/>
            <a:ext cx="2834640" cy="365760"/>
          </a:xfrm>
          <a:prstGeom prst="rect">
            <a:avLst/>
          </a:prstGeom>
          <a:noFill/>
          <a:ln/>
        </p:spPr>
        <p:txBody>
          <a:bodyPr wrap="square" lIns="0" tIns="0" rIns="0" bIns="0" rtlCol="0" anchor="ctr"/>
          <a:lstStyle/>
          <a:p>
            <a:pPr indent="0" marL="0">
              <a:buNone/>
            </a:pPr>
            <a:r>
              <a:rPr lang="en-US" sz="1600" b="1" dirty="0">
                <a:solidFill>
                  <a:schemeClr val="tx2"/>
                </a:solidFill>
              </a:rPr>
              <a:t>Syllabus context</a:t>
            </a:r>
            <a:endParaRPr lang="en-US" sz="1600" dirty="0"/>
          </a:p>
        </p:txBody>
      </p:sp>
      <p:sp>
        <p:nvSpPr>
          <p:cNvPr id="9" name="Text 6"/>
          <p:cNvSpPr txBox="1"/>
          <p:nvPr/>
        </p:nvSpPr>
        <p:spPr>
          <a:xfrm>
            <a:off x="5715000" y="1645920"/>
            <a:ext cx="2834640" cy="2852928"/>
          </a:xfrm>
          <a:prstGeom prst="rect">
            <a:avLst/>
          </a:prstGeom>
          <a:noFill/>
          <a:ln/>
        </p:spPr>
        <p:txBody>
          <a:bodyPr wrap="square" lIns="0" tIns="0" rIns="0" bIns="0" rtlCol="0" anchor="t"/>
          <a:lstStyle/>
          <a:p>
            <a:pPr indent="0" marL="0">
              <a:spcAft>
                <a:spcPts val="300"/>
              </a:spcAft>
              <a:buNone/>
            </a:pPr>
            <a:r>
              <a:rPr lang="en-US" sz="2000" dirty="0">
                <a:solidFill>
                  <a:schemeClr val="tx1"/>
                </a:solidFill>
              </a:rPr>
              <a:t>Semiconductor diode, diode equivalent circuits, half-wave rectifier, full-wave bridge rectifier. Zener diode and its use in voltage regulation.</a:t>
            </a:r>
            <a:endParaRPr lang="en-US" sz="2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Semiconductors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U3</a:t>
            </a:r>
            <a:endParaRPr lang="en-US" sz="1600" dirty="0"/>
          </a:p>
        </p:txBody>
      </p:sp>
      <p:sp>
        <p:nvSpPr>
          <p:cNvPr id="6" name="Card"/>
          <p:cNvSpPr/>
          <p:nvPr/>
        </p:nvSpPr>
        <p:spPr>
          <a:xfrm>
            <a:off x="457200" y="1188720"/>
            <a:ext cx="2621280" cy="2697480"/>
          </a:xfrm>
          <a:prstGeom prst="roundRect">
            <a:avLst>
              <a:gd name="adj" fmla="val 2791"/>
            </a:avLst>
          </a:prstGeom>
          <a:solidFill>
            <a:schemeClr val="bg2"/>
          </a:solidFill>
          <a:ln/>
        </p:spPr>
      </p:sp>
      <p:sp>
        <p:nvSpPr>
          <p:cNvPr id="7" name="Text 4"/>
          <p:cNvSpPr txBox="1"/>
          <p:nvPr/>
        </p:nvSpPr>
        <p:spPr>
          <a:xfrm>
            <a:off x="594360" y="1261872"/>
            <a:ext cx="2346960" cy="365760"/>
          </a:xfrm>
          <a:prstGeom prst="rect">
            <a:avLst/>
          </a:prstGeom>
          <a:noFill/>
          <a:ln/>
        </p:spPr>
        <p:txBody>
          <a:bodyPr wrap="square" lIns="0" tIns="0" rIns="0" bIns="0" rtlCol="0" anchor="ctr"/>
          <a:lstStyle/>
          <a:p>
            <a:pPr indent="0" marL="0">
              <a:buNone/>
            </a:pPr>
            <a:r>
              <a:rPr lang="en-US" sz="1600" b="1" dirty="0">
                <a:solidFill>
                  <a:schemeClr val="tx2"/>
                </a:solidFill>
              </a:rPr>
              <a:t>Intrinsic</a:t>
            </a:r>
            <a:endParaRPr lang="en-US" sz="1600" dirty="0"/>
          </a:p>
        </p:txBody>
      </p:sp>
      <p:sp>
        <p:nvSpPr>
          <p:cNvPr id="8" name="Text 5"/>
          <p:cNvSpPr txBox="1"/>
          <p:nvPr/>
        </p:nvSpPr>
        <p:spPr>
          <a:xfrm>
            <a:off x="594360" y="1645920"/>
            <a:ext cx="2346960" cy="2167128"/>
          </a:xfrm>
          <a:prstGeom prst="rect">
            <a:avLst/>
          </a:prstGeom>
          <a:noFill/>
          <a:ln/>
        </p:spPr>
        <p:txBody>
          <a:bodyPr wrap="square" lIns="0" tIns="0" rIns="0" bIns="0" rtlCol="0" anchor="t"/>
          <a:lstStyle/>
          <a:p>
            <a:pPr indent="0" marL="0">
              <a:spcAft>
                <a:spcPts val="300"/>
              </a:spcAft>
              <a:buNone/>
            </a:pPr>
            <a:r>
              <a:rPr lang="en-US" sz="2000" dirty="0">
                <a:solidFill>
                  <a:schemeClr val="tx1"/>
                </a:solidFill>
              </a:rPr>
              <a:t>Pure silicon or germanium. Equal numbers of electrons and holes; low conductivity at room temperature.</a:t>
            </a:r>
            <a:endParaRPr lang="en-US" sz="2000" dirty="0"/>
          </a:p>
        </p:txBody>
      </p:sp>
      <p:sp>
        <p:nvSpPr>
          <p:cNvPr id="9" name="Card"/>
          <p:cNvSpPr/>
          <p:nvPr/>
        </p:nvSpPr>
        <p:spPr>
          <a:xfrm>
            <a:off x="3261360" y="1188720"/>
            <a:ext cx="2621280" cy="2697480"/>
          </a:xfrm>
          <a:prstGeom prst="roundRect">
            <a:avLst>
              <a:gd name="adj" fmla="val 2791"/>
            </a:avLst>
          </a:prstGeom>
          <a:solidFill>
            <a:schemeClr val="bg2"/>
          </a:solidFill>
          <a:ln/>
        </p:spPr>
      </p:sp>
      <p:sp>
        <p:nvSpPr>
          <p:cNvPr id="10" name="Text 7"/>
          <p:cNvSpPr txBox="1"/>
          <p:nvPr/>
        </p:nvSpPr>
        <p:spPr>
          <a:xfrm>
            <a:off x="3398520" y="1261872"/>
            <a:ext cx="2346960" cy="365760"/>
          </a:xfrm>
          <a:prstGeom prst="rect">
            <a:avLst/>
          </a:prstGeom>
          <a:noFill/>
          <a:ln/>
        </p:spPr>
        <p:txBody>
          <a:bodyPr wrap="square" lIns="0" tIns="0" rIns="0" bIns="0" rtlCol="0" anchor="ctr"/>
          <a:lstStyle/>
          <a:p>
            <a:pPr indent="0" marL="0">
              <a:buNone/>
            </a:pPr>
            <a:r>
              <a:rPr lang="en-US" sz="1600" b="1" dirty="0">
                <a:solidFill>
                  <a:schemeClr val="tx2"/>
                </a:solidFill>
              </a:rPr>
              <a:t>N-type</a:t>
            </a:r>
            <a:endParaRPr lang="en-US" sz="1600" dirty="0"/>
          </a:p>
        </p:txBody>
      </p:sp>
      <p:sp>
        <p:nvSpPr>
          <p:cNvPr id="11" name="Text 8"/>
          <p:cNvSpPr txBox="1"/>
          <p:nvPr/>
        </p:nvSpPr>
        <p:spPr>
          <a:xfrm>
            <a:off x="3398520" y="1645920"/>
            <a:ext cx="2346960" cy="2167128"/>
          </a:xfrm>
          <a:prstGeom prst="rect">
            <a:avLst/>
          </a:prstGeom>
          <a:noFill/>
          <a:ln/>
        </p:spPr>
        <p:txBody>
          <a:bodyPr wrap="square" lIns="0" tIns="0" rIns="0" bIns="0" rtlCol="0" anchor="t"/>
          <a:lstStyle/>
          <a:p>
            <a:pPr indent="0" marL="0">
              <a:spcAft>
                <a:spcPts val="300"/>
              </a:spcAft>
              <a:buNone/>
            </a:pPr>
            <a:r>
              <a:rPr lang="en-US" sz="2000" dirty="0">
                <a:solidFill>
                  <a:schemeClr val="tx1"/>
                </a:solidFill>
              </a:rPr>
              <a:t>Doped with pentavalent atoms (P, As). Electrons are majority carriers.</a:t>
            </a:r>
            <a:endParaRPr lang="en-US" sz="2000" dirty="0"/>
          </a:p>
        </p:txBody>
      </p:sp>
      <p:sp>
        <p:nvSpPr>
          <p:cNvPr id="12" name="Card"/>
          <p:cNvSpPr/>
          <p:nvPr/>
        </p:nvSpPr>
        <p:spPr>
          <a:xfrm>
            <a:off x="6065520" y="1188720"/>
            <a:ext cx="2621280" cy="2697480"/>
          </a:xfrm>
          <a:prstGeom prst="roundRect">
            <a:avLst>
              <a:gd name="adj" fmla="val 2791"/>
            </a:avLst>
          </a:prstGeom>
          <a:solidFill>
            <a:schemeClr val="bg2"/>
          </a:solidFill>
          <a:ln/>
        </p:spPr>
      </p:sp>
      <p:sp>
        <p:nvSpPr>
          <p:cNvPr id="13" name="Text 10"/>
          <p:cNvSpPr txBox="1"/>
          <p:nvPr/>
        </p:nvSpPr>
        <p:spPr>
          <a:xfrm>
            <a:off x="6202680" y="1261872"/>
            <a:ext cx="2346960" cy="365760"/>
          </a:xfrm>
          <a:prstGeom prst="rect">
            <a:avLst/>
          </a:prstGeom>
          <a:noFill/>
          <a:ln/>
        </p:spPr>
        <p:txBody>
          <a:bodyPr wrap="square" lIns="0" tIns="0" rIns="0" bIns="0" rtlCol="0" anchor="ctr"/>
          <a:lstStyle/>
          <a:p>
            <a:pPr indent="0" marL="0">
              <a:buNone/>
            </a:pPr>
            <a:r>
              <a:rPr lang="en-US" sz="1600" b="1" dirty="0">
                <a:solidFill>
                  <a:schemeClr val="tx2"/>
                </a:solidFill>
              </a:rPr>
              <a:t>P-type</a:t>
            </a:r>
            <a:endParaRPr lang="en-US" sz="1600" dirty="0"/>
          </a:p>
        </p:txBody>
      </p:sp>
      <p:sp>
        <p:nvSpPr>
          <p:cNvPr id="14" name="Text 11"/>
          <p:cNvSpPr txBox="1"/>
          <p:nvPr/>
        </p:nvSpPr>
        <p:spPr>
          <a:xfrm>
            <a:off x="6202680" y="1645920"/>
            <a:ext cx="2346960" cy="2167128"/>
          </a:xfrm>
          <a:prstGeom prst="rect">
            <a:avLst/>
          </a:prstGeom>
          <a:noFill/>
          <a:ln/>
        </p:spPr>
        <p:txBody>
          <a:bodyPr wrap="square" lIns="0" tIns="0" rIns="0" bIns="0" rtlCol="0" anchor="t"/>
          <a:lstStyle/>
          <a:p>
            <a:pPr indent="0" marL="0">
              <a:spcAft>
                <a:spcPts val="300"/>
              </a:spcAft>
              <a:buNone/>
            </a:pPr>
            <a:r>
              <a:rPr lang="en-US" sz="2000" dirty="0">
                <a:solidFill>
                  <a:schemeClr val="tx1"/>
                </a:solidFill>
              </a:rPr>
              <a:t>Doped with trivalent atoms (B, Ga). Holes are majority carriers.</a:t>
            </a:r>
            <a:endParaRPr lang="en-US" sz="2000" dirty="0"/>
          </a:p>
        </p:txBody>
      </p:sp>
      <p:sp>
        <p:nvSpPr>
          <p:cNvPr id="15" name="Highlight strip"/>
          <p:cNvSpPr/>
          <p:nvPr/>
        </p:nvSpPr>
        <p:spPr>
          <a:xfrm>
            <a:off x="457200" y="4023360"/>
            <a:ext cx="8229600" cy="594360"/>
          </a:xfrm>
          <a:prstGeom prst="roundRect">
            <a:avLst>
              <a:gd name="adj" fmla="val 12308"/>
            </a:avLst>
          </a:prstGeom>
          <a:solidFill>
            <a:schemeClr val="tx2"/>
          </a:solidFill>
          <a:ln/>
        </p:spPr>
      </p:sp>
      <p:sp>
        <p:nvSpPr>
          <p:cNvPr id="16" name="Text 13"/>
          <p:cNvSpPr txBox="1"/>
          <p:nvPr/>
        </p:nvSpPr>
        <p:spPr>
          <a:xfrm>
            <a:off x="640080" y="4023360"/>
            <a:ext cx="7863840" cy="594360"/>
          </a:xfrm>
          <a:prstGeom prst="rect">
            <a:avLst/>
          </a:prstGeom>
          <a:noFill/>
          <a:ln/>
        </p:spPr>
        <p:txBody>
          <a:bodyPr wrap="square" lIns="0" tIns="0" rIns="0" bIns="0" rtlCol="0" anchor="ctr"/>
          <a:lstStyle/>
          <a:p>
            <a:pPr indent="0" marL="0">
              <a:buNone/>
            </a:pPr>
            <a:r>
              <a:rPr lang="en-US" sz="1500" b="1" dirty="0">
                <a:solidFill>
                  <a:schemeClr val="bg1"/>
                </a:solidFill>
              </a:rPr>
              <a:t>Conductivity lies between conductors and insulators and rises with temperature and doping.</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Formation of the PN junction</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U3</a:t>
            </a:r>
            <a:endParaRPr lang="en-US" sz="1600" dirty="0"/>
          </a:p>
        </p:txBody>
      </p:sp>
      <p:sp>
        <p:nvSpPr>
          <p:cNvPr id="6" name="Flow step"/>
          <p:cNvSpPr/>
          <p:nvPr/>
        </p:nvSpPr>
        <p:spPr>
          <a:xfrm>
            <a:off x="457200" y="1234440"/>
            <a:ext cx="1954530" cy="2286000"/>
          </a:xfrm>
          <a:prstGeom prst="roundRect">
            <a:avLst>
              <a:gd name="adj" fmla="val 3743"/>
            </a:avLst>
          </a:prstGeom>
          <a:solidFill>
            <a:schemeClr val="bg2"/>
          </a:solidFill>
          <a:ln/>
        </p:spPr>
      </p:sp>
      <p:sp>
        <p:nvSpPr>
          <p:cNvPr id="7" name="Step number"/>
          <p:cNvSpPr/>
          <p:nvPr/>
        </p:nvSpPr>
        <p:spPr>
          <a:xfrm>
            <a:off x="566928" y="1344168"/>
            <a:ext cx="365760" cy="365760"/>
          </a:xfrm>
          <a:prstGeom prst="ellipse">
            <a:avLst/>
          </a:prstGeom>
          <a:solidFill>
            <a:schemeClr val="tx2"/>
          </a:solidFill>
          <a:ln/>
        </p:spPr>
      </p:sp>
      <p:sp>
        <p:nvSpPr>
          <p:cNvPr id="8" name="Text 5"/>
          <p:cNvSpPr txBox="1"/>
          <p:nvPr/>
        </p:nvSpPr>
        <p:spPr>
          <a:xfrm>
            <a:off x="566928" y="134416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9" name="Text 6"/>
          <p:cNvSpPr txBox="1"/>
          <p:nvPr/>
        </p:nvSpPr>
        <p:spPr>
          <a:xfrm>
            <a:off x="566928" y="1783080"/>
            <a:ext cx="1735074" cy="256032"/>
          </a:xfrm>
          <a:prstGeom prst="rect">
            <a:avLst/>
          </a:prstGeom>
          <a:noFill/>
          <a:ln/>
        </p:spPr>
        <p:txBody>
          <a:bodyPr wrap="square" lIns="0" tIns="0" rIns="0" bIns="0" rtlCol="0" anchor="t"/>
          <a:lstStyle/>
          <a:p>
            <a:pPr indent="0" marL="0">
              <a:buNone/>
            </a:pPr>
            <a:r>
              <a:rPr lang="en-US" sz="1500" b="1" dirty="0">
                <a:solidFill>
                  <a:schemeClr val="tx1"/>
                </a:solidFill>
              </a:rPr>
              <a:t>Join P and N</a:t>
            </a:r>
            <a:endParaRPr lang="en-US" sz="1500" dirty="0"/>
          </a:p>
        </p:txBody>
      </p:sp>
      <p:sp>
        <p:nvSpPr>
          <p:cNvPr id="10" name="Text 7"/>
          <p:cNvSpPr txBox="1"/>
          <p:nvPr/>
        </p:nvSpPr>
        <p:spPr>
          <a:xfrm>
            <a:off x="566928" y="2084832"/>
            <a:ext cx="1735074" cy="1389888"/>
          </a:xfrm>
          <a:prstGeom prst="rect">
            <a:avLst/>
          </a:prstGeom>
          <a:noFill/>
          <a:ln/>
        </p:spPr>
        <p:txBody>
          <a:bodyPr wrap="square" lIns="0" tIns="0" rIns="0" bIns="0" rtlCol="0" anchor="t"/>
          <a:lstStyle/>
          <a:p>
            <a:pPr indent="0" marL="0">
              <a:buNone/>
            </a:pPr>
            <a:r>
              <a:rPr lang="en-US" sz="1500" dirty="0">
                <a:solidFill>
                  <a:schemeClr val="tx1"/>
                </a:solidFill>
              </a:rPr>
              <a:t>Majority carriers diffuse across the junction.</a:t>
            </a:r>
            <a:endParaRPr lang="en-US" sz="1500" dirty="0"/>
          </a:p>
        </p:txBody>
      </p:sp>
      <p:sp>
        <p:nvSpPr>
          <p:cNvPr id="11" name="Flow step"/>
          <p:cNvSpPr/>
          <p:nvPr/>
        </p:nvSpPr>
        <p:spPr>
          <a:xfrm>
            <a:off x="2548890" y="1234440"/>
            <a:ext cx="1954530" cy="2286000"/>
          </a:xfrm>
          <a:prstGeom prst="roundRect">
            <a:avLst>
              <a:gd name="adj" fmla="val 3743"/>
            </a:avLst>
          </a:prstGeom>
          <a:solidFill>
            <a:schemeClr val="bg2"/>
          </a:solidFill>
          <a:ln/>
        </p:spPr>
      </p:sp>
      <p:sp>
        <p:nvSpPr>
          <p:cNvPr id="12" name="Step number"/>
          <p:cNvSpPr/>
          <p:nvPr/>
        </p:nvSpPr>
        <p:spPr>
          <a:xfrm>
            <a:off x="2658618" y="1344168"/>
            <a:ext cx="365760" cy="365760"/>
          </a:xfrm>
          <a:prstGeom prst="ellipse">
            <a:avLst/>
          </a:prstGeom>
          <a:solidFill>
            <a:schemeClr val="tx2"/>
          </a:solidFill>
          <a:ln/>
        </p:spPr>
      </p:sp>
      <p:sp>
        <p:nvSpPr>
          <p:cNvPr id="13" name="Text 10"/>
          <p:cNvSpPr txBox="1"/>
          <p:nvPr/>
        </p:nvSpPr>
        <p:spPr>
          <a:xfrm>
            <a:off x="2658618" y="134416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4" name="Text 11"/>
          <p:cNvSpPr txBox="1"/>
          <p:nvPr/>
        </p:nvSpPr>
        <p:spPr>
          <a:xfrm>
            <a:off x="2658618" y="1783080"/>
            <a:ext cx="1735074" cy="256032"/>
          </a:xfrm>
          <a:prstGeom prst="rect">
            <a:avLst/>
          </a:prstGeom>
          <a:noFill/>
          <a:ln/>
        </p:spPr>
        <p:txBody>
          <a:bodyPr wrap="square" lIns="0" tIns="0" rIns="0" bIns="0" rtlCol="0" anchor="t"/>
          <a:lstStyle/>
          <a:p>
            <a:pPr indent="0" marL="0">
              <a:buNone/>
            </a:pPr>
            <a:r>
              <a:rPr lang="en-US" sz="1500" b="1" dirty="0">
                <a:solidFill>
                  <a:schemeClr val="tx1"/>
                </a:solidFill>
              </a:rPr>
              <a:t>Recombination</a:t>
            </a:r>
            <a:endParaRPr lang="en-US" sz="1500" dirty="0"/>
          </a:p>
        </p:txBody>
      </p:sp>
      <p:sp>
        <p:nvSpPr>
          <p:cNvPr id="15" name="Text 12"/>
          <p:cNvSpPr txBox="1"/>
          <p:nvPr/>
        </p:nvSpPr>
        <p:spPr>
          <a:xfrm>
            <a:off x="2658618" y="2084832"/>
            <a:ext cx="1735074" cy="1389888"/>
          </a:xfrm>
          <a:prstGeom prst="rect">
            <a:avLst/>
          </a:prstGeom>
          <a:noFill/>
          <a:ln/>
        </p:spPr>
        <p:txBody>
          <a:bodyPr wrap="square" lIns="0" tIns="0" rIns="0" bIns="0" rtlCol="0" anchor="t"/>
          <a:lstStyle/>
          <a:p>
            <a:pPr indent="0" marL="0">
              <a:buNone/>
            </a:pPr>
            <a:r>
              <a:rPr lang="en-US" sz="1500" dirty="0">
                <a:solidFill>
                  <a:schemeClr val="tx1"/>
                </a:solidFill>
              </a:rPr>
              <a:t>Electrons and holes recombine near the junction.</a:t>
            </a:r>
            <a:endParaRPr lang="en-US" sz="1500" dirty="0"/>
          </a:p>
        </p:txBody>
      </p:sp>
      <p:sp>
        <p:nvSpPr>
          <p:cNvPr id="16" name="Flow step"/>
          <p:cNvSpPr/>
          <p:nvPr/>
        </p:nvSpPr>
        <p:spPr>
          <a:xfrm>
            <a:off x="4640580" y="1234440"/>
            <a:ext cx="1954530" cy="2286000"/>
          </a:xfrm>
          <a:prstGeom prst="roundRect">
            <a:avLst>
              <a:gd name="adj" fmla="val 3743"/>
            </a:avLst>
          </a:prstGeom>
          <a:solidFill>
            <a:schemeClr val="bg2"/>
          </a:solidFill>
          <a:ln/>
        </p:spPr>
      </p:sp>
      <p:sp>
        <p:nvSpPr>
          <p:cNvPr id="17" name="Step number"/>
          <p:cNvSpPr/>
          <p:nvPr/>
        </p:nvSpPr>
        <p:spPr>
          <a:xfrm>
            <a:off x="4750308" y="1344168"/>
            <a:ext cx="365760" cy="365760"/>
          </a:xfrm>
          <a:prstGeom prst="ellipse">
            <a:avLst/>
          </a:prstGeom>
          <a:solidFill>
            <a:schemeClr val="tx2"/>
          </a:solidFill>
          <a:ln/>
        </p:spPr>
      </p:sp>
      <p:sp>
        <p:nvSpPr>
          <p:cNvPr id="18" name="Text 15"/>
          <p:cNvSpPr txBox="1"/>
          <p:nvPr/>
        </p:nvSpPr>
        <p:spPr>
          <a:xfrm>
            <a:off x="4750308" y="134416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9" name="Text 16"/>
          <p:cNvSpPr txBox="1"/>
          <p:nvPr/>
        </p:nvSpPr>
        <p:spPr>
          <a:xfrm>
            <a:off x="4750308" y="1783080"/>
            <a:ext cx="1735074" cy="256032"/>
          </a:xfrm>
          <a:prstGeom prst="rect">
            <a:avLst/>
          </a:prstGeom>
          <a:noFill/>
          <a:ln/>
        </p:spPr>
        <p:txBody>
          <a:bodyPr wrap="square" lIns="0" tIns="0" rIns="0" bIns="0" rtlCol="0" anchor="t"/>
          <a:lstStyle/>
          <a:p>
            <a:pPr indent="0" marL="0">
              <a:buNone/>
            </a:pPr>
            <a:r>
              <a:rPr lang="en-US" sz="1500" b="1" dirty="0">
                <a:solidFill>
                  <a:schemeClr val="tx1"/>
                </a:solidFill>
              </a:rPr>
              <a:t>Depletion region</a:t>
            </a:r>
            <a:endParaRPr lang="en-US" sz="1500" dirty="0"/>
          </a:p>
        </p:txBody>
      </p:sp>
      <p:sp>
        <p:nvSpPr>
          <p:cNvPr id="20" name="Text 17"/>
          <p:cNvSpPr txBox="1"/>
          <p:nvPr/>
        </p:nvSpPr>
        <p:spPr>
          <a:xfrm>
            <a:off x="4750308" y="2084832"/>
            <a:ext cx="1735074" cy="1389888"/>
          </a:xfrm>
          <a:prstGeom prst="rect">
            <a:avLst/>
          </a:prstGeom>
          <a:noFill/>
          <a:ln/>
        </p:spPr>
        <p:txBody>
          <a:bodyPr wrap="square" lIns="0" tIns="0" rIns="0" bIns="0" rtlCol="0" anchor="t"/>
          <a:lstStyle/>
          <a:p>
            <a:pPr indent="0" marL="0">
              <a:buNone/>
            </a:pPr>
            <a:r>
              <a:rPr lang="en-US" sz="1500" dirty="0">
                <a:solidFill>
                  <a:schemeClr val="tx1"/>
                </a:solidFill>
              </a:rPr>
              <a:t>Fixed ions left behind: a region with no free carriers.</a:t>
            </a:r>
            <a:endParaRPr lang="en-US" sz="1500" dirty="0"/>
          </a:p>
        </p:txBody>
      </p:sp>
      <p:sp>
        <p:nvSpPr>
          <p:cNvPr id="21" name="Flow step"/>
          <p:cNvSpPr/>
          <p:nvPr/>
        </p:nvSpPr>
        <p:spPr>
          <a:xfrm>
            <a:off x="6732270" y="1234440"/>
            <a:ext cx="1954530" cy="2286000"/>
          </a:xfrm>
          <a:prstGeom prst="roundRect">
            <a:avLst>
              <a:gd name="adj" fmla="val 3743"/>
            </a:avLst>
          </a:prstGeom>
          <a:solidFill>
            <a:schemeClr val="bg2"/>
          </a:solidFill>
          <a:ln/>
        </p:spPr>
      </p:sp>
      <p:sp>
        <p:nvSpPr>
          <p:cNvPr id="22" name="Step number"/>
          <p:cNvSpPr/>
          <p:nvPr/>
        </p:nvSpPr>
        <p:spPr>
          <a:xfrm>
            <a:off x="6841998" y="1344168"/>
            <a:ext cx="365760" cy="365760"/>
          </a:xfrm>
          <a:prstGeom prst="ellipse">
            <a:avLst/>
          </a:prstGeom>
          <a:solidFill>
            <a:schemeClr val="tx2"/>
          </a:solidFill>
          <a:ln/>
        </p:spPr>
      </p:sp>
      <p:sp>
        <p:nvSpPr>
          <p:cNvPr id="23" name="Text 20"/>
          <p:cNvSpPr txBox="1"/>
          <p:nvPr/>
        </p:nvSpPr>
        <p:spPr>
          <a:xfrm>
            <a:off x="6841998" y="134416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4" name="Text 21"/>
          <p:cNvSpPr txBox="1"/>
          <p:nvPr/>
        </p:nvSpPr>
        <p:spPr>
          <a:xfrm>
            <a:off x="6841998" y="1783080"/>
            <a:ext cx="1735074" cy="256032"/>
          </a:xfrm>
          <a:prstGeom prst="rect">
            <a:avLst/>
          </a:prstGeom>
          <a:noFill/>
          <a:ln/>
        </p:spPr>
        <p:txBody>
          <a:bodyPr wrap="square" lIns="0" tIns="0" rIns="0" bIns="0" rtlCol="0" anchor="t"/>
          <a:lstStyle/>
          <a:p>
            <a:pPr indent="0" marL="0">
              <a:buNone/>
            </a:pPr>
            <a:r>
              <a:rPr lang="en-US" sz="1500" b="1" dirty="0">
                <a:solidFill>
                  <a:schemeClr val="tx1"/>
                </a:solidFill>
              </a:rPr>
              <a:t>Barrier potential</a:t>
            </a:r>
            <a:endParaRPr lang="en-US" sz="1500" dirty="0"/>
          </a:p>
        </p:txBody>
      </p:sp>
      <p:sp>
        <p:nvSpPr>
          <p:cNvPr id="25" name="Text 22"/>
          <p:cNvSpPr txBox="1"/>
          <p:nvPr/>
        </p:nvSpPr>
        <p:spPr>
          <a:xfrm>
            <a:off x="6841998" y="2084832"/>
            <a:ext cx="1735074" cy="1389888"/>
          </a:xfrm>
          <a:prstGeom prst="rect">
            <a:avLst/>
          </a:prstGeom>
          <a:noFill/>
          <a:ln/>
        </p:spPr>
        <p:txBody>
          <a:bodyPr wrap="square" lIns="0" tIns="0" rIns="0" bIns="0" rtlCol="0" anchor="t"/>
          <a:lstStyle/>
          <a:p>
            <a:pPr indent="0" marL="0">
              <a:buNone/>
            </a:pPr>
            <a:r>
              <a:rPr lang="en-US" sz="1500" dirty="0">
                <a:solidFill>
                  <a:schemeClr val="tx1"/>
                </a:solidFill>
              </a:rPr>
              <a:t>Electric field of the ions stops further diffusion: 0.7 V (Si), 0.3 V (Ge).</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Forward and reverse bias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U3</a:t>
            </a:r>
            <a:endParaRPr lang="en-US" sz="1600" dirty="0"/>
          </a:p>
        </p:txBody>
      </p:sp>
      <p:pic>
        <p:nvPicPr>
          <p:cNvPr id="6" name="Image 0" descr="pn_bias figure">    </p:cNvPr>
          <p:cNvPicPr>
            <a:picLocks noChangeAspect="1"/>
          </p:cNvPicPr>
          <p:nvPr/>
        </p:nvPicPr>
        <p:blipFill>
          <a:blip r:embed="rId1"/>
          <a:stretch>
            <a:fillRect/>
          </a:stretch>
        </p:blipFill>
        <p:spPr>
          <a:xfrm>
            <a:off x="468414" y="1188720"/>
            <a:ext cx="5098211" cy="3200400"/>
          </a:xfrm>
          <a:prstGeom prst="rect">
            <a:avLst/>
          </a:prstGeom>
        </p:spPr>
      </p:pic>
      <p:sp>
        <p:nvSpPr>
          <p:cNvPr id="7" name="Text 3"/>
          <p:cNvSpPr txBox="1"/>
          <p:nvPr/>
        </p:nvSpPr>
        <p:spPr>
          <a:xfrm>
            <a:off x="5760720" y="1188720"/>
            <a:ext cx="2926080" cy="342900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chemeClr val="tx1"/>
                </a:solidFill>
              </a:rPr>
              <a:t>Forward: P to +, N to −. Applied voltage opposes the barrier; depletion region narrows; current flows when V &gt; 0.7 V.</a:t>
            </a:r>
            <a:endParaRPr lang="en-US" sz="1800" dirty="0"/>
          </a:p>
          <a:p>
            <a:pPr marL="342900" indent="-342900">
              <a:spcAft>
                <a:spcPts val="600"/>
              </a:spcAft>
              <a:buSzPct val="100000"/>
              <a:buChar char="•"/>
            </a:pPr>
            <a:r>
              <a:rPr lang="en-US" sz="1800" dirty="0">
                <a:solidFill>
                  <a:schemeClr val="tx1"/>
                </a:solidFill>
              </a:rPr>
              <a:t>Reverse: P to −, N to +. Barrier increases; depletion widens; only tiny leakage (minority carriers).</a:t>
            </a:r>
            <a:endParaRPr lang="en-US" sz="18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Forward bias versus reverse bias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U3</a:t>
            </a:r>
            <a:endParaRPr lang="en-US" sz="1600" dirty="0"/>
          </a:p>
        </p:txBody>
      </p:sp>
      <p:sp>
        <p:nvSpPr>
          <p:cNvPr id="6" name="Compare card"/>
          <p:cNvSpPr/>
          <p:nvPr/>
        </p:nvSpPr>
        <p:spPr>
          <a:xfrm>
            <a:off x="457200" y="1188720"/>
            <a:ext cx="4023360" cy="3429000"/>
          </a:xfrm>
          <a:prstGeom prst="roundRect">
            <a:avLst>
              <a:gd name="adj" fmla="val 2133"/>
            </a:avLst>
          </a:prstGeom>
          <a:solidFill>
            <a:schemeClr val="bg2"/>
          </a:solidFill>
          <a:ln/>
        </p:spPr>
      </p:sp>
      <p:sp>
        <p:nvSpPr>
          <p:cNvPr id="7" name="Compare header"/>
          <p:cNvSpPr/>
          <p:nvPr/>
        </p:nvSpPr>
        <p:spPr>
          <a:xfrm>
            <a:off x="457200" y="1188720"/>
            <a:ext cx="4023360" cy="502920"/>
          </a:xfrm>
          <a:prstGeom prst="roundRect">
            <a:avLst>
              <a:gd name="adj" fmla="val 14545"/>
            </a:avLst>
          </a:prstGeom>
          <a:solidFill>
            <a:schemeClr val="tx2"/>
          </a:solidFill>
          <a:ln/>
        </p:spPr>
      </p:sp>
      <p:sp>
        <p:nvSpPr>
          <p:cNvPr id="8" name="Text 5"/>
          <p:cNvSpPr txBox="1"/>
          <p:nvPr/>
        </p:nvSpPr>
        <p:spPr>
          <a:xfrm>
            <a:off x="594360" y="1188720"/>
            <a:ext cx="3749040" cy="502920"/>
          </a:xfrm>
          <a:prstGeom prst="rect">
            <a:avLst/>
          </a:prstGeom>
          <a:noFill/>
          <a:ln/>
        </p:spPr>
        <p:txBody>
          <a:bodyPr wrap="square" lIns="0" tIns="0" rIns="0" bIns="0" rtlCol="0" anchor="ctr"/>
          <a:lstStyle/>
          <a:p>
            <a:pPr indent="0" marL="0">
              <a:buNone/>
            </a:pPr>
            <a:r>
              <a:rPr lang="en-US" sz="1700" b="1" dirty="0">
                <a:solidFill>
                  <a:schemeClr val="bg1"/>
                </a:solidFill>
              </a:rPr>
              <a:t>Forward bias</a:t>
            </a:r>
            <a:endParaRPr lang="en-US" sz="1700" dirty="0"/>
          </a:p>
        </p:txBody>
      </p:sp>
      <p:sp>
        <p:nvSpPr>
          <p:cNvPr id="9" name="Text 6"/>
          <p:cNvSpPr txBox="1"/>
          <p:nvPr/>
        </p:nvSpPr>
        <p:spPr>
          <a:xfrm>
            <a:off x="594360" y="1828800"/>
            <a:ext cx="3749040" cy="2743200"/>
          </a:xfrm>
          <a:prstGeom prst="rect">
            <a:avLst/>
          </a:prstGeom>
          <a:noFill/>
          <a:ln/>
        </p:spPr>
        <p:txBody>
          <a:bodyPr wrap="square" lIns="0" tIns="0" rIns="0" bIns="0" rtlCol="0" anchor="t"/>
          <a:lstStyle/>
          <a:p>
            <a:pPr marL="342900" indent="-342900">
              <a:spcAft>
                <a:spcPts val="600"/>
              </a:spcAft>
              <a:buSzPct val="100000"/>
              <a:buChar char="•"/>
            </a:pPr>
            <a:r>
              <a:rPr lang="en-US" sz="2000" dirty="0">
                <a:solidFill>
                  <a:schemeClr val="tx1"/>
                </a:solidFill>
              </a:rPr>
              <a:t>Anode (P) positive</a:t>
            </a:r>
            <a:endParaRPr lang="en-US" sz="2000" dirty="0"/>
          </a:p>
          <a:p>
            <a:pPr marL="342900" indent="-342900">
              <a:spcAft>
                <a:spcPts val="600"/>
              </a:spcAft>
              <a:buSzPct val="100000"/>
              <a:buChar char="•"/>
            </a:pPr>
            <a:r>
              <a:rPr lang="en-US" sz="2000" dirty="0">
                <a:solidFill>
                  <a:schemeClr val="tx1"/>
                </a:solidFill>
              </a:rPr>
              <a:t>Depletion region narrow</a:t>
            </a:r>
            <a:endParaRPr lang="en-US" sz="2000" dirty="0"/>
          </a:p>
          <a:p>
            <a:pPr marL="342900" indent="-342900">
              <a:spcAft>
                <a:spcPts val="600"/>
              </a:spcAft>
              <a:buSzPct val="100000"/>
              <a:buChar char="•"/>
            </a:pPr>
            <a:r>
              <a:rPr lang="en-US" sz="2000" dirty="0">
                <a:solidFill>
                  <a:schemeClr val="tx1"/>
                </a:solidFill>
              </a:rPr>
              <a:t>Low resistance, large current</a:t>
            </a:r>
            <a:endParaRPr lang="en-US" sz="2000" dirty="0"/>
          </a:p>
          <a:p>
            <a:pPr marL="342900" indent="-342900">
              <a:spcAft>
                <a:spcPts val="600"/>
              </a:spcAft>
              <a:buSzPct val="100000"/>
              <a:buChar char="•"/>
            </a:pPr>
            <a:r>
              <a:rPr lang="en-US" sz="2000" dirty="0">
                <a:solidFill>
                  <a:schemeClr val="tx1"/>
                </a:solidFill>
              </a:rPr>
              <a:t>Diode acts as closed switch</a:t>
            </a:r>
            <a:endParaRPr lang="en-US" sz="2000" dirty="0"/>
          </a:p>
        </p:txBody>
      </p:sp>
      <p:sp>
        <p:nvSpPr>
          <p:cNvPr id="10" name="Compare card"/>
          <p:cNvSpPr/>
          <p:nvPr/>
        </p:nvSpPr>
        <p:spPr>
          <a:xfrm>
            <a:off x="4663440" y="1188720"/>
            <a:ext cx="4023360" cy="3429000"/>
          </a:xfrm>
          <a:prstGeom prst="roundRect">
            <a:avLst>
              <a:gd name="adj" fmla="val 2133"/>
            </a:avLst>
          </a:prstGeom>
          <a:solidFill>
            <a:schemeClr val="bg2"/>
          </a:solidFill>
          <a:ln/>
        </p:spPr>
      </p:sp>
      <p:sp>
        <p:nvSpPr>
          <p:cNvPr id="11" name="Compare header"/>
          <p:cNvSpPr/>
          <p:nvPr/>
        </p:nvSpPr>
        <p:spPr>
          <a:xfrm>
            <a:off x="4663440" y="1188720"/>
            <a:ext cx="4023360" cy="502920"/>
          </a:xfrm>
          <a:prstGeom prst="roundRect">
            <a:avLst>
              <a:gd name="adj" fmla="val 14545"/>
            </a:avLst>
          </a:prstGeom>
          <a:solidFill>
            <a:schemeClr val="accent2"/>
          </a:solidFill>
          <a:ln/>
        </p:spPr>
      </p:sp>
      <p:sp>
        <p:nvSpPr>
          <p:cNvPr id="12" name="Text 9"/>
          <p:cNvSpPr txBox="1"/>
          <p:nvPr/>
        </p:nvSpPr>
        <p:spPr>
          <a:xfrm>
            <a:off x="4800600" y="1188720"/>
            <a:ext cx="3749040" cy="502920"/>
          </a:xfrm>
          <a:prstGeom prst="rect">
            <a:avLst/>
          </a:prstGeom>
          <a:noFill/>
          <a:ln/>
        </p:spPr>
        <p:txBody>
          <a:bodyPr wrap="square" lIns="0" tIns="0" rIns="0" bIns="0" rtlCol="0" anchor="ctr"/>
          <a:lstStyle/>
          <a:p>
            <a:pPr indent="0" marL="0">
              <a:buNone/>
            </a:pPr>
            <a:r>
              <a:rPr lang="en-US" sz="1700" b="1" dirty="0">
                <a:solidFill>
                  <a:schemeClr val="bg1"/>
                </a:solidFill>
              </a:rPr>
              <a:t>Reverse bias</a:t>
            </a:r>
            <a:endParaRPr lang="en-US" sz="1700" dirty="0"/>
          </a:p>
        </p:txBody>
      </p:sp>
      <p:sp>
        <p:nvSpPr>
          <p:cNvPr id="13" name="Text 10"/>
          <p:cNvSpPr txBox="1"/>
          <p:nvPr/>
        </p:nvSpPr>
        <p:spPr>
          <a:xfrm>
            <a:off x="4800600" y="1828800"/>
            <a:ext cx="3749040" cy="2743200"/>
          </a:xfrm>
          <a:prstGeom prst="rect">
            <a:avLst/>
          </a:prstGeom>
          <a:noFill/>
          <a:ln/>
        </p:spPr>
        <p:txBody>
          <a:bodyPr wrap="square" lIns="0" tIns="0" rIns="0" bIns="0" rtlCol="0" anchor="t"/>
          <a:lstStyle/>
          <a:p>
            <a:pPr marL="342900" indent="-342900">
              <a:spcAft>
                <a:spcPts val="600"/>
              </a:spcAft>
              <a:buSzPct val="100000"/>
              <a:buChar char="•"/>
            </a:pPr>
            <a:r>
              <a:rPr lang="en-US" sz="2000" dirty="0">
                <a:solidFill>
                  <a:schemeClr val="tx1"/>
                </a:solidFill>
              </a:rPr>
              <a:t>Anode negative</a:t>
            </a:r>
            <a:endParaRPr lang="en-US" sz="2000" dirty="0"/>
          </a:p>
          <a:p>
            <a:pPr marL="342900" indent="-342900">
              <a:spcAft>
                <a:spcPts val="600"/>
              </a:spcAft>
              <a:buSzPct val="100000"/>
              <a:buChar char="•"/>
            </a:pPr>
            <a:r>
              <a:rPr lang="en-US" sz="2000" dirty="0">
                <a:solidFill>
                  <a:schemeClr val="tx1"/>
                </a:solidFill>
              </a:rPr>
              <a:t>Depletion region wide</a:t>
            </a:r>
            <a:endParaRPr lang="en-US" sz="2000" dirty="0"/>
          </a:p>
          <a:p>
            <a:pPr marL="342900" indent="-342900">
              <a:spcAft>
                <a:spcPts val="600"/>
              </a:spcAft>
              <a:buSzPct val="100000"/>
              <a:buChar char="•"/>
            </a:pPr>
            <a:r>
              <a:rPr lang="en-US" sz="2000" dirty="0">
                <a:solidFill>
                  <a:schemeClr val="tx1"/>
                </a:solidFill>
              </a:rPr>
              <a:t>High resistance, µA leakage</a:t>
            </a:r>
            <a:endParaRPr lang="en-US" sz="2000" dirty="0"/>
          </a:p>
          <a:p>
            <a:pPr marL="342900" indent="-342900">
              <a:spcAft>
                <a:spcPts val="600"/>
              </a:spcAft>
              <a:buSzPct val="100000"/>
              <a:buChar char="•"/>
            </a:pPr>
            <a:r>
              <a:rPr lang="en-US" sz="2000" dirty="0">
                <a:solidFill>
                  <a:schemeClr val="tx1"/>
                </a:solidFill>
              </a:rPr>
              <a:t>Diode acts as open switch</a:t>
            </a:r>
            <a:endParaRPr lang="en-US" sz="2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The diode</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U3</a:t>
            </a:r>
            <a:endParaRPr lang="en-US" sz="1600" dirty="0"/>
          </a:p>
        </p:txBody>
      </p:sp>
      <p:sp>
        <p:nvSpPr>
          <p:cNvPr id="6" name="Text 3"/>
          <p:cNvSpPr txBox="1"/>
          <p:nvPr/>
        </p:nvSpPr>
        <p:spPr>
          <a:xfrm>
            <a:off x="457200" y="1188720"/>
            <a:ext cx="8229600" cy="3429000"/>
          </a:xfrm>
          <a:prstGeom prst="rect">
            <a:avLst/>
          </a:prstGeom>
          <a:noFill/>
          <a:ln/>
        </p:spPr>
        <p:txBody>
          <a:bodyPr wrap="square" lIns="0" tIns="0" rIns="0" bIns="0" rtlCol="0" anchor="t"/>
          <a:lstStyle/>
          <a:p>
            <a:pPr marL="342900" indent="-342900">
              <a:spcAft>
                <a:spcPts val="600"/>
              </a:spcAft>
              <a:buSzPct val="100000"/>
              <a:buChar char="•"/>
            </a:pPr>
            <a:r>
              <a:rPr lang="en-US" sz="2200" b="1" dirty="0">
                <a:solidFill>
                  <a:schemeClr val="tx2"/>
                </a:solidFill>
              </a:rPr>
              <a:t>Symbol: </a:t>
            </a:r>
            <a:pPr indent="0" marL="0">
              <a:spcAft>
                <a:spcPts val="600"/>
              </a:spcAft>
              <a:buNone/>
            </a:pPr>
            <a:r>
              <a:rPr lang="en-US" sz="2200" dirty="0">
                <a:solidFill>
                  <a:schemeClr val="tx1"/>
                </a:solidFill>
              </a:rPr>
              <a:t>triangle (anode) with bar (cathode); current flows from anode to cathode.</a:t>
            </a:r>
            <a:endParaRPr lang="en-US" sz="2200" dirty="0"/>
          </a:p>
          <a:p>
            <a:pPr marL="342900" indent="-342900">
              <a:spcAft>
                <a:spcPts val="600"/>
              </a:spcAft>
              <a:buSzPct val="100000"/>
              <a:buChar char="•"/>
            </a:pPr>
            <a:r>
              <a:rPr lang="en-US" sz="2200" b="1" dirty="0">
                <a:solidFill>
                  <a:schemeClr val="tx2"/>
                </a:solidFill>
              </a:rPr>
              <a:t>Function: </a:t>
            </a:r>
            <a:pPr indent="0" marL="0">
              <a:spcAft>
                <a:spcPts val="600"/>
              </a:spcAft>
              <a:buNone/>
            </a:pPr>
            <a:r>
              <a:rPr lang="en-US" sz="2200" dirty="0">
                <a:solidFill>
                  <a:schemeClr val="tx1"/>
                </a:solidFill>
              </a:rPr>
              <a:t>conducts in one direction only; converts AC to DC.</a:t>
            </a:r>
            <a:endParaRPr lang="en-US" sz="2200" dirty="0"/>
          </a:p>
          <a:p>
            <a:pPr marL="342900" indent="-342900">
              <a:spcAft>
                <a:spcPts val="600"/>
              </a:spcAft>
              <a:buSzPct val="100000"/>
              <a:buChar char="•"/>
            </a:pPr>
            <a:r>
              <a:rPr lang="en-US" sz="2200" b="1" dirty="0">
                <a:solidFill>
                  <a:schemeClr val="tx2"/>
                </a:solidFill>
              </a:rPr>
              <a:t>Types: </a:t>
            </a:r>
            <a:pPr indent="0" marL="0">
              <a:spcAft>
                <a:spcPts val="600"/>
              </a:spcAft>
              <a:buNone/>
            </a:pPr>
            <a:r>
              <a:rPr lang="en-US" sz="2200" dirty="0">
                <a:solidFill>
                  <a:schemeClr val="tx1"/>
                </a:solidFill>
              </a:rPr>
              <a:t>rectifier, signal, Zener, LED, Schottky.</a:t>
            </a:r>
            <a:endParaRPr lang="en-US" sz="2200" dirty="0"/>
          </a:p>
          <a:p>
            <a:pPr marL="342900" indent="-342900">
              <a:spcAft>
                <a:spcPts val="600"/>
              </a:spcAft>
              <a:buSzPct val="100000"/>
              <a:buChar char="•"/>
            </a:pPr>
            <a:r>
              <a:rPr lang="en-US" sz="2200" b="1" dirty="0">
                <a:solidFill>
                  <a:schemeClr val="tx2"/>
                </a:solidFill>
              </a:rPr>
              <a:t>Applications: </a:t>
            </a:r>
            <a:pPr indent="0" marL="0">
              <a:spcAft>
                <a:spcPts val="600"/>
              </a:spcAft>
              <a:buNone/>
            </a:pPr>
            <a:r>
              <a:rPr lang="en-US" sz="2200" dirty="0">
                <a:solidFill>
                  <a:schemeClr val="tx1"/>
                </a:solidFill>
              </a:rPr>
              <a:t>rectification, switching, clamping, protection, voltage regulation.</a:t>
            </a:r>
            <a:endParaRPr lang="en-US" sz="2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Key takeaways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U3</a:t>
            </a:r>
            <a:endParaRPr lang="en-US" sz="1600" dirty="0"/>
          </a:p>
        </p:txBody>
      </p:sp>
      <p:sp>
        <p:nvSpPr>
          <p:cNvPr id="6" name="Text 3"/>
          <p:cNvSpPr txBox="1"/>
          <p:nvPr/>
        </p:nvSpPr>
        <p:spPr>
          <a:xfrm>
            <a:off x="457200" y="1188720"/>
            <a:ext cx="8229600" cy="342900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N-type: electrons majority; P-type: holes majority</a:t>
            </a:r>
            <a:endParaRPr lang="en-US" sz="2200" dirty="0"/>
          </a:p>
          <a:p>
            <a:pPr marL="342900" indent="-342900">
              <a:spcAft>
                <a:spcPts val="600"/>
              </a:spcAft>
              <a:buSzPct val="100000"/>
              <a:buChar char="•"/>
            </a:pPr>
            <a:r>
              <a:rPr lang="en-US" sz="2200" dirty="0">
                <a:solidFill>
                  <a:schemeClr val="tx1"/>
                </a:solidFill>
              </a:rPr>
              <a:t>Depletion region and barrier potential form at the junction</a:t>
            </a:r>
            <a:endParaRPr lang="en-US" sz="2200" dirty="0"/>
          </a:p>
          <a:p>
            <a:pPr marL="342900" indent="-342900">
              <a:spcAft>
                <a:spcPts val="600"/>
              </a:spcAft>
              <a:buSzPct val="100000"/>
              <a:buChar char="•"/>
            </a:pPr>
            <a:r>
              <a:rPr lang="en-US" sz="2200" dirty="0">
                <a:solidFill>
                  <a:schemeClr val="tx1"/>
                </a:solidFill>
              </a:rPr>
              <a:t>Forward bias reduces the barrier; reverse bias increases it</a:t>
            </a:r>
            <a:endParaRPr lang="en-US" sz="2200" dirty="0"/>
          </a:p>
          <a:p>
            <a:pPr marL="342900" indent="-342900">
              <a:spcAft>
                <a:spcPts val="600"/>
              </a:spcAft>
              <a:buSzPct val="100000"/>
              <a:buChar char="•"/>
            </a:pPr>
            <a:r>
              <a:rPr lang="en-US" sz="2200" dirty="0">
                <a:solidFill>
                  <a:schemeClr val="tx1"/>
                </a:solidFill>
              </a:rPr>
              <a:t>Si turns on near 0.7 V, Ge near 0.3 V</a:t>
            </a:r>
            <a:endParaRPr lang="en-US" sz="2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Practice questions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U3</a:t>
            </a:r>
            <a:endParaRPr lang="en-US" sz="1600" dirty="0"/>
          </a:p>
        </p:txBody>
      </p:sp>
      <p:sp>
        <p:nvSpPr>
          <p:cNvPr id="6" name="Text 3"/>
          <p:cNvSpPr txBox="1"/>
          <p:nvPr/>
        </p:nvSpPr>
        <p:spPr>
          <a:xfrm>
            <a:off x="457200" y="1188720"/>
            <a:ext cx="8229600" cy="3429000"/>
          </a:xfrm>
          <a:prstGeom prst="rect">
            <a:avLst/>
          </a:prstGeom>
          <a:noFill/>
          <a:ln/>
        </p:spPr>
        <p:txBody>
          <a:bodyPr wrap="square" lIns="0" tIns="0" rIns="0" bIns="0" rtlCol="0" anchor="t"/>
          <a:lstStyle/>
          <a:p>
            <a:pPr marL="342900" indent="-342900">
              <a:spcAft>
                <a:spcPts val="600"/>
              </a:spcAft>
              <a:buSzPct val="100000"/>
              <a:buChar char="•"/>
            </a:pPr>
            <a:r>
              <a:rPr lang="en-US" sz="1700" b="1" dirty="0">
                <a:solidFill>
                  <a:schemeClr val="tx2"/>
                </a:solidFill>
              </a:rPr>
              <a:t>Q1. </a:t>
            </a:r>
            <a:pPr indent="0" marL="0">
              <a:spcAft>
                <a:spcPts val="600"/>
              </a:spcAft>
              <a:buNone/>
            </a:pPr>
            <a:r>
              <a:rPr lang="en-US" sz="1700" dirty="0">
                <a:solidFill>
                  <a:schemeClr val="tx1"/>
                </a:solidFill>
              </a:rPr>
              <a:t>Explain how the depletion region is formed.</a:t>
            </a:r>
            <a:endParaRPr lang="en-US" sz="1700" dirty="0"/>
          </a:p>
          <a:p>
            <a:pPr marL="342900" indent="-342900">
              <a:spcAft>
                <a:spcPts val="600"/>
              </a:spcAft>
              <a:buSzPct val="100000"/>
              <a:buChar char="•"/>
            </a:pPr>
            <a:r>
              <a:rPr lang="en-US" sz="1700" b="1" dirty="0">
                <a:solidFill>
                  <a:schemeClr val="tx2"/>
                </a:solidFill>
              </a:rPr>
              <a:t>Q2. </a:t>
            </a:r>
            <a:pPr indent="0" marL="0">
              <a:spcAft>
                <a:spcPts val="600"/>
              </a:spcAft>
              <a:buNone/>
            </a:pPr>
            <a:r>
              <a:rPr lang="en-US" sz="1700" dirty="0">
                <a:solidFill>
                  <a:schemeClr val="tx1"/>
                </a:solidFill>
              </a:rPr>
              <a:t>What happens to the depletion width in forward and reverse bias?</a:t>
            </a:r>
            <a:endParaRPr lang="en-US" sz="1700" dirty="0"/>
          </a:p>
          <a:p>
            <a:pPr marL="342900" indent="-342900">
              <a:spcAft>
                <a:spcPts val="600"/>
              </a:spcAft>
              <a:buSzPct val="100000"/>
              <a:buChar char="•"/>
            </a:pPr>
            <a:r>
              <a:rPr lang="en-US" sz="1700" b="1" dirty="0">
                <a:solidFill>
                  <a:schemeClr val="tx2"/>
                </a:solidFill>
              </a:rPr>
              <a:t>Q3. </a:t>
            </a:r>
            <a:pPr indent="0" marL="0">
              <a:spcAft>
                <a:spcPts val="600"/>
              </a:spcAft>
              <a:buNone/>
            </a:pPr>
            <a:r>
              <a:rPr lang="en-US" sz="1700" dirty="0">
                <a:solidFill>
                  <a:schemeClr val="tx1"/>
                </a:solidFill>
              </a:rPr>
              <a:t>Compare N-type and P-type semiconductors.</a:t>
            </a:r>
            <a:endParaRPr lang="en-US" sz="1700" dirty="0"/>
          </a:p>
          <a:p>
            <a:pPr marL="342900" indent="-342900">
              <a:spcAft>
                <a:spcPts val="600"/>
              </a:spcAft>
              <a:buSzPct val="100000"/>
              <a:buChar char="•"/>
            </a:pPr>
            <a:r>
              <a:rPr lang="en-US" sz="1700" b="1" dirty="0">
                <a:solidFill>
                  <a:schemeClr val="tx2"/>
                </a:solidFill>
              </a:rPr>
              <a:t>Q4. </a:t>
            </a:r>
            <a:pPr indent="0" marL="0">
              <a:spcAft>
                <a:spcPts val="600"/>
              </a:spcAft>
              <a:buNone/>
            </a:pPr>
            <a:r>
              <a:rPr lang="en-US" sz="1700" dirty="0">
                <a:solidFill>
                  <a:schemeClr val="tx1"/>
                </a:solidFill>
              </a:rPr>
              <a:t>Why does a reverse-biased diode still carry a small current?</a:t>
            </a:r>
            <a:endParaRPr lang="en-US" sz="17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BEEE">
  <a:themeElements>
    <a:clrScheme name="BEEE">
      <a:dk1>
        <a:srgbClr val="0B1F3A"/>
      </a:dk1>
      <a:lt1>
        <a:srgbClr val="FFFFFF"/>
      </a:lt1>
      <a:dk2>
        <a:srgbClr val="16396B"/>
      </a:dk2>
      <a:lt2>
        <a:srgbClr val="EDF2F8"/>
      </a:lt2>
      <a:accent1>
        <a:srgbClr val="F5A623"/>
      </a:accent1>
      <a:accent2>
        <a:srgbClr val="14777B"/>
      </a:accent2>
      <a:accent3>
        <a:srgbClr val="C93C20"/>
      </a:accent3>
      <a:accent4>
        <a:srgbClr val="5B6B7F"/>
      </a:accent4>
      <a:accent5>
        <a:srgbClr val="3E7CB1"/>
      </a:accent5>
      <a:accent6>
        <a:srgbClr val="7A4FD6"/>
      </a:accent6>
      <a:hlink>
        <a:srgbClr val="3E7CB1"/>
      </a:hlink>
      <a:folHlink>
        <a:srgbClr val="5B6B7F"/>
      </a:folHlink>
    </a:clrScheme>
    <a:fontScheme name="BEE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Dept. of EEE, NMAMIT, Nitte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Semiconductor Diode and the PN Junction</dc:title>
  <dc:subject>PptxGenJS Presentation</dc:subject>
  <dc:creator>Dr. Mitesh Astik</dc:creator>
  <cp:lastModifiedBy>Dr. Mitesh Astik</cp:lastModifiedBy>
  <cp:revision>1</cp:revision>
  <dcterms:created xsi:type="dcterms:W3CDTF">2026-10-29T10:05:21Z</dcterms:created>
  <dcterms:modified xsi:type="dcterms:W3CDTF">2026-10-29T10:05:21Z</dcterms:modified>
</cp:coreProperties>
</file>