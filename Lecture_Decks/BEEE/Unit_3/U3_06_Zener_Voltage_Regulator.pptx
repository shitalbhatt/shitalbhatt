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3 · Zener Diode as a Voltage Regulator" id="{d1155163-ea36-dff5-7b2c-ff2d0e86aa65}">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"Zener Diode as a Voltage Regulator", part of Unit 3 (Diodes, Transistors and their Applications) of Basic Electrical and Electronics Engineering.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Draw and explain the Zener shunt regulator. Distinguish line and load regulation. Design Rs for given limits. Solve numericals.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voltage across the Zener remains steady at its breakdown voltage for all values of Zener current in the breakdown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Regulation works only while the Zener stays in breakdown.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series resistor must be small enough to keep the Zener in breakdown at minimum input and large enough to protect it at maximum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no load all the current flows through the Zener, so this is the worst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check the no load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higher currents, series pass transistors or IC regulators are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Vo = VZ while the Zener is in breakdown. IS = IZ + IL, Rs = (VI − VZ)/IS. Line regulation: VI varies; load regulation: RL varies. Check the no-load and full-load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Explain with a circuit how a Zener regulates voltage. A 12 V supply feeds a 6.2 V Zener, Rs = 100 Ω, RL = 200 Ω. Find IL, IS, IZ. Find the Zener power if RL is removed. Differentiate line regulation from load regulation.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Basic Electrical and Electronics Engineering · Unit 3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3  ·  9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Zener Diode as a Voltage Regulator</a:t>
            </a:r>
            <a:endParaRPr lang="en-US" sz="36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5E0EE"/>
                </a:solidFill>
              </a:rPr>
              <a:t>Diodes, Transistors and their Applications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Basic Electrical and Electronics Engineering  (EEE103)</a:t>
            </a:r>
            <a:endParaRPr lang="en-US" sz="1400" dirty="0"/>
          </a:p>
          <a:p>
            <a:pPr indent="0" marL="0">
              <a:buNone/>
            </a:pPr>
            <a:r>
              <a:rPr lang="en-US" sz="1400" dirty="0">
                <a:solidFill>
                  <a:srgbClr val="D5E0EE"/>
                </a:solidFill>
              </a:rPr>
              <a:t>Dr. Mitesh Astik · Dept. of Electrical and Electronics Engineering</a:t>
            </a:r>
            <a:endParaRPr lang="en-US" sz="1400" dirty="0"/>
          </a:p>
          <a:p>
            <a:pPr indent="0" marL="0">
              <a:buNone/>
            </a:pPr>
            <a:r>
              <a:rPr lang="en-US" sz="1400" dirty="0">
                <a:solidFill>
                  <a:srgbClr val="D5E0EE"/>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Draw and explain the Zener shunt regulator</a:t>
            </a:r>
            <a:endParaRPr lang="en-US" sz="2200" dirty="0"/>
          </a:p>
          <a:p>
            <a:pPr marL="342900" indent="-342900">
              <a:spcAft>
                <a:spcPts val="600"/>
              </a:spcAft>
              <a:buSzPct val="100000"/>
              <a:buChar char="•"/>
            </a:pPr>
            <a:r>
              <a:rPr lang="en-US" sz="2200" dirty="0">
                <a:solidFill>
                  <a:schemeClr val="tx1"/>
                </a:solidFill>
              </a:rPr>
              <a:t>Distinguish line and load regulation</a:t>
            </a:r>
            <a:endParaRPr lang="en-US" sz="2200" dirty="0"/>
          </a:p>
          <a:p>
            <a:pPr marL="342900" indent="-342900">
              <a:spcAft>
                <a:spcPts val="600"/>
              </a:spcAft>
              <a:buSzPct val="100000"/>
              <a:buChar char="•"/>
            </a:pPr>
            <a:r>
              <a:rPr lang="en-US" sz="2200" dirty="0">
                <a:solidFill>
                  <a:schemeClr val="tx1"/>
                </a:solidFill>
              </a:rPr>
              <a:t>Design Rs for given limits</a:t>
            </a:r>
            <a:endParaRPr lang="en-US" sz="2200" dirty="0"/>
          </a:p>
          <a:p>
            <a:pPr marL="342900" indent="-342900">
              <a:spcAft>
                <a:spcPts val="600"/>
              </a:spcAft>
              <a:buSzPct val="100000"/>
              <a:buChar char="•"/>
            </a:pPr>
            <a:r>
              <a:rPr lang="en-US" sz="2200" dirty="0">
                <a:solidFill>
                  <a:schemeClr val="tx1"/>
                </a:solidFill>
              </a:rPr>
              <a:t>Solve numericals</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Semiconductor diode, diode equivalent circuits, half-wave rectifier, full-wave bridge rectifier. Zener diode and its use in voltage regulation.</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Zener shunt regulator</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pic>
        <p:nvPicPr>
          <p:cNvPr id="6" name="Image 0" descr="zener_ckt figure">    </p:cNvPr>
          <p:cNvPicPr>
            <a:picLocks noChangeAspect="1"/>
          </p:cNvPicPr>
          <p:nvPr/>
        </p:nvPicPr>
        <p:blipFill>
          <a:blip r:embed="rId1"/>
          <a:stretch>
            <a:fillRect/>
          </a:stretch>
        </p:blipFill>
        <p:spPr>
          <a:xfrm>
            <a:off x="457200" y="1397211"/>
            <a:ext cx="5120640" cy="2783418"/>
          </a:xfrm>
          <a:prstGeom prst="rect">
            <a:avLst/>
          </a:prstGeom>
        </p:spPr>
      </p:pic>
      <p:sp>
        <p:nvSpPr>
          <p:cNvPr id="7" name="Text 3"/>
          <p:cNvSpPr txBox="1"/>
          <p:nvPr/>
        </p:nvSpPr>
        <p:spPr>
          <a:xfrm>
            <a:off x="5760720" y="1188720"/>
            <a:ext cx="2926080" cy="34290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Zener connected in reverse across the load RL.</a:t>
            </a:r>
            <a:endParaRPr lang="en-US" sz="1800" dirty="0"/>
          </a:p>
          <a:p>
            <a:pPr marL="342900" indent="-342900">
              <a:spcAft>
                <a:spcPts val="600"/>
              </a:spcAft>
              <a:buSzPct val="100000"/>
              <a:buChar char="•"/>
            </a:pPr>
            <a:r>
              <a:rPr lang="en-US" sz="1800" dirty="0">
                <a:solidFill>
                  <a:schemeClr val="tx1"/>
                </a:solidFill>
              </a:rPr>
              <a:t>Series resistor Rs limits current and drops the excess voltage.</a:t>
            </a:r>
            <a:endParaRPr lang="en-US" sz="1800" dirty="0"/>
          </a:p>
          <a:p>
            <a:pPr marL="342900" indent="-342900">
              <a:spcAft>
                <a:spcPts val="600"/>
              </a:spcAft>
              <a:buSzPct val="100000"/>
              <a:buChar char="•"/>
            </a:pPr>
            <a:r>
              <a:rPr lang="en-US" sz="1800" dirty="0">
                <a:solidFill>
                  <a:schemeClr val="tx1"/>
                </a:solidFill>
              </a:rPr>
              <a:t>Vo = VZ as long as the Zener stays in breakdown.</a:t>
            </a:r>
            <a:endParaRPr lang="en-US" sz="1800" dirty="0"/>
          </a:p>
          <a:p>
            <a:pPr marL="342900" indent="-342900">
              <a:spcAft>
                <a:spcPts val="600"/>
              </a:spcAft>
              <a:buSzPct val="100000"/>
              <a:buChar char="•"/>
            </a:pPr>
            <a:r>
              <a:rPr lang="en-US" sz="1800" dirty="0">
                <a:solidFill>
                  <a:schemeClr val="tx1"/>
                </a:solidFill>
              </a:rPr>
              <a:t>IS = IZ + IL;   Rs = (VI − VZ)/IS.</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Types of regulation</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Card"/>
          <p:cNvSpPr/>
          <p:nvPr/>
        </p:nvSpPr>
        <p:spPr>
          <a:xfrm>
            <a:off x="457200" y="1188720"/>
            <a:ext cx="2621280" cy="3429000"/>
          </a:xfrm>
          <a:prstGeom prst="roundRect">
            <a:avLst>
              <a:gd name="adj" fmla="val 2791"/>
            </a:avLst>
          </a:prstGeom>
          <a:solidFill>
            <a:schemeClr val="bg2"/>
          </a:solidFill>
          <a:ln/>
        </p:spPr>
      </p:sp>
      <p:sp>
        <p:nvSpPr>
          <p:cNvPr id="7" name="Text 4"/>
          <p:cNvSpPr txBox="1"/>
          <p:nvPr/>
        </p:nvSpPr>
        <p:spPr>
          <a:xfrm>
            <a:off x="59436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Line regulation</a:t>
            </a:r>
            <a:endParaRPr lang="en-US" sz="1600" dirty="0"/>
          </a:p>
        </p:txBody>
      </p:sp>
      <p:sp>
        <p:nvSpPr>
          <p:cNvPr id="8" name="Text 5"/>
          <p:cNvSpPr txBox="1"/>
          <p:nvPr/>
        </p:nvSpPr>
        <p:spPr>
          <a:xfrm>
            <a:off x="59436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Input voltage varies, RL fixed. Extra current flows through the Zener; Vo stays at VZ.</a:t>
            </a:r>
            <a:endParaRPr lang="en-US" sz="2000" dirty="0"/>
          </a:p>
        </p:txBody>
      </p:sp>
      <p:sp>
        <p:nvSpPr>
          <p:cNvPr id="9" name="Card"/>
          <p:cNvSpPr/>
          <p:nvPr/>
        </p:nvSpPr>
        <p:spPr>
          <a:xfrm>
            <a:off x="3261360" y="1188720"/>
            <a:ext cx="2621280" cy="3429000"/>
          </a:xfrm>
          <a:prstGeom prst="roundRect">
            <a:avLst>
              <a:gd name="adj" fmla="val 2791"/>
            </a:avLst>
          </a:prstGeom>
          <a:solidFill>
            <a:schemeClr val="bg2"/>
          </a:solidFill>
          <a:ln/>
        </p:spPr>
      </p:sp>
      <p:sp>
        <p:nvSpPr>
          <p:cNvPr id="10" name="Text 7"/>
          <p:cNvSpPr txBox="1"/>
          <p:nvPr/>
        </p:nvSpPr>
        <p:spPr>
          <a:xfrm>
            <a:off x="339852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Load regulation</a:t>
            </a:r>
            <a:endParaRPr lang="en-US" sz="1600" dirty="0"/>
          </a:p>
        </p:txBody>
      </p:sp>
      <p:sp>
        <p:nvSpPr>
          <p:cNvPr id="11" name="Text 8"/>
          <p:cNvSpPr txBox="1"/>
          <p:nvPr/>
        </p:nvSpPr>
        <p:spPr>
          <a:xfrm>
            <a:off x="339852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Input fixed, RL varies. Zener current changes to take up the difference; Vo stays at VZ.</a:t>
            </a:r>
            <a:endParaRPr lang="en-US" sz="2000" dirty="0"/>
          </a:p>
        </p:txBody>
      </p:sp>
      <p:sp>
        <p:nvSpPr>
          <p:cNvPr id="12" name="Card"/>
          <p:cNvSpPr/>
          <p:nvPr/>
        </p:nvSpPr>
        <p:spPr>
          <a:xfrm>
            <a:off x="6065520" y="1188720"/>
            <a:ext cx="2621280" cy="3429000"/>
          </a:xfrm>
          <a:prstGeom prst="roundRect">
            <a:avLst>
              <a:gd name="adj" fmla="val 2791"/>
            </a:avLst>
          </a:prstGeom>
          <a:solidFill>
            <a:schemeClr val="bg2"/>
          </a:solidFill>
          <a:ln/>
        </p:spPr>
      </p:sp>
      <p:sp>
        <p:nvSpPr>
          <p:cNvPr id="13" name="Text 10"/>
          <p:cNvSpPr txBox="1"/>
          <p:nvPr/>
        </p:nvSpPr>
        <p:spPr>
          <a:xfrm>
            <a:off x="620268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Limits</a:t>
            </a:r>
            <a:endParaRPr lang="en-US" sz="1600" dirty="0"/>
          </a:p>
        </p:txBody>
      </p:sp>
      <p:sp>
        <p:nvSpPr>
          <p:cNvPr id="14" name="Text 11"/>
          <p:cNvSpPr txBox="1"/>
          <p:nvPr/>
        </p:nvSpPr>
        <p:spPr>
          <a:xfrm>
            <a:off x="620268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Needs IZ ≥ IZmin always and IZ ≤ IZmax; so VImin and VImax and RL(min) are bounded.</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Design equations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Formula"/>
          <p:cNvSpPr/>
          <p:nvPr/>
        </p:nvSpPr>
        <p:spPr>
          <a:xfrm>
            <a:off x="457200" y="1188720"/>
            <a:ext cx="2621280" cy="822960"/>
          </a:xfrm>
          <a:prstGeom prst="roundRect">
            <a:avLst>
              <a:gd name="adj" fmla="val 8889"/>
            </a:avLst>
          </a:prstGeom>
          <a:solidFill>
            <a:schemeClr val="tx2"/>
          </a:solidFill>
          <a:ln/>
        </p:spPr>
      </p:sp>
      <p:sp>
        <p:nvSpPr>
          <p:cNvPr id="7" name="Text 4"/>
          <p:cNvSpPr txBox="1"/>
          <p:nvPr/>
        </p:nvSpPr>
        <p:spPr>
          <a:xfrm>
            <a:off x="457200" y="1188720"/>
            <a:ext cx="2621280" cy="822960"/>
          </a:xfrm>
          <a:prstGeom prst="rect">
            <a:avLst/>
          </a:prstGeom>
          <a:noFill/>
          <a:ln/>
        </p:spPr>
        <p:txBody>
          <a:bodyPr wrap="square" lIns="762" tIns="762" rIns="762" bIns="762"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RS = (VI(min) − VZ)/(IZmin + IL(max))</a:t>
            </a:r>
            <a:endParaRPr lang="en-US" sz="1500" dirty="0"/>
          </a:p>
        </p:txBody>
      </p:sp>
      <p:sp>
        <p:nvSpPr>
          <p:cNvPr id="8" name="Text 5"/>
          <p:cNvSpPr txBox="1"/>
          <p:nvPr/>
        </p:nvSpPr>
        <p:spPr>
          <a:xfrm>
            <a:off x="457200" y="2029968"/>
            <a:ext cx="2621280" cy="411480"/>
          </a:xfrm>
          <a:prstGeom prst="rect">
            <a:avLst/>
          </a:prstGeom>
          <a:noFill/>
          <a:ln/>
        </p:spPr>
        <p:txBody>
          <a:bodyPr wrap="square" lIns="0" tIns="0" rIns="0" bIns="0" rtlCol="0" anchor="t"/>
          <a:lstStyle/>
          <a:p>
            <a:pPr algn="ctr" indent="0" marL="0">
              <a:buNone/>
            </a:pPr>
            <a:r>
              <a:rPr lang="en-US" sz="1300" i="1" dirty="0">
                <a:solidFill>
                  <a:schemeClr val="accent4"/>
                </a:solidFill>
              </a:rPr>
              <a:t>ensures Zener stays ON</a:t>
            </a:r>
            <a:endParaRPr lang="en-US" sz="1300" dirty="0"/>
          </a:p>
        </p:txBody>
      </p:sp>
      <p:sp>
        <p:nvSpPr>
          <p:cNvPr id="9" name="Formula"/>
          <p:cNvSpPr/>
          <p:nvPr/>
        </p:nvSpPr>
        <p:spPr>
          <a:xfrm>
            <a:off x="3261360" y="1188720"/>
            <a:ext cx="2621280" cy="822960"/>
          </a:xfrm>
          <a:prstGeom prst="roundRect">
            <a:avLst>
              <a:gd name="adj" fmla="val 8889"/>
            </a:avLst>
          </a:prstGeom>
          <a:solidFill>
            <a:schemeClr val="tx2"/>
          </a:solidFill>
          <a:ln/>
        </p:spPr>
      </p:sp>
      <p:sp>
        <p:nvSpPr>
          <p:cNvPr id="10" name="Text 7"/>
          <p:cNvSpPr txBox="1"/>
          <p:nvPr/>
        </p:nvSpPr>
        <p:spPr>
          <a:xfrm>
            <a:off x="3261360" y="1188720"/>
            <a:ext cx="2621280" cy="822960"/>
          </a:xfrm>
          <a:prstGeom prst="rect">
            <a:avLst/>
          </a:prstGeom>
          <a:noFill/>
          <a:ln/>
        </p:spPr>
        <p:txBody>
          <a:bodyPr wrap="square" lIns="762" tIns="762" rIns="762" bIns="762"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IZ(max) = PZ / VZ</a:t>
            </a:r>
            <a:endParaRPr lang="en-US" sz="2200" dirty="0"/>
          </a:p>
        </p:txBody>
      </p:sp>
      <p:sp>
        <p:nvSpPr>
          <p:cNvPr id="11" name="Text 8"/>
          <p:cNvSpPr txBox="1"/>
          <p:nvPr/>
        </p:nvSpPr>
        <p:spPr>
          <a:xfrm>
            <a:off x="3261360" y="2029968"/>
            <a:ext cx="2621280" cy="411480"/>
          </a:xfrm>
          <a:prstGeom prst="rect">
            <a:avLst/>
          </a:prstGeom>
          <a:noFill/>
          <a:ln/>
        </p:spPr>
        <p:txBody>
          <a:bodyPr wrap="square" lIns="0" tIns="0" rIns="0" bIns="0" rtlCol="0" anchor="t"/>
          <a:lstStyle/>
          <a:p>
            <a:pPr algn="ctr" indent="0" marL="0">
              <a:buNone/>
            </a:pPr>
            <a:r>
              <a:rPr lang="en-US" sz="1300" i="1" dirty="0">
                <a:solidFill>
                  <a:schemeClr val="accent4"/>
                </a:solidFill>
              </a:rPr>
              <a:t>power limit</a:t>
            </a:r>
            <a:endParaRPr lang="en-US" sz="1300" dirty="0"/>
          </a:p>
        </p:txBody>
      </p:sp>
      <p:sp>
        <p:nvSpPr>
          <p:cNvPr id="12" name="Formula"/>
          <p:cNvSpPr/>
          <p:nvPr/>
        </p:nvSpPr>
        <p:spPr>
          <a:xfrm>
            <a:off x="6065520" y="1188720"/>
            <a:ext cx="2621280" cy="822960"/>
          </a:xfrm>
          <a:prstGeom prst="roundRect">
            <a:avLst>
              <a:gd name="adj" fmla="val 8889"/>
            </a:avLst>
          </a:prstGeom>
          <a:solidFill>
            <a:schemeClr val="tx2"/>
          </a:solidFill>
          <a:ln/>
        </p:spPr>
      </p:sp>
      <p:sp>
        <p:nvSpPr>
          <p:cNvPr id="13" name="Text 10"/>
          <p:cNvSpPr txBox="1"/>
          <p:nvPr/>
        </p:nvSpPr>
        <p:spPr>
          <a:xfrm>
            <a:off x="6065520" y="1188720"/>
            <a:ext cx="2621280" cy="822960"/>
          </a:xfrm>
          <a:prstGeom prst="rect">
            <a:avLst/>
          </a:prstGeom>
          <a:noFill/>
          <a:ln/>
        </p:spPr>
        <p:txBody>
          <a:bodyPr wrap="square" lIns="762" tIns="762" rIns="762" bIns="762"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RS ≥ (VI(max) − VZ)/(IZmax + IL(min))</a:t>
            </a:r>
            <a:endParaRPr lang="en-US" sz="1500" dirty="0"/>
          </a:p>
        </p:txBody>
      </p:sp>
      <p:sp>
        <p:nvSpPr>
          <p:cNvPr id="14" name="Text 11"/>
          <p:cNvSpPr txBox="1"/>
          <p:nvPr/>
        </p:nvSpPr>
        <p:spPr>
          <a:xfrm>
            <a:off x="6065520" y="2029968"/>
            <a:ext cx="2621280" cy="411480"/>
          </a:xfrm>
          <a:prstGeom prst="rect">
            <a:avLst/>
          </a:prstGeom>
          <a:noFill/>
          <a:ln/>
        </p:spPr>
        <p:txBody>
          <a:bodyPr wrap="square" lIns="0" tIns="0" rIns="0" bIns="0" rtlCol="0" anchor="t"/>
          <a:lstStyle/>
          <a:p>
            <a:pPr algn="ctr" indent="0" marL="0">
              <a:buNone/>
            </a:pPr>
            <a:r>
              <a:rPr lang="en-US" sz="1300" i="1" dirty="0">
                <a:solidFill>
                  <a:schemeClr val="accent4"/>
                </a:solidFill>
              </a:rPr>
              <a:t>protects the Zener</a:t>
            </a:r>
            <a:endParaRPr lang="en-US" sz="1300" dirty="0"/>
          </a:p>
        </p:txBody>
      </p:sp>
      <p:sp>
        <p:nvSpPr>
          <p:cNvPr id="15" name="Text 12"/>
          <p:cNvSpPr txBox="1"/>
          <p:nvPr/>
        </p:nvSpPr>
        <p:spPr>
          <a:xfrm>
            <a:off x="457200" y="2560320"/>
            <a:ext cx="8229600" cy="20574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Choose VZ = VL (required output).</a:t>
            </a:r>
            <a:endParaRPr lang="en-US" sz="2200" dirty="0"/>
          </a:p>
          <a:p>
            <a:pPr marL="342900" indent="-342900">
              <a:spcAft>
                <a:spcPts val="600"/>
              </a:spcAft>
              <a:buSzPct val="100000"/>
              <a:buChar char="•"/>
            </a:pPr>
            <a:r>
              <a:rPr lang="en-US" sz="2200" dirty="0">
                <a:solidFill>
                  <a:schemeClr val="tx1"/>
                </a:solidFill>
              </a:rPr>
              <a:t>Power in Rs: PRS = IS² RS (choose a suitable wattage).</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Numerical 1 (from notes)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A 5 V supply from 12 V DC using a 5 V, 2 W Zener. Find the maximum Zener current and the minimum series resistance.</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IZmax = PZ/VZ = 2/5 = 0.4 A</a:t>
            </a:r>
            <a:endParaRPr lang="en-US" sz="2200" dirty="0"/>
          </a:p>
          <a:p>
            <a:pPr marL="342900" indent="-342900">
              <a:spcAft>
                <a:spcPts val="600"/>
              </a:spcAft>
              <a:buSzPct val="100000"/>
              <a:buChar char="•"/>
            </a:pPr>
            <a:r>
              <a:rPr lang="en-US" sz="2200" dirty="0">
                <a:solidFill>
                  <a:schemeClr val="tx1"/>
                </a:solidFill>
              </a:rPr>
              <a:t>Rs(min) = (VI − VZ)/IZmax = (12 − 5)/0.4</a:t>
            </a:r>
            <a:endParaRPr lang="en-US" sz="22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IZmax = 0.4 A,  Rs(min) = 17.5 Ω</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Numerical 2: design a regulator</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Design a 5 V regulator from 12 V for a 100 Ω load. Choose IZ = 10 mA at full load.</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tx1"/>
                </a:solidFill>
              </a:rPr>
              <a:t>IL = 5/100 = 50 mA;  IS = IZ + IL = 60 mA</a:t>
            </a:r>
            <a:endParaRPr lang="en-US" sz="2000" dirty="0"/>
          </a:p>
          <a:p>
            <a:pPr marL="342900" indent="-342900">
              <a:spcAft>
                <a:spcPts val="600"/>
              </a:spcAft>
              <a:buSzPct val="100000"/>
              <a:buChar char="•"/>
            </a:pPr>
            <a:r>
              <a:rPr lang="en-US" sz="2000" dirty="0">
                <a:solidFill>
                  <a:schemeClr val="tx1"/>
                </a:solidFill>
              </a:rPr>
              <a:t>Rs = (12 − 5)/0.060 = 116.7 Ω → choose 120 Ω</a:t>
            </a:r>
            <a:endParaRPr lang="en-US" sz="2000" dirty="0"/>
          </a:p>
          <a:p>
            <a:pPr marL="342900" indent="-342900">
              <a:spcAft>
                <a:spcPts val="600"/>
              </a:spcAft>
              <a:buSzPct val="100000"/>
              <a:buChar char="•"/>
            </a:pPr>
            <a:r>
              <a:rPr lang="en-US" sz="2000" dirty="0">
                <a:solidFill>
                  <a:schemeClr val="tx1"/>
                </a:solidFill>
              </a:rPr>
              <a:t>No load: IZ = 7/120 = 58 mA → PZ = 0.29 W: use a 0.5 W Zener</a:t>
            </a:r>
            <a:endParaRPr lang="en-US" sz="2000" dirty="0"/>
          </a:p>
          <a:p>
            <a:pPr marL="342900" indent="-342900">
              <a:spcAft>
                <a:spcPts val="600"/>
              </a:spcAft>
              <a:buSzPct val="100000"/>
              <a:buChar char="•"/>
            </a:pPr>
            <a:r>
              <a:rPr lang="en-US" sz="2000" dirty="0">
                <a:solidFill>
                  <a:schemeClr val="tx1"/>
                </a:solidFill>
              </a:rPr>
              <a:t>PRS = IS² Rs = 0.06² × 120 = 0.43 W: use a 1 W resistor</a:t>
            </a:r>
            <a:endParaRPr lang="en-US" sz="20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Rs ≈ 120 Ω, 5 V / 0.5 W Zener, 1 W resistor</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Limitations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Poor efficiency: power is wasted in Rs and the Zener.</a:t>
            </a:r>
            <a:endParaRPr lang="en-US" sz="2200" dirty="0"/>
          </a:p>
          <a:p>
            <a:pPr marL="342900" indent="-342900">
              <a:spcAft>
                <a:spcPts val="600"/>
              </a:spcAft>
              <a:buSzPct val="100000"/>
              <a:buChar char="•"/>
            </a:pPr>
            <a:r>
              <a:rPr lang="en-US" sz="2200" dirty="0">
                <a:solidFill>
                  <a:schemeClr val="tx1"/>
                </a:solidFill>
              </a:rPr>
              <a:t>Output voltage fixed at VZ; limited load current.</a:t>
            </a:r>
            <a:endParaRPr lang="en-US" sz="2200" dirty="0"/>
          </a:p>
          <a:p>
            <a:pPr marL="342900" indent="-342900">
              <a:spcAft>
                <a:spcPts val="600"/>
              </a:spcAft>
              <a:buSzPct val="100000"/>
              <a:buChar char="•"/>
            </a:pPr>
            <a:r>
              <a:rPr lang="en-US" sz="2200" dirty="0">
                <a:solidFill>
                  <a:schemeClr val="tx1"/>
                </a:solidFill>
              </a:rPr>
              <a:t>Ripple not fully removed: dynamic resistance rz.</a:t>
            </a:r>
            <a:endParaRPr lang="en-US" sz="2200" dirty="0"/>
          </a:p>
          <a:p>
            <a:pPr marL="342900" indent="-342900">
              <a:spcAft>
                <a:spcPts val="600"/>
              </a:spcAft>
              <a:buSzPct val="100000"/>
              <a:buChar char="•"/>
            </a:pPr>
            <a:r>
              <a:rPr lang="en-US" sz="2200" dirty="0">
                <a:solidFill>
                  <a:schemeClr val="tx1"/>
                </a:solidFill>
              </a:rPr>
              <a:t>Better: IC regulators such as the 78XX series (Unit 5).</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Vo = VZ while the Zener is in breakdown</a:t>
            </a:r>
            <a:endParaRPr lang="en-US" sz="2200" dirty="0"/>
          </a:p>
          <a:p>
            <a:pPr marL="342900" indent="-342900">
              <a:spcAft>
                <a:spcPts val="600"/>
              </a:spcAft>
              <a:buSzPct val="100000"/>
              <a:buChar char="•"/>
            </a:pPr>
            <a:r>
              <a:rPr lang="en-US" sz="2200" dirty="0">
                <a:solidFill>
                  <a:schemeClr val="tx1"/>
                </a:solidFill>
              </a:rPr>
              <a:t>IS = IZ + IL, Rs = (VI − VZ)/IS</a:t>
            </a:r>
            <a:endParaRPr lang="en-US" sz="2200" dirty="0"/>
          </a:p>
          <a:p>
            <a:pPr marL="342900" indent="-342900">
              <a:spcAft>
                <a:spcPts val="600"/>
              </a:spcAft>
              <a:buSzPct val="100000"/>
              <a:buChar char="•"/>
            </a:pPr>
            <a:r>
              <a:rPr lang="en-US" sz="2200" dirty="0">
                <a:solidFill>
                  <a:schemeClr val="tx1"/>
                </a:solidFill>
              </a:rPr>
              <a:t>Line regulation: VI varies; load regulation: RL varies</a:t>
            </a:r>
            <a:endParaRPr lang="en-US" sz="2200" dirty="0"/>
          </a:p>
          <a:p>
            <a:pPr marL="342900" indent="-342900">
              <a:spcAft>
                <a:spcPts val="600"/>
              </a:spcAft>
              <a:buSzPct val="100000"/>
              <a:buChar char="•"/>
            </a:pPr>
            <a:r>
              <a:rPr lang="en-US" sz="2200" dirty="0">
                <a:solidFill>
                  <a:schemeClr val="tx1"/>
                </a:solidFill>
              </a:rPr>
              <a:t>Check the no-load and full-load limits</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Explain with a circuit how a Zener regulates voltage.</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A 12 V supply feeds a 6.2 V Zener, Rs = 100 Ω, RL = 200 Ω. Find IL, IS, IZ.</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Find the Zener power if RL is removed.</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Differentiate line regulation from load regulation.</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0B1F3A"/>
      </a:dk1>
      <a:lt1>
        <a:srgbClr val="FFFFFF"/>
      </a:lt1>
      <a:dk2>
        <a:srgbClr val="16396B"/>
      </a:dk2>
      <a:lt2>
        <a:srgbClr val="EDF2F8"/>
      </a:lt2>
      <a:accent1>
        <a:srgbClr val="F5A623"/>
      </a:accent1>
      <a:accent2>
        <a:srgbClr val="14777B"/>
      </a:accent2>
      <a:accent3>
        <a:srgbClr val="C93C20"/>
      </a:accent3>
      <a:accent4>
        <a:srgbClr val="5B6B7F"/>
      </a:accent4>
      <a:accent5>
        <a:srgbClr val="3E7CB1"/>
      </a:accent5>
      <a:accent6>
        <a:srgbClr val="7A4FD6"/>
      </a:accent6>
      <a:hlink>
        <a:srgbClr val="3E7CB1"/>
      </a:hlink>
      <a:folHlink>
        <a:srgbClr val="5B6B7F"/>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Zener Diode as a Voltage Regulator</dc:title>
  <dc:subject>PptxGenJS Presentation</dc:subject>
  <dc:creator>Dr. Mitesh Astik</dc:creator>
  <cp:lastModifiedBy>Dr. Mitesh Astik</cp:lastModifiedBy>
  <cp:revision>1</cp:revision>
  <dcterms:created xsi:type="dcterms:W3CDTF">2026-10-29T10:05:21Z</dcterms:created>
  <dcterms:modified xsi:type="dcterms:W3CDTF">2026-10-29T10:05:21Z</dcterms:modified>
</cp:coreProperties>
</file>