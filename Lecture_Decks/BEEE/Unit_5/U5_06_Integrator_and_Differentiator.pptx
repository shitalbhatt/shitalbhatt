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5 · Integrator and Differentiator" id="{b528623b-e75a-9867-4d04-02bd1b7753a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"Integrator and Differentiator", part of Unit 5 (Op-Amp and Linear IC Applications)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Draw and derive the op-amp integrator. Draw and derive the op-amp differentiator. Predict output waveforms for step, square and ramp inputs. Solve numericals.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voltage is the integral of the input voltage, scaled by one over R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Integrator and differentiator are used for wave shaping.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is proportional to the rate of change of the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differentiator amplifies high frequency noise so it must be used with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output ramps at minus one volt per millisecond until it saturates near the supply.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ramp differentiates to a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Integrator: vo = −(1/RC)∫vi dt. Differentiator: vo = −RC dvi/dt. Square → triangle (integrator); triangle → square (differentiator). Differentiator is noise-sensitive.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Derive the output of an op-amp integrator. R = 1 kΩ, C = 1 µF, square wave ±1 V, 500 Hz: find triangular peak-to-peak output. Draw the output of a differentiator for a triangular input. Why is a practical differentiator modified?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5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5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Integrator and Differentiator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Op-Amp and Linear IC Applications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and derive the op-amp integrator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Draw and derive the op-amp differentiator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Predict output waveforms for step, square and ramp inputs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Solve numericals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Introduction, op-amp specifications, differential and common-mode operation, op-amp applications: inverting/non-inverting amplifier, summing, integrator, differentiator, comparator, 555 timer IC in astable mode, 78XX series IC voltage regulators.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Integrator: derivation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Circuit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Input through R to the − node; capacitor C as feedback.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Current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iR = vi/R (virtual ground); the same current charges C.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Capacitor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 = C(0 − vo) = ∫ i dt.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accent1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 = −(1/RC) ∫ vi dt.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Output is the (negative) time integral of the input. RC = time constant.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Waveforms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pic>
        <p:nvPicPr>
          <p:cNvPr id="6" name="Image 0" descr="intdiff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075" y="1143000"/>
            <a:ext cx="716985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Integrator: square wave → triangular wave.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DC input → ramp until saturation.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Differentiator: triangular input → square output.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Sine in → cosine out (90° shift).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Differentiator: derivation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Flow step"/>
          <p:cNvSpPr/>
          <p:nvPr/>
        </p:nvSpPr>
        <p:spPr>
          <a:xfrm>
            <a:off x="45720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7" name="Step number"/>
          <p:cNvSpPr/>
          <p:nvPr/>
        </p:nvSpPr>
        <p:spPr>
          <a:xfrm>
            <a:off x="56692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Circuit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Capacitor C at the input; resistor Rf as feedback.</a:t>
            </a:r>
            <a:endParaRPr lang="en-US" sz="1500" dirty="0"/>
          </a:p>
        </p:txBody>
      </p:sp>
      <p:sp>
        <p:nvSpPr>
          <p:cNvPr id="11" name="Flow step"/>
          <p:cNvSpPr/>
          <p:nvPr/>
        </p:nvSpPr>
        <p:spPr>
          <a:xfrm>
            <a:off x="254889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2" name="Step number"/>
          <p:cNvSpPr/>
          <p:nvPr/>
        </p:nvSpPr>
        <p:spPr>
          <a:xfrm>
            <a:off x="265861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5861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65861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Charge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65861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 = C vi, so i = C dvi/dt.</a:t>
            </a:r>
            <a:endParaRPr lang="en-US" sz="1500" dirty="0"/>
          </a:p>
        </p:txBody>
      </p:sp>
      <p:sp>
        <p:nvSpPr>
          <p:cNvPr id="16" name="Flow step"/>
          <p:cNvSpPr/>
          <p:nvPr/>
        </p:nvSpPr>
        <p:spPr>
          <a:xfrm>
            <a:off x="464058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bg2"/>
          </a:solidFill>
          <a:ln/>
        </p:spPr>
      </p:sp>
      <p:sp>
        <p:nvSpPr>
          <p:cNvPr id="17" name="Step number"/>
          <p:cNvSpPr/>
          <p:nvPr/>
        </p:nvSpPr>
        <p:spPr>
          <a:xfrm>
            <a:off x="475030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75030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5030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Feedback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75030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same i flows through R: i = (0 − vo)/R.</a:t>
            </a:r>
            <a:endParaRPr lang="en-US" sz="1500" dirty="0"/>
          </a:p>
        </p:txBody>
      </p:sp>
      <p:sp>
        <p:nvSpPr>
          <p:cNvPr id="21" name="Flow step"/>
          <p:cNvSpPr/>
          <p:nvPr/>
        </p:nvSpPr>
        <p:spPr>
          <a:xfrm>
            <a:off x="6732270" y="1234440"/>
            <a:ext cx="1954530" cy="2286000"/>
          </a:xfrm>
          <a:prstGeom prst="roundRect">
            <a:avLst>
              <a:gd name="adj" fmla="val 3743"/>
            </a:avLst>
          </a:prstGeom>
          <a:solidFill>
            <a:schemeClr val="accent1"/>
          </a:solidFill>
          <a:ln/>
        </p:spPr>
      </p:sp>
      <p:sp>
        <p:nvSpPr>
          <p:cNvPr id="22" name="Step number"/>
          <p:cNvSpPr/>
          <p:nvPr/>
        </p:nvSpPr>
        <p:spPr>
          <a:xfrm>
            <a:off x="6841998" y="1344168"/>
            <a:ext cx="365760" cy="3657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841998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41998" y="1783080"/>
            <a:ext cx="1735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Result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41998" y="2084832"/>
            <a:ext cx="173507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 = −RC dvi/dt.</a:t>
            </a:r>
            <a:endParaRPr lang="en-US" sz="1500" dirty="0"/>
          </a:p>
        </p:txBody>
      </p:sp>
      <p:sp>
        <p:nvSpPr>
          <p:cNvPr id="26" name="Highlight strip"/>
          <p:cNvSpPr/>
          <p:nvPr/>
        </p:nvSpPr>
        <p:spPr>
          <a:xfrm>
            <a:off x="457200" y="3749040"/>
            <a:ext cx="82296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0080" y="3749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Practical circuits add a small series resistor and a feedback capacitor to limit high-frequency noise 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Integrator versus differentiator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Integrator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 in the feedback path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vo = −(1/RC)∫vi dt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Acts as a low-pass filter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in ramp generators, ADCs, analog computers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Differentiator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 at the input, R in feedback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vo = −RC dvi/dt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Acts as a high-pass filter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in wave shaping, edge detection; noise-sensitive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integrator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 = 10 kΩ, C = 0.1 µF. A constant input of 1 V is applied at t = 0. Find vo at t = 5 ms.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RC = 10 kΩ × 0.1 µF = 1 ms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−(1/RC) vi t = −(1 V/1 ms) × 5 ms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vo = −5 V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differentiator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 = 10 kΩ, C = 0.1 µF. The input is a ramp of 1 V/ms. Find vo.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dvi/dt = 1 V/ms = 1000 V/s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vo = −RC dvi/dt = −(1 ms)(1000 V/s)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vo = −1 V (constant)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Integrator: vo = −(1/RC)∫vi dt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Differentiator: vo = −RC dvi/dt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Square → triangle (integrator); triangle → square (differentiator)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Differentiator is noise-sensitive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U5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Derive the output of an op-amp integrator.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R = 1 kΩ, C = 1 µF, square wave ±1 V, 500 Hz: find triangular peak-to-peak output.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Draw the output of a differentiator for a triangular input.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a practical differentiator modified?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Integrator and Differentiator</dc:title>
  <dc:subject>PptxGenJS Presentation</dc:subject>
  <dc:creator>Dr. Mitesh Astik</dc:creator>
  <cp:lastModifiedBy>Dr. Mitesh Astik</cp:lastModifiedBy>
  <cp:revision>1</cp:revision>
  <dcterms:created xsi:type="dcterms:W3CDTF">2026-10-29T10:05:22Z</dcterms:created>
  <dcterms:modified xsi:type="dcterms:W3CDTF">2026-10-29T10:05:22Z</dcterms:modified>
</cp:coreProperties>
</file>