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5 · 555 Timer IC in Astable Mode" id="{179f324e-3828-fc4d-9b0e-2b0185c4625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"555 Timer IC in Astable Mode", part of Unit 5 (Op-Amp and Linear IC Applications) of Basic Electrical and Electronics Engineering.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Describe the internal blocks of the 555 timer. Explain astable (free-running) operation. Derive/use the frequency and duty cycle equations. Design an astable multivibrator.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name comes from the three five kilohm resistors.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astable mode the 555 acts as a free running oscillator.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capacitor voltage swings between one third and two thirds of Vcc.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output is a rectangular wave with duty cycle greater than fifty percent.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get a symmetrical wave, make RA much smaller than RB.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Applications include LED flashers, tone generators, clock pulses and PWM.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555: two comparators, SR flip-flop, discharge transistor, 3 × 5 kΩ divider. Astable: C charges to 2Vcc/3 and discharges to Vcc/3. THIGH = 0.693(RA + RB)C; TLOW = 0.693 RB C. f = 1.44/[(RA + 2RB)C]; D = (RA + RB)/(RA + 2RB).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Draw and explain the 555 astable multivibrator. Find f and duty cycle for RA = 2.2 kΩ, RB = 4.7 kΩ, C = 10 nF. How would you get an approximately 50 % duty cycle? State the pin functions of the 555.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Basic Electrical and Electronics Engineering · Unit 5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5  ·  9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555 Timer IC in Astable Mode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0EE"/>
                </a:solidFill>
              </a:rPr>
              <a:t>Op-Amp and Linear IC Applications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Basic Electrical and Electronics Engineering  (EEE103)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Describe the internal blocks of the 555 timer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astable (free-running) operation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Derive/use the frequency and duty cycle equations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Design an astable multivibrator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Introduction, op-amp specifications, differential and common-mode operation, op-amp applications: inverting/non-inverting amplifier, summing, integrator, differentiator, comparator, 555 timer IC in astable mode, 78XX series IC voltage regulators.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555 timer: internal blocks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269748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Voltage divider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Three equal 5 kΩ resistors set reference levels 2Vcc/3 and Vcc/3.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269748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Two comparators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Threshold comparator (2Vcc/3) and trigger comparator (Vcc/3) drive the flip-flop.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269748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Flip-flop and discharge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Flip-flop sets the output; the discharge transistor discharges the timing capacitor.</a:t>
            </a:r>
            <a:endParaRPr lang="en-US" sz="2000" dirty="0"/>
          </a:p>
        </p:txBody>
      </p:sp>
      <p:sp>
        <p:nvSpPr>
          <p:cNvPr id="15" name="Highlight strip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8-pin IC: 1 GND, 2 TRIG, 3 OUT, 4 RESET, 5 CTRL, 6 THR, 7 DIS, 8 Vcc.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Astable circuit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pic>
        <p:nvPicPr>
          <p:cNvPr id="6" name="Image 0" descr="t555_ckt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5" y="1188720"/>
            <a:ext cx="4907590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External: RA, RB, C.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Pins 2 and 6 tied together across C.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Pin 7 (discharge) between RA and RB.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Pin 4 to Vcc; pin 5 decoupled with 0.01 µF.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 external trigger needed: free-running.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How it oscillates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Flow step"/>
          <p:cNvSpPr/>
          <p:nvPr/>
        </p:nvSpPr>
        <p:spPr>
          <a:xfrm>
            <a:off x="45720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7" name="Step number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Charge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Output HIGH; C charges through RA + RB toward Vcc.</a:t>
            </a:r>
            <a:endParaRPr lang="en-US" sz="1500" dirty="0"/>
          </a:p>
        </p:txBody>
      </p:sp>
      <p:sp>
        <p:nvSpPr>
          <p:cNvPr id="11" name="Flow step"/>
          <p:cNvSpPr/>
          <p:nvPr/>
        </p:nvSpPr>
        <p:spPr>
          <a:xfrm>
            <a:off x="254889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265861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5861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5861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Reach 2Vcc/3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65861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Threshold comparator resets the flip-flop; output LOW; discharge transistor ON.</a:t>
            </a:r>
            <a:endParaRPr lang="en-US" sz="1500" dirty="0"/>
          </a:p>
        </p:txBody>
      </p:sp>
      <p:sp>
        <p:nvSpPr>
          <p:cNvPr id="16" name="Flow step"/>
          <p:cNvSpPr/>
          <p:nvPr/>
        </p:nvSpPr>
        <p:spPr>
          <a:xfrm>
            <a:off x="464058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475030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75030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75030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Discharge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5030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 discharges through RB toward ground.</a:t>
            </a:r>
            <a:endParaRPr lang="en-US" sz="1500" dirty="0"/>
          </a:p>
        </p:txBody>
      </p:sp>
      <p:sp>
        <p:nvSpPr>
          <p:cNvPr id="21" name="Flow step"/>
          <p:cNvSpPr/>
          <p:nvPr/>
        </p:nvSpPr>
        <p:spPr>
          <a:xfrm>
            <a:off x="673227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22" name="Step number"/>
          <p:cNvSpPr/>
          <p:nvPr/>
        </p:nvSpPr>
        <p:spPr>
          <a:xfrm>
            <a:off x="684199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4199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4199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Reach Vcc/3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84199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Trigger comparator sets the flip-flop; output HIGH again. Repeats.</a:t>
            </a:r>
            <a:endParaRPr lang="en-US" sz="1500" dirty="0"/>
          </a:p>
        </p:txBody>
      </p:sp>
      <p:sp>
        <p:nvSpPr>
          <p:cNvPr id="26" name="Highlight strip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THIGH = 0.693 (RA + RB) C      TLOW = 0.693 RB 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Capacitor voltage and output waveform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pic>
        <p:nvPicPr>
          <p:cNvPr id="6" name="Image 0" descr="astable_wave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21789"/>
            <a:ext cx="5120640" cy="313426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VC rises and falls between Vcc/3 and 2Vcc/3.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Output is a rectangular wave.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HIGH time is always longer than LOW time (RA &gt; 0).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Frequency and duty cycle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897380"/>
            <a:ext cx="262128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897380"/>
            <a:ext cx="2621280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0.693 (RA + 2RB) C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19582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period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3261360" y="1897380"/>
            <a:ext cx="262128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61360" y="1897380"/>
            <a:ext cx="2621280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1.44 / [(RA + 2RB) C]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3261360" y="319582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frequency</a:t>
            </a:r>
            <a:endParaRPr lang="en-US" sz="1300" dirty="0"/>
          </a:p>
        </p:txBody>
      </p:sp>
      <p:sp>
        <p:nvSpPr>
          <p:cNvPr id="12" name="Formula"/>
          <p:cNvSpPr/>
          <p:nvPr/>
        </p:nvSpPr>
        <p:spPr>
          <a:xfrm>
            <a:off x="6065520" y="1897380"/>
            <a:ext cx="262128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65520" y="1897380"/>
            <a:ext cx="2621280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(RA + RB)/(RA + 2RB)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065520" y="319582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duty cycle (&gt; 50 %)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astable design check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RA = 1 kΩ, RB = 10 kΩ, C = 0.1 µF. Find THIGH, TLOW, frequency and duty cycle.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THIGH = 0.693 × 11 kΩ × 0.1 µF = 0.762 ms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TLOW = 0.693 × 10 kΩ × 0.1 µF = 0.693 ms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 = 1.455 ms → f = 1.44/(21 kΩ × 0.1 µF) = 686 Hz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 = 11/21 = 52.4 %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f ≈ 687 Hz, duty cycle 52.4 %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555: two comparators, SR flip-flop, discharge transistor, 3 × 5 kΩ divider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Astable: C charges to 2Vcc/3 and discharges to Vcc/3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THIGH = 0.693(RA + RB)C; TLOW = 0.693 RB C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 = 1.44/[(RA + 2RB)C]; D = (RA + RB)/(RA + 2RB)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Draw and explain the 555 astable multivibrator.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Find f and duty cycle for RA = 2.2 kΩ, RB = 4.7 kΩ, C = 10 nF.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How would you get an approximately 50 % duty cycle?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State the pin functions of the 555.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EE">
  <a:themeElements>
    <a:clrScheme name="BEEE">
      <a:dk1>
        <a:srgbClr val="0B1F3A"/>
      </a:dk1>
      <a:lt1>
        <a:srgbClr val="FFFFFF"/>
      </a:lt1>
      <a:dk2>
        <a:srgbClr val="16396B"/>
      </a:dk2>
      <a:lt2>
        <a:srgbClr val="EDF2F8"/>
      </a:lt2>
      <a:accent1>
        <a:srgbClr val="F5A623"/>
      </a:accent1>
      <a:accent2>
        <a:srgbClr val="14777B"/>
      </a:accent2>
      <a:accent3>
        <a:srgbClr val="C93C20"/>
      </a:accent3>
      <a:accent4>
        <a:srgbClr val="5B6B7F"/>
      </a:accent4>
      <a:accent5>
        <a:srgbClr val="3E7CB1"/>
      </a:accent5>
      <a:accent6>
        <a:srgbClr val="7A4FD6"/>
      </a:accent6>
      <a:hlink>
        <a:srgbClr val="3E7CB1"/>
      </a:hlink>
      <a:folHlink>
        <a:srgbClr val="5B6B7F"/>
      </a:folHlink>
    </a:clrScheme>
    <a:fontScheme name="BE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555 Timer IC in Astable Mode</dc:title>
  <dc:subject>PptxGenJS Presentation</dc:subject>
  <dc:creator>Dr. Mitesh Astik</dc:creator>
  <cp:lastModifiedBy>Dr. Mitesh Astik</cp:lastModifiedBy>
  <cp:revision>1</cp:revision>
  <dcterms:created xsi:type="dcterms:W3CDTF">2026-10-29T10:05:22Z</dcterms:created>
  <dcterms:modified xsi:type="dcterms:W3CDTF">2026-10-29T10:05:22Z</dcterms:modified>
</cp:coreProperties>
</file>