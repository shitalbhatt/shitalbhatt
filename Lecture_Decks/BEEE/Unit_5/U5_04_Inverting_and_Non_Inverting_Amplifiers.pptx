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Unit 5 · Inverting and Non-Inverting Amplifiers" id="{4a8cbea9-beb7-50c9-58cf-a6501c8ab36b}">
          <p14:sldIdLst>
            <p14:sldId id="256"/>
            <p14:sldId id="257"/>
            <p14:sldId id="258"/>
            <p14:sldId id="259"/>
            <p14:sldId id="260"/>
            <p14:sldId id="261"/>
            <p14:sldId id="262"/>
            <p14:sldId id="263"/>
            <p14:sldId id="264"/>
            <p14:sldId id="265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Welcome. In this session we study "Inverting and Non-Inverting Amplifiers", part of Unit 5 (Op-Amp and Linear IC Applications) of Basic Electrical and Electronics Engineering.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By the end of this topic you should be able to do the following. Derive the gain of the inverting amplifier. Derive the gain of the non-inverting amplifier. Compare input resistance and phase of both. Design amplifiers for a required gain.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 is called the virtual ground, since it is not directly connected to ground.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closed loop gain depends only on the external resistors R1 and Rf.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gain is positive, so no phase change occurs.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voltage follower or buffer uses the non-inverting configuration with unity gain.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These are the values from your notes.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Make sure the output does not exceed the supply rails.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To summarise this topic. Inverting: vo = −(Rf/R1) vi; Rin = R1. Non-inverting: vo = (1 + Rf/R1) vi; high Rin. Virtual short gives both results with simple algebra. Voltage follower: unity gain buffer.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Attempt these on your own, then check your working against your notes and textbook. Derive the gain of an inverting amplifier. R1 = 10 kΩ, Rf = 47 kΩ: find the gain of both configurations. Design a non-inverting amplifier of gain 5. What is a voltage follower and why is it used?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800600"/>
            <a:ext cx="7132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4"/>
                </a:solidFill>
              </a:rPr>
              <a:t>Basic Electrical and Electronics Engineering · Unit 5 · Dr. Mitesh Astik, NMAMIT Nitte</a:t>
            </a:r>
            <a:endParaRPr lang="en-US" sz="10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1188720" y="274320"/>
            <a:ext cx="7498080" cy="6858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800" b="1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con circle"/>
          <p:cNvSpPr/>
          <p:nvPr/>
        </p:nvSpPr>
        <p:spPr>
          <a:xfrm>
            <a:off x="6858000" y="822960"/>
            <a:ext cx="1737360" cy="173736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3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60920" y="1325880"/>
            <a:ext cx="731520" cy="73152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640080" y="822960"/>
            <a:ext cx="6035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300" kern="0" dirty="0">
                <a:solidFill>
                  <a:schemeClr val="accent1"/>
                </a:solidFill>
              </a:rPr>
              <a:t>UNIT 5  ·  9 hours</a:t>
            </a:r>
            <a:endParaRPr lang="en-US" sz="1500" dirty="0"/>
          </a:p>
        </p:txBody>
      </p:sp>
      <p:sp>
        <p:nvSpPr>
          <p:cNvPr id="5" name="Text 2"/>
          <p:cNvSpPr txBox="1"/>
          <p:nvPr/>
        </p:nvSpPr>
        <p:spPr>
          <a:xfrm>
            <a:off x="640080" y="1280160"/>
            <a:ext cx="60350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Inverting and Non-Inverting Amplifiers</a:t>
            </a:r>
            <a:endParaRPr lang="en-US" sz="3600" dirty="0"/>
          </a:p>
        </p:txBody>
      </p:sp>
      <p:sp>
        <p:nvSpPr>
          <p:cNvPr id="6" name="Text 3"/>
          <p:cNvSpPr txBox="1"/>
          <p:nvPr/>
        </p:nvSpPr>
        <p:spPr>
          <a:xfrm>
            <a:off x="640080" y="2926080"/>
            <a:ext cx="6035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D5E0EE"/>
                </a:solidFill>
              </a:rPr>
              <a:t>Op-Amp and Linear IC Applications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640080" y="3657600"/>
            <a:ext cx="7863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Basic Electrical and Electronics Engineering  (EEE103)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D5E0EE"/>
                </a:solidFill>
              </a:rPr>
              <a:t>Dr. Mitesh Astik · Dept. of Electrical and Electronics Engineering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D5E0EE"/>
                </a:solidFill>
              </a:rPr>
              <a:t>NMAM Institute of Technology, Nitte · 2025-26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1188720" y="274320"/>
            <a:ext cx="7498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Learning objectives</a:t>
            </a:r>
            <a:endParaRPr lang="en-US" sz="2800" dirty="0"/>
          </a:p>
        </p:txBody>
      </p:sp>
      <p:sp>
        <p:nvSpPr>
          <p:cNvPr id="3" name="Unit badge"/>
          <p:cNvSpPr/>
          <p:nvPr/>
        </p:nvSpPr>
        <p:spPr>
          <a:xfrm>
            <a:off x="457200" y="36576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457200" y="3657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U5</a:t>
            </a:r>
            <a:endParaRPr lang="en-US" sz="16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1188720"/>
            <a:ext cx="484632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Derive the gain of the inverting amplifier</a:t>
            </a:r>
            <a:endParaRPr lang="en-US" sz="2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Derive the gain of the non-inverting amplifier</a:t>
            </a:r>
            <a:endParaRPr lang="en-US" sz="2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Compare input resistance and phase of both</a:t>
            </a:r>
            <a:endParaRPr lang="en-US" sz="2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Design amplifiers for a required gain</a:t>
            </a:r>
            <a:endParaRPr lang="en-US" sz="2200" dirty="0"/>
          </a:p>
        </p:txBody>
      </p:sp>
      <p:sp>
        <p:nvSpPr>
          <p:cNvPr id="7" name="Card"/>
          <p:cNvSpPr/>
          <p:nvPr/>
        </p:nvSpPr>
        <p:spPr>
          <a:xfrm>
            <a:off x="5577840" y="1188720"/>
            <a:ext cx="3108960" cy="3383280"/>
          </a:xfrm>
          <a:prstGeom prst="roundRect">
            <a:avLst>
              <a:gd name="adj" fmla="val 2353"/>
            </a:avLst>
          </a:prstGeom>
          <a:solidFill>
            <a:schemeClr val="bg2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5715000" y="1261872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Syllabus context</a:t>
            </a:r>
            <a:endParaRPr lang="en-US" sz="1600" dirty="0"/>
          </a:p>
        </p:txBody>
      </p:sp>
      <p:sp>
        <p:nvSpPr>
          <p:cNvPr id="9" name="Text 6"/>
          <p:cNvSpPr txBox="1"/>
          <p:nvPr/>
        </p:nvSpPr>
        <p:spPr>
          <a:xfrm>
            <a:off x="5715000" y="1645920"/>
            <a:ext cx="2834640" cy="2852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800" dirty="0">
                <a:solidFill>
                  <a:schemeClr val="tx1"/>
                </a:solidFill>
              </a:rPr>
              <a:t>Introduction, op-amp specifications, differential and common-mode operation, op-amp applications: inverting/non-inverting amplifier, summing, integrator, differentiator, comparator, 555 timer IC in astable mode, 78XX series IC voltage regulators.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1188720" y="274320"/>
            <a:ext cx="7498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Inverting amplifier</a:t>
            </a:r>
            <a:endParaRPr lang="en-US" sz="2800" dirty="0"/>
          </a:p>
        </p:txBody>
      </p:sp>
      <p:sp>
        <p:nvSpPr>
          <p:cNvPr id="3" name="Unit badge"/>
          <p:cNvSpPr/>
          <p:nvPr/>
        </p:nvSpPr>
        <p:spPr>
          <a:xfrm>
            <a:off x="457200" y="36576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457200" y="3657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U5</a:t>
            </a:r>
            <a:endParaRPr lang="en-US" sz="1600" dirty="0"/>
          </a:p>
        </p:txBody>
      </p:sp>
      <p:pic>
        <p:nvPicPr>
          <p:cNvPr id="6" name="Image 0" descr="opinv figur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300362"/>
            <a:ext cx="5120640" cy="2977116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5760720" y="1188720"/>
            <a:ext cx="2926080" cy="342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000" dirty="0">
                <a:solidFill>
                  <a:schemeClr val="tx1"/>
                </a:solidFill>
              </a:rPr>
              <a:t>Input via R1 to the inverting terminal; + terminal grounded.</a:t>
            </a:r>
            <a:endParaRPr lang="en-US" sz="20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000" dirty="0">
                <a:solidFill>
                  <a:schemeClr val="tx1"/>
                </a:solidFill>
              </a:rPr>
              <a:t>Rf feeds output back to the − input.</a:t>
            </a:r>
            <a:endParaRPr lang="en-US" sz="20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000" dirty="0">
                <a:solidFill>
                  <a:schemeClr val="tx1"/>
                </a:solidFill>
              </a:rPr>
              <a:t>Virtual ground at the − terminal.</a:t>
            </a:r>
            <a:endParaRPr lang="en-US" sz="20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000" dirty="0">
                <a:solidFill>
                  <a:schemeClr val="tx1"/>
                </a:solidFill>
              </a:rPr>
              <a:t>Output is 180° out of phase.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1188720" y="274320"/>
            <a:ext cx="7498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Deriving the inverting gain</a:t>
            </a:r>
            <a:endParaRPr lang="en-US" sz="2800" dirty="0"/>
          </a:p>
        </p:txBody>
      </p:sp>
      <p:sp>
        <p:nvSpPr>
          <p:cNvPr id="3" name="Unit badge"/>
          <p:cNvSpPr/>
          <p:nvPr/>
        </p:nvSpPr>
        <p:spPr>
          <a:xfrm>
            <a:off x="457200" y="36576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457200" y="3657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U5</a:t>
            </a:r>
            <a:endParaRPr lang="en-US" sz="1600" dirty="0"/>
          </a:p>
        </p:txBody>
      </p:sp>
      <p:sp>
        <p:nvSpPr>
          <p:cNvPr id="6" name="Flow step"/>
          <p:cNvSpPr/>
          <p:nvPr/>
        </p:nvSpPr>
        <p:spPr>
          <a:xfrm>
            <a:off x="457200" y="1234440"/>
            <a:ext cx="1954530" cy="2286000"/>
          </a:xfrm>
          <a:prstGeom prst="roundRect">
            <a:avLst>
              <a:gd name="adj" fmla="val 3743"/>
            </a:avLst>
          </a:prstGeom>
          <a:solidFill>
            <a:schemeClr val="bg2"/>
          </a:solidFill>
          <a:ln/>
        </p:spPr>
      </p:sp>
      <p:sp>
        <p:nvSpPr>
          <p:cNvPr id="7" name="Step number"/>
          <p:cNvSpPr/>
          <p:nvPr/>
        </p:nvSpPr>
        <p:spPr>
          <a:xfrm>
            <a:off x="566928" y="1344168"/>
            <a:ext cx="365760" cy="365760"/>
          </a:xfrm>
          <a:prstGeom prst="ellipse">
            <a:avLst/>
          </a:prstGeom>
          <a:solidFill>
            <a:schemeClr val="tx2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566928" y="134416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1</a:t>
            </a:r>
            <a:endParaRPr lang="en-US" sz="1400" dirty="0"/>
          </a:p>
        </p:txBody>
      </p:sp>
      <p:sp>
        <p:nvSpPr>
          <p:cNvPr id="9" name="Text 6"/>
          <p:cNvSpPr txBox="1"/>
          <p:nvPr/>
        </p:nvSpPr>
        <p:spPr>
          <a:xfrm>
            <a:off x="566928" y="1783080"/>
            <a:ext cx="173507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Input current</a:t>
            </a:r>
            <a:endParaRPr lang="en-US" sz="1500" dirty="0"/>
          </a:p>
        </p:txBody>
      </p:sp>
      <p:sp>
        <p:nvSpPr>
          <p:cNvPr id="10" name="Text 7"/>
          <p:cNvSpPr txBox="1"/>
          <p:nvPr/>
        </p:nvSpPr>
        <p:spPr>
          <a:xfrm>
            <a:off x="566928" y="2084832"/>
            <a:ext cx="1735074" cy="1389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i = (vi − 0)/R1 (virtual ground at 0 V).</a:t>
            </a:r>
            <a:endParaRPr lang="en-US" sz="1500" dirty="0"/>
          </a:p>
        </p:txBody>
      </p:sp>
      <p:sp>
        <p:nvSpPr>
          <p:cNvPr id="11" name="Flow step"/>
          <p:cNvSpPr/>
          <p:nvPr/>
        </p:nvSpPr>
        <p:spPr>
          <a:xfrm>
            <a:off x="2548890" y="1234440"/>
            <a:ext cx="1954530" cy="2286000"/>
          </a:xfrm>
          <a:prstGeom prst="roundRect">
            <a:avLst>
              <a:gd name="adj" fmla="val 3743"/>
            </a:avLst>
          </a:prstGeom>
          <a:solidFill>
            <a:schemeClr val="bg2"/>
          </a:solidFill>
          <a:ln/>
        </p:spPr>
      </p:sp>
      <p:sp>
        <p:nvSpPr>
          <p:cNvPr id="12" name="Step number"/>
          <p:cNvSpPr/>
          <p:nvPr/>
        </p:nvSpPr>
        <p:spPr>
          <a:xfrm>
            <a:off x="2658618" y="1344168"/>
            <a:ext cx="365760" cy="365760"/>
          </a:xfrm>
          <a:prstGeom prst="ellipse">
            <a:avLst/>
          </a:prstGeom>
          <a:solidFill>
            <a:schemeClr val="tx2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2658618" y="134416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2</a:t>
            </a:r>
            <a:endParaRPr lang="en-US" sz="1400" dirty="0"/>
          </a:p>
        </p:txBody>
      </p:sp>
      <p:sp>
        <p:nvSpPr>
          <p:cNvPr id="14" name="Text 11"/>
          <p:cNvSpPr txBox="1"/>
          <p:nvPr/>
        </p:nvSpPr>
        <p:spPr>
          <a:xfrm>
            <a:off x="2658618" y="1783080"/>
            <a:ext cx="173507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No input current</a:t>
            </a:r>
            <a:endParaRPr lang="en-US" sz="1500" dirty="0"/>
          </a:p>
        </p:txBody>
      </p:sp>
      <p:sp>
        <p:nvSpPr>
          <p:cNvPr id="15" name="Text 12"/>
          <p:cNvSpPr txBox="1"/>
          <p:nvPr/>
        </p:nvSpPr>
        <p:spPr>
          <a:xfrm>
            <a:off x="2658618" y="2084832"/>
            <a:ext cx="1735074" cy="1389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No current enters the op-amp, so the same i flows through Rf.</a:t>
            </a:r>
            <a:endParaRPr lang="en-US" sz="1500" dirty="0"/>
          </a:p>
        </p:txBody>
      </p:sp>
      <p:sp>
        <p:nvSpPr>
          <p:cNvPr id="16" name="Flow step"/>
          <p:cNvSpPr/>
          <p:nvPr/>
        </p:nvSpPr>
        <p:spPr>
          <a:xfrm>
            <a:off x="4640580" y="1234440"/>
            <a:ext cx="1954530" cy="2286000"/>
          </a:xfrm>
          <a:prstGeom prst="roundRect">
            <a:avLst>
              <a:gd name="adj" fmla="val 3743"/>
            </a:avLst>
          </a:prstGeom>
          <a:solidFill>
            <a:schemeClr val="bg2"/>
          </a:solidFill>
          <a:ln/>
        </p:spPr>
      </p:sp>
      <p:sp>
        <p:nvSpPr>
          <p:cNvPr id="17" name="Step number"/>
          <p:cNvSpPr/>
          <p:nvPr/>
        </p:nvSpPr>
        <p:spPr>
          <a:xfrm>
            <a:off x="4750308" y="1344168"/>
            <a:ext cx="365760" cy="365760"/>
          </a:xfrm>
          <a:prstGeom prst="ellipse">
            <a:avLst/>
          </a:prstGeom>
          <a:solidFill>
            <a:schemeClr val="tx2"/>
          </a:solidFill>
          <a:ln/>
        </p:spPr>
      </p:sp>
      <p:sp>
        <p:nvSpPr>
          <p:cNvPr id="18" name="Text 15"/>
          <p:cNvSpPr txBox="1"/>
          <p:nvPr/>
        </p:nvSpPr>
        <p:spPr>
          <a:xfrm>
            <a:off x="4750308" y="134416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3</a:t>
            </a:r>
            <a:endParaRPr lang="en-US" sz="1400" dirty="0"/>
          </a:p>
        </p:txBody>
      </p:sp>
      <p:sp>
        <p:nvSpPr>
          <p:cNvPr id="19" name="Text 16"/>
          <p:cNvSpPr txBox="1"/>
          <p:nvPr/>
        </p:nvSpPr>
        <p:spPr>
          <a:xfrm>
            <a:off x="4750308" y="1783080"/>
            <a:ext cx="173507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Feedback</a:t>
            </a:r>
            <a:endParaRPr lang="en-US" sz="1500" dirty="0"/>
          </a:p>
        </p:txBody>
      </p:sp>
      <p:sp>
        <p:nvSpPr>
          <p:cNvPr id="20" name="Text 17"/>
          <p:cNvSpPr txBox="1"/>
          <p:nvPr/>
        </p:nvSpPr>
        <p:spPr>
          <a:xfrm>
            <a:off x="4750308" y="2084832"/>
            <a:ext cx="1735074" cy="1389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i = (0 − vo)/Rf.</a:t>
            </a:r>
            <a:endParaRPr lang="en-US" sz="1500" dirty="0"/>
          </a:p>
        </p:txBody>
      </p:sp>
      <p:sp>
        <p:nvSpPr>
          <p:cNvPr id="21" name="Flow step"/>
          <p:cNvSpPr/>
          <p:nvPr/>
        </p:nvSpPr>
        <p:spPr>
          <a:xfrm>
            <a:off x="6732270" y="1234440"/>
            <a:ext cx="1954530" cy="2286000"/>
          </a:xfrm>
          <a:prstGeom prst="roundRect">
            <a:avLst>
              <a:gd name="adj" fmla="val 3743"/>
            </a:avLst>
          </a:prstGeom>
          <a:solidFill>
            <a:schemeClr val="accent1"/>
          </a:solidFill>
          <a:ln/>
        </p:spPr>
      </p:sp>
      <p:sp>
        <p:nvSpPr>
          <p:cNvPr id="22" name="Step number"/>
          <p:cNvSpPr/>
          <p:nvPr/>
        </p:nvSpPr>
        <p:spPr>
          <a:xfrm>
            <a:off x="6841998" y="1344168"/>
            <a:ext cx="365760" cy="365760"/>
          </a:xfrm>
          <a:prstGeom prst="ellipse">
            <a:avLst/>
          </a:prstGeom>
          <a:solidFill>
            <a:schemeClr val="tx2"/>
          </a:solidFill>
          <a:ln/>
        </p:spPr>
      </p:sp>
      <p:sp>
        <p:nvSpPr>
          <p:cNvPr id="23" name="Text 20"/>
          <p:cNvSpPr txBox="1"/>
          <p:nvPr/>
        </p:nvSpPr>
        <p:spPr>
          <a:xfrm>
            <a:off x="6841998" y="134416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4</a:t>
            </a:r>
            <a:endParaRPr lang="en-US" sz="1400" dirty="0"/>
          </a:p>
        </p:txBody>
      </p:sp>
      <p:sp>
        <p:nvSpPr>
          <p:cNvPr id="24" name="Text 21"/>
          <p:cNvSpPr txBox="1"/>
          <p:nvPr/>
        </p:nvSpPr>
        <p:spPr>
          <a:xfrm>
            <a:off x="6841998" y="1783080"/>
            <a:ext cx="173507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Equate</a:t>
            </a:r>
            <a:endParaRPr lang="en-US" sz="1500" dirty="0"/>
          </a:p>
        </p:txBody>
      </p:sp>
      <p:sp>
        <p:nvSpPr>
          <p:cNvPr id="25" name="Text 22"/>
          <p:cNvSpPr txBox="1"/>
          <p:nvPr/>
        </p:nvSpPr>
        <p:spPr>
          <a:xfrm>
            <a:off x="6841998" y="2084832"/>
            <a:ext cx="1735074" cy="1389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vi/R1 = −vo/Rf ⇒ vo/vi = −Rf/R1.</a:t>
            </a:r>
            <a:endParaRPr lang="en-US" sz="1500" dirty="0"/>
          </a:p>
        </p:txBody>
      </p:sp>
      <p:sp>
        <p:nvSpPr>
          <p:cNvPr id="26" name="Highlight strip"/>
          <p:cNvSpPr/>
          <p:nvPr/>
        </p:nvSpPr>
        <p:spPr>
          <a:xfrm>
            <a:off x="457200" y="3749040"/>
            <a:ext cx="8229600" cy="822960"/>
          </a:xfrm>
          <a:prstGeom prst="roundRect">
            <a:avLst>
              <a:gd name="adj" fmla="val 8889"/>
            </a:avLst>
          </a:prstGeom>
          <a:solidFill>
            <a:schemeClr val="tx2"/>
          </a:solidFill>
          <a:ln/>
        </p:spPr>
      </p:sp>
      <p:sp>
        <p:nvSpPr>
          <p:cNvPr id="27" name="Text 24"/>
          <p:cNvSpPr txBox="1"/>
          <p:nvPr/>
        </p:nvSpPr>
        <p:spPr>
          <a:xfrm>
            <a:off x="640080" y="3749040"/>
            <a:ext cx="7863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ACL = −Rf / R1,   input resistance Rin = R1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1188720" y="274320"/>
            <a:ext cx="7498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Non-inverting amplifier</a:t>
            </a:r>
            <a:endParaRPr lang="en-US" sz="2800" dirty="0"/>
          </a:p>
        </p:txBody>
      </p:sp>
      <p:sp>
        <p:nvSpPr>
          <p:cNvPr id="3" name="Unit badge"/>
          <p:cNvSpPr/>
          <p:nvPr/>
        </p:nvSpPr>
        <p:spPr>
          <a:xfrm>
            <a:off x="457200" y="36576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457200" y="3657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U5</a:t>
            </a:r>
            <a:endParaRPr lang="en-US" sz="1600" dirty="0"/>
          </a:p>
        </p:txBody>
      </p:sp>
      <p:pic>
        <p:nvPicPr>
          <p:cNvPr id="6" name="Image 0" descr="opnon figur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248262"/>
            <a:ext cx="5120640" cy="3081315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5760720" y="1188720"/>
            <a:ext cx="2926080" cy="342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Input applied to the + terminal.</a:t>
            </a:r>
            <a:endParaRPr lang="en-US" sz="18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R1 from − terminal to ground; Rf from output to −.</a:t>
            </a:r>
            <a:endParaRPr lang="en-US" sz="18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The voltage at − equals vi (virtual short).</a:t>
            </a:r>
            <a:endParaRPr lang="en-US" sz="18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i = vi/R1 = (vo − vi)/Rf ⇒ vo/vi = 1 + Rf/R1.</a:t>
            </a:r>
            <a:endParaRPr lang="en-US" sz="18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Output in phase; Rin very high.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1188720" y="274320"/>
            <a:ext cx="7498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Inverting versus non-inverting</a:t>
            </a:r>
            <a:endParaRPr lang="en-US" sz="2800" dirty="0"/>
          </a:p>
        </p:txBody>
      </p:sp>
      <p:sp>
        <p:nvSpPr>
          <p:cNvPr id="3" name="Unit badge"/>
          <p:cNvSpPr/>
          <p:nvPr/>
        </p:nvSpPr>
        <p:spPr>
          <a:xfrm>
            <a:off x="457200" y="36576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457200" y="3657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U5</a:t>
            </a:r>
            <a:endParaRPr lang="en-US" sz="1600" dirty="0"/>
          </a:p>
        </p:txBody>
      </p:sp>
      <p:sp>
        <p:nvSpPr>
          <p:cNvPr id="6" name="Compare card"/>
          <p:cNvSpPr/>
          <p:nvPr/>
        </p:nvSpPr>
        <p:spPr>
          <a:xfrm>
            <a:off x="457200" y="1188720"/>
            <a:ext cx="4023360" cy="3429000"/>
          </a:xfrm>
          <a:prstGeom prst="roundRect">
            <a:avLst>
              <a:gd name="adj" fmla="val 2133"/>
            </a:avLst>
          </a:prstGeom>
          <a:solidFill>
            <a:schemeClr val="bg2"/>
          </a:solidFill>
          <a:ln/>
        </p:spPr>
      </p:sp>
      <p:sp>
        <p:nvSpPr>
          <p:cNvPr id="7" name="Compare header"/>
          <p:cNvSpPr/>
          <p:nvPr/>
        </p:nvSpPr>
        <p:spPr>
          <a:xfrm>
            <a:off x="457200" y="1188720"/>
            <a:ext cx="4023360" cy="502920"/>
          </a:xfrm>
          <a:prstGeom prst="roundRect">
            <a:avLst>
              <a:gd name="adj" fmla="val 14545"/>
            </a:avLst>
          </a:prstGeom>
          <a:solidFill>
            <a:schemeClr val="tx2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594360" y="1188720"/>
            <a:ext cx="3749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bg1"/>
                </a:solidFill>
              </a:rPr>
              <a:t>Inverting</a:t>
            </a:r>
            <a:endParaRPr lang="en-US" sz="1700" dirty="0"/>
          </a:p>
        </p:txBody>
      </p:sp>
      <p:sp>
        <p:nvSpPr>
          <p:cNvPr id="9" name="Text 6"/>
          <p:cNvSpPr txBox="1"/>
          <p:nvPr/>
        </p:nvSpPr>
        <p:spPr>
          <a:xfrm>
            <a:off x="594360" y="1828800"/>
            <a:ext cx="374904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000" dirty="0">
                <a:solidFill>
                  <a:schemeClr val="tx1"/>
                </a:solidFill>
              </a:rPr>
              <a:t>Gain = −Rf/R1 (can be &lt; 1)</a:t>
            </a:r>
            <a:endParaRPr lang="en-US" sz="20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000" dirty="0">
                <a:solidFill>
                  <a:schemeClr val="tx1"/>
                </a:solidFill>
              </a:rPr>
              <a:t>Phase shift 180°</a:t>
            </a:r>
            <a:endParaRPr lang="en-US" sz="20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000" dirty="0">
                <a:solidFill>
                  <a:schemeClr val="tx1"/>
                </a:solidFill>
              </a:rPr>
              <a:t>Input resistance = R1</a:t>
            </a:r>
            <a:endParaRPr lang="en-US" sz="20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000" dirty="0">
                <a:solidFill>
                  <a:schemeClr val="tx1"/>
                </a:solidFill>
              </a:rPr>
              <a:t>Virtual ground at the input</a:t>
            </a:r>
            <a:endParaRPr lang="en-US" sz="2000" dirty="0"/>
          </a:p>
        </p:txBody>
      </p:sp>
      <p:sp>
        <p:nvSpPr>
          <p:cNvPr id="10" name="Compare card"/>
          <p:cNvSpPr/>
          <p:nvPr/>
        </p:nvSpPr>
        <p:spPr>
          <a:xfrm>
            <a:off x="4663440" y="1188720"/>
            <a:ext cx="4023360" cy="3429000"/>
          </a:xfrm>
          <a:prstGeom prst="roundRect">
            <a:avLst>
              <a:gd name="adj" fmla="val 2133"/>
            </a:avLst>
          </a:prstGeom>
          <a:solidFill>
            <a:schemeClr val="bg2"/>
          </a:solidFill>
          <a:ln/>
        </p:spPr>
      </p:sp>
      <p:sp>
        <p:nvSpPr>
          <p:cNvPr id="11" name="Compare header"/>
          <p:cNvSpPr/>
          <p:nvPr/>
        </p:nvSpPr>
        <p:spPr>
          <a:xfrm>
            <a:off x="4663440" y="1188720"/>
            <a:ext cx="4023360" cy="502920"/>
          </a:xfrm>
          <a:prstGeom prst="roundRect">
            <a:avLst>
              <a:gd name="adj" fmla="val 14545"/>
            </a:avLst>
          </a:prstGeom>
          <a:solidFill>
            <a:schemeClr val="accent2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4800600" y="1188720"/>
            <a:ext cx="3749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bg1"/>
                </a:solidFill>
              </a:rPr>
              <a:t>Non-inverting</a:t>
            </a:r>
            <a:endParaRPr lang="en-US" sz="1700" dirty="0"/>
          </a:p>
        </p:txBody>
      </p:sp>
      <p:sp>
        <p:nvSpPr>
          <p:cNvPr id="13" name="Text 10"/>
          <p:cNvSpPr txBox="1"/>
          <p:nvPr/>
        </p:nvSpPr>
        <p:spPr>
          <a:xfrm>
            <a:off x="4800600" y="1828800"/>
            <a:ext cx="374904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000" dirty="0">
                <a:solidFill>
                  <a:schemeClr val="tx1"/>
                </a:solidFill>
              </a:rPr>
              <a:t>Gain = 1 + Rf/R1 (≥ 1)</a:t>
            </a:r>
            <a:endParaRPr lang="en-US" sz="20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000" dirty="0">
                <a:solidFill>
                  <a:schemeClr val="tx1"/>
                </a:solidFill>
              </a:rPr>
              <a:t>No phase shift</a:t>
            </a:r>
            <a:endParaRPr lang="en-US" sz="20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000" dirty="0">
                <a:solidFill>
                  <a:schemeClr val="tx1"/>
                </a:solidFill>
              </a:rPr>
              <a:t>Input resistance very high</a:t>
            </a:r>
            <a:endParaRPr lang="en-US" sz="20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000" dirty="0">
                <a:solidFill>
                  <a:schemeClr val="tx1"/>
                </a:solidFill>
              </a:rPr>
              <a:t>Voltage follower: Rf = 0, R1 = ∞ → gain 1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1188720" y="274320"/>
            <a:ext cx="7498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Numerical 1: inverting amplifier</a:t>
            </a:r>
            <a:endParaRPr lang="en-US" sz="2800" dirty="0"/>
          </a:p>
        </p:txBody>
      </p:sp>
      <p:sp>
        <p:nvSpPr>
          <p:cNvPr id="3" name="Unit badge"/>
          <p:cNvSpPr/>
          <p:nvPr/>
        </p:nvSpPr>
        <p:spPr>
          <a:xfrm>
            <a:off x="457200" y="36576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457200" y="3657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U5</a:t>
            </a:r>
            <a:endParaRPr lang="en-US" sz="1600" dirty="0"/>
          </a:p>
        </p:txBody>
      </p:sp>
      <p:sp>
        <p:nvSpPr>
          <p:cNvPr id="6" name="Problem"/>
          <p:cNvSpPr/>
          <p:nvPr/>
        </p:nvSpPr>
        <p:spPr>
          <a:xfrm>
            <a:off x="457200" y="1143000"/>
            <a:ext cx="8229600" cy="868680"/>
          </a:xfrm>
          <a:prstGeom prst="roundRect">
            <a:avLst>
              <a:gd name="adj" fmla="val 8421"/>
            </a:avLst>
          </a:prstGeom>
          <a:solidFill>
            <a:schemeClr val="tx2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640080" y="1143000"/>
            <a:ext cx="7863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Problem  </a:t>
            </a:r>
            <a:pPr indent="0" marL="0">
              <a:buNone/>
            </a:pPr>
            <a:r>
              <a:rPr lang="en-US" sz="1500" dirty="0">
                <a:solidFill>
                  <a:schemeClr val="bg1"/>
                </a:solidFill>
              </a:rPr>
              <a:t>R1 = 20 kΩ, Rf = 100 kΩ, vi = 1 V. Find vo, Rin and the input current.</a:t>
            </a:r>
            <a:endParaRPr lang="en-US" sz="1500" dirty="0"/>
          </a:p>
        </p:txBody>
      </p:sp>
      <p:sp>
        <p:nvSpPr>
          <p:cNvPr id="8" name="Text 5"/>
          <p:cNvSpPr txBox="1"/>
          <p:nvPr/>
        </p:nvSpPr>
        <p:spPr>
          <a:xfrm>
            <a:off x="457200" y="2148840"/>
            <a:ext cx="82296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vo = −(Rf/R1) vi = −(100/20)(1) = −5 V</a:t>
            </a:r>
            <a:endParaRPr lang="en-US" sz="2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Rin = R1 = 20 kΩ</a:t>
            </a:r>
            <a:endParaRPr lang="en-US" sz="2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iin = vi/Rin = 1 V/20 kΩ</a:t>
            </a:r>
            <a:endParaRPr lang="en-US" sz="2200" dirty="0"/>
          </a:p>
        </p:txBody>
      </p:sp>
      <p:sp>
        <p:nvSpPr>
          <p:cNvPr id="9" name="Answer"/>
          <p:cNvSpPr/>
          <p:nvPr/>
        </p:nvSpPr>
        <p:spPr>
          <a:xfrm>
            <a:off x="457200" y="4069080"/>
            <a:ext cx="8229600" cy="548640"/>
          </a:xfrm>
          <a:prstGeom prst="roundRect">
            <a:avLst>
              <a:gd name="adj" fmla="val 13333"/>
            </a:avLst>
          </a:prstGeom>
          <a:solidFill>
            <a:schemeClr val="accent1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640080" y="406908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Answer:  vo = −5 V, Rin = 20 kΩ, iin = 0.05 mA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1188720" y="274320"/>
            <a:ext cx="7498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Numerical 2: design</a:t>
            </a:r>
            <a:endParaRPr lang="en-US" sz="2800" dirty="0"/>
          </a:p>
        </p:txBody>
      </p:sp>
      <p:sp>
        <p:nvSpPr>
          <p:cNvPr id="3" name="Unit badge"/>
          <p:cNvSpPr/>
          <p:nvPr/>
        </p:nvSpPr>
        <p:spPr>
          <a:xfrm>
            <a:off x="457200" y="36576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457200" y="3657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U5</a:t>
            </a:r>
            <a:endParaRPr lang="en-US" sz="1600" dirty="0"/>
          </a:p>
        </p:txBody>
      </p:sp>
      <p:sp>
        <p:nvSpPr>
          <p:cNvPr id="6" name="Problem"/>
          <p:cNvSpPr/>
          <p:nvPr/>
        </p:nvSpPr>
        <p:spPr>
          <a:xfrm>
            <a:off x="457200" y="1143000"/>
            <a:ext cx="8229600" cy="868680"/>
          </a:xfrm>
          <a:prstGeom prst="roundRect">
            <a:avLst>
              <a:gd name="adj" fmla="val 8421"/>
            </a:avLst>
          </a:prstGeom>
          <a:solidFill>
            <a:schemeClr val="tx2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640080" y="1143000"/>
            <a:ext cx="7863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Problem  </a:t>
            </a:r>
            <a:pPr indent="0" marL="0">
              <a:buNone/>
            </a:pPr>
            <a:r>
              <a:rPr lang="en-US" sz="1500" dirty="0">
                <a:solidFill>
                  <a:schemeClr val="bg1"/>
                </a:solidFill>
              </a:rPr>
              <a:t>Design (a) an inverting amplifier with Rin = 30 kΩ and gain −10; (b) a non-inverting amplifier of gain 10 using R1 = 1 kΩ.</a:t>
            </a:r>
            <a:endParaRPr lang="en-US" sz="1500" dirty="0"/>
          </a:p>
        </p:txBody>
      </p:sp>
      <p:sp>
        <p:nvSpPr>
          <p:cNvPr id="8" name="Text 5"/>
          <p:cNvSpPr txBox="1"/>
          <p:nvPr/>
        </p:nvSpPr>
        <p:spPr>
          <a:xfrm>
            <a:off x="457200" y="2148840"/>
            <a:ext cx="82296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(a) R1 = 30 kΩ;  Rf = 10 × 30 kΩ = 300 kΩ</a:t>
            </a:r>
            <a:endParaRPr lang="en-US" sz="2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(b) 1 + Rf/R1 = 10 ⇒ Rf = 9 R1 = 9 kΩ</a:t>
            </a:r>
            <a:endParaRPr lang="en-US" sz="2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Check (b) with vi = 0.5 V: vo = 10 × 0.5 = 5 V</a:t>
            </a:r>
            <a:endParaRPr lang="en-US" sz="2200" dirty="0"/>
          </a:p>
        </p:txBody>
      </p:sp>
      <p:sp>
        <p:nvSpPr>
          <p:cNvPr id="9" name="Answer"/>
          <p:cNvSpPr/>
          <p:nvPr/>
        </p:nvSpPr>
        <p:spPr>
          <a:xfrm>
            <a:off x="457200" y="4069080"/>
            <a:ext cx="8229600" cy="548640"/>
          </a:xfrm>
          <a:prstGeom prst="roundRect">
            <a:avLst>
              <a:gd name="adj" fmla="val 13333"/>
            </a:avLst>
          </a:prstGeom>
          <a:solidFill>
            <a:schemeClr val="accent1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640080" y="406908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Answer:  (a) Rf = 300 kΩ;  (b) Rf = 9 kΩ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1188720" y="274320"/>
            <a:ext cx="7498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Key takeaways</a:t>
            </a:r>
            <a:endParaRPr lang="en-US" sz="2800" dirty="0"/>
          </a:p>
        </p:txBody>
      </p:sp>
      <p:sp>
        <p:nvSpPr>
          <p:cNvPr id="3" name="Unit badge"/>
          <p:cNvSpPr/>
          <p:nvPr/>
        </p:nvSpPr>
        <p:spPr>
          <a:xfrm>
            <a:off x="457200" y="36576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457200" y="3657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U5</a:t>
            </a:r>
            <a:endParaRPr lang="en-US" sz="16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1188720"/>
            <a:ext cx="8229600" cy="342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Inverting: vo = −(Rf/R1) vi; Rin = R1</a:t>
            </a:r>
            <a:endParaRPr lang="en-US" sz="2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Non-inverting: vo = (1 + Rf/R1) vi; high Rin</a:t>
            </a:r>
            <a:endParaRPr lang="en-US" sz="2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Virtual short gives both results with simple algebra</a:t>
            </a:r>
            <a:endParaRPr lang="en-US" sz="2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Voltage follower: unity gain buffer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1188720" y="274320"/>
            <a:ext cx="7498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Practice questions</a:t>
            </a:r>
            <a:endParaRPr lang="en-US" sz="2800" dirty="0"/>
          </a:p>
        </p:txBody>
      </p:sp>
      <p:sp>
        <p:nvSpPr>
          <p:cNvPr id="3" name="Unit badge"/>
          <p:cNvSpPr/>
          <p:nvPr/>
        </p:nvSpPr>
        <p:spPr>
          <a:xfrm>
            <a:off x="457200" y="36576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457200" y="3657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U5</a:t>
            </a:r>
            <a:endParaRPr lang="en-US" sz="16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1188720"/>
            <a:ext cx="8229600" cy="342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b="1" dirty="0">
                <a:solidFill>
                  <a:schemeClr val="tx2"/>
                </a:solidFill>
              </a:rPr>
              <a:t>Q1. </a:t>
            </a:r>
            <a:pPr indent="0" marL="0">
              <a:spcAft>
                <a:spcPts val="600"/>
              </a:spcAft>
              <a:buNone/>
            </a:pPr>
            <a:r>
              <a:rPr lang="en-US" sz="1700" dirty="0">
                <a:solidFill>
                  <a:schemeClr val="tx1"/>
                </a:solidFill>
              </a:rPr>
              <a:t>Derive the gain of an inverting amplifier.</a:t>
            </a:r>
            <a:endParaRPr lang="en-US" sz="17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b="1" dirty="0">
                <a:solidFill>
                  <a:schemeClr val="tx2"/>
                </a:solidFill>
              </a:rPr>
              <a:t>Q2. </a:t>
            </a:r>
            <a:pPr indent="0" marL="0">
              <a:spcAft>
                <a:spcPts val="600"/>
              </a:spcAft>
              <a:buNone/>
            </a:pPr>
            <a:r>
              <a:rPr lang="en-US" sz="1700" dirty="0">
                <a:solidFill>
                  <a:schemeClr val="tx1"/>
                </a:solidFill>
              </a:rPr>
              <a:t>R1 = 10 kΩ, Rf = 47 kΩ: find the gain of both configurations.</a:t>
            </a:r>
            <a:endParaRPr lang="en-US" sz="17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b="1" dirty="0">
                <a:solidFill>
                  <a:schemeClr val="tx2"/>
                </a:solidFill>
              </a:rPr>
              <a:t>Q3. </a:t>
            </a:r>
            <a:pPr indent="0" marL="0">
              <a:spcAft>
                <a:spcPts val="600"/>
              </a:spcAft>
              <a:buNone/>
            </a:pPr>
            <a:r>
              <a:rPr lang="en-US" sz="1700" dirty="0">
                <a:solidFill>
                  <a:schemeClr val="tx1"/>
                </a:solidFill>
              </a:rPr>
              <a:t>Design a non-inverting amplifier of gain 5.</a:t>
            </a:r>
            <a:endParaRPr lang="en-US" sz="17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b="1" dirty="0">
                <a:solidFill>
                  <a:schemeClr val="tx2"/>
                </a:solidFill>
              </a:rPr>
              <a:t>Q4. </a:t>
            </a:r>
            <a:pPr indent="0" marL="0">
              <a:spcAft>
                <a:spcPts val="600"/>
              </a:spcAft>
              <a:buNone/>
            </a:pPr>
            <a:r>
              <a:rPr lang="en-US" sz="1700" dirty="0">
                <a:solidFill>
                  <a:schemeClr val="tx1"/>
                </a:solidFill>
              </a:rPr>
              <a:t>What is a voltage follower and why is it used?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BEEE">
  <a:themeElements>
    <a:clrScheme name="BEEE">
      <a:dk1>
        <a:srgbClr val="0B1F3A"/>
      </a:dk1>
      <a:lt1>
        <a:srgbClr val="FFFFFF"/>
      </a:lt1>
      <a:dk2>
        <a:srgbClr val="16396B"/>
      </a:dk2>
      <a:lt2>
        <a:srgbClr val="EDF2F8"/>
      </a:lt2>
      <a:accent1>
        <a:srgbClr val="F5A623"/>
      </a:accent1>
      <a:accent2>
        <a:srgbClr val="14777B"/>
      </a:accent2>
      <a:accent3>
        <a:srgbClr val="C93C20"/>
      </a:accent3>
      <a:accent4>
        <a:srgbClr val="5B6B7F"/>
      </a:accent4>
      <a:accent5>
        <a:srgbClr val="3E7CB1"/>
      </a:accent5>
      <a:accent6>
        <a:srgbClr val="7A4FD6"/>
      </a:accent6>
      <a:hlink>
        <a:srgbClr val="3E7CB1"/>
      </a:hlink>
      <a:folHlink>
        <a:srgbClr val="5B6B7F"/>
      </a:folHlink>
    </a:clrScheme>
    <a:fontScheme name="BEEE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Dept. of EEE, NMAMIT, Nitte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Inverting and Non-Inverting Amplifiers</dc:title>
  <dc:subject>PptxGenJS Presentation</dc:subject>
  <dc:creator>Dr. Mitesh Astik</dc:creator>
  <cp:lastModifiedBy>Dr. Mitesh Astik</cp:lastModifiedBy>
  <cp:revision>1</cp:revision>
  <dcterms:created xsi:type="dcterms:W3CDTF">2026-10-29T10:05:21Z</dcterms:created>
  <dcterms:modified xsi:type="dcterms:W3CDTF">2026-10-29T10:05:21Z</dcterms:modified>
</cp:coreProperties>
</file>