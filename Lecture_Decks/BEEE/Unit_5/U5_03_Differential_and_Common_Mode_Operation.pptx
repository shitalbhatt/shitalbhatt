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5 · Differential and Common-Mode Operation" id="{ea4476f1-dcd4-f230-56a5-1e2b5e1fdf1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"Differential and Common-Mode Operation", part of Unit 5 (Op-Amp and Linear IC Applications) of Basic Electrical and Electronics Engineering.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Explain single-ended, differential and common-mode operation. Define differential and common-mode gain. Calculate CMRR in ratio and dB. Explain the concept of virtual 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 amps respond mainly to the difference between inputs.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output of a practical op amp has two components.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relative sensitivity of an op amp to a difference signal as compared to a common mode signal is the C M R 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common mode component contributes about one percent of the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virtual short circuit exists between the two input terminals even though no current passes through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vo = Ad vd + Acm vcm. CMRR = Ad/Acm; in dB = 20 log10. High CMRR rejects noise common to both inputs. Virtual ground: v1 ≈ v2 with no input current.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Explain the three modes of op-amp operation. Ad = 2000, Acm = 0.2. Find CMRR in dB. What is virtual ground and why does it occur? Why is high CMRR important for sensor signals?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Basic Electrical and Electronics Engineering · Unit 5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5  ·  9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Differential and Common-Mode Operation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E0EE"/>
                </a:solidFill>
              </a:rPr>
              <a:t>Op-Amp and Linear IC Applications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Basic Electrical and Electronics Engineering  (EEE103)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Explain single-ended, differential and common-mode operation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Define differential and common-mode gain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Calculate CMRR in ratio and dB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Explain the concept of virtual ground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Introduction, op-amp specifications, differential and common-mode operation, op-amp applications: inverting/non-inverting amplifier, summing, integrator, differentiator, comparator, 555 timer IC in astable mode, 78XX series IC voltage regulators.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Modes of operation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Single-ended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One input is grounded (v1 = 0 or v2 = 0). Output = A × other input.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326136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9852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Differential mode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9852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Inputs equal and opposite (v1 = −v2). Output = Ad (v2 − v1).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606552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0268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Common mode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20268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Inputs identical (v1 = v2 = vcm). Ideal output = 0; practical output = Acm vcm.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Output equation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Formula"/>
          <p:cNvSpPr/>
          <p:nvPr/>
        </p:nvSpPr>
        <p:spPr>
          <a:xfrm>
            <a:off x="45720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 = Ad vd + Acm vcm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general</a:t>
            </a:r>
            <a:endParaRPr lang="en-US" sz="1300" dirty="0"/>
          </a:p>
        </p:txBody>
      </p:sp>
      <p:sp>
        <p:nvSpPr>
          <p:cNvPr id="9" name="Formula"/>
          <p:cNvSpPr/>
          <p:nvPr/>
        </p:nvSpPr>
        <p:spPr>
          <a:xfrm>
            <a:off x="326136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26136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vd = v2 − v1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26136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difference</a:t>
            </a:r>
            <a:endParaRPr lang="en-US" sz="1300" dirty="0"/>
          </a:p>
        </p:txBody>
      </p:sp>
      <p:sp>
        <p:nvSpPr>
          <p:cNvPr id="12" name="Formula"/>
          <p:cNvSpPr/>
          <p:nvPr/>
        </p:nvSpPr>
        <p:spPr>
          <a:xfrm>
            <a:off x="606552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06552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vcm = (v1 + v2)/2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06552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average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2560320"/>
            <a:ext cx="8229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Ideal op-amp: Acm = 0, so vo depends only on vd.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Practical: small Acm ≠ 0 → noise common to both inputs leaks to the output.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CMRR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Formula"/>
          <p:cNvSpPr/>
          <p:nvPr/>
        </p:nvSpPr>
        <p:spPr>
          <a:xfrm>
            <a:off x="457200" y="118872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188720"/>
            <a:ext cx="402336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CMRR = Ad / Acm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299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ratio</a:t>
            </a:r>
            <a:endParaRPr lang="en-US" sz="1300" dirty="0"/>
          </a:p>
        </p:txBody>
      </p:sp>
      <p:sp>
        <p:nvSpPr>
          <p:cNvPr id="9" name="Formula"/>
          <p:cNvSpPr/>
          <p:nvPr/>
        </p:nvSpPr>
        <p:spPr>
          <a:xfrm>
            <a:off x="4663440" y="118872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663440" y="1188720"/>
            <a:ext cx="402336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CMRR (dB) = 20 log10 (Ad / Acm)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20299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decibels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560320"/>
            <a:ext cx="8229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High CMRR means good rejection of common noise: hum, interference picked up equally on both leads.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741: 70–90 dB typical.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Essential in instrumentation amplifiers and sensor circuits.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CMRR and output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An op-amp has Ad = 10⁵ and Acm = 1. Find CMRR in dB. For v1 = 100.0 mV and v2 = 100.1 mV find the output.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CMRR = 10⁵/1 = 10⁵ → 20 log10(10⁵) = 100 dB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vd = 0.1 mV;  vcm = 100.05 mV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vo = 10⁵ × 0.1 mV + 1 × 100.05 mV = 10 V + 0.1 V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CMRR = 100 dB;  vo ≈ 10.1 V (0.1 V error from common mode)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Virtual ground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Output is limited by the supply, e.g. |vo| ≤ 13 V, while A ≈ 10⁵.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So the input difference vd = vo/A is tiny (e.g. 5 V/5000 = 1 mV in closed loop).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Virtual short: v1 ≈ v2. If the non-inverting input is grounded, the inverting input is at 0 V: virtual ground.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No current flows into the op-amp terminals: it is a virtual short, not a real one.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vo = Ad vd + Acm vcm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CMRR = Ad/Acm; in dB = 20 log10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High CMRR rejects noise common to both inputs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Virtual ground: v1 ≈ v2 with no input current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Explain the three modes of op-amp operation.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Ad = 2000, Acm = 0.2. Find CMRR in dB.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What is virtual ground and why does it occur?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Why is high CMRR important for sensor signals?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EE">
  <a:themeElements>
    <a:clrScheme name="BEEE">
      <a:dk1>
        <a:srgbClr val="0B1F3A"/>
      </a:dk1>
      <a:lt1>
        <a:srgbClr val="FFFFFF"/>
      </a:lt1>
      <a:dk2>
        <a:srgbClr val="16396B"/>
      </a:dk2>
      <a:lt2>
        <a:srgbClr val="EDF2F8"/>
      </a:lt2>
      <a:accent1>
        <a:srgbClr val="F5A623"/>
      </a:accent1>
      <a:accent2>
        <a:srgbClr val="14777B"/>
      </a:accent2>
      <a:accent3>
        <a:srgbClr val="C93C20"/>
      </a:accent3>
      <a:accent4>
        <a:srgbClr val="5B6B7F"/>
      </a:accent4>
      <a:accent5>
        <a:srgbClr val="3E7CB1"/>
      </a:accent5>
      <a:accent6>
        <a:srgbClr val="7A4FD6"/>
      </a:accent6>
      <a:hlink>
        <a:srgbClr val="3E7CB1"/>
      </a:hlink>
      <a:folHlink>
        <a:srgbClr val="5B6B7F"/>
      </a:folHlink>
    </a:clrScheme>
    <a:fontScheme name="BEE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Differential and Common-Mode Operation</dc:title>
  <dc:subject>PptxGenJS Presentation</dc:subject>
  <dc:creator>Dr. Mitesh Astik</dc:creator>
  <cp:lastModifiedBy>Dr. Mitesh Astik</cp:lastModifiedBy>
  <cp:revision>1</cp:revision>
  <dcterms:created xsi:type="dcterms:W3CDTF">2026-10-29T10:05:21Z</dcterms:created>
  <dcterms:modified xsi:type="dcterms:W3CDTF">2026-10-29T10:05:21Z</dcterms:modified>
</cp:coreProperties>
</file>