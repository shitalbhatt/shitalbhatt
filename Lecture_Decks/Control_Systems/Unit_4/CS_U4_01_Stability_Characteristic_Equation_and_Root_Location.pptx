
<file path=[Content_Types].xml><?xml version="1.0" encoding="utf-8"?>
<Types xmlns="http://schemas.openxmlformats.org/package/2006/content-types">
  <Default Extension="xml" ContentType="application/xml"/>
  <Default Extension="rels" ContentType="application/vnd.openxmlformats-package.relationships+xml"/>
  <Default Extension="jpeg" ContentType="image/jpeg"/>
  <Default Extension="jpg" ContentType="image/jpg"/>
  <Default Extension="svg" ContentType="image/svg+xml"/>
  <Default Extension="png" ContentType="image/png"/>
  <Default Extension="gif" ContentType="image/gif"/>
  <Default Extension="m4v" ContentType="video/mp4"/>
  <Default Extension="mp4" ContentType="video/mp4"/>
  <Default Extension="vml" ContentType="application/vnd.openxmlformats-officedocument.vmlDrawing"/>
  <Default Extension="xlsx" ContentType="application/vnd.openxmlformats-officedocument.spreadsheetml.sheet"/>
  <Override PartName="/ppt/presentation.xml" ContentType="application/vnd.openxmlformats-officedocument.presentationml.presentation.main+xml"/>
  <Override PartName="/ppt/notesMasters/notesMaster1.xml" ContentType="application/vnd.openxmlformats-officedocument.presentationml.notesMaster+xml"/>
  <Override PartName="/ppt/slideMasters/slideMaster1.xml" ContentType="application/vnd.openxmlformats-officedocument.presentationml.slideMaster+xml"/>
  <Override PartName="/ppt/slides/slide1.xml" ContentType="application/vnd.openxmlformats-officedocument.presentationml.slide+xml"/>
  <Override PartName="/ppt/slideMasters/slideMaster2.xml" ContentType="application/vnd.openxmlformats-officedocument.presentationml.slideMaster+xml"/>
  <Override PartName="/ppt/slides/slide2.xml" ContentType="application/vnd.openxmlformats-officedocument.presentationml.slide+xml"/>
  <Override PartName="/ppt/slideMasters/slideMaster3.xml" ContentType="application/vnd.openxmlformats-officedocument.presentationml.slideMaster+xml"/>
  <Override PartName="/ppt/slides/slide3.xml" ContentType="application/vnd.openxmlformats-officedocument.presentationml.slide+xml"/>
  <Override PartName="/ppt/slideMasters/slideMaster4.xml" ContentType="application/vnd.openxmlformats-officedocument.presentationml.slideMaster+xml"/>
  <Override PartName="/ppt/slides/slide4.xml" ContentType="application/vnd.openxmlformats-officedocument.presentationml.slide+xml"/>
  <Override PartName="/ppt/slideMasters/slideMaster5.xml" ContentType="application/vnd.openxmlformats-officedocument.presentationml.slideMaster+xml"/>
  <Override PartName="/ppt/slides/slide5.xml" ContentType="application/vnd.openxmlformats-officedocument.presentationml.slide+xml"/>
  <Override PartName="/ppt/slideMasters/slideMaster6.xml" ContentType="application/vnd.openxmlformats-officedocument.presentationml.slideMaster+xml"/>
  <Override PartName="/ppt/slides/slide6.xml" ContentType="application/vnd.openxmlformats-officedocument.presentationml.slide+xml"/>
  <Override PartName="/ppt/slideMasters/slideMaster7.xml" ContentType="application/vnd.openxmlformats-officedocument.presentationml.slideMaster+xml"/>
  <Override PartName="/ppt/slides/slide7.xml" ContentType="application/vnd.openxmlformats-officedocument.presentationml.slide+xml"/>
  <Override PartName="/ppt/slideMasters/slideMaster8.xml" ContentType="application/vnd.openxmlformats-officedocument.presentationml.slideMaster+xml"/>
  <Override PartName="/ppt/slides/slide8.xml" ContentType="application/vnd.openxmlformats-officedocument.presentationml.slide+xml"/>
  <Override PartName="/ppt/slideMasters/slideMaster9.xml" ContentType="application/vnd.openxmlformats-officedocument.presentationml.slideMaster+xml"/>
  <Override PartName="/ppt/slides/slide9.xml" ContentType="application/vnd.openxmlformats-officedocument.presentationml.slide+xml"/>
  <Override PartName="/ppt/slideMasters/slideMaster10.xml" ContentType="application/vnd.openxmlformats-officedocument.presentationml.slideMaster+xml"/>
  <Override PartName="/ppt/slides/slide10.xml" ContentType="application/vnd.openxmlformats-officedocument.presentationml.slide+xml"/>
  <Override PartName="/ppt/presProps.xml" ContentType="application/vnd.openxmlformats-officedocument.presentationml.presProps+xml"/>
  <Override PartName="/ppt/viewProps.xml" ContentType="application/vnd.openxmlformats-officedocument.presentationml.viewProps+xml"/>
  <Override PartName="/ppt/theme/theme1.xml" ContentType="application/vnd.openxmlformats-officedocument.theme+xml"/>
  <Override PartName="/ppt/tableStyles.xml" ContentType="application/vnd.openxmlformats-officedocument.presentationml.tableStyles+xml"/>
  <Override PartName="/ppt/slideLayouts/slideLayout1.xml" ContentType="application/vnd.openxmlformats-officedocument.presentationml.slideLayout+xml"/>
  <Override PartName="/ppt/slideLayouts/slideLayout2.xml" ContentType="application/vnd.openxmlformats-officedocument.presentationml.slideLayout+xml"/>
  <Override PartName="/ppt/slideLayouts/slideLayout3.xml" ContentType="application/vnd.openxmlformats-officedocument.presentationml.slideLayout+xml"/>
  <Override PartName="/ppt/notesSlides/notesSlide1.xml" ContentType="application/vnd.openxmlformats-officedocument.presentationml.notesSlide+xml"/>
  <Override PartName="/ppt/notesSlides/notesSlide2.xml" ContentType="application/vnd.openxmlformats-officedocument.presentationml.notesSlide+xml"/>
  <Override PartName="/ppt/notesSlides/notesSlide3.xml" ContentType="application/vnd.openxmlformats-officedocument.presentationml.notesSlide+xml"/>
  <Override PartName="/ppt/notesSlides/notesSlide4.xml" ContentType="application/vnd.openxmlformats-officedocument.presentationml.notesSlide+xml"/>
  <Override PartName="/ppt/notesSlides/notesSlide5.xml" ContentType="application/vnd.openxmlformats-officedocument.presentationml.notesSlide+xml"/>
  <Override PartName="/ppt/notesSlides/notesSlide6.xml" ContentType="application/vnd.openxmlformats-officedocument.presentationml.notesSlide+xml"/>
  <Override PartName="/ppt/notesSlides/notesSlide7.xml" ContentType="application/vnd.openxmlformats-officedocument.presentationml.notesSlide+xml"/>
  <Override PartName="/ppt/notesSlides/notesSlide8.xml" ContentType="application/vnd.openxmlformats-officedocument.presentationml.notesSlide+xml"/>
  <Override PartName="/ppt/notesSlides/notesSlide9.xml" ContentType="application/vnd.openxmlformats-officedocument.presentationml.notesSlide+xml"/>
  <Override PartName="/ppt/notesSlides/notesSlide10.xml" ContentType="application/vnd.openxmlformats-officedocument.presentationml.notesSlide+xml"/>
  <Override PartName="/docProps/core.xml" ContentType="application/vnd.openxmlformats-package.core-properties+xml"/>
  <Override PartName="/docProps/app.xml" ContentType="application/vnd.openxmlformats-officedocument.extended-properties+xml"/>
</Types>
</file>

<file path=_rels/.rels><?xml version="1.0" encoding="UTF-8" standalone="yes"?>
<Relationships xmlns="http://schemas.openxmlformats.org/package/2006/relationships">
		<Relationship Id="rId1" Type="http://schemas.openxmlformats.org/officeDocument/2006/relationships/extended-properties" Target="docProps/app.xml"/>
		<Relationship Id="rId2" Type="http://schemas.openxmlformats.org/package/2006/relationships/metadata/core-properties" Target="docProps/core.xml"/>
		<Relationship Id="rId3" Type="http://schemas.openxmlformats.org/officeDocument/2006/relationships/officeDocument" Target="ppt/presentation.xml"/>
		</Relationships>
</file>

<file path=ppt/presentation.xml><?xml version="1.0" encoding="utf-8"?>
<p:presentation xmlns:a="http://schemas.openxmlformats.org/drawingml/2006/main" xmlns:r="http://schemas.openxmlformats.org/officeDocument/2006/relationships" xmlns:p="http://schemas.openxmlformats.org/presentationml/2006/main" saveSubsetFonts="1" autoCompressPictures="0">
  <p:sldMasterIdLst>
    <p:sldMasterId id="2147483648" r:id="rId1"/>
  </p:sldMasterIdLst>
  <p:sldIdLst>
    <p:sldId id="256" r:id="rId2"/>
    <p:sldId id="257" r:id="rId3"/>
    <p:sldId id="258" r:id="rId4"/>
    <p:sldId id="259" r:id="rId5"/>
    <p:sldId id="260" r:id="rId6"/>
    <p:sldId id="261" r:id="rId7"/>
    <p:sldId id="262" r:id="rId8"/>
    <p:sldId id="263" r:id="rId9"/>
    <p:sldId id="264" r:id="rId10"/>
    <p:sldId id="265" r:id="rId11"/>
  </p:sldIdLst>
  <p:notesMasterIdLst>
    <p:notesMasterId r:id="rId12"/>
  </p:notesMasterIdLst>
  <p:sldSz cx="9144000" cy="5143500"/>
  <p:notesSz cx="5143500" cy="9144000"/>
  <p:defaultTextStyle>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defaultTextStyle>
  <p:extLst>
    <p:ext uri="{521415D9-36F7-43E2-AB2F-B90AF26B5E84}">
      <p14:sectionLst xmlns:p14="http://schemas.microsoft.com/office/powerpoint/2010/main">
        <p14:section name="Unit 4 · Stability, Characteristic Equation and Root Location" id="{c30b9cd8-ce3a-b6ac-4121-a27c32926634}">
          <p14:sldIdLst>
            <p14:sldId id="256"/>
            <p14:sldId id="257"/>
            <p14:sldId id="258"/>
            <p14:sldId id="259"/>
            <p14:sldId id="260"/>
            <p14:sldId id="261"/>
            <p14:sldId id="262"/>
            <p14:sldId id="263"/>
            <p14:sldId id="264"/>
            <p14:sldId id="265"/>
          </p14:sldIdLst>
        </p14:section>
      </p14:sectionLst>
    </p:ext>
    <p:ext uri="{EFAFB233-063F-42B5-8137-9DF3F51BA10A}">
      <p15:sldGuideLst xmlns:p15="http://schemas.microsoft.com/office/powerpoint/2012/main"/>
    </p:ext>
  </p:extLst>
</p:presentation>
</file>

<file path=ppt/presProps.xml><?xml version="1.0" encoding="utf-8"?>
<p:presentationPr xmlns:a="http://schemas.openxmlformats.org/drawingml/2006/main" xmlns:r="http://schemas.openxmlformats.org/officeDocument/2006/relationships" xmlns:p="http://schemas.openxmlformats.org/presentationml/2006/main"/>
</file>

<file path=ppt/tableStyles.xml><?xml version="1.0" encoding="utf-8"?>
<a:tblStyleLst xmlns:a="http://schemas.openxmlformats.org/drawingml/2006/main" def="{5C22544A-7EE6-4342-B048-85BDC9FD1C3A}"/>
</file>

<file path=ppt/viewProps.xml><?xml version="1.0" encoding="utf-8"?>
<p:viewPr xmlns:a="http://schemas.openxmlformats.org/drawingml/2006/main" xmlns:r="http://schemas.openxmlformats.org/officeDocument/2006/relationships" xmlns:p="http://schemas.openxmlformats.org/presentationml/2006/main">
  <p:normalViewPr horzBarState="maximized">
    <p:restoredLeft sz="15611"/>
    <p:restoredTop sz="94610"/>
  </p:normalViewPr>
  <p:slideViewPr>
    <p:cSldViewPr snapToGrid="0" snapToObjects="1">
      <p:cViewPr varScale="1">
        <p:scale>
          <a:sx n="136" d="100"/>
          <a:sy n="136" d="100"/>
        </p:scale>
        <p:origin x="216" y="312"/>
      </p:cViewPr>
      <p:guideLst/>
    </p:cSldViewPr>
  </p:slideViewPr>
  <p:notesTextViewPr>
    <p:cViewPr>
      <p:scale>
        <a:sx n="1" d="1"/>
        <a:sy n="1" d="1"/>
      </p:scale>
      <p:origin x="0" y="0"/>
    </p:cViewPr>
  </p:notesTextViewPr>
  <p:gridSpacing cx="76200" cy="76200"/>
</p:viewPr>
</file>

<file path=ppt/_rels/presentation.xml.rels><?xml version="1.0" encoding="UTF-8" standalone="yes"?>
<Relationships xmlns="http://schemas.openxmlformats.org/package/2006/relationships"><Relationship Id="rId1" Type="http://schemas.openxmlformats.org/officeDocument/2006/relationships/slideMaster" Target="slideMasters/slideMaster1.xml"/><Relationship Id="rId2" Type="http://schemas.openxmlformats.org/officeDocument/2006/relationships/slide" Target="slides/slide1.xml"/><Relationship Id="rId3" Type="http://schemas.openxmlformats.org/officeDocument/2006/relationships/slide" Target="slides/slide2.xml"/><Relationship Id="rId4" Type="http://schemas.openxmlformats.org/officeDocument/2006/relationships/slide" Target="slides/slide3.xml"/><Relationship Id="rId5" Type="http://schemas.openxmlformats.org/officeDocument/2006/relationships/slide" Target="slides/slide4.xml"/><Relationship Id="rId6" Type="http://schemas.openxmlformats.org/officeDocument/2006/relationships/slide" Target="slides/slide5.xml"/><Relationship Id="rId7" Type="http://schemas.openxmlformats.org/officeDocument/2006/relationships/slide" Target="slides/slide6.xml"/><Relationship Id="rId8" Type="http://schemas.openxmlformats.org/officeDocument/2006/relationships/slide" Target="slides/slide7.xml"/><Relationship Id="rId9" Type="http://schemas.openxmlformats.org/officeDocument/2006/relationships/slide" Target="slides/slide8.xml"/><Relationship Id="rId10" Type="http://schemas.openxmlformats.org/officeDocument/2006/relationships/slide" Target="slides/slide9.xml"/><Relationship Id="rId11" Type="http://schemas.openxmlformats.org/officeDocument/2006/relationships/slide" Target="slides/slide10.xml"/><Relationship Id="rId12" Type="http://schemas.openxmlformats.org/officeDocument/2006/relationships/notesMaster" Target="notesMasters/notesMaster1.xml"/><Relationship Id="rId13" Type="http://schemas.openxmlformats.org/officeDocument/2006/relationships/presProps" Target="presProps.xml"/><Relationship Id="rId14" Type="http://schemas.openxmlformats.org/officeDocument/2006/relationships/viewProps" Target="viewProps.xml"/><Relationship Id="rId15" Type="http://schemas.openxmlformats.org/officeDocument/2006/relationships/theme" Target="theme/theme1.xml"/><Relationship Id="rId16" Type="http://schemas.openxmlformats.org/officeDocument/2006/relationships/tableStyles" Target="tableStyles.xml"/></Relationships>
</file>

<file path=ppt/notesMasters/_rels/notesMaster1.xml.rels><?xml version="1.0" encoding="UTF-8" standalone="yes"?>
<Relationships xmlns="http://schemas.openxmlformats.org/package/2006/relationships">
		<Relationship Id="rId1" Type="http://schemas.openxmlformats.org/officeDocument/2006/relationships/theme" Target="../theme/theme1.xml"/>
		</Relationships>
</file>

<file path=ppt/notesMasters/notesMaster1.xml><?xml version="1.0" encoding="utf-8"?>
<p:notes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Header Placeholder 1"/>
          <p:cNvSpPr>
            <a:spLocks noGrp="1"/>
          </p:cNvSpPr>
          <p:nvPr>
            <p:ph type="hdr" sz="quarter"/>
          </p:nvPr>
        </p:nvSpPr>
        <p:spPr>
          <a:xfrm>
            <a:off x="0" y="0"/>
            <a:ext cx="2971800" cy="458788"/>
          </a:xfrm>
          <a:prstGeom prst="rect">
            <a:avLst/>
          </a:prstGeom>
        </p:spPr>
        <p:txBody>
          <a:bodyPr vert="horz" lIns="91440" tIns="45720" rIns="91440" bIns="45720" rtlCol="0"/>
          <a:lstStyle>
            <a:lvl1pPr algn="l">
              <a:defRPr sz="1200"/>
            </a:lvl1pPr>
          </a:lstStyle>
          <a:p>
            <a:endParaRPr lang="en-US"/>
          </a:p>
        </p:txBody>
      </p:sp>
      <p:sp>
        <p:nvSpPr>
          <p:cNvPr id="3" name="Date Placeholder 2"/>
          <p:cNvSpPr>
            <a:spLocks noGrp="1"/>
          </p:cNvSpPr>
          <p:nvPr>
            <p:ph type="dt" idx="1"/>
          </p:nvPr>
        </p:nvSpPr>
        <p:spPr>
          <a:xfrm>
            <a:off x="3884613" y="0"/>
            <a:ext cx="2971800" cy="458788"/>
          </a:xfrm>
          <a:prstGeom prst="rect">
            <a:avLst/>
          </a:prstGeom>
        </p:spPr>
        <p:txBody>
          <a:bodyPr vert="horz" lIns="91440" tIns="45720" rIns="91440" bIns="45720" rtlCol="0"/>
          <a:lstStyle>
            <a:lvl1pPr algn="r">
              <a:defRPr sz="1200"/>
            </a:lvl1pPr>
          </a:lstStyle>
          <a:p>
            <a:fld id="{5282F153-3F37-0F45-9E97-73ACFA13230C}" type="datetimeFigureOut">
              <a:rPr lang="en-US"/>
              <a:t>7/23/19</a:t>
            </a:fld>
            <a:endParaRPr lang="en-US"/>
          </a:p>
        </p:txBody>
      </p:sp>
      <p:sp>
        <p:nvSpPr>
          <p:cNvPr id="4" name="Slide Image Placeholder 3"/>
          <p:cNvSpPr>
            <a:spLocks noGrp="1" noRot="1" noChangeAspect="1"/>
          </p:cNvSpPr>
          <p:nvPr>
            <p:ph type="sldImg" idx="2"/>
          </p:nvPr>
        </p:nvSpPr>
        <p:spPr>
          <a:xfrm>
            <a:off x="685800" y="1143000"/>
            <a:ext cx="5486400" cy="3086100"/>
          </a:xfrm>
          <a:prstGeom prst="rect">
            <a:avLst/>
          </a:prstGeom>
          <a:noFill/>
          <a:ln w="12700">
            <a:solidFill>
              <a:prstClr val="black"/>
            </a:solidFill>
          </a:ln>
        </p:spPr>
        <p:txBody>
          <a:bodyPr vert="horz" lIns="91440" tIns="45720" rIns="91440" bIns="45720" rtlCol="0" anchor="ctr"/>
          <a:lstStyle/>
          <a:p>
            <a:endParaRPr lang="en-US"/>
          </a:p>
        </p:txBody>
      </p:sp>
      <p:sp>
        <p:nvSpPr>
          <p:cNvPr id="5" name="Notes Placeholder 4"/>
          <p:cNvSpPr>
            <a:spLocks noGrp="1"/>
          </p:cNvSpPr>
          <p:nvPr>
            <p:ph type="body" sz="quarter" idx="3"/>
          </p:nvPr>
        </p:nvSpPr>
        <p:spPr>
          <a:xfrm>
            <a:off x="685800" y="4400550"/>
            <a:ext cx="5486400" cy="3600450"/>
          </a:xfrm>
          <a:prstGeom prst="rect">
            <a:avLst/>
          </a:prstGeom>
        </p:spPr>
        <p:txBody>
          <a:bodyPr vert="horz" lIns="91440" tIns="45720" rIns="91440" bIns="45720" rtlCol="0"/>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6" name="Footer Placeholder 5"/>
          <p:cNvSpPr>
            <a:spLocks noGrp="1"/>
          </p:cNvSpPr>
          <p:nvPr>
            <p:ph type="ftr" sz="quarter" idx="4"/>
          </p:nvPr>
        </p:nvSpPr>
        <p:spPr>
          <a:xfrm>
            <a:off x="0" y="8685213"/>
            <a:ext cx="2971800" cy="458787"/>
          </a:xfrm>
          <a:prstGeom prst="rect">
            <a:avLst/>
          </a:prstGeom>
        </p:spPr>
        <p:txBody>
          <a:bodyPr vert="horz" lIns="91440" tIns="45720" rIns="91440" bIns="45720" rtlCol="0" anchor="b"/>
          <a:lstStyle>
            <a:lvl1pPr algn="l">
              <a:defRPr sz="1200"/>
            </a:lvl1pPr>
          </a:lstStyle>
          <a:p>
            <a:endParaRPr lang="en-US"/>
          </a:p>
        </p:txBody>
      </p:sp>
      <p:sp>
        <p:nvSpPr>
          <p:cNvPr id="7" name="Slide Number Placeholder 6"/>
          <p:cNvSpPr>
            <a:spLocks noGrp="1"/>
          </p:cNvSpPr>
          <p:nvPr>
            <p:ph type="sldNum" sz="quarter" idx="5"/>
          </p:nvPr>
        </p:nvSpPr>
        <p:spPr>
          <a:xfrm>
            <a:off x="3884613" y="8685213"/>
            <a:ext cx="2971800" cy="458787"/>
          </a:xfrm>
          <a:prstGeom prst="rect">
            <a:avLst/>
          </a:prstGeom>
        </p:spPr>
        <p:txBody>
          <a:bodyPr vert="horz" lIns="91440" tIns="45720" rIns="91440" bIns="45720" rtlCol="0" anchor="b"/>
          <a:lstStyle>
            <a:lvl1pPr algn="r">
              <a:defRPr sz="1200"/>
            </a:lvl1pPr>
          </a:lstStyle>
          <a:p>
            <a:fld id="{CE5E9CC1-C706-0F49-92D6-E571CC5EEA8F}" type="slidenum">
              <a:rPr lang="en-US"/>
              <a:t>‹#›</a:t>
            </a:fld>
            <a:endParaRPr lang="en-US"/>
          </a:p>
        </p:txBody>
      </p:sp>
    </p:spTree>
    <p:extLst>
      <p:ext uri="{BB962C8B-B14F-4D97-AF65-F5344CB8AC3E}">
        <p14:creationId xmlns:p14="http://schemas.microsoft.com/office/powerpoint/2010/main" val="1024086991"/>
      </p:ext>
    </p:extLst>
  </p:cSld>
  <p:clrMap bg1="lt1" tx1="dk1" bg2="lt2" tx2="dk2" accent1="accent1" accent2="accent2" accent3="accent3" accent4="accent4" accent5="accent5" accent6="accent6" hlink="hlink" folHlink="folHlink"/>
  <p:notesStyle>
    <a:lvl1pPr marL="0" algn="l" defTabSz="914400" rtl="0" eaLnBrk="1" latinLnBrk="0" hangingPunct="1">
      <a:defRPr sz="1200" kern="1200">
        <a:solidFill>
          <a:schemeClr val="tx1"/>
        </a:solidFill>
        <a:latin typeface="+mn-lt"/>
        <a:ea typeface="+mn-ea"/>
        <a:cs typeface="+mn-cs"/>
      </a:defRPr>
    </a:lvl1pPr>
    <a:lvl2pPr marL="457200" algn="l" defTabSz="914400" rtl="0" eaLnBrk="1" latinLnBrk="0" hangingPunct="1">
      <a:defRPr sz="1200" kern="1200">
        <a:solidFill>
          <a:schemeClr val="tx1"/>
        </a:solidFill>
        <a:latin typeface="+mn-lt"/>
        <a:ea typeface="+mn-ea"/>
        <a:cs typeface="+mn-cs"/>
      </a:defRPr>
    </a:lvl2pPr>
    <a:lvl3pPr marL="914400" algn="l" defTabSz="914400" rtl="0" eaLnBrk="1" latinLnBrk="0" hangingPunct="1">
      <a:defRPr sz="1200" kern="1200">
        <a:solidFill>
          <a:schemeClr val="tx1"/>
        </a:solidFill>
        <a:latin typeface="+mn-lt"/>
        <a:ea typeface="+mn-ea"/>
        <a:cs typeface="+mn-cs"/>
      </a:defRPr>
    </a:lvl3pPr>
    <a:lvl4pPr marL="1371600" algn="l" defTabSz="914400" rtl="0" eaLnBrk="1" latinLnBrk="0" hangingPunct="1">
      <a:defRPr sz="1200" kern="1200">
        <a:solidFill>
          <a:schemeClr val="tx1"/>
        </a:solidFill>
        <a:latin typeface="+mn-lt"/>
        <a:ea typeface="+mn-ea"/>
        <a:cs typeface="+mn-cs"/>
      </a:defRPr>
    </a:lvl4pPr>
    <a:lvl5pPr marL="1828800" algn="l" defTabSz="914400" rtl="0" eaLnBrk="1" latinLnBrk="0" hangingPunct="1">
      <a:defRPr sz="1200" kern="1200">
        <a:solidFill>
          <a:schemeClr val="tx1"/>
        </a:solidFill>
        <a:latin typeface="+mn-lt"/>
        <a:ea typeface="+mn-ea"/>
        <a:cs typeface="+mn-cs"/>
      </a:defRPr>
    </a:lvl5pPr>
    <a:lvl6pPr marL="2286000" algn="l" defTabSz="914400" rtl="0" eaLnBrk="1" latinLnBrk="0" hangingPunct="1">
      <a:defRPr sz="1200" kern="1200">
        <a:solidFill>
          <a:schemeClr val="tx1"/>
        </a:solidFill>
        <a:latin typeface="+mn-lt"/>
        <a:ea typeface="+mn-ea"/>
        <a:cs typeface="+mn-cs"/>
      </a:defRPr>
    </a:lvl6pPr>
    <a:lvl7pPr marL="2743200" algn="l" defTabSz="914400" rtl="0" eaLnBrk="1" latinLnBrk="0" hangingPunct="1">
      <a:defRPr sz="1200" kern="1200">
        <a:solidFill>
          <a:schemeClr val="tx1"/>
        </a:solidFill>
        <a:latin typeface="+mn-lt"/>
        <a:ea typeface="+mn-ea"/>
        <a:cs typeface="+mn-cs"/>
      </a:defRPr>
    </a:lvl7pPr>
    <a:lvl8pPr marL="3200400" algn="l" defTabSz="914400" rtl="0" eaLnBrk="1" latinLnBrk="0" hangingPunct="1">
      <a:defRPr sz="1200" kern="1200">
        <a:solidFill>
          <a:schemeClr val="tx1"/>
        </a:solidFill>
        <a:latin typeface="+mn-lt"/>
        <a:ea typeface="+mn-ea"/>
        <a:cs typeface="+mn-cs"/>
      </a:defRPr>
    </a:lvl8pPr>
    <a:lvl9pPr marL="3657600" algn="l" defTabSz="914400" rtl="0" eaLnBrk="1" latinLnBrk="0" hangingPunct="1">
      <a:defRPr sz="1200" kern="1200">
        <a:solidFill>
          <a:schemeClr val="tx1"/>
        </a:solidFill>
        <a:latin typeface="+mn-lt"/>
        <a:ea typeface="+mn-ea"/>
        <a:cs typeface="+mn-cs"/>
      </a:defRPr>
    </a:lvl9pPr>
  </p:notesStyle>
</p:notesMaster>
</file>

<file path=ppt/notesSlides/_rels/notesSlide1.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xml"/>
		</Relationships>
</file>

<file path=ppt/notesSlides/_rels/notesSlide2.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2.xml"/>
		</Relationships>
</file>

<file path=ppt/notesSlides/_rels/notesSlide3.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3.xml"/>
		</Relationships>
</file>

<file path=ppt/notesSlides/_rels/notesSlide4.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4.xml"/>
		</Relationships>
</file>

<file path=ppt/notesSlides/_rels/notesSlide5.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5.xml"/>
		</Relationships>
</file>

<file path=ppt/notesSlides/_rels/notesSlide6.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6.xml"/>
		</Relationships>
</file>

<file path=ppt/notesSlides/_rels/notesSlide7.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7.xml"/>
		</Relationships>
</file>

<file path=ppt/notesSlides/_rels/notesSlide8.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8.xml"/>
		</Relationships>
</file>

<file path=ppt/notesSlides/_rels/notesSlide9.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9.xml"/>
		</Relationships>
</file>

<file path=ppt/notesSlides/_rels/notesSlide10.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0.xml"/>
		</Relationships>
</file>

<file path=ppt/notesSlides/notesSlide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Welcome. In this session we study "Stability, Characteristic Equation and Root Location", part of Unit 4 (Stability of Systems) of Control Systems.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By the end of this topic you should be able to do the following. Define stability of an LTI system. Relate stability to the roots of the characteristic equation. Distinguish absolute and relative stability. Classify systems from root locations.</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2</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Stability is the first requirement of any control system.</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3</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The closed loop poles are the roots of the characteristic equation.</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4</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The imaginary axis is the stability boundary.</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5</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A root in the right half plane gives a growing exponential.</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6</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7.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A system can be stable but very oscillatory if its poles are close to the imaginary axis.</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7</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8.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Checking coefficients is a quick first test.</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8</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9.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To summarise this topic. Stable ⇔ all closed-loop poles in the LHP. Characteristic equation: 1 + GH = 0. jω-axis simple roots: marginal; RHP roots: unstable. Absolute stability: yes/no; relative stability: how far from the boundary.</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9</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0.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Attempt these on your own, then check your working against your notes and textbook. Define BIBO stability and relate it to pole locations. Classify s³ + 4s² + 5s + 2 using the coefficient test. Distinguish absolute and relative stability. Find the roots and the stability of s² + 6s + 8.</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10</a:t>
            </a:fld>
            <a:endParaRPr lang="en-US"/>
          </a:p>
        </p:txBody>
      </p:sp>
    </p:spTree>
    <p:extLst>
      <p:ext uri="{BB962C8B-B14F-4D97-AF65-F5344CB8AC3E}">
        <p14:creationId xmlns:p14="http://schemas.microsoft.com/office/powerpoint/2010/main" val="1024086991"/>
      </p:ext>
    </p:extLst>
  </p:cSld>
  <p:clrMapOvr>
    <a:masterClrMapping/>
  </p:clrMapOvr>
</p:note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preserve="1">
  <p:cSld name="DEFAULT">
    <p:bg>
      <p:bgRef idx="1001">
        <a:schemeClr val="bg1"/>
      </p:bgRef>
    </p:bg>
    <p:spTree>
      <p:nvGrpSpPr>
        <p:cNvPr id="1" name=""/>
        <p:cNvGrpSpPr/>
        <p:nvPr/>
      </p:nvGrpSpPr>
      <p:grpSpPr>
        <a:xfrm>
          <a:off x="0" y="0"/>
          <a:ext cx="0" cy="0"/>
          <a:chOff x="0" y="0"/>
          <a:chExt cx="0" cy="0"/>
        </a:xfrm>
      </p:grpSpPr>
    </p:spTree>
  </p:cSld>
  <p:clrMapOvr>
    <a:masterClrMapping/>
  </p:clrMapOvr>
</p:sldLayout>
</file>

<file path=ppt/slideLayouts/slideLayout2.xml><?xml version="1.0" encoding="utf-8"?>
<p:sldLayout xmlns:a="http://schemas.openxmlformats.org/drawingml/2006/main" xmlns:r="http://schemas.openxmlformats.org/officeDocument/2006/relationships" xmlns:p="http://schemas.openxmlformats.org/presentationml/2006/main" preserve="1">
  <p:cSld name="TITLE">
    <p:bg>
      <p:bgPr>
        <a:solidFill>
          <a:srgbClr val="0E2B33"/>
        </a:solidFill>
      </p:bgPr>
    </p:bg>
    <p:spTree>
      <p:nvGrpSpPr>
        <p:cNvPr id="1" name=""/>
        <p:cNvGrpSpPr/>
        <p:nvPr/>
      </p:nvGrpSpPr>
      <p:grpSpPr>
        <a:xfrm>
          <a:off x="0" y="0"/>
          <a:ext cx="0" cy="0"/>
          <a:chOff x="0" y="0"/>
          <a:chExt cx="0" cy="0"/>
        </a:xfrm>
      </p:grpSpPr>
    </p:spTree>
  </p:cSld>
  <p:clrMapOvr>
    <a:masterClrMapping/>
  </p:clrMapOvr>
</p:sldLayout>
</file>

<file path=ppt/slideLayouts/slideLayout3.xml><?xml version="1.0" encoding="utf-8"?>
<p:sldLayout xmlns:a="http://schemas.openxmlformats.org/drawingml/2006/main" xmlns:r="http://schemas.openxmlformats.org/officeDocument/2006/relationships" xmlns:p="http://schemas.openxmlformats.org/presentationml/2006/main" preserve="1">
  <p:cSld name="CONTENT">
    <p:bg>
      <p:bgPr>
        <a:solidFill>
          <a:srgbClr val="FFFFFF"/>
        </a:solidFill>
      </p:bgPr>
    </p:bg>
    <p:spTree>
      <p:nvGrpSpPr>
        <p:cNvPr id="1" name=""/>
        <p:cNvGrpSpPr/>
        <p:nvPr/>
      </p:nvGrpSpPr>
      <p:grpSpPr>
        <a:xfrm>
          <a:off x="0" y="0"/>
          <a:ext cx="0" cy="0"/>
          <a:chOff x="0" y="0"/>
          <a:chExt cx="0" cy="0"/>
        </a:xfrm>
      </p:grpSpPr>
      <p:sp>
        <p:nvSpPr>
          <p:cNvPr id="2" name="Text 0"/>
          <p:cNvSpPr/>
          <p:nvPr/>
        </p:nvSpPr>
        <p:spPr>
          <a:xfrm>
            <a:off x="457200" y="4800600"/>
            <a:ext cx="7132320" cy="228600"/>
          </a:xfrm>
          <a:prstGeom prst="rect">
            <a:avLst/>
          </a:prstGeom>
          <a:noFill/>
          <a:ln/>
        </p:spPr>
        <p:txBody>
          <a:bodyPr wrap="square" lIns="0" tIns="0" rIns="0" bIns="0" rtlCol="0" anchor="ctr"/>
          <a:lstStyle/>
          <a:p>
            <a:pPr indent="0" marL="0">
              <a:buNone/>
            </a:pPr>
            <a:r>
              <a:rPr lang="en-US" sz="1000" dirty="0">
                <a:solidFill>
                  <a:schemeClr val="accent4"/>
                </a:solidFill>
              </a:rPr>
              <a:t>Control Systems · Unit 4 · Dr. Mitesh Astik, NMAMIT Nitte</a:t>
            </a:r>
            <a:endParaRPr lang="en-US" sz="1000" dirty="0"/>
          </a:p>
        </p:txBody>
      </p:sp>
      <p:sp>
        <p:nvSpPr>
          <p:cNvPr id="3" name="Text 1"/>
          <p:cNvSpPr/>
          <p:nvPr>
            <p:ph idx="101" type="title" hasCustomPrompt="1"/>
          </p:nvPr>
        </p:nvSpPr>
        <p:spPr>
          <a:xfrm>
            <a:off x="1188720" y="274320"/>
            <a:ext cx="7498080" cy="685800"/>
          </a:xfrm>
          <a:prstGeom prst="rect">
            <a:avLst/>
          </a:prstGeom>
          <a:noFill/>
          <a:ln/>
        </p:spPr>
        <p:txBody>
          <a:bodyPr wrap="square" rtlCol="0"/>
          <a:lstStyle>
            <a:lvl1pPr algn="l" indent="0" marL="0">
              <a:buNone/>
              <a:defRPr lang="en-US" sz="2800" b="1" dirty="0">
                <a:solidFill>
                  <a:schemeClr val="tx1"/>
                </a:solidFill>
              </a:defRPr>
            </a:lvl1pPr>
          </a:lstStyle>
          <a:p>
            <a:pPr algn="l" indent="0" marL="0">
              <a:buNone/>
            </a:pPr>
            <a:endParaRPr lang="en-US" sz="2800" dirty="0"/>
          </a:p>
        </p:txBody>
      </p:sp>
      <p:sp>
        <p:nvSpPr>
          <p:cNvPr id="25" name="Slide Number Placeholder 0"/>
          <p:cNvSpPr>
            <a:spLocks noGrp="1"/>
          </p:cNvSpPr>
          <p:nvPr>
            <p:ph type="sldNum" sz="quarter" idx="4294967295"/>
          </p:nvPr>
        </p:nvSpPr>
        <p:spPr>
          <a:xfrm>
            <a:off x="8229600" y="4800600"/>
            <a:ext cx="457200" cy="228600"/>
          </a:xfrm>
          <a:prstGeom prst="rect">
            <a:avLst/>
          </a:prstGeom>
          <a:extLst>
            <a:ext uri="{C572A759-6A51-4108-AA02-DFA0A04FC94B}">
              <ma14:wrappingTextBoxFlag xmlns:ma14="http://schemas.microsoft.com/office/mac/drawingml/2011/main" val="0"/>
            </a:ext>
          </a:extLst>
        </p:spPr>
        <p:txBody>
          <a:bodyPr/>
          <a:lstStyle>
            <a:lvl1pPr>
              <a:defRPr sz="1000">
                <a:solidFill>
                  <a:schemeClr val="accent4"/>
                </a:solidFill>
              </a:defRPr>
            </a:lvl1pPr>
          </a:lstStyle>
          <a:p>
            <a:pPr algn="r"/>
            <a:fld id="{F7021451-1387-4CA6-816F-3879F97B5CBC}" type="slidenum">
              <a:rPr b="0" lang="en-US"/>
              <a:t>1003</a:t>
            </a:fld>
            <a:endParaRPr lang="en-US"/>
          </a:p>
        </p:txBody>
      </p:sp>
    </p:spTree>
  </p:cSld>
  <p:clrMapOvr>
    <a:masterClrMapping/>
  </p:clrMapOvr>
</p:sldLayout>
</file>

<file path=ppt/slideMasters/_rels/slideMaster1.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slideLayout" Target="../slideLayouts/slideLayout2.xml"/><Relationship Id="rId3" Type="http://schemas.openxmlformats.org/officeDocument/2006/relationships/slideLayout" Target="../slideLayouts/slideLayout3.xml"/><Relationship Id="rId4" Type="http://schemas.openxmlformats.org/officeDocument/2006/relationships/theme" Target="../theme/theme1.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5" name="Slide Number Placeholder 0"/>
          <p:cNvSpPr>
            <a:spLocks noGrp="1"/>
          </p:cNvSpPr>
          <p:nvPr>
            <p:ph type="sldNum" sz="quarter" idx="4294967295"/>
          </p:nvPr>
        </p:nvSpPr>
        <p:spPr>
          <a:xfrm>
            <a:off x="8229600" y="4800600"/>
            <a:ext cx="457200" cy="228600"/>
          </a:xfrm>
          <a:prstGeom prst="rect">
            <a:avLst/>
          </a:prstGeom>
          <a:extLst>
            <a:ext uri="{C572A759-6A51-4108-AA02-DFA0A04FC94B}">
              <ma14:wrappingTextBoxFlag xmlns:ma14="http://schemas.microsoft.com/office/mac/drawingml/2011/main" val="0"/>
            </a:ext>
          </a:extLst>
        </p:spPr>
        <p:txBody>
          <a:bodyPr/>
          <a:lstStyle>
            <a:lvl1pPr>
              <a:defRPr sz="1000">
                <a:solidFill>
                  <a:schemeClr val="accent4"/>
                </a:solidFill>
              </a:defRPr>
            </a:lvl1pPr>
          </a:lstStyle>
          <a:p>
            <a:pPr algn="r"/>
            <a:fld id="{F7021451-1387-4CA6-816F-3879F97B5CBC}" type="slidenum">
              <a:rPr b="0" lang="en-US"/>
              <a:t>null</a:t>
            </a:fld>
            <a:endParaRPr lang="en-US"/>
          </a:p>
        </p:txBody>
      </p:sp>
    </p:spTree>
  </p:cSld>
  <p:clrMap bg1="lt1" tx1="dk1" bg2="lt2" tx2="dk2" accent1="accent1" accent2="accent2" accent3="accent3" accent4="accent4" accent5="accent5" accent6="accent6" hlink="hlink" folHlink="folHlink"/>
  <p:sldLayoutIdLst>
    <p:sldLayoutId id="2147483649" r:id="rId1"/>
    <p:sldLayoutId id="2147483650" r:id="rId2"/>
    <p:sldLayoutId id="2147483651" r:id="rId3"/>
  </p:sldLayoutIdLst>
  <p:hf sldNum="0" hdr="0" ftr="0" dt="0"/>
  <p:txStyles>
    <p:titleStyle>
      <a:lvl1pPr algn="ctr" defTabSz="914400" rtl="0" eaLnBrk="1" latinLnBrk="0" hangingPunct="1">
        <a:spcBef>
          <a:spcPct val="0"/>
        </a:spcBef>
        <a:buNone/>
        <a:defRPr sz="4400" kern="1200">
          <a:solidFill>
            <a:schemeClr val="tx1"/>
          </a:solidFill>
          <a:latin typeface="+mj-lt"/>
          <a:ea typeface="+mj-ea"/>
          <a:cs typeface="+mj-cs"/>
        </a:defRPr>
      </a:lvl1pPr>
    </p:titleStyle>
    <p:bodyStyle>
      <a:lvl1pPr marL="342900" indent="-342900" algn="l" defTabSz="914400" rtl="0" eaLnBrk="1" latinLnBrk="0" hangingPunct="1">
        <a:spcBef>
          <a:spcPct val="20000"/>
        </a:spcBef>
        <a:buFont typeface="Arial" pitchFamily="34" charset="0"/>
        <a:buChar char="•"/>
        <a:defRPr sz="3200" kern="1200">
          <a:solidFill>
            <a:schemeClr val="tx1"/>
          </a:solidFill>
          <a:latin typeface="+mn-lt"/>
          <a:ea typeface="+mn-ea"/>
          <a:cs typeface="+mn-cs"/>
        </a:defRPr>
      </a:lvl1pPr>
      <a:lvl2pPr marL="742950" indent="-285750" algn="l" defTabSz="914400" rtl="0" eaLnBrk="1" latinLnBrk="0" hangingPunct="1">
        <a:spcBef>
          <a:spcPct val="20000"/>
        </a:spcBef>
        <a:buFont typeface="Arial" pitchFamily="34" charset="0"/>
        <a:buChar char="–"/>
        <a:defRPr sz="2800" kern="1200">
          <a:solidFill>
            <a:schemeClr val="tx1"/>
          </a:solidFill>
          <a:latin typeface="+mn-lt"/>
          <a:ea typeface="+mn-ea"/>
          <a:cs typeface="+mn-cs"/>
        </a:defRPr>
      </a:lvl2pPr>
      <a:lvl3pPr marL="1143000" indent="-228600" algn="l" defTabSz="914400" rtl="0" eaLnBrk="1" latinLnBrk="0" hangingPunct="1">
        <a:spcBef>
          <a:spcPct val="20000"/>
        </a:spcBef>
        <a:buFont typeface="Arial" pitchFamily="34" charset="0"/>
        <a:buChar char="•"/>
        <a:defRPr sz="2400" kern="1200">
          <a:solidFill>
            <a:schemeClr val="tx1"/>
          </a:solidFill>
          <a:latin typeface="+mn-lt"/>
          <a:ea typeface="+mn-ea"/>
          <a:cs typeface="+mn-cs"/>
        </a:defRPr>
      </a:lvl3pPr>
      <a:lvl4pPr marL="16002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4pPr>
      <a:lvl5pPr marL="20574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5pPr>
      <a:lvl6pPr marL="25146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6pPr>
      <a:lvl7pPr marL="29718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7pPr>
      <a:lvl8pPr marL="34290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8pPr>
      <a:lvl9pPr marL="38862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9pPr>
    </p:bodyStyle>
    <p:other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1" Type="http://schemas.openxmlformats.org/officeDocument/2006/relationships/image" Target="../media/image-1-1.png"/><Relationship Id="rId2" Type="http://schemas.openxmlformats.org/officeDocument/2006/relationships/slideLayout" Target="../slideLayouts/slideLayout2.xml"/><Relationship Id="rId3" Type="http://schemas.openxmlformats.org/officeDocument/2006/relationships/notesSlide" Target="../notesSlides/notesSlide1.xml"/></Relationships>
</file>

<file path=ppt/slides/_rels/slide2.xml.rels><?xml version="1.0" encoding="UTF-8" standalone="yes"?>
<Relationships xmlns="http://schemas.openxmlformats.org/package/2006/relationships"><Relationship Id="rId1" Type="http://schemas.openxmlformats.org/officeDocument/2006/relationships/slideLayout" Target="../slideLayouts/slideLayout3.xml"/><Relationship Id="rId2" Type="http://schemas.openxmlformats.org/officeDocument/2006/relationships/notesSlide" Target="../notesSlides/notesSlide2.xml"/></Relationships>
</file>

<file path=ppt/slides/_rels/slide3.xml.rels><?xml version="1.0" encoding="UTF-8" standalone="yes"?>
<Relationships xmlns="http://schemas.openxmlformats.org/package/2006/relationships"><Relationship Id="rId1" Type="http://schemas.openxmlformats.org/officeDocument/2006/relationships/slideLayout" Target="../slideLayouts/slideLayout3.xml"/><Relationship Id="rId2" Type="http://schemas.openxmlformats.org/officeDocument/2006/relationships/notesSlide" Target="../notesSlides/notesSlide3.xml"/></Relationships>
</file>

<file path=ppt/slides/_rels/slide4.xml.rels><?xml version="1.0" encoding="UTF-8" standalone="yes"?>
<Relationships xmlns="http://schemas.openxmlformats.org/package/2006/relationships"><Relationship Id="rId1" Type="http://schemas.openxmlformats.org/officeDocument/2006/relationships/slideLayout" Target="../slideLayouts/slideLayout3.xml"/><Relationship Id="rId2" Type="http://schemas.openxmlformats.org/officeDocument/2006/relationships/notesSlide" Target="../notesSlides/notesSlide4.xml"/></Relationships>
</file>

<file path=ppt/slides/_rels/slide5.xml.rels><?xml version="1.0" encoding="UTF-8" standalone="yes"?>
<Relationships xmlns="http://schemas.openxmlformats.org/package/2006/relationships"><Relationship Id="rId1" Type="http://schemas.openxmlformats.org/officeDocument/2006/relationships/image" Target="../media/image-5-1.png"/><Relationship Id="rId2" Type="http://schemas.openxmlformats.org/officeDocument/2006/relationships/slideLayout" Target="../slideLayouts/slideLayout3.xml"/><Relationship Id="rId3" Type="http://schemas.openxmlformats.org/officeDocument/2006/relationships/notesSlide" Target="../notesSlides/notesSlide5.xml"/></Relationships>
</file>

<file path=ppt/slides/_rels/slide6.xml.rels><?xml version="1.0" encoding="UTF-8" standalone="yes"?>
<Relationships xmlns="http://schemas.openxmlformats.org/package/2006/relationships"><Relationship Id="rId1" Type="http://schemas.openxmlformats.org/officeDocument/2006/relationships/slideLayout" Target="../slideLayouts/slideLayout3.xml"/><Relationship Id="rId2" Type="http://schemas.openxmlformats.org/officeDocument/2006/relationships/notesSlide" Target="../notesSlides/notesSlide6.xml"/></Relationships>
</file>

<file path=ppt/slides/_rels/slide7.xml.rels><?xml version="1.0" encoding="UTF-8" standalone="yes"?>
<Relationships xmlns="http://schemas.openxmlformats.org/package/2006/relationships"><Relationship Id="rId1" Type="http://schemas.openxmlformats.org/officeDocument/2006/relationships/slideLayout" Target="../slideLayouts/slideLayout3.xml"/><Relationship Id="rId2" Type="http://schemas.openxmlformats.org/officeDocument/2006/relationships/notesSlide" Target="../notesSlides/notesSlide7.xml"/></Relationships>
</file>

<file path=ppt/slides/_rels/slide8.xml.rels><?xml version="1.0" encoding="UTF-8" standalone="yes"?>
<Relationships xmlns="http://schemas.openxmlformats.org/package/2006/relationships"><Relationship Id="rId1" Type="http://schemas.openxmlformats.org/officeDocument/2006/relationships/slideLayout" Target="../slideLayouts/slideLayout3.xml"/><Relationship Id="rId2" Type="http://schemas.openxmlformats.org/officeDocument/2006/relationships/notesSlide" Target="../notesSlides/notesSlide8.xml"/></Relationships>
</file>

<file path=ppt/slides/_rels/slide9.xml.rels><?xml version="1.0" encoding="UTF-8" standalone="yes"?>
<Relationships xmlns="http://schemas.openxmlformats.org/package/2006/relationships"><Relationship Id="rId1" Type="http://schemas.openxmlformats.org/officeDocument/2006/relationships/slideLayout" Target="../slideLayouts/slideLayout3.xml"/><Relationship Id="rId2" Type="http://schemas.openxmlformats.org/officeDocument/2006/relationships/notesSlide" Target="../notesSlides/notesSlide9.xml"/></Relationships>
</file>

<file path=ppt/slides/_rels/slide10.xml.rels><?xml version="1.0" encoding="UTF-8" standalone="yes"?>
<Relationships xmlns="http://schemas.openxmlformats.org/package/2006/relationships"><Relationship Id="rId1" Type="http://schemas.openxmlformats.org/officeDocument/2006/relationships/slideLayout" Target="../slideLayouts/slideLayout3.xml"/><Relationship Id="rId2" Type="http://schemas.openxmlformats.org/officeDocument/2006/relationships/notesSlide" Target="../notesSlides/notesSlide10.xml"/></Relationships>
</file>

<file path=ppt/slides/slide1.xml><?xml version="1.0" encoding="utf-8"?>
<p:sld xmlns:a="http://schemas.openxmlformats.org/drawingml/2006/main" xmlns:r="http://schemas.openxmlformats.org/officeDocument/2006/relationships" xmlns:p="http://schemas.openxmlformats.org/presentationml/2006/main">
  <p:cSld name="Slide 1">
    <p:spTree>
      <p:nvGrpSpPr>
        <p:cNvPr id="1" name=""/>
        <p:cNvGrpSpPr/>
        <p:nvPr/>
      </p:nvGrpSpPr>
      <p:grpSpPr>
        <a:xfrm>
          <a:off x="0" y="0"/>
          <a:ext cx="0" cy="0"/>
          <a:chOff x="0" y="0"/>
          <a:chExt cx="0" cy="0"/>
        </a:xfrm>
      </p:grpSpPr>
      <p:sp>
        <p:nvSpPr>
          <p:cNvPr id="2" name="Icon circle"/>
          <p:cNvSpPr/>
          <p:nvPr/>
        </p:nvSpPr>
        <p:spPr>
          <a:xfrm>
            <a:off x="6858000" y="822960"/>
            <a:ext cx="1737360" cy="1737360"/>
          </a:xfrm>
          <a:prstGeom prst="ellipse">
            <a:avLst/>
          </a:prstGeom>
          <a:solidFill>
            <a:schemeClr val="accent1"/>
          </a:solidFill>
          <a:ln/>
        </p:spPr>
      </p:sp>
      <p:pic>
        <p:nvPicPr>
          <p:cNvPr id="3" name="Image 0" descr="topic icon">    </p:cNvPr>
          <p:cNvPicPr>
            <a:picLocks noChangeAspect="1"/>
          </p:cNvPicPr>
          <p:nvPr/>
        </p:nvPicPr>
        <p:blipFill>
          <a:blip r:embed="rId1"/>
          <a:stretch>
            <a:fillRect/>
          </a:stretch>
        </p:blipFill>
        <p:spPr>
          <a:xfrm>
            <a:off x="7360920" y="1325880"/>
            <a:ext cx="731520" cy="731520"/>
          </a:xfrm>
          <a:prstGeom prst="rect">
            <a:avLst/>
          </a:prstGeom>
        </p:spPr>
      </p:pic>
      <p:sp>
        <p:nvSpPr>
          <p:cNvPr id="4" name="Text 1"/>
          <p:cNvSpPr txBox="1"/>
          <p:nvPr/>
        </p:nvSpPr>
        <p:spPr>
          <a:xfrm>
            <a:off x="640080" y="822960"/>
            <a:ext cx="6035040" cy="365760"/>
          </a:xfrm>
          <a:prstGeom prst="rect">
            <a:avLst/>
          </a:prstGeom>
          <a:noFill/>
          <a:ln/>
        </p:spPr>
        <p:txBody>
          <a:bodyPr wrap="square" lIns="0" tIns="0" rIns="0" bIns="0" rtlCol="0" anchor="ctr"/>
          <a:lstStyle/>
          <a:p>
            <a:pPr indent="0" marL="0">
              <a:buNone/>
            </a:pPr>
            <a:r>
              <a:rPr lang="en-US" sz="1500" b="1" spc="300" kern="0" dirty="0">
                <a:solidFill>
                  <a:schemeClr val="accent1"/>
                </a:solidFill>
              </a:rPr>
              <a:t>UNIT 4  ·  8 hours</a:t>
            </a:r>
            <a:endParaRPr lang="en-US" sz="1500" dirty="0"/>
          </a:p>
        </p:txBody>
      </p:sp>
      <p:sp>
        <p:nvSpPr>
          <p:cNvPr id="5" name="Text 2"/>
          <p:cNvSpPr txBox="1"/>
          <p:nvPr/>
        </p:nvSpPr>
        <p:spPr>
          <a:xfrm>
            <a:off x="640080" y="1280160"/>
            <a:ext cx="6035040" cy="1554480"/>
          </a:xfrm>
          <a:prstGeom prst="rect">
            <a:avLst/>
          </a:prstGeom>
          <a:noFill/>
          <a:ln/>
        </p:spPr>
        <p:txBody>
          <a:bodyPr wrap="square" lIns="0" tIns="0" rIns="0" bIns="0" rtlCol="0" anchor="t"/>
          <a:lstStyle/>
          <a:p>
            <a:pPr indent="0" marL="0">
              <a:buNone/>
            </a:pPr>
            <a:r>
              <a:rPr lang="en-US" sz="3000" b="1" dirty="0">
                <a:solidFill>
                  <a:schemeClr val="bg1"/>
                </a:solidFill>
                <a:latin typeface="Cambria" pitchFamily="34" charset="0"/>
                <a:ea typeface="Cambria" pitchFamily="34" charset="-122"/>
                <a:cs typeface="Cambria" pitchFamily="34" charset="-120"/>
              </a:rPr>
              <a:t>Stability, Characteristic Equation and Root Location</a:t>
            </a:r>
            <a:endParaRPr lang="en-US" sz="3000" dirty="0"/>
          </a:p>
        </p:txBody>
      </p:sp>
      <p:sp>
        <p:nvSpPr>
          <p:cNvPr id="6" name="Text 3"/>
          <p:cNvSpPr txBox="1"/>
          <p:nvPr/>
        </p:nvSpPr>
        <p:spPr>
          <a:xfrm>
            <a:off x="640080" y="2926080"/>
            <a:ext cx="6035040" cy="548640"/>
          </a:xfrm>
          <a:prstGeom prst="rect">
            <a:avLst/>
          </a:prstGeom>
          <a:noFill/>
          <a:ln/>
        </p:spPr>
        <p:txBody>
          <a:bodyPr wrap="square" lIns="0" tIns="0" rIns="0" bIns="0" rtlCol="0" anchor="t"/>
          <a:lstStyle/>
          <a:p>
            <a:pPr indent="0" marL="0">
              <a:buNone/>
            </a:pPr>
            <a:r>
              <a:rPr lang="en-US" sz="1600" dirty="0">
                <a:solidFill>
                  <a:srgbClr val="D3E6E9"/>
                </a:solidFill>
              </a:rPr>
              <a:t>Stability of Systems</a:t>
            </a:r>
            <a:endParaRPr lang="en-US" sz="1600" dirty="0"/>
          </a:p>
        </p:txBody>
      </p:sp>
      <p:sp>
        <p:nvSpPr>
          <p:cNvPr id="7" name="Text 4"/>
          <p:cNvSpPr txBox="1"/>
          <p:nvPr/>
        </p:nvSpPr>
        <p:spPr>
          <a:xfrm>
            <a:off x="640080" y="3657600"/>
            <a:ext cx="7863840" cy="914400"/>
          </a:xfrm>
          <a:prstGeom prst="rect">
            <a:avLst/>
          </a:prstGeom>
          <a:noFill/>
          <a:ln/>
        </p:spPr>
        <p:txBody>
          <a:bodyPr wrap="square" lIns="0" tIns="0" rIns="0" bIns="0" rtlCol="0" anchor="t"/>
          <a:lstStyle/>
          <a:p>
            <a:pPr indent="0" marL="0">
              <a:buNone/>
            </a:pPr>
            <a:r>
              <a:rPr lang="en-US" sz="1400" b="1" dirty="0">
                <a:solidFill>
                  <a:schemeClr val="bg1"/>
                </a:solidFill>
              </a:rPr>
              <a:t>Control Systems  (22EEG53)</a:t>
            </a:r>
            <a:endParaRPr lang="en-US" sz="1400" dirty="0"/>
          </a:p>
          <a:p>
            <a:pPr indent="0" marL="0">
              <a:buNone/>
            </a:pPr>
            <a:r>
              <a:rPr lang="en-US" sz="1400" dirty="0">
                <a:solidFill>
                  <a:srgbClr val="D3E6E9"/>
                </a:solidFill>
              </a:rPr>
              <a:t>Dr. Mitesh Astik · Dept. of Electrical and Electronics Engineering</a:t>
            </a:r>
            <a:endParaRPr lang="en-US" sz="1400" dirty="0"/>
          </a:p>
          <a:p>
            <a:pPr indent="0" marL="0">
              <a:buNone/>
            </a:pPr>
            <a:r>
              <a:rPr lang="en-US" sz="1400" dirty="0">
                <a:solidFill>
                  <a:srgbClr val="D3E6E9"/>
                </a:solidFill>
              </a:rPr>
              <a:t>NMAM Institute of Technology, Nitte · 2025-26</a:t>
            </a:r>
            <a:endParaRPr lang="en-US" sz="1400" dirty="0"/>
          </a:p>
        </p:txBody>
      </p:sp>
    </p:spTree>
  </p:cSld>
  <p:clrMapOvr>
    <a:masterClrMapping/>
  </p:clrMapOvr>
</p:sld>
</file>

<file path=ppt/slides/slide2.xml><?xml version="1.0" encoding="utf-8"?>
<p:sld xmlns:a="http://schemas.openxmlformats.org/drawingml/2006/main" xmlns:r="http://schemas.openxmlformats.org/officeDocument/2006/relationships" xmlns:p="http://schemas.openxmlformats.org/presentationml/2006/main">
  <p:cSld name="Slide 2">
    <p:spTree>
      <p:nvGrpSpPr>
        <p:cNvPr id="1" name=""/>
        <p:cNvGrpSpPr/>
        <p:nvPr/>
      </p:nvGrpSpPr>
      <p:grpSpPr>
        <a:xfrm>
          <a:off x="0" y="0"/>
          <a:ext cx="0" cy="0"/>
          <a:chOff x="0" y="0"/>
          <a:chExt cx="0" cy="0"/>
        </a:xfrm>
      </p:grpSpPr>
      <p:sp>
        <p:nvSpPr>
          <p:cNvPr id="2" name="Text 1"/>
          <p:cNvSpPr/>
          <p:nvPr>
            <p:ph idx="101" type="title" hasCustomPrompt="1"/>
          </p:nvPr>
        </p:nvSpPr>
        <p:spPr>
          <a:xfrm>
            <a:off x="1188720" y="274320"/>
            <a:ext cx="7498080" cy="685800"/>
          </a:xfrm>
          <a:prstGeom prst="rect">
            <a:avLst/>
          </a:prstGeom>
          <a:noFill/>
          <a:ln/>
        </p:spPr>
        <p:txBody>
          <a:bodyPr wrap="square" lIns="0" tIns="0" rIns="0" bIns="0" rtlCol="0" anchor="ctr"/>
          <a:lstStyle/>
          <a:p>
            <a:pPr algn="l" indent="0" marL="0">
              <a:buNone/>
            </a:pPr>
            <a:r>
              <a:rPr lang="en-US" sz="2800" b="1" dirty="0">
                <a:solidFill>
                  <a:schemeClr val="tx1"/>
                </a:solidFill>
              </a:rPr>
              <a:t>Learning objectives</a:t>
            </a:r>
            <a:endParaRPr lang="en-US" sz="2800" dirty="0"/>
          </a:p>
        </p:txBody>
      </p:sp>
      <p:sp>
        <p:nvSpPr>
          <p:cNvPr id="3" name="Unit badge"/>
          <p:cNvSpPr/>
          <p:nvPr/>
        </p:nvSpPr>
        <p:spPr>
          <a:xfrm>
            <a:off x="457200" y="365760"/>
            <a:ext cx="548640" cy="548640"/>
          </a:xfrm>
          <a:prstGeom prst="ellipse">
            <a:avLst/>
          </a:prstGeom>
          <a:solidFill>
            <a:schemeClr val="accent1"/>
          </a:solidFill>
          <a:ln/>
        </p:spPr>
      </p:sp>
      <p:sp>
        <p:nvSpPr>
          <p:cNvPr id="4" name="Text 2"/>
          <p:cNvSpPr txBox="1"/>
          <p:nvPr/>
        </p:nvSpPr>
        <p:spPr>
          <a:xfrm>
            <a:off x="457200" y="365760"/>
            <a:ext cx="548640" cy="548640"/>
          </a:xfrm>
          <a:prstGeom prst="rect">
            <a:avLst/>
          </a:prstGeom>
          <a:noFill/>
          <a:ln/>
        </p:spPr>
        <p:txBody>
          <a:bodyPr wrap="square" lIns="0" tIns="0" rIns="0" bIns="0" rtlCol="0" anchor="ctr"/>
          <a:lstStyle/>
          <a:p>
            <a:pPr algn="ctr" indent="0" marL="0">
              <a:buNone/>
            </a:pPr>
            <a:r>
              <a:rPr lang="en-US" sz="1600" b="1" dirty="0">
                <a:solidFill>
                  <a:schemeClr val="tx1"/>
                </a:solidFill>
                <a:latin typeface="Calibri" pitchFamily="34" charset="0"/>
                <a:ea typeface="Calibri" pitchFamily="34" charset="-122"/>
                <a:cs typeface="Calibri" pitchFamily="34" charset="-120"/>
              </a:rPr>
              <a:t>U4</a:t>
            </a:r>
            <a:endParaRPr lang="en-US" sz="1600" dirty="0"/>
          </a:p>
        </p:txBody>
      </p:sp>
      <p:sp>
        <p:nvSpPr>
          <p:cNvPr id="6" name="Text 3"/>
          <p:cNvSpPr txBox="1"/>
          <p:nvPr/>
        </p:nvSpPr>
        <p:spPr>
          <a:xfrm>
            <a:off x="457200" y="1188720"/>
            <a:ext cx="4846320" cy="3383280"/>
          </a:xfrm>
          <a:prstGeom prst="rect">
            <a:avLst/>
          </a:prstGeom>
          <a:noFill/>
          <a:ln/>
        </p:spPr>
        <p:txBody>
          <a:bodyPr wrap="square" lIns="0" tIns="0" rIns="0" bIns="0" rtlCol="0" anchor="t"/>
          <a:lstStyle/>
          <a:p>
            <a:pPr marL="342900" indent="-342900">
              <a:spcAft>
                <a:spcPts val="600"/>
              </a:spcAft>
              <a:buSzPct val="100000"/>
              <a:buChar char="•"/>
            </a:pPr>
            <a:r>
              <a:rPr lang="en-US" sz="2200" dirty="0">
                <a:solidFill>
                  <a:schemeClr val="tx1"/>
                </a:solidFill>
              </a:rPr>
              <a:t>Define stability of an LTI system</a:t>
            </a:r>
            <a:endParaRPr lang="en-US" sz="2200" dirty="0"/>
          </a:p>
          <a:p>
            <a:pPr marL="342900" indent="-342900">
              <a:spcAft>
                <a:spcPts val="600"/>
              </a:spcAft>
              <a:buSzPct val="100000"/>
              <a:buChar char="•"/>
            </a:pPr>
            <a:r>
              <a:rPr lang="en-US" sz="2200" dirty="0">
                <a:solidFill>
                  <a:schemeClr val="tx1"/>
                </a:solidFill>
              </a:rPr>
              <a:t>Relate stability to the roots of the characteristic equation</a:t>
            </a:r>
            <a:endParaRPr lang="en-US" sz="2200" dirty="0"/>
          </a:p>
          <a:p>
            <a:pPr marL="342900" indent="-342900">
              <a:spcAft>
                <a:spcPts val="600"/>
              </a:spcAft>
              <a:buSzPct val="100000"/>
              <a:buChar char="•"/>
            </a:pPr>
            <a:r>
              <a:rPr lang="en-US" sz="2200" dirty="0">
                <a:solidFill>
                  <a:schemeClr val="tx1"/>
                </a:solidFill>
              </a:rPr>
              <a:t>Distinguish absolute and relative stability</a:t>
            </a:r>
            <a:endParaRPr lang="en-US" sz="2200" dirty="0"/>
          </a:p>
          <a:p>
            <a:pPr marL="342900" indent="-342900">
              <a:spcAft>
                <a:spcPts val="600"/>
              </a:spcAft>
              <a:buSzPct val="100000"/>
              <a:buChar char="•"/>
            </a:pPr>
            <a:r>
              <a:rPr lang="en-US" sz="2200" dirty="0">
                <a:solidFill>
                  <a:schemeClr val="tx1"/>
                </a:solidFill>
              </a:rPr>
              <a:t>Classify systems from root locations</a:t>
            </a:r>
            <a:endParaRPr lang="en-US" sz="2200" dirty="0"/>
          </a:p>
        </p:txBody>
      </p:sp>
      <p:sp>
        <p:nvSpPr>
          <p:cNvPr id="7" name="Card"/>
          <p:cNvSpPr/>
          <p:nvPr/>
        </p:nvSpPr>
        <p:spPr>
          <a:xfrm>
            <a:off x="5577840" y="1188720"/>
            <a:ext cx="3108960" cy="3383280"/>
          </a:xfrm>
          <a:prstGeom prst="roundRect">
            <a:avLst>
              <a:gd name="adj" fmla="val 2353"/>
            </a:avLst>
          </a:prstGeom>
          <a:solidFill>
            <a:schemeClr val="bg2"/>
          </a:solidFill>
          <a:ln/>
        </p:spPr>
      </p:sp>
      <p:sp>
        <p:nvSpPr>
          <p:cNvPr id="8" name="Text 5"/>
          <p:cNvSpPr txBox="1"/>
          <p:nvPr/>
        </p:nvSpPr>
        <p:spPr>
          <a:xfrm>
            <a:off x="5715000" y="1261872"/>
            <a:ext cx="2834640" cy="365760"/>
          </a:xfrm>
          <a:prstGeom prst="rect">
            <a:avLst/>
          </a:prstGeom>
          <a:noFill/>
          <a:ln/>
        </p:spPr>
        <p:txBody>
          <a:bodyPr wrap="square" lIns="0" tIns="0" rIns="0" bIns="0" rtlCol="0" anchor="ctr"/>
          <a:lstStyle/>
          <a:p>
            <a:pPr indent="0" marL="0">
              <a:buNone/>
            </a:pPr>
            <a:r>
              <a:rPr lang="en-US" sz="1600" b="1" dirty="0">
                <a:solidFill>
                  <a:schemeClr val="tx2"/>
                </a:solidFill>
              </a:rPr>
              <a:t>Syllabus context</a:t>
            </a:r>
            <a:endParaRPr lang="en-US" sz="1600" dirty="0"/>
          </a:p>
        </p:txBody>
      </p:sp>
      <p:sp>
        <p:nvSpPr>
          <p:cNvPr id="9" name="Text 6"/>
          <p:cNvSpPr txBox="1"/>
          <p:nvPr/>
        </p:nvSpPr>
        <p:spPr>
          <a:xfrm>
            <a:off x="5715000" y="1645920"/>
            <a:ext cx="2834640" cy="2852928"/>
          </a:xfrm>
          <a:prstGeom prst="rect">
            <a:avLst/>
          </a:prstGeom>
          <a:noFill/>
          <a:ln/>
        </p:spPr>
        <p:txBody>
          <a:bodyPr wrap="square" lIns="0" tIns="0" rIns="0" bIns="0" rtlCol="0" anchor="t"/>
          <a:lstStyle/>
          <a:p>
            <a:pPr indent="0" marL="0">
              <a:spcAft>
                <a:spcPts val="300"/>
              </a:spcAft>
              <a:buNone/>
            </a:pPr>
            <a:r>
              <a:rPr lang="en-US" sz="1800" dirty="0">
                <a:solidFill>
                  <a:schemeClr val="tx1"/>
                </a:solidFill>
              </a:rPr>
              <a:t>Stability of systems: characteristic equation, location of roots, absolute and relative stability, Routh–Hurwitz criterion (necessary and sufficient conditions), root locus concept, rules for construction of root locus.</a:t>
            </a:r>
            <a:endParaRPr lang="en-US" sz="1800" dirty="0"/>
          </a:p>
        </p:txBody>
      </p:sp>
      <p:sp>
        <p:nvSpPr>
          <p:cNvPr id="25" name="Slide Number Placeholder 0"/>
          <p:cNvSpPr>
            <a:spLocks noGrp="1"/>
          </p:cNvSpPr>
          <p:nvPr>
            <p:ph type="sldNum" sz="quarter" idx="4294967295"/>
          </p:nvPr>
        </p:nvSpPr>
        <p:spPr>
          <a:xfrm>
            <a:off x="8229600" y="4800600"/>
            <a:ext cx="457200" cy="228600"/>
          </a:xfrm>
          <a:prstGeom prst="rect">
            <a:avLst/>
          </a:prstGeom>
          <a:extLst>
            <a:ext uri="{C572A759-6A51-4108-AA02-DFA0A04FC94B}">
              <ma14:wrappingTextBoxFlag xmlns:ma14="http://schemas.microsoft.com/office/mac/drawingml/2011/main" val="0"/>
            </a:ext>
          </a:extLst>
        </p:spPr>
        <p:txBody>
          <a:bodyPr/>
          <a:lstStyle>
            <a:lvl1pPr>
              <a:defRPr sz="1000">
                <a:solidFill>
                  <a:schemeClr val="accent4"/>
                </a:solidFill>
              </a:defRPr>
            </a:lvl1pPr>
          </a:lstStyle>
          <a:p>
            <a:pPr algn="r"/>
            <a:fld id="{F7021451-1387-4CA6-816F-3879F97B5CBC}" type="slidenum">
              <a:rPr b="0" lang="en-US"/>
              <a:t>2</a:t>
            </a:fld>
            <a:endParaRPr lang="en-US"/>
          </a:p>
        </p:txBody>
      </p:sp>
    </p:spTree>
  </p:cSld>
  <p:clrMapOvr>
    <a:masterClrMapping/>
  </p:clrMapOvr>
</p:sld>
</file>

<file path=ppt/slides/slide3.xml><?xml version="1.0" encoding="utf-8"?>
<p:sld xmlns:a="http://schemas.openxmlformats.org/drawingml/2006/main" xmlns:r="http://schemas.openxmlformats.org/officeDocument/2006/relationships" xmlns:p="http://schemas.openxmlformats.org/presentationml/2006/main">
  <p:cSld name="Slide 3">
    <p:spTree>
      <p:nvGrpSpPr>
        <p:cNvPr id="1" name=""/>
        <p:cNvGrpSpPr/>
        <p:nvPr/>
      </p:nvGrpSpPr>
      <p:grpSpPr>
        <a:xfrm>
          <a:off x="0" y="0"/>
          <a:ext cx="0" cy="0"/>
          <a:chOff x="0" y="0"/>
          <a:chExt cx="0" cy="0"/>
        </a:xfrm>
      </p:grpSpPr>
      <p:sp>
        <p:nvSpPr>
          <p:cNvPr id="2" name="Text 1"/>
          <p:cNvSpPr/>
          <p:nvPr>
            <p:ph idx="101" type="title" hasCustomPrompt="1"/>
          </p:nvPr>
        </p:nvSpPr>
        <p:spPr>
          <a:xfrm>
            <a:off x="1188720" y="274320"/>
            <a:ext cx="7498080" cy="685800"/>
          </a:xfrm>
          <a:prstGeom prst="rect">
            <a:avLst/>
          </a:prstGeom>
          <a:noFill/>
          <a:ln/>
        </p:spPr>
        <p:txBody>
          <a:bodyPr wrap="square" lIns="0" tIns="0" rIns="0" bIns="0" rtlCol="0" anchor="ctr"/>
          <a:lstStyle/>
          <a:p>
            <a:pPr algn="l" indent="0" marL="0">
              <a:buNone/>
            </a:pPr>
            <a:r>
              <a:rPr lang="en-US" sz="2800" b="1" dirty="0">
                <a:solidFill>
                  <a:schemeClr val="tx1"/>
                </a:solidFill>
              </a:rPr>
              <a:t>Stability</a:t>
            </a:r>
            <a:endParaRPr lang="en-US" sz="2800" dirty="0"/>
          </a:p>
        </p:txBody>
      </p:sp>
      <p:sp>
        <p:nvSpPr>
          <p:cNvPr id="3" name="Unit badge"/>
          <p:cNvSpPr/>
          <p:nvPr/>
        </p:nvSpPr>
        <p:spPr>
          <a:xfrm>
            <a:off x="457200" y="365760"/>
            <a:ext cx="548640" cy="548640"/>
          </a:xfrm>
          <a:prstGeom prst="ellipse">
            <a:avLst/>
          </a:prstGeom>
          <a:solidFill>
            <a:schemeClr val="accent1"/>
          </a:solidFill>
          <a:ln/>
        </p:spPr>
      </p:sp>
      <p:sp>
        <p:nvSpPr>
          <p:cNvPr id="4" name="Text 2"/>
          <p:cNvSpPr txBox="1"/>
          <p:nvPr/>
        </p:nvSpPr>
        <p:spPr>
          <a:xfrm>
            <a:off x="457200" y="365760"/>
            <a:ext cx="548640" cy="548640"/>
          </a:xfrm>
          <a:prstGeom prst="rect">
            <a:avLst/>
          </a:prstGeom>
          <a:noFill/>
          <a:ln/>
        </p:spPr>
        <p:txBody>
          <a:bodyPr wrap="square" lIns="0" tIns="0" rIns="0" bIns="0" rtlCol="0" anchor="ctr"/>
          <a:lstStyle/>
          <a:p>
            <a:pPr algn="ctr" indent="0" marL="0">
              <a:buNone/>
            </a:pPr>
            <a:r>
              <a:rPr lang="en-US" sz="1600" b="1" dirty="0">
                <a:solidFill>
                  <a:schemeClr val="tx1"/>
                </a:solidFill>
                <a:latin typeface="Calibri" pitchFamily="34" charset="0"/>
                <a:ea typeface="Calibri" pitchFamily="34" charset="-122"/>
                <a:cs typeface="Calibri" pitchFamily="34" charset="-120"/>
              </a:rPr>
              <a:t>U4</a:t>
            </a:r>
            <a:endParaRPr lang="en-US" sz="1600" dirty="0"/>
          </a:p>
        </p:txBody>
      </p:sp>
      <p:sp>
        <p:nvSpPr>
          <p:cNvPr id="6" name="Text 3"/>
          <p:cNvSpPr txBox="1"/>
          <p:nvPr/>
        </p:nvSpPr>
        <p:spPr>
          <a:xfrm>
            <a:off x="457200" y="1188720"/>
            <a:ext cx="8229600" cy="3429000"/>
          </a:xfrm>
          <a:prstGeom prst="rect">
            <a:avLst/>
          </a:prstGeom>
          <a:noFill/>
          <a:ln/>
        </p:spPr>
        <p:txBody>
          <a:bodyPr wrap="square" lIns="0" tIns="0" rIns="0" bIns="0" rtlCol="0" anchor="t"/>
          <a:lstStyle/>
          <a:p>
            <a:pPr marL="342900" indent="-342900">
              <a:spcAft>
                <a:spcPts val="600"/>
              </a:spcAft>
              <a:buSzPct val="100000"/>
              <a:buChar char="•"/>
            </a:pPr>
            <a:r>
              <a:rPr lang="en-US" sz="2200" b="1" dirty="0">
                <a:solidFill>
                  <a:schemeClr val="tx2"/>
                </a:solidFill>
              </a:rPr>
              <a:t>Definition (BIBO): </a:t>
            </a:r>
            <a:pPr indent="0" marL="0">
              <a:spcAft>
                <a:spcPts val="600"/>
              </a:spcAft>
              <a:buNone/>
            </a:pPr>
            <a:r>
              <a:rPr lang="en-US" sz="2200" dirty="0">
                <a:solidFill>
                  <a:schemeClr val="tx1"/>
                </a:solidFill>
              </a:rPr>
              <a:t>a system is stable if every bounded input gives a bounded output.</a:t>
            </a:r>
            <a:endParaRPr lang="en-US" sz="2200" dirty="0"/>
          </a:p>
          <a:p>
            <a:pPr marL="342900" indent="-342900">
              <a:spcAft>
                <a:spcPts val="600"/>
              </a:spcAft>
              <a:buSzPct val="100000"/>
              <a:buChar char="•"/>
            </a:pPr>
            <a:r>
              <a:rPr lang="en-US" sz="2200" b="1" dirty="0">
                <a:solidFill>
                  <a:schemeClr val="tx2"/>
                </a:solidFill>
              </a:rPr>
              <a:t>Equivalent: </a:t>
            </a:r>
            <a:pPr indent="0" marL="0">
              <a:spcAft>
                <a:spcPts val="600"/>
              </a:spcAft>
              <a:buNone/>
            </a:pPr>
            <a:r>
              <a:rPr lang="en-US" sz="2200" dirty="0">
                <a:solidFill>
                  <a:schemeClr val="tx1"/>
                </a:solidFill>
              </a:rPr>
              <a:t>the natural (impulse) response decays to zero as t → ∞.</a:t>
            </a:r>
            <a:endParaRPr lang="en-US" sz="2200" dirty="0"/>
          </a:p>
          <a:p>
            <a:pPr marL="342900" indent="-342900">
              <a:spcAft>
                <a:spcPts val="600"/>
              </a:spcAft>
              <a:buSzPct val="100000"/>
              <a:buChar char="•"/>
            </a:pPr>
            <a:r>
              <a:rPr lang="en-US" sz="2200" b="1" dirty="0">
                <a:solidFill>
                  <a:schemeClr val="tx2"/>
                </a:solidFill>
              </a:rPr>
              <a:t>Unstable: </a:t>
            </a:r>
            <a:pPr indent="0" marL="0">
              <a:spcAft>
                <a:spcPts val="600"/>
              </a:spcAft>
              <a:buNone/>
            </a:pPr>
            <a:r>
              <a:rPr lang="en-US" sz="2200" dirty="0">
                <a:solidFill>
                  <a:schemeClr val="tx1"/>
                </a:solidFill>
              </a:rPr>
              <a:t>the response grows without bound (e.g. an inverted pendulum without control).</a:t>
            </a:r>
            <a:endParaRPr lang="en-US" sz="2200" dirty="0"/>
          </a:p>
          <a:p>
            <a:pPr marL="342900" indent="-342900">
              <a:spcAft>
                <a:spcPts val="600"/>
              </a:spcAft>
              <a:buSzPct val="100000"/>
              <a:buChar char="•"/>
            </a:pPr>
            <a:r>
              <a:rPr lang="en-US" sz="2200" b="1" dirty="0">
                <a:solidFill>
                  <a:schemeClr val="tx2"/>
                </a:solidFill>
              </a:rPr>
              <a:t>Marginally stable: </a:t>
            </a:r>
            <a:pPr indent="0" marL="0">
              <a:spcAft>
                <a:spcPts val="600"/>
              </a:spcAft>
              <a:buNone/>
            </a:pPr>
            <a:r>
              <a:rPr lang="en-US" sz="2200" dirty="0">
                <a:solidFill>
                  <a:schemeClr val="tx1"/>
                </a:solidFill>
              </a:rPr>
              <a:t>response neither decays nor grows: sustained oscillation.</a:t>
            </a:r>
            <a:endParaRPr lang="en-US" sz="2200" dirty="0"/>
          </a:p>
        </p:txBody>
      </p:sp>
      <p:sp>
        <p:nvSpPr>
          <p:cNvPr id="25" name="Slide Number Placeholder 0"/>
          <p:cNvSpPr>
            <a:spLocks noGrp="1"/>
          </p:cNvSpPr>
          <p:nvPr>
            <p:ph type="sldNum" sz="quarter" idx="4294967295"/>
          </p:nvPr>
        </p:nvSpPr>
        <p:spPr>
          <a:xfrm>
            <a:off x="8229600" y="4800600"/>
            <a:ext cx="457200" cy="228600"/>
          </a:xfrm>
          <a:prstGeom prst="rect">
            <a:avLst/>
          </a:prstGeom>
          <a:extLst>
            <a:ext uri="{C572A759-6A51-4108-AA02-DFA0A04FC94B}">
              <ma14:wrappingTextBoxFlag xmlns:ma14="http://schemas.microsoft.com/office/mac/drawingml/2011/main" val="0"/>
            </a:ext>
          </a:extLst>
        </p:spPr>
        <p:txBody>
          <a:bodyPr/>
          <a:lstStyle>
            <a:lvl1pPr>
              <a:defRPr sz="1000">
                <a:solidFill>
                  <a:schemeClr val="accent4"/>
                </a:solidFill>
              </a:defRPr>
            </a:lvl1pPr>
          </a:lstStyle>
          <a:p>
            <a:pPr algn="r"/>
            <a:fld id="{F7021451-1387-4CA6-816F-3879F97B5CBC}" type="slidenum">
              <a:rPr b="0" lang="en-US"/>
              <a:t>3</a:t>
            </a:fld>
            <a:endParaRPr lang="en-US"/>
          </a:p>
        </p:txBody>
      </p:sp>
    </p:spTree>
  </p:cSld>
  <p:clrMapOvr>
    <a:masterClrMapping/>
  </p:clrMapOvr>
</p:sld>
</file>

<file path=ppt/slides/slide4.xml><?xml version="1.0" encoding="utf-8"?>
<p:sld xmlns:a="http://schemas.openxmlformats.org/drawingml/2006/main" xmlns:r="http://schemas.openxmlformats.org/officeDocument/2006/relationships" xmlns:p="http://schemas.openxmlformats.org/presentationml/2006/main">
  <p:cSld name="Slide 4">
    <p:spTree>
      <p:nvGrpSpPr>
        <p:cNvPr id="1" name=""/>
        <p:cNvGrpSpPr/>
        <p:nvPr/>
      </p:nvGrpSpPr>
      <p:grpSpPr>
        <a:xfrm>
          <a:off x="0" y="0"/>
          <a:ext cx="0" cy="0"/>
          <a:chOff x="0" y="0"/>
          <a:chExt cx="0" cy="0"/>
        </a:xfrm>
      </p:grpSpPr>
      <p:sp>
        <p:nvSpPr>
          <p:cNvPr id="2" name="Text 1"/>
          <p:cNvSpPr/>
          <p:nvPr>
            <p:ph idx="101" type="title" hasCustomPrompt="1"/>
          </p:nvPr>
        </p:nvSpPr>
        <p:spPr>
          <a:xfrm>
            <a:off x="1188720" y="274320"/>
            <a:ext cx="7498080" cy="685800"/>
          </a:xfrm>
          <a:prstGeom prst="rect">
            <a:avLst/>
          </a:prstGeom>
          <a:noFill/>
          <a:ln/>
        </p:spPr>
        <p:txBody>
          <a:bodyPr wrap="square" lIns="0" tIns="0" rIns="0" bIns="0" rtlCol="0" anchor="ctr"/>
          <a:lstStyle/>
          <a:p>
            <a:pPr algn="l" indent="0" marL="0">
              <a:buNone/>
            </a:pPr>
            <a:r>
              <a:rPr lang="en-US" sz="2800" b="1" dirty="0">
                <a:solidFill>
                  <a:schemeClr val="tx1"/>
                </a:solidFill>
              </a:rPr>
              <a:t>Characteristic equation</a:t>
            </a:r>
            <a:endParaRPr lang="en-US" sz="2800" dirty="0"/>
          </a:p>
        </p:txBody>
      </p:sp>
      <p:sp>
        <p:nvSpPr>
          <p:cNvPr id="3" name="Unit badge"/>
          <p:cNvSpPr/>
          <p:nvPr/>
        </p:nvSpPr>
        <p:spPr>
          <a:xfrm>
            <a:off x="457200" y="365760"/>
            <a:ext cx="548640" cy="548640"/>
          </a:xfrm>
          <a:prstGeom prst="ellipse">
            <a:avLst/>
          </a:prstGeom>
          <a:solidFill>
            <a:schemeClr val="accent1"/>
          </a:solidFill>
          <a:ln/>
        </p:spPr>
      </p:sp>
      <p:sp>
        <p:nvSpPr>
          <p:cNvPr id="4" name="Text 2"/>
          <p:cNvSpPr txBox="1"/>
          <p:nvPr/>
        </p:nvSpPr>
        <p:spPr>
          <a:xfrm>
            <a:off x="457200" y="365760"/>
            <a:ext cx="548640" cy="548640"/>
          </a:xfrm>
          <a:prstGeom prst="rect">
            <a:avLst/>
          </a:prstGeom>
          <a:noFill/>
          <a:ln/>
        </p:spPr>
        <p:txBody>
          <a:bodyPr wrap="square" lIns="0" tIns="0" rIns="0" bIns="0" rtlCol="0" anchor="ctr"/>
          <a:lstStyle/>
          <a:p>
            <a:pPr algn="ctr" indent="0" marL="0">
              <a:buNone/>
            </a:pPr>
            <a:r>
              <a:rPr lang="en-US" sz="1600" b="1" dirty="0">
                <a:solidFill>
                  <a:schemeClr val="tx1"/>
                </a:solidFill>
                <a:latin typeface="Calibri" pitchFamily="34" charset="0"/>
                <a:ea typeface="Calibri" pitchFamily="34" charset="-122"/>
                <a:cs typeface="Calibri" pitchFamily="34" charset="-120"/>
              </a:rPr>
              <a:t>U4</a:t>
            </a:r>
            <a:endParaRPr lang="en-US" sz="1600" dirty="0"/>
          </a:p>
        </p:txBody>
      </p:sp>
      <p:sp>
        <p:nvSpPr>
          <p:cNvPr id="6" name="Formula"/>
          <p:cNvSpPr/>
          <p:nvPr/>
        </p:nvSpPr>
        <p:spPr>
          <a:xfrm>
            <a:off x="457200" y="1188720"/>
            <a:ext cx="4023360" cy="822960"/>
          </a:xfrm>
          <a:prstGeom prst="roundRect">
            <a:avLst>
              <a:gd name="adj" fmla="val 8889"/>
            </a:avLst>
          </a:prstGeom>
          <a:solidFill>
            <a:schemeClr val="tx2"/>
          </a:solidFill>
          <a:ln/>
        </p:spPr>
      </p:sp>
      <p:sp>
        <p:nvSpPr>
          <p:cNvPr id="7" name="Text 4"/>
          <p:cNvSpPr txBox="1"/>
          <p:nvPr/>
        </p:nvSpPr>
        <p:spPr>
          <a:xfrm>
            <a:off x="457200" y="1188720"/>
            <a:ext cx="4023360" cy="822960"/>
          </a:xfrm>
          <a:prstGeom prst="rect">
            <a:avLst/>
          </a:prstGeom>
          <a:noFill/>
          <a:ln/>
        </p:spPr>
        <p:txBody>
          <a:bodyPr wrap="square" lIns="762" tIns="762" rIns="762" bIns="762" rtlCol="0" anchor="ctr"/>
          <a:lstStyle/>
          <a:p>
            <a:pPr algn="ctr" indent="0" marL="0">
              <a:buNone/>
            </a:pPr>
            <a:r>
              <a:rPr lang="en-US" sz="2400" b="1" dirty="0">
                <a:solidFill>
                  <a:schemeClr val="bg1"/>
                </a:solidFill>
                <a:latin typeface="Cambria" pitchFamily="34" charset="0"/>
                <a:ea typeface="Cambria" pitchFamily="34" charset="-122"/>
                <a:cs typeface="Cambria" pitchFamily="34" charset="-120"/>
              </a:rPr>
              <a:t>1 + G(s)H(s) = 0</a:t>
            </a:r>
            <a:endParaRPr lang="en-US" sz="2400" dirty="0"/>
          </a:p>
        </p:txBody>
      </p:sp>
      <p:sp>
        <p:nvSpPr>
          <p:cNvPr id="8" name="Text 5"/>
          <p:cNvSpPr txBox="1"/>
          <p:nvPr/>
        </p:nvSpPr>
        <p:spPr>
          <a:xfrm>
            <a:off x="457200" y="2029968"/>
            <a:ext cx="4023360" cy="411480"/>
          </a:xfrm>
          <a:prstGeom prst="rect">
            <a:avLst/>
          </a:prstGeom>
          <a:noFill/>
          <a:ln/>
        </p:spPr>
        <p:txBody>
          <a:bodyPr wrap="square" lIns="0" tIns="0" rIns="0" bIns="0" rtlCol="0" anchor="t"/>
          <a:lstStyle/>
          <a:p>
            <a:pPr algn="ctr" indent="0" marL="0">
              <a:buNone/>
            </a:pPr>
            <a:r>
              <a:rPr lang="en-US" sz="1300" i="1" dirty="0">
                <a:solidFill>
                  <a:schemeClr val="accent4"/>
                </a:solidFill>
              </a:rPr>
              <a:t>characteristic equation</a:t>
            </a:r>
            <a:endParaRPr lang="en-US" sz="1300" dirty="0"/>
          </a:p>
        </p:txBody>
      </p:sp>
      <p:sp>
        <p:nvSpPr>
          <p:cNvPr id="9" name="Formula"/>
          <p:cNvSpPr/>
          <p:nvPr/>
        </p:nvSpPr>
        <p:spPr>
          <a:xfrm>
            <a:off x="4663440" y="1188720"/>
            <a:ext cx="4023360" cy="822960"/>
          </a:xfrm>
          <a:prstGeom prst="roundRect">
            <a:avLst>
              <a:gd name="adj" fmla="val 8889"/>
            </a:avLst>
          </a:prstGeom>
          <a:solidFill>
            <a:schemeClr val="tx2"/>
          </a:solidFill>
          <a:ln/>
        </p:spPr>
      </p:sp>
      <p:sp>
        <p:nvSpPr>
          <p:cNvPr id="10" name="Text 7"/>
          <p:cNvSpPr txBox="1"/>
          <p:nvPr/>
        </p:nvSpPr>
        <p:spPr>
          <a:xfrm>
            <a:off x="4663440" y="1188720"/>
            <a:ext cx="4023360" cy="822960"/>
          </a:xfrm>
          <a:prstGeom prst="rect">
            <a:avLst/>
          </a:prstGeom>
          <a:noFill/>
          <a:ln/>
        </p:spPr>
        <p:txBody>
          <a:bodyPr wrap="square" lIns="762" tIns="762" rIns="762" bIns="762" rtlCol="0" anchor="ctr"/>
          <a:lstStyle/>
          <a:p>
            <a:pPr algn="ctr" indent="0" marL="0">
              <a:buNone/>
            </a:pPr>
            <a:r>
              <a:rPr lang="en-US" sz="2200" b="1" dirty="0">
                <a:solidFill>
                  <a:schemeClr val="bg1"/>
                </a:solidFill>
                <a:latin typeface="Cambria" pitchFamily="34" charset="0"/>
                <a:ea typeface="Cambria" pitchFamily="34" charset="-122"/>
                <a:cs typeface="Cambria" pitchFamily="34" charset="-120"/>
              </a:rPr>
              <a:t>Δ(s) = a0 sⁿ + a1 sⁿ⁻¹ + … + an = 0</a:t>
            </a:r>
            <a:endParaRPr lang="en-US" sz="2200" dirty="0"/>
          </a:p>
        </p:txBody>
      </p:sp>
      <p:sp>
        <p:nvSpPr>
          <p:cNvPr id="11" name="Text 8"/>
          <p:cNvSpPr txBox="1"/>
          <p:nvPr/>
        </p:nvSpPr>
        <p:spPr>
          <a:xfrm>
            <a:off x="4663440" y="2029968"/>
            <a:ext cx="4023360" cy="411480"/>
          </a:xfrm>
          <a:prstGeom prst="rect">
            <a:avLst/>
          </a:prstGeom>
          <a:noFill/>
          <a:ln/>
        </p:spPr>
        <p:txBody>
          <a:bodyPr wrap="square" lIns="0" tIns="0" rIns="0" bIns="0" rtlCol="0" anchor="t"/>
          <a:lstStyle/>
          <a:p>
            <a:pPr algn="ctr" indent="0" marL="0">
              <a:buNone/>
            </a:pPr>
            <a:r>
              <a:rPr lang="en-US" sz="1300" i="1" dirty="0">
                <a:solidFill>
                  <a:schemeClr val="accent4"/>
                </a:solidFill>
              </a:rPr>
              <a:t>polynomial form</a:t>
            </a:r>
            <a:endParaRPr lang="en-US" sz="1300" dirty="0"/>
          </a:p>
        </p:txBody>
      </p:sp>
      <p:sp>
        <p:nvSpPr>
          <p:cNvPr id="12" name="Text 9"/>
          <p:cNvSpPr txBox="1"/>
          <p:nvPr/>
        </p:nvSpPr>
        <p:spPr>
          <a:xfrm>
            <a:off x="457200" y="2560320"/>
            <a:ext cx="8229600" cy="2057400"/>
          </a:xfrm>
          <a:prstGeom prst="rect">
            <a:avLst/>
          </a:prstGeom>
          <a:noFill/>
          <a:ln/>
        </p:spPr>
        <p:txBody>
          <a:bodyPr wrap="square" lIns="0" tIns="0" rIns="0" bIns="0" rtlCol="0" anchor="t"/>
          <a:lstStyle/>
          <a:p>
            <a:pPr marL="342900" indent="-342900">
              <a:spcAft>
                <a:spcPts val="600"/>
              </a:spcAft>
              <a:buSzPct val="100000"/>
              <a:buChar char="•"/>
            </a:pPr>
            <a:r>
              <a:rPr lang="en-US" sz="2200" dirty="0">
                <a:solidFill>
                  <a:schemeClr val="tx1"/>
                </a:solidFill>
              </a:rPr>
              <a:t>Roots are the closed-loop poles; each pole gives a term in the response: e^(pt).</a:t>
            </a:r>
            <a:endParaRPr lang="en-US" sz="2200" dirty="0"/>
          </a:p>
          <a:p>
            <a:pPr marL="342900" indent="-342900">
              <a:spcAft>
                <a:spcPts val="600"/>
              </a:spcAft>
              <a:buSzPct val="100000"/>
              <a:buChar char="•"/>
            </a:pPr>
            <a:r>
              <a:rPr lang="en-US" sz="2200" dirty="0">
                <a:solidFill>
                  <a:schemeClr val="tx1"/>
                </a:solidFill>
              </a:rPr>
              <a:t>A pole p = σ + jω gives e^(σt) × (oscillation): decays if σ &lt; 0.</a:t>
            </a:r>
            <a:endParaRPr lang="en-US" sz="2200" dirty="0"/>
          </a:p>
        </p:txBody>
      </p:sp>
      <p:sp>
        <p:nvSpPr>
          <p:cNvPr id="25" name="Slide Number Placeholder 0"/>
          <p:cNvSpPr>
            <a:spLocks noGrp="1"/>
          </p:cNvSpPr>
          <p:nvPr>
            <p:ph type="sldNum" sz="quarter" idx="4294967295"/>
          </p:nvPr>
        </p:nvSpPr>
        <p:spPr>
          <a:xfrm>
            <a:off x="8229600" y="4800600"/>
            <a:ext cx="457200" cy="228600"/>
          </a:xfrm>
          <a:prstGeom prst="rect">
            <a:avLst/>
          </a:prstGeom>
          <a:extLst>
            <a:ext uri="{C572A759-6A51-4108-AA02-DFA0A04FC94B}">
              <ma14:wrappingTextBoxFlag xmlns:ma14="http://schemas.microsoft.com/office/mac/drawingml/2011/main" val="0"/>
            </a:ext>
          </a:extLst>
        </p:spPr>
        <p:txBody>
          <a:bodyPr/>
          <a:lstStyle>
            <a:lvl1pPr>
              <a:defRPr sz="1000">
                <a:solidFill>
                  <a:schemeClr val="accent4"/>
                </a:solidFill>
              </a:defRPr>
            </a:lvl1pPr>
          </a:lstStyle>
          <a:p>
            <a:pPr algn="r"/>
            <a:fld id="{F7021451-1387-4CA6-816F-3879F97B5CBC}" type="slidenum">
              <a:rPr b="0" lang="en-US"/>
              <a:t>4</a:t>
            </a:fld>
            <a:endParaRPr lang="en-US"/>
          </a:p>
        </p:txBody>
      </p:sp>
    </p:spTree>
  </p:cSld>
  <p:clrMapOvr>
    <a:masterClrMapping/>
  </p:clrMapOvr>
</p:sld>
</file>

<file path=ppt/slides/slide5.xml><?xml version="1.0" encoding="utf-8"?>
<p:sld xmlns:a="http://schemas.openxmlformats.org/drawingml/2006/main" xmlns:r="http://schemas.openxmlformats.org/officeDocument/2006/relationships" xmlns:p="http://schemas.openxmlformats.org/presentationml/2006/main">
  <p:cSld name="Slide 5">
    <p:spTree>
      <p:nvGrpSpPr>
        <p:cNvPr id="1" name=""/>
        <p:cNvGrpSpPr/>
        <p:nvPr/>
      </p:nvGrpSpPr>
      <p:grpSpPr>
        <a:xfrm>
          <a:off x="0" y="0"/>
          <a:ext cx="0" cy="0"/>
          <a:chOff x="0" y="0"/>
          <a:chExt cx="0" cy="0"/>
        </a:xfrm>
      </p:grpSpPr>
      <p:sp>
        <p:nvSpPr>
          <p:cNvPr id="2" name="Text 1"/>
          <p:cNvSpPr/>
          <p:nvPr>
            <p:ph idx="101" type="title" hasCustomPrompt="1"/>
          </p:nvPr>
        </p:nvSpPr>
        <p:spPr>
          <a:xfrm>
            <a:off x="1188720" y="274320"/>
            <a:ext cx="7498080" cy="685800"/>
          </a:xfrm>
          <a:prstGeom prst="rect">
            <a:avLst/>
          </a:prstGeom>
          <a:noFill/>
          <a:ln/>
        </p:spPr>
        <p:txBody>
          <a:bodyPr wrap="square" lIns="0" tIns="0" rIns="0" bIns="0" rtlCol="0" anchor="ctr"/>
          <a:lstStyle/>
          <a:p>
            <a:pPr algn="l" indent="0" marL="0">
              <a:buNone/>
            </a:pPr>
            <a:r>
              <a:rPr lang="en-US" sz="2800" b="1" dirty="0">
                <a:solidFill>
                  <a:schemeClr val="tx1"/>
                </a:solidFill>
              </a:rPr>
              <a:t>Root location and stability</a:t>
            </a:r>
            <a:endParaRPr lang="en-US" sz="2800" dirty="0"/>
          </a:p>
        </p:txBody>
      </p:sp>
      <p:sp>
        <p:nvSpPr>
          <p:cNvPr id="3" name="Unit badge"/>
          <p:cNvSpPr/>
          <p:nvPr/>
        </p:nvSpPr>
        <p:spPr>
          <a:xfrm>
            <a:off x="457200" y="365760"/>
            <a:ext cx="548640" cy="548640"/>
          </a:xfrm>
          <a:prstGeom prst="ellipse">
            <a:avLst/>
          </a:prstGeom>
          <a:solidFill>
            <a:schemeClr val="accent1"/>
          </a:solidFill>
          <a:ln/>
        </p:spPr>
      </p:sp>
      <p:sp>
        <p:nvSpPr>
          <p:cNvPr id="4" name="Text 2"/>
          <p:cNvSpPr txBox="1"/>
          <p:nvPr/>
        </p:nvSpPr>
        <p:spPr>
          <a:xfrm>
            <a:off x="457200" y="365760"/>
            <a:ext cx="548640" cy="548640"/>
          </a:xfrm>
          <a:prstGeom prst="rect">
            <a:avLst/>
          </a:prstGeom>
          <a:noFill/>
          <a:ln/>
        </p:spPr>
        <p:txBody>
          <a:bodyPr wrap="square" lIns="0" tIns="0" rIns="0" bIns="0" rtlCol="0" anchor="ctr"/>
          <a:lstStyle/>
          <a:p>
            <a:pPr algn="ctr" indent="0" marL="0">
              <a:buNone/>
            </a:pPr>
            <a:r>
              <a:rPr lang="en-US" sz="1600" b="1" dirty="0">
                <a:solidFill>
                  <a:schemeClr val="tx1"/>
                </a:solidFill>
                <a:latin typeface="Calibri" pitchFamily="34" charset="0"/>
                <a:ea typeface="Calibri" pitchFamily="34" charset="-122"/>
                <a:cs typeface="Calibri" pitchFamily="34" charset="-120"/>
              </a:rPr>
              <a:t>U4</a:t>
            </a:r>
            <a:endParaRPr lang="en-US" sz="1600" dirty="0"/>
          </a:p>
        </p:txBody>
      </p:sp>
      <p:pic>
        <p:nvPicPr>
          <p:cNvPr id="6" name="Image 0" descr="splane_regions figure">    </p:cNvPr>
          <p:cNvPicPr>
            <a:picLocks noChangeAspect="1"/>
          </p:cNvPicPr>
          <p:nvPr/>
        </p:nvPicPr>
        <p:blipFill>
          <a:blip r:embed="rId1"/>
          <a:stretch>
            <a:fillRect/>
          </a:stretch>
        </p:blipFill>
        <p:spPr>
          <a:xfrm>
            <a:off x="633497" y="1188720"/>
            <a:ext cx="4768045" cy="3200400"/>
          </a:xfrm>
          <a:prstGeom prst="rect">
            <a:avLst/>
          </a:prstGeom>
        </p:spPr>
      </p:pic>
      <p:sp>
        <p:nvSpPr>
          <p:cNvPr id="7" name="Text 3"/>
          <p:cNvSpPr txBox="1"/>
          <p:nvPr/>
        </p:nvSpPr>
        <p:spPr>
          <a:xfrm>
            <a:off x="5760720" y="1188720"/>
            <a:ext cx="2926080" cy="3429000"/>
          </a:xfrm>
          <a:prstGeom prst="rect">
            <a:avLst/>
          </a:prstGeom>
          <a:noFill/>
          <a:ln/>
        </p:spPr>
        <p:txBody>
          <a:bodyPr wrap="square" lIns="0" tIns="0" rIns="0" bIns="0" rtlCol="0" anchor="t"/>
          <a:lstStyle/>
          <a:p>
            <a:pPr marL="342900" indent="-342900">
              <a:spcAft>
                <a:spcPts val="600"/>
              </a:spcAft>
              <a:buSzPct val="100000"/>
              <a:buChar char="•"/>
            </a:pPr>
            <a:r>
              <a:rPr lang="en-US" sz="1800" dirty="0">
                <a:solidFill>
                  <a:schemeClr val="tx1"/>
                </a:solidFill>
              </a:rPr>
              <a:t>All roots in the left half-plane (LHP): stable.</a:t>
            </a:r>
            <a:endParaRPr lang="en-US" sz="1800" dirty="0"/>
          </a:p>
          <a:p>
            <a:pPr marL="342900" indent="-342900">
              <a:spcAft>
                <a:spcPts val="600"/>
              </a:spcAft>
              <a:buSzPct val="100000"/>
              <a:buChar char="•"/>
            </a:pPr>
            <a:r>
              <a:rPr lang="en-US" sz="1800" dirty="0">
                <a:solidFill>
                  <a:schemeClr val="tx1"/>
                </a:solidFill>
              </a:rPr>
              <a:t>Any root in the right half-plane (RHP): unstable.</a:t>
            </a:r>
            <a:endParaRPr lang="en-US" sz="1800" dirty="0"/>
          </a:p>
          <a:p>
            <a:pPr marL="342900" indent="-342900">
              <a:spcAft>
                <a:spcPts val="600"/>
              </a:spcAft>
              <a:buSzPct val="100000"/>
              <a:buChar char="•"/>
            </a:pPr>
            <a:r>
              <a:rPr lang="en-US" sz="1800" dirty="0">
                <a:solidFill>
                  <a:schemeClr val="tx1"/>
                </a:solidFill>
              </a:rPr>
              <a:t>Simple roots on the jω axis (and none in the RHP): marginally stable.</a:t>
            </a:r>
            <a:endParaRPr lang="en-US" sz="1800" dirty="0"/>
          </a:p>
          <a:p>
            <a:pPr marL="342900" indent="-342900">
              <a:spcAft>
                <a:spcPts val="600"/>
              </a:spcAft>
              <a:buSzPct val="100000"/>
              <a:buChar char="•"/>
            </a:pPr>
            <a:r>
              <a:rPr lang="en-US" sz="1800" dirty="0">
                <a:solidFill>
                  <a:schemeClr val="tx1"/>
                </a:solidFill>
              </a:rPr>
              <a:t>Repeated jω-axis roots: unstable.</a:t>
            </a:r>
            <a:endParaRPr lang="en-US" sz="1800" dirty="0"/>
          </a:p>
        </p:txBody>
      </p:sp>
      <p:sp>
        <p:nvSpPr>
          <p:cNvPr id="25" name="Slide Number Placeholder 0"/>
          <p:cNvSpPr>
            <a:spLocks noGrp="1"/>
          </p:cNvSpPr>
          <p:nvPr>
            <p:ph type="sldNum" sz="quarter" idx="4294967295"/>
          </p:nvPr>
        </p:nvSpPr>
        <p:spPr>
          <a:xfrm>
            <a:off x="8229600" y="4800600"/>
            <a:ext cx="457200" cy="228600"/>
          </a:xfrm>
          <a:prstGeom prst="rect">
            <a:avLst/>
          </a:prstGeom>
          <a:extLst>
            <a:ext uri="{C572A759-6A51-4108-AA02-DFA0A04FC94B}">
              <ma14:wrappingTextBoxFlag xmlns:ma14="http://schemas.microsoft.com/office/mac/drawingml/2011/main" val="0"/>
            </a:ext>
          </a:extLst>
        </p:spPr>
        <p:txBody>
          <a:bodyPr/>
          <a:lstStyle>
            <a:lvl1pPr>
              <a:defRPr sz="1000">
                <a:solidFill>
                  <a:schemeClr val="accent4"/>
                </a:solidFill>
              </a:defRPr>
            </a:lvl1pPr>
          </a:lstStyle>
          <a:p>
            <a:pPr algn="r"/>
            <a:fld id="{F7021451-1387-4CA6-816F-3879F97B5CBC}" type="slidenum">
              <a:rPr b="0" lang="en-US"/>
              <a:t>5</a:t>
            </a:fld>
            <a:endParaRPr lang="en-US"/>
          </a:p>
        </p:txBody>
      </p:sp>
    </p:spTree>
  </p:cSld>
  <p:clrMapOvr>
    <a:masterClrMapping/>
  </p:clrMapOvr>
</p:sld>
</file>

<file path=ppt/slides/slide6.xml><?xml version="1.0" encoding="utf-8"?>
<p:sld xmlns:a="http://schemas.openxmlformats.org/drawingml/2006/main" xmlns:r="http://schemas.openxmlformats.org/officeDocument/2006/relationships" xmlns:p="http://schemas.openxmlformats.org/presentationml/2006/main">
  <p:cSld name="Slide 6">
    <p:spTree>
      <p:nvGrpSpPr>
        <p:cNvPr id="1" name=""/>
        <p:cNvGrpSpPr/>
        <p:nvPr/>
      </p:nvGrpSpPr>
      <p:grpSpPr>
        <a:xfrm>
          <a:off x="0" y="0"/>
          <a:ext cx="0" cy="0"/>
          <a:chOff x="0" y="0"/>
          <a:chExt cx="0" cy="0"/>
        </a:xfrm>
      </p:grpSpPr>
      <p:sp>
        <p:nvSpPr>
          <p:cNvPr id="2" name="Text 1"/>
          <p:cNvSpPr/>
          <p:nvPr>
            <p:ph idx="101" type="title" hasCustomPrompt="1"/>
          </p:nvPr>
        </p:nvSpPr>
        <p:spPr>
          <a:xfrm>
            <a:off x="1188720" y="274320"/>
            <a:ext cx="7498080" cy="685800"/>
          </a:xfrm>
          <a:prstGeom prst="rect">
            <a:avLst/>
          </a:prstGeom>
          <a:noFill/>
          <a:ln/>
        </p:spPr>
        <p:txBody>
          <a:bodyPr wrap="square" lIns="0" tIns="0" rIns="0" bIns="0" rtlCol="0" anchor="ctr"/>
          <a:lstStyle/>
          <a:p>
            <a:pPr algn="l" indent="0" marL="0">
              <a:buNone/>
            </a:pPr>
            <a:r>
              <a:rPr lang="en-US" sz="2800" b="1" dirty="0">
                <a:solidFill>
                  <a:schemeClr val="tx1"/>
                </a:solidFill>
              </a:rPr>
              <a:t>Examples of root locations</a:t>
            </a:r>
            <a:endParaRPr lang="en-US" sz="2800" dirty="0"/>
          </a:p>
        </p:txBody>
      </p:sp>
      <p:sp>
        <p:nvSpPr>
          <p:cNvPr id="3" name="Unit badge"/>
          <p:cNvSpPr/>
          <p:nvPr/>
        </p:nvSpPr>
        <p:spPr>
          <a:xfrm>
            <a:off x="457200" y="365760"/>
            <a:ext cx="548640" cy="548640"/>
          </a:xfrm>
          <a:prstGeom prst="ellipse">
            <a:avLst/>
          </a:prstGeom>
          <a:solidFill>
            <a:schemeClr val="accent1"/>
          </a:solidFill>
          <a:ln/>
        </p:spPr>
      </p:sp>
      <p:sp>
        <p:nvSpPr>
          <p:cNvPr id="4" name="Text 2"/>
          <p:cNvSpPr txBox="1"/>
          <p:nvPr/>
        </p:nvSpPr>
        <p:spPr>
          <a:xfrm>
            <a:off x="457200" y="365760"/>
            <a:ext cx="548640" cy="548640"/>
          </a:xfrm>
          <a:prstGeom prst="rect">
            <a:avLst/>
          </a:prstGeom>
          <a:noFill/>
          <a:ln/>
        </p:spPr>
        <p:txBody>
          <a:bodyPr wrap="square" lIns="0" tIns="0" rIns="0" bIns="0" rtlCol="0" anchor="ctr"/>
          <a:lstStyle/>
          <a:p>
            <a:pPr algn="ctr" indent="0" marL="0">
              <a:buNone/>
            </a:pPr>
            <a:r>
              <a:rPr lang="en-US" sz="1600" b="1" dirty="0">
                <a:solidFill>
                  <a:schemeClr val="tx1"/>
                </a:solidFill>
                <a:latin typeface="Calibri" pitchFamily="34" charset="0"/>
                <a:ea typeface="Calibri" pitchFamily="34" charset="-122"/>
                <a:cs typeface="Calibri" pitchFamily="34" charset="-120"/>
              </a:rPr>
              <a:t>U4</a:t>
            </a:r>
            <a:endParaRPr lang="en-US" sz="1600" dirty="0"/>
          </a:p>
        </p:txBody>
      </p:sp>
      <p:graphicFrame>
        <p:nvGraphicFramePr>
          <p:cNvPr id="7" name="Table 0"/>
          <p:cNvGraphicFramePr>
            <a:graphicFrameLocks noGrp="1"/>
          </p:cNvGraphicFramePr>
          <p:nvPr>
            <p:extLst>
              <p:ext uri="{D42A27DB-BD31-4B8C-83A1-F6EECF244321}">
                <p14:modId xmlns:p14="http://schemas.microsoft.com/office/powerpoint/2010/main" val="1579011935"/>
              </p:ext>
            </p:extLst>
          </p:nvPr>
        </p:nvGraphicFramePr>
        <p:xfrm>
          <a:off x="457200" y="1188720"/>
          <a:ext cx="8229600" cy="914400"/>
        </p:xfrm>
        <a:graphic>
          <a:graphicData uri="http://schemas.openxmlformats.org/drawingml/2006/table">
            <a:tbl>
              <a:tblPr/>
              <a:tblGrid>
                <a:gridCol w="2926080"/>
                <a:gridCol w="2560320"/>
                <a:gridCol w="2743200"/>
              </a:tblGrid>
              <a:tr h="502920">
                <a:tc>
                  <a:txBody>
                    <a:bodyPr/>
                    <a:lstStyle/>
                    <a:p>
                      <a:pPr indent="0" marL="0">
                        <a:buNone/>
                      </a:pPr>
                      <a:r>
                        <a:rPr lang="en-US" sz="1400" b="1" dirty="0">
                          <a:solidFill>
                            <a:schemeClr val="bg1"/>
                          </a:solidFill>
                        </a:rPr>
                        <a:t>Characteristic equation</a:t>
                      </a:r>
                      <a:endParaRPr lang="en-US" sz="1400" dirty="0"/>
                    </a:p>
                  </a:txBody>
                  <a:tcPr marL="73152" marR="73152" marT="27432" marB="27432" anchor="ctr">
                    <a:lnL w="6350" cap="flat" cmpd="sng" algn="ctr">
                      <a:solidFill>
                        <a:srgbClr val="D5DEEA"/>
                      </a:solidFill>
                      <a:prstDash val="solid"/>
                      <a:round/>
                      <a:headEnd type="none" w="med" len="med"/>
                      <a:tailEnd type="none" w="med" len="med"/>
                    </a:lnL>
                    <a:lnR w="6350" cap="flat" cmpd="sng" algn="ctr">
                      <a:solidFill>
                        <a:srgbClr val="D5DEEA"/>
                      </a:solidFill>
                      <a:prstDash val="solid"/>
                      <a:round/>
                      <a:headEnd type="none" w="med" len="med"/>
                      <a:tailEnd type="none" w="med" len="med"/>
                    </a:lnR>
                    <a:lnT w="6350" cap="flat" cmpd="sng" algn="ctr">
                      <a:solidFill>
                        <a:srgbClr val="D5DEEA"/>
                      </a:solidFill>
                      <a:prstDash val="solid"/>
                      <a:round/>
                      <a:headEnd type="none" w="med" len="med"/>
                      <a:tailEnd type="none" w="med" len="med"/>
                    </a:lnT>
                    <a:lnB w="6350" cap="flat" cmpd="sng" algn="ctr">
                      <a:solidFill>
                        <a:srgbClr val="D5DEEA"/>
                      </a:solidFill>
                      <a:prstDash val="solid"/>
                      <a:round/>
                      <a:headEnd type="none" w="med" len="med"/>
                      <a:tailEnd type="none" w="med" len="med"/>
                    </a:lnB>
                    <a:solidFill>
                      <a:schemeClr val="tx2"/>
                    </a:solidFill>
                  </a:tcPr>
                </a:tc>
                <a:tc>
                  <a:txBody>
                    <a:bodyPr/>
                    <a:lstStyle/>
                    <a:p>
                      <a:pPr indent="0" marL="0">
                        <a:buNone/>
                      </a:pPr>
                      <a:r>
                        <a:rPr lang="en-US" sz="1400" b="1" dirty="0">
                          <a:solidFill>
                            <a:schemeClr val="bg1"/>
                          </a:solidFill>
                        </a:rPr>
                        <a:t>Roots</a:t>
                      </a:r>
                      <a:endParaRPr lang="en-US" sz="1400" dirty="0"/>
                    </a:p>
                  </a:txBody>
                  <a:tcPr marL="73152" marR="73152" marT="27432" marB="27432" anchor="ctr">
                    <a:lnL w="6350" cap="flat" cmpd="sng" algn="ctr">
                      <a:solidFill>
                        <a:srgbClr val="D5DEEA"/>
                      </a:solidFill>
                      <a:prstDash val="solid"/>
                      <a:round/>
                      <a:headEnd type="none" w="med" len="med"/>
                      <a:tailEnd type="none" w="med" len="med"/>
                    </a:lnL>
                    <a:lnR w="6350" cap="flat" cmpd="sng" algn="ctr">
                      <a:solidFill>
                        <a:srgbClr val="D5DEEA"/>
                      </a:solidFill>
                      <a:prstDash val="solid"/>
                      <a:round/>
                      <a:headEnd type="none" w="med" len="med"/>
                      <a:tailEnd type="none" w="med" len="med"/>
                    </a:lnR>
                    <a:lnT w="6350" cap="flat" cmpd="sng" algn="ctr">
                      <a:solidFill>
                        <a:srgbClr val="D5DEEA"/>
                      </a:solidFill>
                      <a:prstDash val="solid"/>
                      <a:round/>
                      <a:headEnd type="none" w="med" len="med"/>
                      <a:tailEnd type="none" w="med" len="med"/>
                    </a:lnT>
                    <a:lnB w="6350" cap="flat" cmpd="sng" algn="ctr">
                      <a:solidFill>
                        <a:srgbClr val="D5DEEA"/>
                      </a:solidFill>
                      <a:prstDash val="solid"/>
                      <a:round/>
                      <a:headEnd type="none" w="med" len="med"/>
                      <a:tailEnd type="none" w="med" len="med"/>
                    </a:lnB>
                    <a:solidFill>
                      <a:schemeClr val="tx2"/>
                    </a:solidFill>
                  </a:tcPr>
                </a:tc>
                <a:tc>
                  <a:txBody>
                    <a:bodyPr/>
                    <a:lstStyle/>
                    <a:p>
                      <a:pPr indent="0" marL="0">
                        <a:buNone/>
                      </a:pPr>
                      <a:r>
                        <a:rPr lang="en-US" sz="1400" b="1" dirty="0">
                          <a:solidFill>
                            <a:schemeClr val="bg1"/>
                          </a:solidFill>
                        </a:rPr>
                        <a:t>Stability</a:t>
                      </a:r>
                      <a:endParaRPr lang="en-US" sz="1400" dirty="0"/>
                    </a:p>
                  </a:txBody>
                  <a:tcPr marL="73152" marR="73152" marT="27432" marB="27432" anchor="ctr">
                    <a:lnL w="6350" cap="flat" cmpd="sng" algn="ctr">
                      <a:solidFill>
                        <a:srgbClr val="D5DEEA"/>
                      </a:solidFill>
                      <a:prstDash val="solid"/>
                      <a:round/>
                      <a:headEnd type="none" w="med" len="med"/>
                      <a:tailEnd type="none" w="med" len="med"/>
                    </a:lnL>
                    <a:lnR w="6350" cap="flat" cmpd="sng" algn="ctr">
                      <a:solidFill>
                        <a:srgbClr val="D5DEEA"/>
                      </a:solidFill>
                      <a:prstDash val="solid"/>
                      <a:round/>
                      <a:headEnd type="none" w="med" len="med"/>
                      <a:tailEnd type="none" w="med" len="med"/>
                    </a:lnR>
                    <a:lnT w="6350" cap="flat" cmpd="sng" algn="ctr">
                      <a:solidFill>
                        <a:srgbClr val="D5DEEA"/>
                      </a:solidFill>
                      <a:prstDash val="solid"/>
                      <a:round/>
                      <a:headEnd type="none" w="med" len="med"/>
                      <a:tailEnd type="none" w="med" len="med"/>
                    </a:lnT>
                    <a:lnB w="6350" cap="flat" cmpd="sng" algn="ctr">
                      <a:solidFill>
                        <a:srgbClr val="D5DEEA"/>
                      </a:solidFill>
                      <a:prstDash val="solid"/>
                      <a:round/>
                      <a:headEnd type="none" w="med" len="med"/>
                      <a:tailEnd type="none" w="med" len="med"/>
                    </a:lnB>
                    <a:solidFill>
                      <a:schemeClr val="tx2"/>
                    </a:solidFill>
                  </a:tcPr>
                </a:tc>
              </a:tr>
              <a:tr h="502920">
                <a:tc>
                  <a:txBody>
                    <a:bodyPr/>
                    <a:lstStyle/>
                    <a:p>
                      <a:pPr indent="0" marL="0">
                        <a:buNone/>
                      </a:pPr>
                      <a:r>
                        <a:rPr lang="en-US" sz="1400" b="1" dirty="0">
                          <a:solidFill>
                            <a:schemeClr val="tx1"/>
                          </a:solidFill>
                        </a:rPr>
                        <a:t>s² + 3s + 2</a:t>
                      </a:r>
                      <a:endParaRPr lang="en-US" sz="1400" dirty="0"/>
                    </a:p>
                  </a:txBody>
                  <a:tcPr marL="73152" marR="73152" marT="27432" marB="27432" anchor="ctr">
                    <a:lnL w="6350" cap="flat" cmpd="sng" algn="ctr">
                      <a:solidFill>
                        <a:srgbClr val="D5DEEA"/>
                      </a:solidFill>
                      <a:prstDash val="solid"/>
                      <a:round/>
                      <a:headEnd type="none" w="med" len="med"/>
                      <a:tailEnd type="none" w="med" len="med"/>
                    </a:lnL>
                    <a:lnR w="6350" cap="flat" cmpd="sng" algn="ctr">
                      <a:solidFill>
                        <a:srgbClr val="D5DEEA"/>
                      </a:solidFill>
                      <a:prstDash val="solid"/>
                      <a:round/>
                      <a:headEnd type="none" w="med" len="med"/>
                      <a:tailEnd type="none" w="med" len="med"/>
                    </a:lnR>
                    <a:lnT w="6350" cap="flat" cmpd="sng" algn="ctr">
                      <a:solidFill>
                        <a:srgbClr val="D5DEEA"/>
                      </a:solidFill>
                      <a:prstDash val="solid"/>
                      <a:round/>
                      <a:headEnd type="none" w="med" len="med"/>
                      <a:tailEnd type="none" w="med" len="med"/>
                    </a:lnT>
                    <a:lnB w="6350" cap="flat" cmpd="sng" algn="ctr">
                      <a:solidFill>
                        <a:srgbClr val="D5DEEA"/>
                      </a:solidFill>
                      <a:prstDash val="solid"/>
                      <a:round/>
                      <a:headEnd type="none" w="med" len="med"/>
                      <a:tailEnd type="none" w="med" len="med"/>
                    </a:lnB>
                    <a:solidFill>
                      <a:schemeClr val="bg2"/>
                    </a:solidFill>
                  </a:tcPr>
                </a:tc>
                <a:tc>
                  <a:txBody>
                    <a:bodyPr/>
                    <a:lstStyle/>
                    <a:p>
                      <a:pPr indent="0" marL="0">
                        <a:buNone/>
                      </a:pPr>
                      <a:r>
                        <a:rPr lang="en-US" sz="1400" dirty="0">
                          <a:solidFill>
                            <a:schemeClr val="tx1"/>
                          </a:solidFill>
                        </a:rPr>
                        <a:t>−1, −2</a:t>
                      </a:r>
                      <a:endParaRPr lang="en-US" sz="1400" dirty="0"/>
                    </a:p>
                  </a:txBody>
                  <a:tcPr marL="73152" marR="73152" marT="27432" marB="27432" anchor="ctr">
                    <a:lnL w="6350" cap="flat" cmpd="sng" algn="ctr">
                      <a:solidFill>
                        <a:srgbClr val="D5DEEA"/>
                      </a:solidFill>
                      <a:prstDash val="solid"/>
                      <a:round/>
                      <a:headEnd type="none" w="med" len="med"/>
                      <a:tailEnd type="none" w="med" len="med"/>
                    </a:lnL>
                    <a:lnR w="6350" cap="flat" cmpd="sng" algn="ctr">
                      <a:solidFill>
                        <a:srgbClr val="D5DEEA"/>
                      </a:solidFill>
                      <a:prstDash val="solid"/>
                      <a:round/>
                      <a:headEnd type="none" w="med" len="med"/>
                      <a:tailEnd type="none" w="med" len="med"/>
                    </a:lnR>
                    <a:lnT w="6350" cap="flat" cmpd="sng" algn="ctr">
                      <a:solidFill>
                        <a:srgbClr val="D5DEEA"/>
                      </a:solidFill>
                      <a:prstDash val="solid"/>
                      <a:round/>
                      <a:headEnd type="none" w="med" len="med"/>
                      <a:tailEnd type="none" w="med" len="med"/>
                    </a:lnT>
                    <a:lnB w="6350" cap="flat" cmpd="sng" algn="ctr">
                      <a:solidFill>
                        <a:srgbClr val="D5DEEA"/>
                      </a:solidFill>
                      <a:prstDash val="solid"/>
                      <a:round/>
                      <a:headEnd type="none" w="med" len="med"/>
                      <a:tailEnd type="none" w="med" len="med"/>
                    </a:lnB>
                    <a:solidFill>
                      <a:schemeClr val="bg2"/>
                    </a:solidFill>
                  </a:tcPr>
                </a:tc>
                <a:tc>
                  <a:txBody>
                    <a:bodyPr/>
                    <a:lstStyle/>
                    <a:p>
                      <a:pPr indent="0" marL="0">
                        <a:buNone/>
                      </a:pPr>
                      <a:r>
                        <a:rPr lang="en-US" sz="1400" dirty="0">
                          <a:solidFill>
                            <a:schemeClr val="tx1"/>
                          </a:solidFill>
                        </a:rPr>
                        <a:t>Stable</a:t>
                      </a:r>
                      <a:endParaRPr lang="en-US" sz="1400" dirty="0"/>
                    </a:p>
                  </a:txBody>
                  <a:tcPr marL="73152" marR="73152" marT="27432" marB="27432" anchor="ctr">
                    <a:lnL w="6350" cap="flat" cmpd="sng" algn="ctr">
                      <a:solidFill>
                        <a:srgbClr val="D5DEEA"/>
                      </a:solidFill>
                      <a:prstDash val="solid"/>
                      <a:round/>
                      <a:headEnd type="none" w="med" len="med"/>
                      <a:tailEnd type="none" w="med" len="med"/>
                    </a:lnL>
                    <a:lnR w="6350" cap="flat" cmpd="sng" algn="ctr">
                      <a:solidFill>
                        <a:srgbClr val="D5DEEA"/>
                      </a:solidFill>
                      <a:prstDash val="solid"/>
                      <a:round/>
                      <a:headEnd type="none" w="med" len="med"/>
                      <a:tailEnd type="none" w="med" len="med"/>
                    </a:lnR>
                    <a:lnT w="6350" cap="flat" cmpd="sng" algn="ctr">
                      <a:solidFill>
                        <a:srgbClr val="D5DEEA"/>
                      </a:solidFill>
                      <a:prstDash val="solid"/>
                      <a:round/>
                      <a:headEnd type="none" w="med" len="med"/>
                      <a:tailEnd type="none" w="med" len="med"/>
                    </a:lnT>
                    <a:lnB w="6350" cap="flat" cmpd="sng" algn="ctr">
                      <a:solidFill>
                        <a:srgbClr val="D5DEEA"/>
                      </a:solidFill>
                      <a:prstDash val="solid"/>
                      <a:round/>
                      <a:headEnd type="none" w="med" len="med"/>
                      <a:tailEnd type="none" w="med" len="med"/>
                    </a:lnB>
                    <a:solidFill>
                      <a:schemeClr val="bg2"/>
                    </a:solidFill>
                  </a:tcPr>
                </a:tc>
              </a:tr>
              <a:tr h="502920">
                <a:tc>
                  <a:txBody>
                    <a:bodyPr/>
                    <a:lstStyle/>
                    <a:p>
                      <a:pPr indent="0" marL="0">
                        <a:buNone/>
                      </a:pPr>
                      <a:r>
                        <a:rPr lang="en-US" sz="1400" b="1" dirty="0">
                          <a:solidFill>
                            <a:schemeClr val="tx1"/>
                          </a:solidFill>
                        </a:rPr>
                        <a:t>s² + 4</a:t>
                      </a:r>
                      <a:endParaRPr lang="en-US" sz="1400" dirty="0"/>
                    </a:p>
                  </a:txBody>
                  <a:tcPr marL="73152" marR="73152" marT="27432" marB="27432" anchor="ctr">
                    <a:lnL w="6350" cap="flat" cmpd="sng" algn="ctr">
                      <a:solidFill>
                        <a:srgbClr val="D5DEEA"/>
                      </a:solidFill>
                      <a:prstDash val="solid"/>
                      <a:round/>
                      <a:headEnd type="none" w="med" len="med"/>
                      <a:tailEnd type="none" w="med" len="med"/>
                    </a:lnL>
                    <a:lnR w="6350" cap="flat" cmpd="sng" algn="ctr">
                      <a:solidFill>
                        <a:srgbClr val="D5DEEA"/>
                      </a:solidFill>
                      <a:prstDash val="solid"/>
                      <a:round/>
                      <a:headEnd type="none" w="med" len="med"/>
                      <a:tailEnd type="none" w="med" len="med"/>
                    </a:lnR>
                    <a:lnT w="6350" cap="flat" cmpd="sng" algn="ctr">
                      <a:solidFill>
                        <a:srgbClr val="D5DEEA"/>
                      </a:solidFill>
                      <a:prstDash val="solid"/>
                      <a:round/>
                      <a:headEnd type="none" w="med" len="med"/>
                      <a:tailEnd type="none" w="med" len="med"/>
                    </a:lnT>
                    <a:lnB w="6350" cap="flat" cmpd="sng" algn="ctr">
                      <a:solidFill>
                        <a:srgbClr val="D5DEEA"/>
                      </a:solidFill>
                      <a:prstDash val="solid"/>
                      <a:round/>
                      <a:headEnd type="none" w="med" len="med"/>
                      <a:tailEnd type="none" w="med" len="med"/>
                    </a:lnB>
                    <a:solidFill>
                      <a:schemeClr val="bg1"/>
                    </a:solidFill>
                  </a:tcPr>
                </a:tc>
                <a:tc>
                  <a:txBody>
                    <a:bodyPr/>
                    <a:lstStyle/>
                    <a:p>
                      <a:pPr indent="0" marL="0">
                        <a:buNone/>
                      </a:pPr>
                      <a:r>
                        <a:rPr lang="en-US" sz="1400" dirty="0">
                          <a:solidFill>
                            <a:schemeClr val="tx1"/>
                          </a:solidFill>
                        </a:rPr>
                        <a:t>± j2</a:t>
                      </a:r>
                      <a:endParaRPr lang="en-US" sz="1400" dirty="0"/>
                    </a:p>
                  </a:txBody>
                  <a:tcPr marL="73152" marR="73152" marT="27432" marB="27432" anchor="ctr">
                    <a:lnL w="6350" cap="flat" cmpd="sng" algn="ctr">
                      <a:solidFill>
                        <a:srgbClr val="D5DEEA"/>
                      </a:solidFill>
                      <a:prstDash val="solid"/>
                      <a:round/>
                      <a:headEnd type="none" w="med" len="med"/>
                      <a:tailEnd type="none" w="med" len="med"/>
                    </a:lnL>
                    <a:lnR w="6350" cap="flat" cmpd="sng" algn="ctr">
                      <a:solidFill>
                        <a:srgbClr val="D5DEEA"/>
                      </a:solidFill>
                      <a:prstDash val="solid"/>
                      <a:round/>
                      <a:headEnd type="none" w="med" len="med"/>
                      <a:tailEnd type="none" w="med" len="med"/>
                    </a:lnR>
                    <a:lnT w="6350" cap="flat" cmpd="sng" algn="ctr">
                      <a:solidFill>
                        <a:srgbClr val="D5DEEA"/>
                      </a:solidFill>
                      <a:prstDash val="solid"/>
                      <a:round/>
                      <a:headEnd type="none" w="med" len="med"/>
                      <a:tailEnd type="none" w="med" len="med"/>
                    </a:lnT>
                    <a:lnB w="6350" cap="flat" cmpd="sng" algn="ctr">
                      <a:solidFill>
                        <a:srgbClr val="D5DEEA"/>
                      </a:solidFill>
                      <a:prstDash val="solid"/>
                      <a:round/>
                      <a:headEnd type="none" w="med" len="med"/>
                      <a:tailEnd type="none" w="med" len="med"/>
                    </a:lnB>
                    <a:solidFill>
                      <a:schemeClr val="bg1"/>
                    </a:solidFill>
                  </a:tcPr>
                </a:tc>
                <a:tc>
                  <a:txBody>
                    <a:bodyPr/>
                    <a:lstStyle/>
                    <a:p>
                      <a:pPr indent="0" marL="0">
                        <a:buNone/>
                      </a:pPr>
                      <a:r>
                        <a:rPr lang="en-US" sz="1400" dirty="0">
                          <a:solidFill>
                            <a:schemeClr val="tx1"/>
                          </a:solidFill>
                        </a:rPr>
                        <a:t>Marginally stable</a:t>
                      </a:r>
                      <a:endParaRPr lang="en-US" sz="1400" dirty="0"/>
                    </a:p>
                  </a:txBody>
                  <a:tcPr marL="73152" marR="73152" marT="27432" marB="27432" anchor="ctr">
                    <a:lnL w="6350" cap="flat" cmpd="sng" algn="ctr">
                      <a:solidFill>
                        <a:srgbClr val="D5DEEA"/>
                      </a:solidFill>
                      <a:prstDash val="solid"/>
                      <a:round/>
                      <a:headEnd type="none" w="med" len="med"/>
                      <a:tailEnd type="none" w="med" len="med"/>
                    </a:lnL>
                    <a:lnR w="6350" cap="flat" cmpd="sng" algn="ctr">
                      <a:solidFill>
                        <a:srgbClr val="D5DEEA"/>
                      </a:solidFill>
                      <a:prstDash val="solid"/>
                      <a:round/>
                      <a:headEnd type="none" w="med" len="med"/>
                      <a:tailEnd type="none" w="med" len="med"/>
                    </a:lnR>
                    <a:lnT w="6350" cap="flat" cmpd="sng" algn="ctr">
                      <a:solidFill>
                        <a:srgbClr val="D5DEEA"/>
                      </a:solidFill>
                      <a:prstDash val="solid"/>
                      <a:round/>
                      <a:headEnd type="none" w="med" len="med"/>
                      <a:tailEnd type="none" w="med" len="med"/>
                    </a:lnT>
                    <a:lnB w="6350" cap="flat" cmpd="sng" algn="ctr">
                      <a:solidFill>
                        <a:srgbClr val="D5DEEA"/>
                      </a:solidFill>
                      <a:prstDash val="solid"/>
                      <a:round/>
                      <a:headEnd type="none" w="med" len="med"/>
                      <a:tailEnd type="none" w="med" len="med"/>
                    </a:lnB>
                    <a:solidFill>
                      <a:schemeClr val="bg1"/>
                    </a:solidFill>
                  </a:tcPr>
                </a:tc>
              </a:tr>
              <a:tr h="502920">
                <a:tc>
                  <a:txBody>
                    <a:bodyPr/>
                    <a:lstStyle/>
                    <a:p>
                      <a:pPr indent="0" marL="0">
                        <a:buNone/>
                      </a:pPr>
                      <a:r>
                        <a:rPr lang="en-US" sz="1400" b="1" dirty="0">
                          <a:solidFill>
                            <a:schemeClr val="tx1"/>
                          </a:solidFill>
                        </a:rPr>
                        <a:t>s² − s + 2</a:t>
                      </a:r>
                      <a:endParaRPr lang="en-US" sz="1400" dirty="0"/>
                    </a:p>
                  </a:txBody>
                  <a:tcPr marL="73152" marR="73152" marT="27432" marB="27432" anchor="ctr">
                    <a:lnL w="6350" cap="flat" cmpd="sng" algn="ctr">
                      <a:solidFill>
                        <a:srgbClr val="D5DEEA"/>
                      </a:solidFill>
                      <a:prstDash val="solid"/>
                      <a:round/>
                      <a:headEnd type="none" w="med" len="med"/>
                      <a:tailEnd type="none" w="med" len="med"/>
                    </a:lnL>
                    <a:lnR w="6350" cap="flat" cmpd="sng" algn="ctr">
                      <a:solidFill>
                        <a:srgbClr val="D5DEEA"/>
                      </a:solidFill>
                      <a:prstDash val="solid"/>
                      <a:round/>
                      <a:headEnd type="none" w="med" len="med"/>
                      <a:tailEnd type="none" w="med" len="med"/>
                    </a:lnR>
                    <a:lnT w="6350" cap="flat" cmpd="sng" algn="ctr">
                      <a:solidFill>
                        <a:srgbClr val="D5DEEA"/>
                      </a:solidFill>
                      <a:prstDash val="solid"/>
                      <a:round/>
                      <a:headEnd type="none" w="med" len="med"/>
                      <a:tailEnd type="none" w="med" len="med"/>
                    </a:lnT>
                    <a:lnB w="6350" cap="flat" cmpd="sng" algn="ctr">
                      <a:solidFill>
                        <a:srgbClr val="D5DEEA"/>
                      </a:solidFill>
                      <a:prstDash val="solid"/>
                      <a:round/>
                      <a:headEnd type="none" w="med" len="med"/>
                      <a:tailEnd type="none" w="med" len="med"/>
                    </a:lnB>
                    <a:solidFill>
                      <a:schemeClr val="bg2"/>
                    </a:solidFill>
                  </a:tcPr>
                </a:tc>
                <a:tc>
                  <a:txBody>
                    <a:bodyPr/>
                    <a:lstStyle/>
                    <a:p>
                      <a:pPr indent="0" marL="0">
                        <a:buNone/>
                      </a:pPr>
                      <a:r>
                        <a:rPr lang="en-US" sz="1400" dirty="0">
                          <a:solidFill>
                            <a:schemeClr val="tx1"/>
                          </a:solidFill>
                        </a:rPr>
                        <a:t>0.5 ± j1.32</a:t>
                      </a:r>
                      <a:endParaRPr lang="en-US" sz="1400" dirty="0"/>
                    </a:p>
                  </a:txBody>
                  <a:tcPr marL="73152" marR="73152" marT="27432" marB="27432" anchor="ctr">
                    <a:lnL w="6350" cap="flat" cmpd="sng" algn="ctr">
                      <a:solidFill>
                        <a:srgbClr val="D5DEEA"/>
                      </a:solidFill>
                      <a:prstDash val="solid"/>
                      <a:round/>
                      <a:headEnd type="none" w="med" len="med"/>
                      <a:tailEnd type="none" w="med" len="med"/>
                    </a:lnL>
                    <a:lnR w="6350" cap="flat" cmpd="sng" algn="ctr">
                      <a:solidFill>
                        <a:srgbClr val="D5DEEA"/>
                      </a:solidFill>
                      <a:prstDash val="solid"/>
                      <a:round/>
                      <a:headEnd type="none" w="med" len="med"/>
                      <a:tailEnd type="none" w="med" len="med"/>
                    </a:lnR>
                    <a:lnT w="6350" cap="flat" cmpd="sng" algn="ctr">
                      <a:solidFill>
                        <a:srgbClr val="D5DEEA"/>
                      </a:solidFill>
                      <a:prstDash val="solid"/>
                      <a:round/>
                      <a:headEnd type="none" w="med" len="med"/>
                      <a:tailEnd type="none" w="med" len="med"/>
                    </a:lnT>
                    <a:lnB w="6350" cap="flat" cmpd="sng" algn="ctr">
                      <a:solidFill>
                        <a:srgbClr val="D5DEEA"/>
                      </a:solidFill>
                      <a:prstDash val="solid"/>
                      <a:round/>
                      <a:headEnd type="none" w="med" len="med"/>
                      <a:tailEnd type="none" w="med" len="med"/>
                    </a:lnB>
                    <a:solidFill>
                      <a:schemeClr val="bg2"/>
                    </a:solidFill>
                  </a:tcPr>
                </a:tc>
                <a:tc>
                  <a:txBody>
                    <a:bodyPr/>
                    <a:lstStyle/>
                    <a:p>
                      <a:pPr indent="0" marL="0">
                        <a:buNone/>
                      </a:pPr>
                      <a:r>
                        <a:rPr lang="en-US" sz="1400" dirty="0">
                          <a:solidFill>
                            <a:schemeClr val="tx1"/>
                          </a:solidFill>
                        </a:rPr>
                        <a:t>Unstable</a:t>
                      </a:r>
                      <a:endParaRPr lang="en-US" sz="1400" dirty="0"/>
                    </a:p>
                  </a:txBody>
                  <a:tcPr marL="73152" marR="73152" marT="27432" marB="27432" anchor="ctr">
                    <a:lnL w="6350" cap="flat" cmpd="sng" algn="ctr">
                      <a:solidFill>
                        <a:srgbClr val="D5DEEA"/>
                      </a:solidFill>
                      <a:prstDash val="solid"/>
                      <a:round/>
                      <a:headEnd type="none" w="med" len="med"/>
                      <a:tailEnd type="none" w="med" len="med"/>
                    </a:lnL>
                    <a:lnR w="6350" cap="flat" cmpd="sng" algn="ctr">
                      <a:solidFill>
                        <a:srgbClr val="D5DEEA"/>
                      </a:solidFill>
                      <a:prstDash val="solid"/>
                      <a:round/>
                      <a:headEnd type="none" w="med" len="med"/>
                      <a:tailEnd type="none" w="med" len="med"/>
                    </a:lnR>
                    <a:lnT w="6350" cap="flat" cmpd="sng" algn="ctr">
                      <a:solidFill>
                        <a:srgbClr val="D5DEEA"/>
                      </a:solidFill>
                      <a:prstDash val="solid"/>
                      <a:round/>
                      <a:headEnd type="none" w="med" len="med"/>
                      <a:tailEnd type="none" w="med" len="med"/>
                    </a:lnT>
                    <a:lnB w="6350" cap="flat" cmpd="sng" algn="ctr">
                      <a:solidFill>
                        <a:srgbClr val="D5DEEA"/>
                      </a:solidFill>
                      <a:prstDash val="solid"/>
                      <a:round/>
                      <a:headEnd type="none" w="med" len="med"/>
                      <a:tailEnd type="none" w="med" len="med"/>
                    </a:lnB>
                    <a:solidFill>
                      <a:schemeClr val="bg2"/>
                    </a:solidFill>
                  </a:tcPr>
                </a:tc>
              </a:tr>
              <a:tr h="502920">
                <a:tc>
                  <a:txBody>
                    <a:bodyPr/>
                    <a:lstStyle/>
                    <a:p>
                      <a:pPr indent="0" marL="0">
                        <a:buNone/>
                      </a:pPr>
                      <a:r>
                        <a:rPr lang="en-US" sz="1400" b="1" dirty="0">
                          <a:solidFill>
                            <a:schemeClr val="tx1"/>
                          </a:solidFill>
                        </a:rPr>
                        <a:t>s² + 2s + 5</a:t>
                      </a:r>
                      <a:endParaRPr lang="en-US" sz="1400" dirty="0"/>
                    </a:p>
                  </a:txBody>
                  <a:tcPr marL="73152" marR="73152" marT="27432" marB="27432" anchor="ctr">
                    <a:lnL w="6350" cap="flat" cmpd="sng" algn="ctr">
                      <a:solidFill>
                        <a:srgbClr val="D5DEEA"/>
                      </a:solidFill>
                      <a:prstDash val="solid"/>
                      <a:round/>
                      <a:headEnd type="none" w="med" len="med"/>
                      <a:tailEnd type="none" w="med" len="med"/>
                    </a:lnL>
                    <a:lnR w="6350" cap="flat" cmpd="sng" algn="ctr">
                      <a:solidFill>
                        <a:srgbClr val="D5DEEA"/>
                      </a:solidFill>
                      <a:prstDash val="solid"/>
                      <a:round/>
                      <a:headEnd type="none" w="med" len="med"/>
                      <a:tailEnd type="none" w="med" len="med"/>
                    </a:lnR>
                    <a:lnT w="6350" cap="flat" cmpd="sng" algn="ctr">
                      <a:solidFill>
                        <a:srgbClr val="D5DEEA"/>
                      </a:solidFill>
                      <a:prstDash val="solid"/>
                      <a:round/>
                      <a:headEnd type="none" w="med" len="med"/>
                      <a:tailEnd type="none" w="med" len="med"/>
                    </a:lnT>
                    <a:lnB w="6350" cap="flat" cmpd="sng" algn="ctr">
                      <a:solidFill>
                        <a:srgbClr val="D5DEEA"/>
                      </a:solidFill>
                      <a:prstDash val="solid"/>
                      <a:round/>
                      <a:headEnd type="none" w="med" len="med"/>
                      <a:tailEnd type="none" w="med" len="med"/>
                    </a:lnB>
                    <a:solidFill>
                      <a:schemeClr val="bg1"/>
                    </a:solidFill>
                  </a:tcPr>
                </a:tc>
                <a:tc>
                  <a:txBody>
                    <a:bodyPr/>
                    <a:lstStyle/>
                    <a:p>
                      <a:pPr indent="0" marL="0">
                        <a:buNone/>
                      </a:pPr>
                      <a:r>
                        <a:rPr lang="en-US" sz="1400" dirty="0">
                          <a:solidFill>
                            <a:schemeClr val="tx1"/>
                          </a:solidFill>
                        </a:rPr>
                        <a:t>−1 ± j2</a:t>
                      </a:r>
                      <a:endParaRPr lang="en-US" sz="1400" dirty="0"/>
                    </a:p>
                  </a:txBody>
                  <a:tcPr marL="73152" marR="73152" marT="27432" marB="27432" anchor="ctr">
                    <a:lnL w="6350" cap="flat" cmpd="sng" algn="ctr">
                      <a:solidFill>
                        <a:srgbClr val="D5DEEA"/>
                      </a:solidFill>
                      <a:prstDash val="solid"/>
                      <a:round/>
                      <a:headEnd type="none" w="med" len="med"/>
                      <a:tailEnd type="none" w="med" len="med"/>
                    </a:lnL>
                    <a:lnR w="6350" cap="flat" cmpd="sng" algn="ctr">
                      <a:solidFill>
                        <a:srgbClr val="D5DEEA"/>
                      </a:solidFill>
                      <a:prstDash val="solid"/>
                      <a:round/>
                      <a:headEnd type="none" w="med" len="med"/>
                      <a:tailEnd type="none" w="med" len="med"/>
                    </a:lnR>
                    <a:lnT w="6350" cap="flat" cmpd="sng" algn="ctr">
                      <a:solidFill>
                        <a:srgbClr val="D5DEEA"/>
                      </a:solidFill>
                      <a:prstDash val="solid"/>
                      <a:round/>
                      <a:headEnd type="none" w="med" len="med"/>
                      <a:tailEnd type="none" w="med" len="med"/>
                    </a:lnT>
                    <a:lnB w="6350" cap="flat" cmpd="sng" algn="ctr">
                      <a:solidFill>
                        <a:srgbClr val="D5DEEA"/>
                      </a:solidFill>
                      <a:prstDash val="solid"/>
                      <a:round/>
                      <a:headEnd type="none" w="med" len="med"/>
                      <a:tailEnd type="none" w="med" len="med"/>
                    </a:lnB>
                    <a:solidFill>
                      <a:schemeClr val="bg1"/>
                    </a:solidFill>
                  </a:tcPr>
                </a:tc>
                <a:tc>
                  <a:txBody>
                    <a:bodyPr/>
                    <a:lstStyle/>
                    <a:p>
                      <a:pPr indent="0" marL="0">
                        <a:buNone/>
                      </a:pPr>
                      <a:r>
                        <a:rPr lang="en-US" sz="1400" dirty="0">
                          <a:solidFill>
                            <a:schemeClr val="tx1"/>
                          </a:solidFill>
                        </a:rPr>
                        <a:t>Stable (underdamped)</a:t>
                      </a:r>
                      <a:endParaRPr lang="en-US" sz="1400" dirty="0"/>
                    </a:p>
                  </a:txBody>
                  <a:tcPr marL="73152" marR="73152" marT="27432" marB="27432" anchor="ctr">
                    <a:lnL w="6350" cap="flat" cmpd="sng" algn="ctr">
                      <a:solidFill>
                        <a:srgbClr val="D5DEEA"/>
                      </a:solidFill>
                      <a:prstDash val="solid"/>
                      <a:round/>
                      <a:headEnd type="none" w="med" len="med"/>
                      <a:tailEnd type="none" w="med" len="med"/>
                    </a:lnL>
                    <a:lnR w="6350" cap="flat" cmpd="sng" algn="ctr">
                      <a:solidFill>
                        <a:srgbClr val="D5DEEA"/>
                      </a:solidFill>
                      <a:prstDash val="solid"/>
                      <a:round/>
                      <a:headEnd type="none" w="med" len="med"/>
                      <a:tailEnd type="none" w="med" len="med"/>
                    </a:lnR>
                    <a:lnT w="6350" cap="flat" cmpd="sng" algn="ctr">
                      <a:solidFill>
                        <a:srgbClr val="D5DEEA"/>
                      </a:solidFill>
                      <a:prstDash val="solid"/>
                      <a:round/>
                      <a:headEnd type="none" w="med" len="med"/>
                      <a:tailEnd type="none" w="med" len="med"/>
                    </a:lnT>
                    <a:lnB w="6350" cap="flat" cmpd="sng" algn="ctr">
                      <a:solidFill>
                        <a:srgbClr val="D5DEEA"/>
                      </a:solidFill>
                      <a:prstDash val="solid"/>
                      <a:round/>
                      <a:headEnd type="none" w="med" len="med"/>
                      <a:tailEnd type="none" w="med" len="med"/>
                    </a:lnB>
                    <a:solidFill>
                      <a:schemeClr val="bg1"/>
                    </a:solidFill>
                  </a:tcPr>
                </a:tc>
              </a:tr>
              <a:tr h="502920">
                <a:tc>
                  <a:txBody>
                    <a:bodyPr/>
                    <a:lstStyle/>
                    <a:p>
                      <a:pPr indent="0" marL="0">
                        <a:buNone/>
                      </a:pPr>
                      <a:r>
                        <a:rPr lang="en-US" sz="1400" b="1" dirty="0">
                          <a:solidFill>
                            <a:schemeClr val="tx1"/>
                          </a:solidFill>
                        </a:rPr>
                        <a:t>s³ + 2s² + s + 2</a:t>
                      </a:r>
                      <a:endParaRPr lang="en-US" sz="1400" dirty="0"/>
                    </a:p>
                  </a:txBody>
                  <a:tcPr marL="73152" marR="73152" marT="27432" marB="27432" anchor="ctr">
                    <a:lnL w="6350" cap="flat" cmpd="sng" algn="ctr">
                      <a:solidFill>
                        <a:srgbClr val="D5DEEA"/>
                      </a:solidFill>
                      <a:prstDash val="solid"/>
                      <a:round/>
                      <a:headEnd type="none" w="med" len="med"/>
                      <a:tailEnd type="none" w="med" len="med"/>
                    </a:lnL>
                    <a:lnR w="6350" cap="flat" cmpd="sng" algn="ctr">
                      <a:solidFill>
                        <a:srgbClr val="D5DEEA"/>
                      </a:solidFill>
                      <a:prstDash val="solid"/>
                      <a:round/>
                      <a:headEnd type="none" w="med" len="med"/>
                      <a:tailEnd type="none" w="med" len="med"/>
                    </a:lnR>
                    <a:lnT w="6350" cap="flat" cmpd="sng" algn="ctr">
                      <a:solidFill>
                        <a:srgbClr val="D5DEEA"/>
                      </a:solidFill>
                      <a:prstDash val="solid"/>
                      <a:round/>
                      <a:headEnd type="none" w="med" len="med"/>
                      <a:tailEnd type="none" w="med" len="med"/>
                    </a:lnT>
                    <a:lnB w="6350" cap="flat" cmpd="sng" algn="ctr">
                      <a:solidFill>
                        <a:srgbClr val="D5DEEA"/>
                      </a:solidFill>
                      <a:prstDash val="solid"/>
                      <a:round/>
                      <a:headEnd type="none" w="med" len="med"/>
                      <a:tailEnd type="none" w="med" len="med"/>
                    </a:lnB>
                    <a:solidFill>
                      <a:schemeClr val="bg2"/>
                    </a:solidFill>
                  </a:tcPr>
                </a:tc>
                <a:tc>
                  <a:txBody>
                    <a:bodyPr/>
                    <a:lstStyle/>
                    <a:p>
                      <a:pPr indent="0" marL="0">
                        <a:buNone/>
                      </a:pPr>
                      <a:r>
                        <a:rPr lang="en-US" sz="1400" dirty="0">
                          <a:solidFill>
                            <a:schemeClr val="tx1"/>
                          </a:solidFill>
                        </a:rPr>
                        <a:t>−2, ± j1</a:t>
                      </a:r>
                      <a:endParaRPr lang="en-US" sz="1400" dirty="0"/>
                    </a:p>
                  </a:txBody>
                  <a:tcPr marL="73152" marR="73152" marT="27432" marB="27432" anchor="ctr">
                    <a:lnL w="6350" cap="flat" cmpd="sng" algn="ctr">
                      <a:solidFill>
                        <a:srgbClr val="D5DEEA"/>
                      </a:solidFill>
                      <a:prstDash val="solid"/>
                      <a:round/>
                      <a:headEnd type="none" w="med" len="med"/>
                      <a:tailEnd type="none" w="med" len="med"/>
                    </a:lnL>
                    <a:lnR w="6350" cap="flat" cmpd="sng" algn="ctr">
                      <a:solidFill>
                        <a:srgbClr val="D5DEEA"/>
                      </a:solidFill>
                      <a:prstDash val="solid"/>
                      <a:round/>
                      <a:headEnd type="none" w="med" len="med"/>
                      <a:tailEnd type="none" w="med" len="med"/>
                    </a:lnR>
                    <a:lnT w="6350" cap="flat" cmpd="sng" algn="ctr">
                      <a:solidFill>
                        <a:srgbClr val="D5DEEA"/>
                      </a:solidFill>
                      <a:prstDash val="solid"/>
                      <a:round/>
                      <a:headEnd type="none" w="med" len="med"/>
                      <a:tailEnd type="none" w="med" len="med"/>
                    </a:lnT>
                    <a:lnB w="6350" cap="flat" cmpd="sng" algn="ctr">
                      <a:solidFill>
                        <a:srgbClr val="D5DEEA"/>
                      </a:solidFill>
                      <a:prstDash val="solid"/>
                      <a:round/>
                      <a:headEnd type="none" w="med" len="med"/>
                      <a:tailEnd type="none" w="med" len="med"/>
                    </a:lnB>
                    <a:solidFill>
                      <a:schemeClr val="bg2"/>
                    </a:solidFill>
                  </a:tcPr>
                </a:tc>
                <a:tc>
                  <a:txBody>
                    <a:bodyPr/>
                    <a:lstStyle/>
                    <a:p>
                      <a:pPr indent="0" marL="0">
                        <a:buNone/>
                      </a:pPr>
                      <a:r>
                        <a:rPr lang="en-US" sz="1400" dirty="0">
                          <a:solidFill>
                            <a:schemeClr val="tx1"/>
                          </a:solidFill>
                        </a:rPr>
                        <a:t>Marginally stable</a:t>
                      </a:r>
                      <a:endParaRPr lang="en-US" sz="1400" dirty="0"/>
                    </a:p>
                  </a:txBody>
                  <a:tcPr marL="73152" marR="73152" marT="27432" marB="27432" anchor="ctr">
                    <a:lnL w="6350" cap="flat" cmpd="sng" algn="ctr">
                      <a:solidFill>
                        <a:srgbClr val="D5DEEA"/>
                      </a:solidFill>
                      <a:prstDash val="solid"/>
                      <a:round/>
                      <a:headEnd type="none" w="med" len="med"/>
                      <a:tailEnd type="none" w="med" len="med"/>
                    </a:lnL>
                    <a:lnR w="6350" cap="flat" cmpd="sng" algn="ctr">
                      <a:solidFill>
                        <a:srgbClr val="D5DEEA"/>
                      </a:solidFill>
                      <a:prstDash val="solid"/>
                      <a:round/>
                      <a:headEnd type="none" w="med" len="med"/>
                      <a:tailEnd type="none" w="med" len="med"/>
                    </a:lnR>
                    <a:lnT w="6350" cap="flat" cmpd="sng" algn="ctr">
                      <a:solidFill>
                        <a:srgbClr val="D5DEEA"/>
                      </a:solidFill>
                      <a:prstDash val="solid"/>
                      <a:round/>
                      <a:headEnd type="none" w="med" len="med"/>
                      <a:tailEnd type="none" w="med" len="med"/>
                    </a:lnT>
                    <a:lnB w="6350" cap="flat" cmpd="sng" algn="ctr">
                      <a:solidFill>
                        <a:srgbClr val="D5DEEA"/>
                      </a:solidFill>
                      <a:prstDash val="solid"/>
                      <a:round/>
                      <a:headEnd type="none" w="med" len="med"/>
                      <a:tailEnd type="none" w="med" len="med"/>
                    </a:lnB>
                    <a:solidFill>
                      <a:schemeClr val="bg2"/>
                    </a:solidFill>
                  </a:tcPr>
                </a:tc>
              </a:tr>
            </a:tbl>
          </a:graphicData>
        </a:graphic>
      </p:graphicFrame>
      <p:sp>
        <p:nvSpPr>
          <p:cNvPr id="25" name="Slide Number Placeholder 0"/>
          <p:cNvSpPr>
            <a:spLocks noGrp="1"/>
          </p:cNvSpPr>
          <p:nvPr>
            <p:ph type="sldNum" sz="quarter" idx="4294967295"/>
          </p:nvPr>
        </p:nvSpPr>
        <p:spPr>
          <a:xfrm>
            <a:off x="8229600" y="4800600"/>
            <a:ext cx="457200" cy="228600"/>
          </a:xfrm>
          <a:prstGeom prst="rect">
            <a:avLst/>
          </a:prstGeom>
          <a:extLst>
            <a:ext uri="{C572A759-6A51-4108-AA02-DFA0A04FC94B}">
              <ma14:wrappingTextBoxFlag xmlns:ma14="http://schemas.microsoft.com/office/mac/drawingml/2011/main" val="0"/>
            </a:ext>
          </a:extLst>
        </p:spPr>
        <p:txBody>
          <a:bodyPr/>
          <a:lstStyle>
            <a:lvl1pPr>
              <a:defRPr sz="1000">
                <a:solidFill>
                  <a:schemeClr val="accent4"/>
                </a:solidFill>
              </a:defRPr>
            </a:lvl1pPr>
          </a:lstStyle>
          <a:p>
            <a:pPr algn="r"/>
            <a:fld id="{F7021451-1387-4CA6-816F-3879F97B5CBC}" type="slidenum">
              <a:rPr b="0" lang="en-US"/>
              <a:t>6</a:t>
            </a:fld>
            <a:endParaRPr lang="en-US"/>
          </a:p>
        </p:txBody>
      </p:sp>
    </p:spTree>
  </p:cSld>
  <p:clrMapOvr>
    <a:masterClrMapping/>
  </p:clrMapOvr>
</p:sld>
</file>

<file path=ppt/slides/slide7.xml><?xml version="1.0" encoding="utf-8"?>
<p:sld xmlns:a="http://schemas.openxmlformats.org/drawingml/2006/main" xmlns:r="http://schemas.openxmlformats.org/officeDocument/2006/relationships" xmlns:p="http://schemas.openxmlformats.org/presentationml/2006/main">
  <p:cSld name="Slide 7">
    <p:spTree>
      <p:nvGrpSpPr>
        <p:cNvPr id="1" name=""/>
        <p:cNvGrpSpPr/>
        <p:nvPr/>
      </p:nvGrpSpPr>
      <p:grpSpPr>
        <a:xfrm>
          <a:off x="0" y="0"/>
          <a:ext cx="0" cy="0"/>
          <a:chOff x="0" y="0"/>
          <a:chExt cx="0" cy="0"/>
        </a:xfrm>
      </p:grpSpPr>
      <p:sp>
        <p:nvSpPr>
          <p:cNvPr id="2" name="Text 1"/>
          <p:cNvSpPr/>
          <p:nvPr>
            <p:ph idx="101" type="title" hasCustomPrompt="1"/>
          </p:nvPr>
        </p:nvSpPr>
        <p:spPr>
          <a:xfrm>
            <a:off x="1188720" y="274320"/>
            <a:ext cx="7498080" cy="685800"/>
          </a:xfrm>
          <a:prstGeom prst="rect">
            <a:avLst/>
          </a:prstGeom>
          <a:noFill/>
          <a:ln/>
        </p:spPr>
        <p:txBody>
          <a:bodyPr wrap="square" lIns="0" tIns="0" rIns="0" bIns="0" rtlCol="0" anchor="ctr"/>
          <a:lstStyle/>
          <a:p>
            <a:pPr algn="l" indent="0" marL="0">
              <a:buNone/>
            </a:pPr>
            <a:r>
              <a:rPr lang="en-US" sz="2800" b="1" dirty="0">
                <a:solidFill>
                  <a:schemeClr val="tx1"/>
                </a:solidFill>
              </a:rPr>
              <a:t>Absolute versus relative stability</a:t>
            </a:r>
            <a:endParaRPr lang="en-US" sz="2800" dirty="0"/>
          </a:p>
        </p:txBody>
      </p:sp>
      <p:sp>
        <p:nvSpPr>
          <p:cNvPr id="3" name="Unit badge"/>
          <p:cNvSpPr/>
          <p:nvPr/>
        </p:nvSpPr>
        <p:spPr>
          <a:xfrm>
            <a:off x="457200" y="365760"/>
            <a:ext cx="548640" cy="548640"/>
          </a:xfrm>
          <a:prstGeom prst="ellipse">
            <a:avLst/>
          </a:prstGeom>
          <a:solidFill>
            <a:schemeClr val="accent1"/>
          </a:solidFill>
          <a:ln/>
        </p:spPr>
      </p:sp>
      <p:sp>
        <p:nvSpPr>
          <p:cNvPr id="4" name="Text 2"/>
          <p:cNvSpPr txBox="1"/>
          <p:nvPr/>
        </p:nvSpPr>
        <p:spPr>
          <a:xfrm>
            <a:off x="457200" y="365760"/>
            <a:ext cx="548640" cy="548640"/>
          </a:xfrm>
          <a:prstGeom prst="rect">
            <a:avLst/>
          </a:prstGeom>
          <a:noFill/>
          <a:ln/>
        </p:spPr>
        <p:txBody>
          <a:bodyPr wrap="square" lIns="0" tIns="0" rIns="0" bIns="0" rtlCol="0" anchor="ctr"/>
          <a:lstStyle/>
          <a:p>
            <a:pPr algn="ctr" indent="0" marL="0">
              <a:buNone/>
            </a:pPr>
            <a:r>
              <a:rPr lang="en-US" sz="1600" b="1" dirty="0">
                <a:solidFill>
                  <a:schemeClr val="tx1"/>
                </a:solidFill>
                <a:latin typeface="Calibri" pitchFamily="34" charset="0"/>
                <a:ea typeface="Calibri" pitchFamily="34" charset="-122"/>
                <a:cs typeface="Calibri" pitchFamily="34" charset="-120"/>
              </a:rPr>
              <a:t>U4</a:t>
            </a:r>
            <a:endParaRPr lang="en-US" sz="1600" dirty="0"/>
          </a:p>
        </p:txBody>
      </p:sp>
      <p:sp>
        <p:nvSpPr>
          <p:cNvPr id="6" name="Compare card"/>
          <p:cNvSpPr/>
          <p:nvPr/>
        </p:nvSpPr>
        <p:spPr>
          <a:xfrm>
            <a:off x="457200" y="1188720"/>
            <a:ext cx="4023360" cy="3429000"/>
          </a:xfrm>
          <a:prstGeom prst="roundRect">
            <a:avLst>
              <a:gd name="adj" fmla="val 2133"/>
            </a:avLst>
          </a:prstGeom>
          <a:solidFill>
            <a:schemeClr val="bg2"/>
          </a:solidFill>
          <a:ln/>
        </p:spPr>
      </p:sp>
      <p:sp>
        <p:nvSpPr>
          <p:cNvPr id="7" name="Compare header"/>
          <p:cNvSpPr/>
          <p:nvPr/>
        </p:nvSpPr>
        <p:spPr>
          <a:xfrm>
            <a:off x="457200" y="1188720"/>
            <a:ext cx="4023360" cy="502920"/>
          </a:xfrm>
          <a:prstGeom prst="roundRect">
            <a:avLst>
              <a:gd name="adj" fmla="val 14545"/>
            </a:avLst>
          </a:prstGeom>
          <a:solidFill>
            <a:schemeClr val="tx2"/>
          </a:solidFill>
          <a:ln/>
        </p:spPr>
      </p:sp>
      <p:sp>
        <p:nvSpPr>
          <p:cNvPr id="8" name="Text 5"/>
          <p:cNvSpPr txBox="1"/>
          <p:nvPr/>
        </p:nvSpPr>
        <p:spPr>
          <a:xfrm>
            <a:off x="594360" y="1188720"/>
            <a:ext cx="3749040" cy="502920"/>
          </a:xfrm>
          <a:prstGeom prst="rect">
            <a:avLst/>
          </a:prstGeom>
          <a:noFill/>
          <a:ln/>
        </p:spPr>
        <p:txBody>
          <a:bodyPr wrap="square" lIns="0" tIns="0" rIns="0" bIns="0" rtlCol="0" anchor="ctr"/>
          <a:lstStyle/>
          <a:p>
            <a:pPr indent="0" marL="0">
              <a:buNone/>
            </a:pPr>
            <a:r>
              <a:rPr lang="en-US" sz="1700" b="1" dirty="0">
                <a:solidFill>
                  <a:schemeClr val="bg1"/>
                </a:solidFill>
              </a:rPr>
              <a:t>Absolute stability</a:t>
            </a:r>
            <a:endParaRPr lang="en-US" sz="1700" dirty="0"/>
          </a:p>
        </p:txBody>
      </p:sp>
      <p:sp>
        <p:nvSpPr>
          <p:cNvPr id="9" name="Text 6"/>
          <p:cNvSpPr txBox="1"/>
          <p:nvPr/>
        </p:nvSpPr>
        <p:spPr>
          <a:xfrm>
            <a:off x="594360" y="1828800"/>
            <a:ext cx="3749040" cy="2743200"/>
          </a:xfrm>
          <a:prstGeom prst="rect">
            <a:avLst/>
          </a:prstGeom>
          <a:noFill/>
          <a:ln/>
        </p:spPr>
        <p:txBody>
          <a:bodyPr wrap="square" lIns="0" tIns="0" rIns="0" bIns="0" rtlCol="0" anchor="t"/>
          <a:lstStyle/>
          <a:p>
            <a:pPr marL="342900" indent="-342900">
              <a:spcAft>
                <a:spcPts val="600"/>
              </a:spcAft>
              <a:buSzPct val="100000"/>
              <a:buChar char="•"/>
            </a:pPr>
            <a:r>
              <a:rPr lang="en-US" sz="2000" dirty="0">
                <a:solidFill>
                  <a:schemeClr val="tx1"/>
                </a:solidFill>
              </a:rPr>
              <a:t>Is the system stable or not?</a:t>
            </a:r>
            <a:endParaRPr lang="en-US" sz="2000" dirty="0"/>
          </a:p>
          <a:p>
            <a:pPr marL="342900" indent="-342900">
              <a:spcAft>
                <a:spcPts val="600"/>
              </a:spcAft>
              <a:buSzPct val="100000"/>
              <a:buChar char="•"/>
            </a:pPr>
            <a:r>
              <a:rPr lang="en-US" sz="2000" dirty="0">
                <a:solidFill>
                  <a:schemeClr val="tx1"/>
                </a:solidFill>
              </a:rPr>
              <a:t>Decided by sign of the real parts of roots</a:t>
            </a:r>
            <a:endParaRPr lang="en-US" sz="2000" dirty="0"/>
          </a:p>
          <a:p>
            <a:pPr marL="342900" indent="-342900">
              <a:spcAft>
                <a:spcPts val="600"/>
              </a:spcAft>
              <a:buSzPct val="100000"/>
              <a:buChar char="•"/>
            </a:pPr>
            <a:r>
              <a:rPr lang="en-US" sz="2000" dirty="0">
                <a:solidFill>
                  <a:schemeClr val="tx1"/>
                </a:solidFill>
              </a:rPr>
              <a:t>Tests: Routh–Hurwitz, root locus, Bode, Nyquist</a:t>
            </a:r>
            <a:endParaRPr lang="en-US" sz="2000" dirty="0"/>
          </a:p>
          <a:p>
            <a:pPr marL="342900" indent="-342900">
              <a:spcAft>
                <a:spcPts val="600"/>
              </a:spcAft>
              <a:buSzPct val="100000"/>
              <a:buChar char="•"/>
            </a:pPr>
            <a:r>
              <a:rPr lang="en-US" sz="2000" dirty="0">
                <a:solidFill>
                  <a:schemeClr val="tx1"/>
                </a:solidFill>
              </a:rPr>
              <a:t>Binary answer: stable / unstable</a:t>
            </a:r>
            <a:endParaRPr lang="en-US" sz="2000" dirty="0"/>
          </a:p>
        </p:txBody>
      </p:sp>
      <p:sp>
        <p:nvSpPr>
          <p:cNvPr id="10" name="Compare card"/>
          <p:cNvSpPr/>
          <p:nvPr/>
        </p:nvSpPr>
        <p:spPr>
          <a:xfrm>
            <a:off x="4663440" y="1188720"/>
            <a:ext cx="4023360" cy="3429000"/>
          </a:xfrm>
          <a:prstGeom prst="roundRect">
            <a:avLst>
              <a:gd name="adj" fmla="val 2133"/>
            </a:avLst>
          </a:prstGeom>
          <a:solidFill>
            <a:schemeClr val="bg2"/>
          </a:solidFill>
          <a:ln/>
        </p:spPr>
      </p:sp>
      <p:sp>
        <p:nvSpPr>
          <p:cNvPr id="11" name="Compare header"/>
          <p:cNvSpPr/>
          <p:nvPr/>
        </p:nvSpPr>
        <p:spPr>
          <a:xfrm>
            <a:off x="4663440" y="1188720"/>
            <a:ext cx="4023360" cy="502920"/>
          </a:xfrm>
          <a:prstGeom prst="roundRect">
            <a:avLst>
              <a:gd name="adj" fmla="val 14545"/>
            </a:avLst>
          </a:prstGeom>
          <a:solidFill>
            <a:schemeClr val="accent2"/>
          </a:solidFill>
          <a:ln/>
        </p:spPr>
      </p:sp>
      <p:sp>
        <p:nvSpPr>
          <p:cNvPr id="12" name="Text 9"/>
          <p:cNvSpPr txBox="1"/>
          <p:nvPr/>
        </p:nvSpPr>
        <p:spPr>
          <a:xfrm>
            <a:off x="4800600" y="1188720"/>
            <a:ext cx="3749040" cy="502920"/>
          </a:xfrm>
          <a:prstGeom prst="rect">
            <a:avLst/>
          </a:prstGeom>
          <a:noFill/>
          <a:ln/>
        </p:spPr>
        <p:txBody>
          <a:bodyPr wrap="square" lIns="0" tIns="0" rIns="0" bIns="0" rtlCol="0" anchor="ctr"/>
          <a:lstStyle/>
          <a:p>
            <a:pPr indent="0" marL="0">
              <a:buNone/>
            </a:pPr>
            <a:r>
              <a:rPr lang="en-US" sz="1700" b="1" dirty="0">
                <a:solidFill>
                  <a:schemeClr val="bg1"/>
                </a:solidFill>
              </a:rPr>
              <a:t>Relative stability</a:t>
            </a:r>
            <a:endParaRPr lang="en-US" sz="1700" dirty="0"/>
          </a:p>
        </p:txBody>
      </p:sp>
      <p:sp>
        <p:nvSpPr>
          <p:cNvPr id="13" name="Text 10"/>
          <p:cNvSpPr txBox="1"/>
          <p:nvPr/>
        </p:nvSpPr>
        <p:spPr>
          <a:xfrm>
            <a:off x="4800600" y="1828800"/>
            <a:ext cx="3749040" cy="2743200"/>
          </a:xfrm>
          <a:prstGeom prst="rect">
            <a:avLst/>
          </a:prstGeom>
          <a:noFill/>
          <a:ln/>
        </p:spPr>
        <p:txBody>
          <a:bodyPr wrap="square" lIns="0" tIns="0" rIns="0" bIns="0" rtlCol="0" anchor="t"/>
          <a:lstStyle/>
          <a:p>
            <a:pPr marL="342900" indent="-342900">
              <a:spcAft>
                <a:spcPts val="600"/>
              </a:spcAft>
              <a:buSzPct val="100000"/>
              <a:buChar char="•"/>
            </a:pPr>
            <a:r>
              <a:rPr lang="en-US" sz="2000" dirty="0">
                <a:solidFill>
                  <a:schemeClr val="tx1"/>
                </a:solidFill>
              </a:rPr>
              <a:t>How stable? How close to the boundary?</a:t>
            </a:r>
            <a:endParaRPr lang="en-US" sz="2000" dirty="0"/>
          </a:p>
          <a:p>
            <a:pPr marL="342900" indent="-342900">
              <a:spcAft>
                <a:spcPts val="600"/>
              </a:spcAft>
              <a:buSzPct val="100000"/>
              <a:buChar char="•"/>
            </a:pPr>
            <a:r>
              <a:rPr lang="en-US" sz="2000" dirty="0">
                <a:solidFill>
                  <a:schemeClr val="tx1"/>
                </a:solidFill>
              </a:rPr>
              <a:t>Measured by distance of roots from the jω axis, damping ratio, GM and PM</a:t>
            </a:r>
            <a:endParaRPr lang="en-US" sz="2000" dirty="0"/>
          </a:p>
          <a:p>
            <a:pPr marL="342900" indent="-342900">
              <a:spcAft>
                <a:spcPts val="600"/>
              </a:spcAft>
              <a:buSzPct val="100000"/>
              <a:buChar char="•"/>
            </a:pPr>
            <a:r>
              <a:rPr lang="en-US" sz="2000" dirty="0">
                <a:solidFill>
                  <a:schemeClr val="tx1"/>
                </a:solidFill>
              </a:rPr>
              <a:t>Shifted-axis Routh test: s = z − σ</a:t>
            </a:r>
            <a:endParaRPr lang="en-US" sz="2000" dirty="0"/>
          </a:p>
          <a:p>
            <a:pPr marL="342900" indent="-342900">
              <a:spcAft>
                <a:spcPts val="600"/>
              </a:spcAft>
              <a:buSzPct val="100000"/>
              <a:buChar char="•"/>
            </a:pPr>
            <a:r>
              <a:rPr lang="en-US" sz="2000" dirty="0">
                <a:solidFill>
                  <a:schemeClr val="tx1"/>
                </a:solidFill>
              </a:rPr>
              <a:t>Determines transient quality</a:t>
            </a:r>
            <a:endParaRPr lang="en-US" sz="2000" dirty="0"/>
          </a:p>
        </p:txBody>
      </p:sp>
      <p:sp>
        <p:nvSpPr>
          <p:cNvPr id="25" name="Slide Number Placeholder 0"/>
          <p:cNvSpPr>
            <a:spLocks noGrp="1"/>
          </p:cNvSpPr>
          <p:nvPr>
            <p:ph type="sldNum" sz="quarter" idx="4294967295"/>
          </p:nvPr>
        </p:nvSpPr>
        <p:spPr>
          <a:xfrm>
            <a:off x="8229600" y="4800600"/>
            <a:ext cx="457200" cy="228600"/>
          </a:xfrm>
          <a:prstGeom prst="rect">
            <a:avLst/>
          </a:prstGeom>
          <a:extLst>
            <a:ext uri="{C572A759-6A51-4108-AA02-DFA0A04FC94B}">
              <ma14:wrappingTextBoxFlag xmlns:ma14="http://schemas.microsoft.com/office/mac/drawingml/2011/main" val="0"/>
            </a:ext>
          </a:extLst>
        </p:spPr>
        <p:txBody>
          <a:bodyPr/>
          <a:lstStyle>
            <a:lvl1pPr>
              <a:defRPr sz="1000">
                <a:solidFill>
                  <a:schemeClr val="accent4"/>
                </a:solidFill>
              </a:defRPr>
            </a:lvl1pPr>
          </a:lstStyle>
          <a:p>
            <a:pPr algn="r"/>
            <a:fld id="{F7021451-1387-4CA6-816F-3879F97B5CBC}" type="slidenum">
              <a:rPr b="0" lang="en-US"/>
              <a:t>7</a:t>
            </a:fld>
            <a:endParaRPr lang="en-US"/>
          </a:p>
        </p:txBody>
      </p:sp>
    </p:spTree>
  </p:cSld>
  <p:clrMapOvr>
    <a:masterClrMapping/>
  </p:clrMapOvr>
</p:sld>
</file>

<file path=ppt/slides/slide8.xml><?xml version="1.0" encoding="utf-8"?>
<p:sld xmlns:a="http://schemas.openxmlformats.org/drawingml/2006/main" xmlns:r="http://schemas.openxmlformats.org/officeDocument/2006/relationships" xmlns:p="http://schemas.openxmlformats.org/presentationml/2006/main">
  <p:cSld name="Slide 8">
    <p:spTree>
      <p:nvGrpSpPr>
        <p:cNvPr id="1" name=""/>
        <p:cNvGrpSpPr/>
        <p:nvPr/>
      </p:nvGrpSpPr>
      <p:grpSpPr>
        <a:xfrm>
          <a:off x="0" y="0"/>
          <a:ext cx="0" cy="0"/>
          <a:chOff x="0" y="0"/>
          <a:chExt cx="0" cy="0"/>
        </a:xfrm>
      </p:grpSpPr>
      <p:sp>
        <p:nvSpPr>
          <p:cNvPr id="2" name="Text 1"/>
          <p:cNvSpPr/>
          <p:nvPr>
            <p:ph idx="101" type="title" hasCustomPrompt="1"/>
          </p:nvPr>
        </p:nvSpPr>
        <p:spPr>
          <a:xfrm>
            <a:off x="1188720" y="274320"/>
            <a:ext cx="7498080" cy="685800"/>
          </a:xfrm>
          <a:prstGeom prst="rect">
            <a:avLst/>
          </a:prstGeom>
          <a:noFill/>
          <a:ln/>
        </p:spPr>
        <p:txBody>
          <a:bodyPr wrap="square" lIns="0" tIns="0" rIns="0" bIns="0" rtlCol="0" anchor="ctr"/>
          <a:lstStyle/>
          <a:p>
            <a:pPr algn="l" indent="0" marL="0">
              <a:buNone/>
            </a:pPr>
            <a:r>
              <a:rPr lang="en-US" sz="2800" b="1" dirty="0">
                <a:solidFill>
                  <a:schemeClr val="tx1"/>
                </a:solidFill>
              </a:rPr>
              <a:t>Necessary conditions</a:t>
            </a:r>
            <a:endParaRPr lang="en-US" sz="2800" dirty="0"/>
          </a:p>
        </p:txBody>
      </p:sp>
      <p:sp>
        <p:nvSpPr>
          <p:cNvPr id="3" name="Unit badge"/>
          <p:cNvSpPr/>
          <p:nvPr/>
        </p:nvSpPr>
        <p:spPr>
          <a:xfrm>
            <a:off x="457200" y="365760"/>
            <a:ext cx="548640" cy="548640"/>
          </a:xfrm>
          <a:prstGeom prst="ellipse">
            <a:avLst/>
          </a:prstGeom>
          <a:solidFill>
            <a:schemeClr val="accent1"/>
          </a:solidFill>
          <a:ln/>
        </p:spPr>
      </p:sp>
      <p:sp>
        <p:nvSpPr>
          <p:cNvPr id="4" name="Text 2"/>
          <p:cNvSpPr txBox="1"/>
          <p:nvPr/>
        </p:nvSpPr>
        <p:spPr>
          <a:xfrm>
            <a:off x="457200" y="365760"/>
            <a:ext cx="548640" cy="548640"/>
          </a:xfrm>
          <a:prstGeom prst="rect">
            <a:avLst/>
          </a:prstGeom>
          <a:noFill/>
          <a:ln/>
        </p:spPr>
        <p:txBody>
          <a:bodyPr wrap="square" lIns="0" tIns="0" rIns="0" bIns="0" rtlCol="0" anchor="ctr"/>
          <a:lstStyle/>
          <a:p>
            <a:pPr algn="ctr" indent="0" marL="0">
              <a:buNone/>
            </a:pPr>
            <a:r>
              <a:rPr lang="en-US" sz="1600" b="1" dirty="0">
                <a:solidFill>
                  <a:schemeClr val="tx1"/>
                </a:solidFill>
                <a:latin typeface="Calibri" pitchFamily="34" charset="0"/>
                <a:ea typeface="Calibri" pitchFamily="34" charset="-122"/>
                <a:cs typeface="Calibri" pitchFamily="34" charset="-120"/>
              </a:rPr>
              <a:t>U4</a:t>
            </a:r>
            <a:endParaRPr lang="en-US" sz="1600" dirty="0"/>
          </a:p>
        </p:txBody>
      </p:sp>
      <p:sp>
        <p:nvSpPr>
          <p:cNvPr id="6" name="Text 3"/>
          <p:cNvSpPr txBox="1"/>
          <p:nvPr/>
        </p:nvSpPr>
        <p:spPr>
          <a:xfrm>
            <a:off x="457200" y="1188720"/>
            <a:ext cx="8229600" cy="3429000"/>
          </a:xfrm>
          <a:prstGeom prst="rect">
            <a:avLst/>
          </a:prstGeom>
          <a:noFill/>
          <a:ln/>
        </p:spPr>
        <p:txBody>
          <a:bodyPr wrap="square" lIns="0" tIns="0" rIns="0" bIns="0" rtlCol="0" anchor="t"/>
          <a:lstStyle/>
          <a:p>
            <a:pPr marL="342900" indent="-342900">
              <a:spcAft>
                <a:spcPts val="600"/>
              </a:spcAft>
              <a:buSzPct val="100000"/>
              <a:buChar char="•"/>
            </a:pPr>
            <a:r>
              <a:rPr lang="en-US" sz="2200" dirty="0">
                <a:solidFill>
                  <a:schemeClr val="tx1"/>
                </a:solidFill>
              </a:rPr>
              <a:t>For all roots to be in the LHP, all coefficients must be non-zero and have the same sign (necessary, not sufficient for n ≥ 3).</a:t>
            </a:r>
            <a:endParaRPr lang="en-US" sz="2200" dirty="0"/>
          </a:p>
          <a:p>
            <a:pPr marL="342900" indent="-342900">
              <a:spcAft>
                <a:spcPts val="600"/>
              </a:spcAft>
              <a:buSzPct val="100000"/>
              <a:buChar char="•"/>
            </a:pPr>
            <a:r>
              <a:rPr lang="en-US" sz="2200" dirty="0">
                <a:solidFill>
                  <a:schemeClr val="tx1"/>
                </a:solidFill>
              </a:rPr>
              <a:t>Missing term or sign change ⇒ certainly not stable.</a:t>
            </a:r>
            <a:endParaRPr lang="en-US" sz="2200" dirty="0"/>
          </a:p>
          <a:p>
            <a:pPr marL="342900" indent="-342900">
              <a:spcAft>
                <a:spcPts val="600"/>
              </a:spcAft>
              <a:buSzPct val="100000"/>
              <a:buChar char="•"/>
            </a:pPr>
            <a:r>
              <a:rPr lang="en-US" sz="2200" dirty="0">
                <a:solidFill>
                  <a:schemeClr val="tx1"/>
                </a:solidFill>
              </a:rPr>
              <a:t>For n = 1, 2 the condition is also sufficient.</a:t>
            </a:r>
            <a:endParaRPr lang="en-US" sz="2200" dirty="0"/>
          </a:p>
          <a:p>
            <a:pPr marL="342900" indent="-342900">
              <a:spcAft>
                <a:spcPts val="600"/>
              </a:spcAft>
              <a:buSzPct val="100000"/>
              <a:buChar char="•"/>
            </a:pPr>
            <a:r>
              <a:rPr lang="en-US" sz="2200" dirty="0">
                <a:solidFill>
                  <a:schemeClr val="tx1"/>
                </a:solidFill>
              </a:rPr>
              <a:t>For higher order: Routh–Hurwitz criterion (next topic).</a:t>
            </a:r>
            <a:endParaRPr lang="en-US" sz="2200" dirty="0"/>
          </a:p>
        </p:txBody>
      </p:sp>
      <p:sp>
        <p:nvSpPr>
          <p:cNvPr id="25" name="Slide Number Placeholder 0"/>
          <p:cNvSpPr>
            <a:spLocks noGrp="1"/>
          </p:cNvSpPr>
          <p:nvPr>
            <p:ph type="sldNum" sz="quarter" idx="4294967295"/>
          </p:nvPr>
        </p:nvSpPr>
        <p:spPr>
          <a:xfrm>
            <a:off x="8229600" y="4800600"/>
            <a:ext cx="457200" cy="228600"/>
          </a:xfrm>
          <a:prstGeom prst="rect">
            <a:avLst/>
          </a:prstGeom>
          <a:extLst>
            <a:ext uri="{C572A759-6A51-4108-AA02-DFA0A04FC94B}">
              <ma14:wrappingTextBoxFlag xmlns:ma14="http://schemas.microsoft.com/office/mac/drawingml/2011/main" val="0"/>
            </a:ext>
          </a:extLst>
        </p:spPr>
        <p:txBody>
          <a:bodyPr/>
          <a:lstStyle>
            <a:lvl1pPr>
              <a:defRPr sz="1000">
                <a:solidFill>
                  <a:schemeClr val="accent4"/>
                </a:solidFill>
              </a:defRPr>
            </a:lvl1pPr>
          </a:lstStyle>
          <a:p>
            <a:pPr algn="r"/>
            <a:fld id="{F7021451-1387-4CA6-816F-3879F97B5CBC}" type="slidenum">
              <a:rPr b="0" lang="en-US"/>
              <a:t>8</a:t>
            </a:fld>
            <a:endParaRPr lang="en-US"/>
          </a:p>
        </p:txBody>
      </p:sp>
    </p:spTree>
  </p:cSld>
  <p:clrMapOvr>
    <a:masterClrMapping/>
  </p:clrMapOvr>
</p:sld>
</file>

<file path=ppt/slides/slide9.xml><?xml version="1.0" encoding="utf-8"?>
<p:sld xmlns:a="http://schemas.openxmlformats.org/drawingml/2006/main" xmlns:r="http://schemas.openxmlformats.org/officeDocument/2006/relationships" xmlns:p="http://schemas.openxmlformats.org/presentationml/2006/main">
  <p:cSld name="Slide 9">
    <p:spTree>
      <p:nvGrpSpPr>
        <p:cNvPr id="1" name=""/>
        <p:cNvGrpSpPr/>
        <p:nvPr/>
      </p:nvGrpSpPr>
      <p:grpSpPr>
        <a:xfrm>
          <a:off x="0" y="0"/>
          <a:ext cx="0" cy="0"/>
          <a:chOff x="0" y="0"/>
          <a:chExt cx="0" cy="0"/>
        </a:xfrm>
      </p:grpSpPr>
      <p:sp>
        <p:nvSpPr>
          <p:cNvPr id="2" name="Text 1"/>
          <p:cNvSpPr/>
          <p:nvPr>
            <p:ph idx="101" type="title" hasCustomPrompt="1"/>
          </p:nvPr>
        </p:nvSpPr>
        <p:spPr>
          <a:xfrm>
            <a:off x="1188720" y="274320"/>
            <a:ext cx="7498080" cy="685800"/>
          </a:xfrm>
          <a:prstGeom prst="rect">
            <a:avLst/>
          </a:prstGeom>
          <a:noFill/>
          <a:ln/>
        </p:spPr>
        <p:txBody>
          <a:bodyPr wrap="square" lIns="0" tIns="0" rIns="0" bIns="0" rtlCol="0" anchor="ctr"/>
          <a:lstStyle/>
          <a:p>
            <a:pPr algn="l" indent="0" marL="0">
              <a:buNone/>
            </a:pPr>
            <a:r>
              <a:rPr lang="en-US" sz="2800" b="1" dirty="0">
                <a:solidFill>
                  <a:schemeClr val="tx1"/>
                </a:solidFill>
              </a:rPr>
              <a:t>Key takeaways</a:t>
            </a:r>
            <a:endParaRPr lang="en-US" sz="2800" dirty="0"/>
          </a:p>
        </p:txBody>
      </p:sp>
      <p:sp>
        <p:nvSpPr>
          <p:cNvPr id="3" name="Unit badge"/>
          <p:cNvSpPr/>
          <p:nvPr/>
        </p:nvSpPr>
        <p:spPr>
          <a:xfrm>
            <a:off x="457200" y="365760"/>
            <a:ext cx="548640" cy="548640"/>
          </a:xfrm>
          <a:prstGeom prst="ellipse">
            <a:avLst/>
          </a:prstGeom>
          <a:solidFill>
            <a:schemeClr val="accent1"/>
          </a:solidFill>
          <a:ln/>
        </p:spPr>
      </p:sp>
      <p:sp>
        <p:nvSpPr>
          <p:cNvPr id="4" name="Text 2"/>
          <p:cNvSpPr txBox="1"/>
          <p:nvPr/>
        </p:nvSpPr>
        <p:spPr>
          <a:xfrm>
            <a:off x="457200" y="365760"/>
            <a:ext cx="548640" cy="548640"/>
          </a:xfrm>
          <a:prstGeom prst="rect">
            <a:avLst/>
          </a:prstGeom>
          <a:noFill/>
          <a:ln/>
        </p:spPr>
        <p:txBody>
          <a:bodyPr wrap="square" lIns="0" tIns="0" rIns="0" bIns="0" rtlCol="0" anchor="ctr"/>
          <a:lstStyle/>
          <a:p>
            <a:pPr algn="ctr" indent="0" marL="0">
              <a:buNone/>
            </a:pPr>
            <a:r>
              <a:rPr lang="en-US" sz="1600" b="1" dirty="0">
                <a:solidFill>
                  <a:schemeClr val="tx1"/>
                </a:solidFill>
                <a:latin typeface="Calibri" pitchFamily="34" charset="0"/>
                <a:ea typeface="Calibri" pitchFamily="34" charset="-122"/>
                <a:cs typeface="Calibri" pitchFamily="34" charset="-120"/>
              </a:rPr>
              <a:t>U4</a:t>
            </a:r>
            <a:endParaRPr lang="en-US" sz="1600" dirty="0"/>
          </a:p>
        </p:txBody>
      </p:sp>
      <p:sp>
        <p:nvSpPr>
          <p:cNvPr id="6" name="Text 3"/>
          <p:cNvSpPr txBox="1"/>
          <p:nvPr/>
        </p:nvSpPr>
        <p:spPr>
          <a:xfrm>
            <a:off x="457200" y="1188720"/>
            <a:ext cx="8229600" cy="3429000"/>
          </a:xfrm>
          <a:prstGeom prst="rect">
            <a:avLst/>
          </a:prstGeom>
          <a:noFill/>
          <a:ln/>
        </p:spPr>
        <p:txBody>
          <a:bodyPr wrap="square" lIns="0" tIns="0" rIns="0" bIns="0" rtlCol="0" anchor="t"/>
          <a:lstStyle/>
          <a:p>
            <a:pPr marL="342900" indent="-342900">
              <a:spcAft>
                <a:spcPts val="600"/>
              </a:spcAft>
              <a:buSzPct val="100000"/>
              <a:buChar char="•"/>
            </a:pPr>
            <a:r>
              <a:rPr lang="en-US" sz="2200" dirty="0">
                <a:solidFill>
                  <a:schemeClr val="tx1"/>
                </a:solidFill>
              </a:rPr>
              <a:t>Stable ⇔ all closed-loop poles in the LHP</a:t>
            </a:r>
            <a:endParaRPr lang="en-US" sz="2200" dirty="0"/>
          </a:p>
          <a:p>
            <a:pPr marL="342900" indent="-342900">
              <a:spcAft>
                <a:spcPts val="600"/>
              </a:spcAft>
              <a:buSzPct val="100000"/>
              <a:buChar char="•"/>
            </a:pPr>
            <a:r>
              <a:rPr lang="en-US" sz="2200" dirty="0">
                <a:solidFill>
                  <a:schemeClr val="tx1"/>
                </a:solidFill>
              </a:rPr>
              <a:t>Characteristic equation: 1 + GH = 0</a:t>
            </a:r>
            <a:endParaRPr lang="en-US" sz="2200" dirty="0"/>
          </a:p>
          <a:p>
            <a:pPr marL="342900" indent="-342900">
              <a:spcAft>
                <a:spcPts val="600"/>
              </a:spcAft>
              <a:buSzPct val="100000"/>
              <a:buChar char="•"/>
            </a:pPr>
            <a:r>
              <a:rPr lang="en-US" sz="2200" dirty="0">
                <a:solidFill>
                  <a:schemeClr val="tx1"/>
                </a:solidFill>
              </a:rPr>
              <a:t>jω-axis simple roots: marginal; RHP roots: unstable</a:t>
            </a:r>
            <a:endParaRPr lang="en-US" sz="2200" dirty="0"/>
          </a:p>
          <a:p>
            <a:pPr marL="342900" indent="-342900">
              <a:spcAft>
                <a:spcPts val="600"/>
              </a:spcAft>
              <a:buSzPct val="100000"/>
              <a:buChar char="•"/>
            </a:pPr>
            <a:r>
              <a:rPr lang="en-US" sz="2200" dirty="0">
                <a:solidFill>
                  <a:schemeClr val="tx1"/>
                </a:solidFill>
              </a:rPr>
              <a:t>Absolute stability: yes/no; relative stability: how far from the boundary</a:t>
            </a:r>
            <a:endParaRPr lang="en-US" sz="2200" dirty="0"/>
          </a:p>
        </p:txBody>
      </p:sp>
      <p:sp>
        <p:nvSpPr>
          <p:cNvPr id="25" name="Slide Number Placeholder 0"/>
          <p:cNvSpPr>
            <a:spLocks noGrp="1"/>
          </p:cNvSpPr>
          <p:nvPr>
            <p:ph type="sldNum" sz="quarter" idx="4294967295"/>
          </p:nvPr>
        </p:nvSpPr>
        <p:spPr>
          <a:xfrm>
            <a:off x="8229600" y="4800600"/>
            <a:ext cx="457200" cy="228600"/>
          </a:xfrm>
          <a:prstGeom prst="rect">
            <a:avLst/>
          </a:prstGeom>
          <a:extLst>
            <a:ext uri="{C572A759-6A51-4108-AA02-DFA0A04FC94B}">
              <ma14:wrappingTextBoxFlag xmlns:ma14="http://schemas.microsoft.com/office/mac/drawingml/2011/main" val="0"/>
            </a:ext>
          </a:extLst>
        </p:spPr>
        <p:txBody>
          <a:bodyPr/>
          <a:lstStyle>
            <a:lvl1pPr>
              <a:defRPr sz="1000">
                <a:solidFill>
                  <a:schemeClr val="accent4"/>
                </a:solidFill>
              </a:defRPr>
            </a:lvl1pPr>
          </a:lstStyle>
          <a:p>
            <a:pPr algn="r"/>
            <a:fld id="{F7021451-1387-4CA6-816F-3879F97B5CBC}" type="slidenum">
              <a:rPr b="0" lang="en-US"/>
              <a:t>9</a:t>
            </a:fld>
            <a:endParaRPr lang="en-US"/>
          </a:p>
        </p:txBody>
      </p:sp>
    </p:spTree>
  </p:cSld>
  <p:clrMapOvr>
    <a:masterClrMapping/>
  </p:clrMapOvr>
</p:sld>
</file>

<file path=ppt/slides/slide10.xml><?xml version="1.0" encoding="utf-8"?>
<p:sld xmlns:a="http://schemas.openxmlformats.org/drawingml/2006/main" xmlns:r="http://schemas.openxmlformats.org/officeDocument/2006/relationships" xmlns:p="http://schemas.openxmlformats.org/presentationml/2006/main">
  <p:cSld name="Slide 10">
    <p:spTree>
      <p:nvGrpSpPr>
        <p:cNvPr id="1" name=""/>
        <p:cNvGrpSpPr/>
        <p:nvPr/>
      </p:nvGrpSpPr>
      <p:grpSpPr>
        <a:xfrm>
          <a:off x="0" y="0"/>
          <a:ext cx="0" cy="0"/>
          <a:chOff x="0" y="0"/>
          <a:chExt cx="0" cy="0"/>
        </a:xfrm>
      </p:grpSpPr>
      <p:sp>
        <p:nvSpPr>
          <p:cNvPr id="2" name="Text 1"/>
          <p:cNvSpPr/>
          <p:nvPr>
            <p:ph idx="101" type="title" hasCustomPrompt="1"/>
          </p:nvPr>
        </p:nvSpPr>
        <p:spPr>
          <a:xfrm>
            <a:off x="1188720" y="274320"/>
            <a:ext cx="7498080" cy="685800"/>
          </a:xfrm>
          <a:prstGeom prst="rect">
            <a:avLst/>
          </a:prstGeom>
          <a:noFill/>
          <a:ln/>
        </p:spPr>
        <p:txBody>
          <a:bodyPr wrap="square" lIns="0" tIns="0" rIns="0" bIns="0" rtlCol="0" anchor="ctr"/>
          <a:lstStyle/>
          <a:p>
            <a:pPr algn="l" indent="0" marL="0">
              <a:buNone/>
            </a:pPr>
            <a:r>
              <a:rPr lang="en-US" sz="2800" b="1" dirty="0">
                <a:solidFill>
                  <a:schemeClr val="tx1"/>
                </a:solidFill>
              </a:rPr>
              <a:t>Practice questions</a:t>
            </a:r>
            <a:endParaRPr lang="en-US" sz="2800" dirty="0"/>
          </a:p>
        </p:txBody>
      </p:sp>
      <p:sp>
        <p:nvSpPr>
          <p:cNvPr id="3" name="Unit badge"/>
          <p:cNvSpPr/>
          <p:nvPr/>
        </p:nvSpPr>
        <p:spPr>
          <a:xfrm>
            <a:off x="457200" y="365760"/>
            <a:ext cx="548640" cy="548640"/>
          </a:xfrm>
          <a:prstGeom prst="ellipse">
            <a:avLst/>
          </a:prstGeom>
          <a:solidFill>
            <a:schemeClr val="accent1"/>
          </a:solidFill>
          <a:ln/>
        </p:spPr>
      </p:sp>
      <p:sp>
        <p:nvSpPr>
          <p:cNvPr id="4" name="Text 2"/>
          <p:cNvSpPr txBox="1"/>
          <p:nvPr/>
        </p:nvSpPr>
        <p:spPr>
          <a:xfrm>
            <a:off x="457200" y="365760"/>
            <a:ext cx="548640" cy="548640"/>
          </a:xfrm>
          <a:prstGeom prst="rect">
            <a:avLst/>
          </a:prstGeom>
          <a:noFill/>
          <a:ln/>
        </p:spPr>
        <p:txBody>
          <a:bodyPr wrap="square" lIns="0" tIns="0" rIns="0" bIns="0" rtlCol="0" anchor="ctr"/>
          <a:lstStyle/>
          <a:p>
            <a:pPr algn="ctr" indent="0" marL="0">
              <a:buNone/>
            </a:pPr>
            <a:r>
              <a:rPr lang="en-US" sz="1600" b="1" dirty="0">
                <a:solidFill>
                  <a:schemeClr val="tx1"/>
                </a:solidFill>
                <a:latin typeface="Calibri" pitchFamily="34" charset="0"/>
                <a:ea typeface="Calibri" pitchFamily="34" charset="-122"/>
                <a:cs typeface="Calibri" pitchFamily="34" charset="-120"/>
              </a:rPr>
              <a:t>U4</a:t>
            </a:r>
            <a:endParaRPr lang="en-US" sz="1600" dirty="0"/>
          </a:p>
        </p:txBody>
      </p:sp>
      <p:sp>
        <p:nvSpPr>
          <p:cNvPr id="6" name="Text 3"/>
          <p:cNvSpPr txBox="1"/>
          <p:nvPr/>
        </p:nvSpPr>
        <p:spPr>
          <a:xfrm>
            <a:off x="457200" y="1188720"/>
            <a:ext cx="8229600" cy="3429000"/>
          </a:xfrm>
          <a:prstGeom prst="rect">
            <a:avLst/>
          </a:prstGeom>
          <a:noFill/>
          <a:ln/>
        </p:spPr>
        <p:txBody>
          <a:bodyPr wrap="square" lIns="0" tIns="0" rIns="0" bIns="0" rtlCol="0" anchor="t"/>
          <a:lstStyle/>
          <a:p>
            <a:pPr marL="342900" indent="-342900">
              <a:spcAft>
                <a:spcPts val="600"/>
              </a:spcAft>
              <a:buSzPct val="100000"/>
              <a:buChar char="•"/>
            </a:pPr>
            <a:r>
              <a:rPr lang="en-US" sz="1700" b="1" dirty="0">
                <a:solidFill>
                  <a:schemeClr val="tx2"/>
                </a:solidFill>
              </a:rPr>
              <a:t>Q1. </a:t>
            </a:r>
            <a:pPr indent="0" marL="0">
              <a:spcAft>
                <a:spcPts val="600"/>
              </a:spcAft>
              <a:buNone/>
            </a:pPr>
            <a:r>
              <a:rPr lang="en-US" sz="1700" dirty="0">
                <a:solidFill>
                  <a:schemeClr val="tx1"/>
                </a:solidFill>
              </a:rPr>
              <a:t>Define BIBO stability and relate it to pole locations.</a:t>
            </a:r>
            <a:endParaRPr lang="en-US" sz="1700" dirty="0"/>
          </a:p>
          <a:p>
            <a:pPr marL="342900" indent="-342900">
              <a:spcAft>
                <a:spcPts val="600"/>
              </a:spcAft>
              <a:buSzPct val="100000"/>
              <a:buChar char="•"/>
            </a:pPr>
            <a:r>
              <a:rPr lang="en-US" sz="1700" b="1" dirty="0">
                <a:solidFill>
                  <a:schemeClr val="tx2"/>
                </a:solidFill>
              </a:rPr>
              <a:t>Q2. </a:t>
            </a:r>
            <a:pPr indent="0" marL="0">
              <a:spcAft>
                <a:spcPts val="600"/>
              </a:spcAft>
              <a:buNone/>
            </a:pPr>
            <a:r>
              <a:rPr lang="en-US" sz="1700" dirty="0">
                <a:solidFill>
                  <a:schemeClr val="tx1"/>
                </a:solidFill>
              </a:rPr>
              <a:t>Classify s³ + 4s² + 5s + 2 using the coefficient test.</a:t>
            </a:r>
            <a:endParaRPr lang="en-US" sz="1700" dirty="0"/>
          </a:p>
          <a:p>
            <a:pPr marL="342900" indent="-342900">
              <a:spcAft>
                <a:spcPts val="600"/>
              </a:spcAft>
              <a:buSzPct val="100000"/>
              <a:buChar char="•"/>
            </a:pPr>
            <a:r>
              <a:rPr lang="en-US" sz="1700" b="1" dirty="0">
                <a:solidFill>
                  <a:schemeClr val="tx2"/>
                </a:solidFill>
              </a:rPr>
              <a:t>Q3. </a:t>
            </a:r>
            <a:pPr indent="0" marL="0">
              <a:spcAft>
                <a:spcPts val="600"/>
              </a:spcAft>
              <a:buNone/>
            </a:pPr>
            <a:r>
              <a:rPr lang="en-US" sz="1700" dirty="0">
                <a:solidFill>
                  <a:schemeClr val="tx1"/>
                </a:solidFill>
              </a:rPr>
              <a:t>Distinguish absolute and relative stability.</a:t>
            </a:r>
            <a:endParaRPr lang="en-US" sz="1700" dirty="0"/>
          </a:p>
          <a:p>
            <a:pPr marL="342900" indent="-342900">
              <a:spcAft>
                <a:spcPts val="600"/>
              </a:spcAft>
              <a:buSzPct val="100000"/>
              <a:buChar char="•"/>
            </a:pPr>
            <a:r>
              <a:rPr lang="en-US" sz="1700" b="1" dirty="0">
                <a:solidFill>
                  <a:schemeClr val="tx2"/>
                </a:solidFill>
              </a:rPr>
              <a:t>Q4. </a:t>
            </a:r>
            <a:pPr indent="0" marL="0">
              <a:spcAft>
                <a:spcPts val="600"/>
              </a:spcAft>
              <a:buNone/>
            </a:pPr>
            <a:r>
              <a:rPr lang="en-US" sz="1700" dirty="0">
                <a:solidFill>
                  <a:schemeClr val="tx1"/>
                </a:solidFill>
              </a:rPr>
              <a:t>Find the roots and the stability of s² + 6s + 8.</a:t>
            </a:r>
            <a:endParaRPr lang="en-US" sz="1700" dirty="0"/>
          </a:p>
        </p:txBody>
      </p:sp>
      <p:sp>
        <p:nvSpPr>
          <p:cNvPr id="25" name="Slide Number Placeholder 0"/>
          <p:cNvSpPr>
            <a:spLocks noGrp="1"/>
          </p:cNvSpPr>
          <p:nvPr>
            <p:ph type="sldNum" sz="quarter" idx="4294967295"/>
          </p:nvPr>
        </p:nvSpPr>
        <p:spPr>
          <a:xfrm>
            <a:off x="8229600" y="4800600"/>
            <a:ext cx="457200" cy="228600"/>
          </a:xfrm>
          <a:prstGeom prst="rect">
            <a:avLst/>
          </a:prstGeom>
          <a:extLst>
            <a:ext uri="{C572A759-6A51-4108-AA02-DFA0A04FC94B}">
              <ma14:wrappingTextBoxFlag xmlns:ma14="http://schemas.microsoft.com/office/mac/drawingml/2011/main" val="0"/>
            </a:ext>
          </a:extLst>
        </p:spPr>
        <p:txBody>
          <a:bodyPr/>
          <a:lstStyle>
            <a:lvl1pPr>
              <a:defRPr sz="1000">
                <a:solidFill>
                  <a:schemeClr val="accent4"/>
                </a:solidFill>
              </a:defRPr>
            </a:lvl1pPr>
          </a:lstStyle>
          <a:p>
            <a:pPr algn="r"/>
            <a:fld id="{F7021451-1387-4CA6-816F-3879F97B5CBC}" type="slidenum">
              <a:rPr b="0" lang="en-US"/>
              <a:t>10</a:t>
            </a:fld>
            <a:endParaRPr lang="en-US"/>
          </a:p>
        </p:txBody>
      </p:sp>
    </p:spTree>
  </p:cSld>
  <p:clrMapOvr>
    <a:masterClrMapping/>
  </p:clrMapOvr>
</p:sld>
</file>

<file path=ppt/theme/theme1.xml><?xml version="1.0" encoding="utf-8"?>
<a:theme xmlns:a="http://schemas.openxmlformats.org/drawingml/2006/main" name="ControlSystems">
  <a:themeElements>
    <a:clrScheme name="ControlSystems">
      <a:dk1>
        <a:srgbClr val="0E2B33"/>
      </a:dk1>
      <a:lt1>
        <a:srgbClr val="FFFFFF"/>
      </a:lt1>
      <a:dk2>
        <a:srgbClr val="1B4D57"/>
      </a:dk2>
      <a:lt2>
        <a:srgbClr val="EAF3F3"/>
      </a:lt2>
      <a:accent1>
        <a:srgbClr val="F2A93B"/>
      </a:accent1>
      <a:accent2>
        <a:srgbClr val="1F7A8C"/>
      </a:accent2>
      <a:accent3>
        <a:srgbClr val="C93C20"/>
      </a:accent3>
      <a:accent4>
        <a:srgbClr val="58707A"/>
      </a:accent4>
      <a:accent5>
        <a:srgbClr val="3E7CB1"/>
      </a:accent5>
      <a:accent6>
        <a:srgbClr val="7A4FD6"/>
      </a:accent6>
      <a:hlink>
        <a:srgbClr val="3E7CB1"/>
      </a:hlink>
      <a:folHlink>
        <a:srgbClr val="58707A"/>
      </a:folHlink>
    </a:clrScheme>
    <a:fontScheme name="ControlSystems">
      <a:majorFont>
        <a:latin typeface="Cambria"/>
        <a:ea typeface=""/>
        <a:cs typeface=""/>
        <a:font script="Jpan" typeface="游ゴシック Light"/>
        <a:font script="Hang" typeface="맑은 고딕"/>
        <a:font script="Hans" typeface="等线 Light"/>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ajorFont>
      <a:minorFont>
        <a:latin typeface="Calibri"/>
        <a:ea typeface=""/>
        <a:cs typeface=""/>
        <a:font script="Jpan" typeface="游ゴシック"/>
        <a:font script="Hang" typeface="맑은 고딕"/>
        <a:font script="Hans" typeface="等线"/>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6350" cap="flat" cmpd="sng" algn="ctr">
          <a:solidFill>
            <a:schemeClr val="phClr"/>
          </a:solidFill>
          <a:prstDash val="solid"/>
          <a:miter lim="800000"/>
        </a:ln>
        <a:ln w="12700" cap="flat" cmpd="sng" algn="ctr">
          <a:solidFill>
            <a:schemeClr val="phClr"/>
          </a:solidFill>
          <a:prstDash val="solid"/>
          <a:miter lim="800000"/>
        </a:ln>
        <a:ln w="1905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extraClrSchemeLst/>
  <a:extLst>
    <a:ext uri="{05A4C25C-085E-4340-85A3-A5531E510DB2}">
      <thm15:themeFamily xmlns:thm15="http://schemas.microsoft.com/office/thememl/2012/main" name="Office Theme" id="{62F939B6-93AF-4DB8-9C6B-D6C7DFDC589F}" vid="{4A3C46E8-61CC-4603-A589-7422A47A8E4A}"/>
    </a:ext>
  </a:extLst>
</a:theme>
</file>

<file path=docProps/app.xml><?xml version="1.0" encoding="utf-8"?>
<Properties xmlns="http://schemas.openxmlformats.org/officeDocument/2006/extended-properties" xmlns:vt="http://schemas.openxmlformats.org/officeDocument/2006/docPropsVTypes">
  <TotalTime>0</TotalTime>
  <Words>0</Words>
  <Application>Microsoft Office PowerPoint</Application>
  <PresentationFormat>On-screen Show (16:9)</PresentationFormat>
  <Paragraphs>0</Paragraphs>
  <Slides>10</Slides>
  <Notes>10</Notes>
  <HiddenSlides>0</HiddenSlides>
  <MMClips>0</MMClips>
  <ScaleCrop>false</ScaleCrop>
  <HeadingPairs>
    <vt:vector size="6" baseType="variant">
      <vt:variant>
        <vt:lpstr>Fonts Used</vt:lpstr>
      </vt:variant>
      <vt:variant>
        <vt:i4>2</vt:i4>
      </vt:variant>
      <vt:variant>
        <vt:lpstr>Theme</vt:lpstr>
      </vt:variant>
      <vt:variant>
        <vt:i4>1</vt:i4>
      </vt:variant>
      <vt:variant>
        <vt:lpstr>Slide Titles</vt:lpstr>
      </vt:variant>
      <vt:variant>
        <vt:i4>10</vt:i4>
      </vt:variant>
    </vt:vector>
  </HeadingPairs>
  <TitlesOfParts>
    <vt:vector size="13" baseType="lpstr">
      <vt:lpstr>Arial</vt:lpstr>
      <vt:lpstr>Calibri</vt:lpstr>
      <vt:lpstr>Office Theme</vt:lpstr>
      <vt:lpstr>Slide 1</vt:lpstr>
      <vt:lpstr>Slide 2</vt:lpstr>
      <vt:lpstr>Slide 3</vt:lpstr>
      <vt:lpstr>Slide 4</vt:lpstr>
      <vt:lpstr>Slide 5</vt:lpstr>
      <vt:lpstr>Slide 6</vt:lpstr>
      <vt:lpstr>Slide 7</vt:lpstr>
      <vt:lpstr>Slide 8</vt:lpstr>
      <vt:lpstr>Slide 9</vt:lpstr>
      <vt:lpstr>Slide 10</vt:lpstr>
    </vt:vector>
  </TitlesOfParts>
  <Company>Dept. of EEE, NMAMIT, Nitte</Company>
  <LinksUpToDate>false</LinksUpToDate>
  <SharedDoc>false</SharedDoc>
  <HyperlinksChanged>false</HyperlinksChanged>
  <AppVersion>16.0000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Stability, Characteristic Equation and Root Location</dc:title>
  <dc:subject>PptxGenJS Presentation</dc:subject>
  <dc:creator>Dr. Mitesh Astik</dc:creator>
  <cp:lastModifiedBy>Dr. Mitesh Astik</cp:lastModifiedBy>
  <cp:revision>1</cp:revision>
  <dcterms:created xsi:type="dcterms:W3CDTF">2026-10-29T10:05:24Z</dcterms:created>
  <dcterms:modified xsi:type="dcterms:W3CDTF">2026-10-29T10:05:24Z</dcterms:modified>
</cp:coreProperties>
</file>