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4 · Root Locus: Concept and Conditions" id="{95ecb107-9d0a-6b44-b38b-74d9029562e2}">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"Root Locus: Concept and Conditions", part of Unit 4 (Stability of Systems)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Define the root locus. State the magnitude and angle conditions. Relate poles and zeros of G(s)H(s) to the locus. Interpret the locus for a simple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root locus is a graphical method to study the effect of gain on closed loop poles.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point is on the root locus if the sum of the angles from the zeros minus the sum from the poles is an odd multiple of one hundred eighty degrees.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locus is the real axis between the poles and then vertical lines through minus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with the magnitude condition: product of distances from the poles divided by one equals K: 2 times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basis of compensator design with the root locus.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Root locus: closed-loop poles vs K (0 → ∞). Angle condition: ±180°(2q + 1);  magnitude condition gives K. Starts at open-loop poles, ends at zeros or infinity. Adding poles destabilises; adding zeros stabilises.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State the angle and magnitude conditions. Sketch the root locus of K/[s(s + 4)] and find K for critical damping. What is the effect of adding a pole at −3 to K/[s(s+2)]? Find the point on the real-axis locus where K = 1 for K/[s(s+2)].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4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4  ·  8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Root Locus: Concept and Conditions</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Stability of Systems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Define the root locus</a:t>
            </a:r>
            <a:endParaRPr lang="en-US" sz="2200" dirty="0"/>
          </a:p>
          <a:p>
            <a:pPr marL="342900" indent="-342900">
              <a:spcAft>
                <a:spcPts val="600"/>
              </a:spcAft>
              <a:buSzPct val="100000"/>
              <a:buChar char="•"/>
            </a:pPr>
            <a:r>
              <a:rPr lang="en-US" sz="2200" dirty="0">
                <a:solidFill>
                  <a:schemeClr val="tx1"/>
                </a:solidFill>
              </a:rPr>
              <a:t>State the magnitude and angle conditions</a:t>
            </a:r>
            <a:endParaRPr lang="en-US" sz="2200" dirty="0"/>
          </a:p>
          <a:p>
            <a:pPr marL="342900" indent="-342900">
              <a:spcAft>
                <a:spcPts val="600"/>
              </a:spcAft>
              <a:buSzPct val="100000"/>
              <a:buChar char="•"/>
            </a:pPr>
            <a:r>
              <a:rPr lang="en-US" sz="2200" dirty="0">
                <a:solidFill>
                  <a:schemeClr val="tx1"/>
                </a:solidFill>
              </a:rPr>
              <a:t>Relate poles and zeros of G(s)H(s) to the locus</a:t>
            </a:r>
            <a:endParaRPr lang="en-US" sz="2200" dirty="0"/>
          </a:p>
          <a:p>
            <a:pPr marL="342900" indent="-342900">
              <a:spcAft>
                <a:spcPts val="600"/>
              </a:spcAft>
              <a:buSzPct val="100000"/>
              <a:buChar char="•"/>
            </a:pPr>
            <a:r>
              <a:rPr lang="en-US" sz="2200" dirty="0">
                <a:solidFill>
                  <a:schemeClr val="tx1"/>
                </a:solidFill>
              </a:rPr>
              <a:t>Interpret the locus for a simple system</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Stability of systems: characteristic equation, location of roots, absolute and relative stability, Routh–Hurwitz criterion (necessary and sufficient conditions), root locus concept, rules for construction of root locus.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What is the root locus?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b="1" dirty="0">
                <a:solidFill>
                  <a:schemeClr val="tx2"/>
                </a:solidFill>
              </a:rPr>
              <a:t>Definition: </a:t>
            </a:r>
            <a:pPr indent="0" marL="0">
              <a:spcAft>
                <a:spcPts val="600"/>
              </a:spcAft>
              <a:buNone/>
            </a:pPr>
            <a:r>
              <a:rPr lang="en-US" sz="2200" dirty="0">
                <a:solidFill>
                  <a:schemeClr val="tx1"/>
                </a:solidFill>
              </a:rPr>
              <a:t>the plot of closed-loop poles in the s-plane as a parameter K varies from 0 to ∞.</a:t>
            </a:r>
            <a:endParaRPr lang="en-US" sz="2200" dirty="0"/>
          </a:p>
          <a:p>
            <a:pPr marL="342900" indent="-342900">
              <a:spcAft>
                <a:spcPts val="600"/>
              </a:spcAft>
              <a:buSzPct val="100000"/>
              <a:buChar char="•"/>
            </a:pPr>
            <a:r>
              <a:rPr lang="en-US" sz="2200" b="1" dirty="0">
                <a:solidFill>
                  <a:schemeClr val="tx2"/>
                </a:solidFill>
              </a:rPr>
              <a:t>Proposed by </a:t>
            </a:r>
            <a:pPr indent="0" marL="0">
              <a:spcAft>
                <a:spcPts val="600"/>
              </a:spcAft>
              <a:buNone/>
            </a:pPr>
            <a:r>
              <a:rPr lang="en-US" sz="2200" dirty="0">
                <a:solidFill>
                  <a:schemeClr val="tx1"/>
                </a:solidFill>
              </a:rPr>
              <a:t>W. R. Evans (1948).</a:t>
            </a:r>
            <a:endParaRPr lang="en-US" sz="2200" dirty="0"/>
          </a:p>
          <a:p>
            <a:pPr marL="342900" indent="-342900">
              <a:spcAft>
                <a:spcPts val="600"/>
              </a:spcAft>
              <a:buSzPct val="100000"/>
              <a:buChar char="•"/>
            </a:pPr>
            <a:r>
              <a:rPr lang="en-US" sz="2200" b="1" dirty="0">
                <a:solidFill>
                  <a:schemeClr val="tx2"/>
                </a:solidFill>
              </a:rPr>
              <a:t>Why? </a:t>
            </a:r>
            <a:pPr indent="0" marL="0">
              <a:spcAft>
                <a:spcPts val="600"/>
              </a:spcAft>
              <a:buNone/>
            </a:pPr>
            <a:r>
              <a:rPr lang="en-US" sz="2200" dirty="0">
                <a:solidFill>
                  <a:schemeClr val="tx1"/>
                </a:solidFill>
              </a:rPr>
              <a:t>shows how the transient response (pole positions) changes with gain K, without solving the characteristic equation repeatedly.</a:t>
            </a:r>
            <a:endParaRPr lang="en-US" sz="2200" dirty="0"/>
          </a:p>
          <a:p>
            <a:pPr marL="342900" indent="-342900">
              <a:spcAft>
                <a:spcPts val="600"/>
              </a:spcAft>
              <a:buSzPct val="100000"/>
              <a:buChar char="•"/>
            </a:pPr>
            <a:r>
              <a:rPr lang="en-US" sz="2200" b="1" dirty="0">
                <a:solidFill>
                  <a:schemeClr val="tx2"/>
                </a:solidFill>
              </a:rPr>
              <a:t>Starts from </a:t>
            </a:r>
            <a:pPr indent="0" marL="0">
              <a:spcAft>
                <a:spcPts val="600"/>
              </a:spcAft>
              <a:buNone/>
            </a:pPr>
            <a:r>
              <a:rPr lang="en-US" sz="2200" dirty="0">
                <a:solidFill>
                  <a:schemeClr val="tx1"/>
                </a:solidFill>
              </a:rPr>
              <a:t>open-loop poles (K = 0) and ends at open-loop zeros or infinity (K → ∞).</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Conditions on the root locus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Formula"/>
          <p:cNvSpPr/>
          <p:nvPr/>
        </p:nvSpPr>
        <p:spPr>
          <a:xfrm>
            <a:off x="457200" y="1188720"/>
            <a:ext cx="2621280" cy="822960"/>
          </a:xfrm>
          <a:prstGeom prst="roundRect">
            <a:avLst>
              <a:gd name="adj" fmla="val 8889"/>
            </a:avLst>
          </a:prstGeom>
          <a:solidFill>
            <a:schemeClr val="tx2"/>
          </a:solidFill>
          <a:ln/>
        </p:spPr>
      </p:sp>
      <p:sp>
        <p:nvSpPr>
          <p:cNvPr id="7" name="Text 4"/>
          <p:cNvSpPr txBox="1"/>
          <p:nvPr/>
        </p:nvSpPr>
        <p:spPr>
          <a:xfrm>
            <a:off x="45720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 + K G1(s) = 0</a:t>
            </a:r>
            <a:endParaRPr lang="en-US" sz="2200" dirty="0"/>
          </a:p>
        </p:txBody>
      </p:sp>
      <p:sp>
        <p:nvSpPr>
          <p:cNvPr id="8" name="Text 5"/>
          <p:cNvSpPr txBox="1"/>
          <p:nvPr/>
        </p:nvSpPr>
        <p:spPr>
          <a:xfrm>
            <a:off x="45720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characteristic equation, G1 = Π(s + zi)/Π(s + pj)</a:t>
            </a:r>
            <a:endParaRPr lang="en-US" sz="1300" dirty="0"/>
          </a:p>
        </p:txBody>
      </p:sp>
      <p:sp>
        <p:nvSpPr>
          <p:cNvPr id="9" name="Formula"/>
          <p:cNvSpPr/>
          <p:nvPr/>
        </p:nvSpPr>
        <p:spPr>
          <a:xfrm>
            <a:off x="3261360" y="1188720"/>
            <a:ext cx="2621280" cy="822960"/>
          </a:xfrm>
          <a:prstGeom prst="roundRect">
            <a:avLst>
              <a:gd name="adj" fmla="val 8889"/>
            </a:avLst>
          </a:prstGeom>
          <a:solidFill>
            <a:schemeClr val="tx2"/>
          </a:solidFill>
          <a:ln/>
        </p:spPr>
      </p:sp>
      <p:sp>
        <p:nvSpPr>
          <p:cNvPr id="10" name="Text 7"/>
          <p:cNvSpPr txBox="1"/>
          <p:nvPr/>
        </p:nvSpPr>
        <p:spPr>
          <a:xfrm>
            <a:off x="3261360" y="1188720"/>
            <a:ext cx="2621280" cy="822960"/>
          </a:xfrm>
          <a:prstGeom prst="rect">
            <a:avLst/>
          </a:prstGeom>
          <a:noFill/>
          <a:ln/>
        </p:spPr>
        <p:txBody>
          <a:bodyPr wrap="square" lIns="762" tIns="762" rIns="762" bIns="762"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∠G1(s)H1(s) = ±180°(2q + 1)</a:t>
            </a:r>
            <a:endParaRPr lang="en-US" sz="1800" dirty="0"/>
          </a:p>
        </p:txBody>
      </p:sp>
      <p:sp>
        <p:nvSpPr>
          <p:cNvPr id="11" name="Text 8"/>
          <p:cNvSpPr txBox="1"/>
          <p:nvPr/>
        </p:nvSpPr>
        <p:spPr>
          <a:xfrm>
            <a:off x="326136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angle condition</a:t>
            </a:r>
            <a:endParaRPr lang="en-US" sz="1300" dirty="0"/>
          </a:p>
        </p:txBody>
      </p:sp>
      <p:sp>
        <p:nvSpPr>
          <p:cNvPr id="12" name="Formula"/>
          <p:cNvSpPr/>
          <p:nvPr/>
        </p:nvSpPr>
        <p:spPr>
          <a:xfrm>
            <a:off x="6065520" y="1188720"/>
            <a:ext cx="2621280" cy="822960"/>
          </a:xfrm>
          <a:prstGeom prst="roundRect">
            <a:avLst>
              <a:gd name="adj" fmla="val 8889"/>
            </a:avLst>
          </a:prstGeom>
          <a:solidFill>
            <a:schemeClr val="tx2"/>
          </a:solidFill>
          <a:ln/>
        </p:spPr>
      </p:sp>
      <p:sp>
        <p:nvSpPr>
          <p:cNvPr id="13" name="Text 10"/>
          <p:cNvSpPr txBox="1"/>
          <p:nvPr/>
        </p:nvSpPr>
        <p:spPr>
          <a:xfrm>
            <a:off x="6065520" y="1188720"/>
            <a:ext cx="262128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|K G1(s)H1(s)| = 1</a:t>
            </a:r>
            <a:endParaRPr lang="en-US" sz="2200" dirty="0"/>
          </a:p>
        </p:txBody>
      </p:sp>
      <p:sp>
        <p:nvSpPr>
          <p:cNvPr id="14" name="Text 11"/>
          <p:cNvSpPr txBox="1"/>
          <p:nvPr/>
        </p:nvSpPr>
        <p:spPr>
          <a:xfrm>
            <a:off x="6065520" y="2029968"/>
            <a:ext cx="2621280" cy="411480"/>
          </a:xfrm>
          <a:prstGeom prst="rect">
            <a:avLst/>
          </a:prstGeom>
          <a:noFill/>
          <a:ln/>
        </p:spPr>
        <p:txBody>
          <a:bodyPr wrap="square" lIns="0" tIns="0" rIns="0" bIns="0" rtlCol="0" anchor="t"/>
          <a:lstStyle/>
          <a:p>
            <a:pPr algn="ctr" indent="0" marL="0">
              <a:buNone/>
            </a:pPr>
            <a:r>
              <a:rPr lang="en-US" sz="1300" i="1" dirty="0">
                <a:solidFill>
                  <a:schemeClr val="accent4"/>
                </a:solidFill>
              </a:rPr>
              <a:t>magnitude condition (gives K)</a:t>
            </a:r>
            <a:endParaRPr lang="en-US" sz="1300" dirty="0"/>
          </a:p>
        </p:txBody>
      </p:sp>
      <p:sp>
        <p:nvSpPr>
          <p:cNvPr id="15" name="Text 12"/>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Angle condition decides whether a point lies on the locus.</a:t>
            </a:r>
            <a:endParaRPr lang="en-US" sz="2200" dirty="0"/>
          </a:p>
          <a:p>
            <a:pPr marL="342900" indent="-342900">
              <a:spcAft>
                <a:spcPts val="600"/>
              </a:spcAft>
              <a:buSzPct val="100000"/>
              <a:buChar char="•"/>
            </a:pPr>
            <a:r>
              <a:rPr lang="en-US" sz="2200" dirty="0">
                <a:solidFill>
                  <a:schemeClr val="tx1"/>
                </a:solidFill>
              </a:rPr>
              <a:t>Magnitude condition gives the gain K at that point: K = Π|s + pj| / Π|s + zi|.</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G(s)H(s) = K/[s(s + 2)]</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pic>
        <p:nvPicPr>
          <p:cNvPr id="6" name="Image 0" descr="rl1 figure">    </p:cNvPr>
          <p:cNvPicPr>
            <a:picLocks noChangeAspect="1"/>
          </p:cNvPicPr>
          <p:nvPr/>
        </p:nvPicPr>
        <p:blipFill>
          <a:blip r:embed="rId1"/>
          <a:stretch>
            <a:fillRect/>
          </a:stretch>
        </p:blipFill>
        <p:spPr>
          <a:xfrm>
            <a:off x="707312" y="1188720"/>
            <a:ext cx="4620417"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Poles at 0 and −2 (K = 0).</a:t>
            </a:r>
            <a:endParaRPr lang="en-US" sz="1600" dirty="0"/>
          </a:p>
          <a:p>
            <a:pPr marL="342900" indent="-342900">
              <a:spcAft>
                <a:spcPts val="600"/>
              </a:spcAft>
              <a:buSzPct val="100000"/>
              <a:buChar char="•"/>
            </a:pPr>
            <a:r>
              <a:rPr lang="en-US" sz="1600" dirty="0">
                <a:solidFill>
                  <a:schemeClr val="tx1"/>
                </a:solidFill>
              </a:rPr>
              <a:t>Characteristic: s² + 2s + K = 0, s = −1 ± √(1 − K).</a:t>
            </a:r>
            <a:endParaRPr lang="en-US" sz="1600" dirty="0"/>
          </a:p>
          <a:p>
            <a:pPr marL="342900" indent="-342900">
              <a:spcAft>
                <a:spcPts val="600"/>
              </a:spcAft>
              <a:buSzPct val="100000"/>
              <a:buChar char="•"/>
            </a:pPr>
            <a:r>
              <a:rPr lang="en-US" sz="1600" dirty="0">
                <a:solidFill>
                  <a:schemeClr val="tx1"/>
                </a:solidFill>
              </a:rPr>
              <a:t>0 &lt; K &lt; 1: real roots, overdamped.</a:t>
            </a:r>
            <a:endParaRPr lang="en-US" sz="1600" dirty="0"/>
          </a:p>
          <a:p>
            <a:pPr marL="342900" indent="-342900">
              <a:spcAft>
                <a:spcPts val="600"/>
              </a:spcAft>
              <a:buSzPct val="100000"/>
              <a:buChar char="•"/>
            </a:pPr>
            <a:r>
              <a:rPr lang="en-US" sz="1600" dirty="0">
                <a:solidFill>
                  <a:schemeClr val="tx1"/>
                </a:solidFill>
              </a:rPr>
              <a:t>K = 1: breakaway at s = −1.</a:t>
            </a:r>
            <a:endParaRPr lang="en-US" sz="1600" dirty="0"/>
          </a:p>
          <a:p>
            <a:pPr marL="342900" indent="-342900">
              <a:spcAft>
                <a:spcPts val="600"/>
              </a:spcAft>
              <a:buSzPct val="100000"/>
              <a:buChar char="•"/>
            </a:pPr>
            <a:r>
              <a:rPr lang="en-US" sz="1600" dirty="0">
                <a:solidFill>
                  <a:schemeClr val="tx1"/>
                </a:solidFill>
              </a:rPr>
              <a:t>K &gt; 1: complex roots on Re s = −1; ζ falls as K rises.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Numerical: finding K on the locus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For the locus above find K for ζ = 0.5.</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s² + 2s + K = 0 ⇒ ωn = √K, 2ζωn = 2 ⇒ ωn = 2</a:t>
            </a:r>
            <a:endParaRPr lang="en-US" sz="2200" dirty="0"/>
          </a:p>
          <a:p>
            <a:pPr marL="342900" indent="-342900">
              <a:spcAft>
                <a:spcPts val="600"/>
              </a:spcAft>
              <a:buSzPct val="100000"/>
              <a:buChar char="•"/>
            </a:pPr>
            <a:r>
              <a:rPr lang="en-US" sz="2200" dirty="0">
                <a:solidFill>
                  <a:schemeClr val="tx1"/>
                </a:solidFill>
              </a:rPr>
              <a:t>K = ωn² = 4</a:t>
            </a:r>
            <a:endParaRPr lang="en-US" sz="2200" dirty="0"/>
          </a:p>
          <a:p>
            <a:pPr marL="342900" indent="-342900">
              <a:spcAft>
                <a:spcPts val="600"/>
              </a:spcAft>
              <a:buSzPct val="100000"/>
              <a:buChar char="•"/>
            </a:pPr>
            <a:r>
              <a:rPr lang="en-US" sz="2200" dirty="0">
                <a:solidFill>
                  <a:schemeClr val="tx1"/>
                </a:solidFill>
              </a:rPr>
              <a:t>Roots: s = −1 ± j√3 (on the 60° line)</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K = 4, poles −1 ± j1.73</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Effect of adding poles and zeros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Adding a pole</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Pushes the locus to the right: reduces stability and relative damping.</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Adding a zero</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Pulls the locus to the left: improves stability and damping.</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Use in design</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Lead compensator adds a zero (left), lag adds a pole-zero close to the origin.</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Root locus: closed-loop poles vs K (0 → ∞)</a:t>
            </a:r>
            <a:endParaRPr lang="en-US" sz="2200" dirty="0"/>
          </a:p>
          <a:p>
            <a:pPr marL="342900" indent="-342900">
              <a:spcAft>
                <a:spcPts val="600"/>
              </a:spcAft>
              <a:buSzPct val="100000"/>
              <a:buChar char="•"/>
            </a:pPr>
            <a:r>
              <a:rPr lang="en-US" sz="2200" dirty="0">
                <a:solidFill>
                  <a:schemeClr val="tx1"/>
                </a:solidFill>
              </a:rPr>
              <a:t>Angle condition: ±180°(2q + 1);  magnitude condition gives K</a:t>
            </a:r>
            <a:endParaRPr lang="en-US" sz="2200" dirty="0"/>
          </a:p>
          <a:p>
            <a:pPr marL="342900" indent="-342900">
              <a:spcAft>
                <a:spcPts val="600"/>
              </a:spcAft>
              <a:buSzPct val="100000"/>
              <a:buChar char="•"/>
            </a:pPr>
            <a:r>
              <a:rPr lang="en-US" sz="2200" dirty="0">
                <a:solidFill>
                  <a:schemeClr val="tx1"/>
                </a:solidFill>
              </a:rPr>
              <a:t>Starts at open-loop poles, ends at zeros or infinity</a:t>
            </a:r>
            <a:endParaRPr lang="en-US" sz="2200" dirty="0"/>
          </a:p>
          <a:p>
            <a:pPr marL="342900" indent="-342900">
              <a:spcAft>
                <a:spcPts val="600"/>
              </a:spcAft>
              <a:buSzPct val="100000"/>
              <a:buChar char="•"/>
            </a:pPr>
            <a:r>
              <a:rPr lang="en-US" sz="2200" dirty="0">
                <a:solidFill>
                  <a:schemeClr val="tx1"/>
                </a:solidFill>
              </a:rPr>
              <a:t>Adding poles destabilises; adding zeros stabilises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U4</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State the angle and magnitude conditions.</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Sketch the root locus of K/[s(s + 4)] and find K for critical damping.</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What is the effect of adding a pole at −3 to K/[s(s+2)]?</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Find the point on the real-axis locus where K = 1 for K/[s(s+2)].</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Root Locus: Concept and Conditions</dc:title>
  <dc:subject>PptxGenJS Presentation</dc:subject>
  <dc:creator>Dr. Mitesh Astik</dc:creator>
  <cp:lastModifiedBy>Dr. Mitesh Astik</cp:lastModifiedBy>
  <cp:revision>1</cp:revision>
  <dcterms:created xsi:type="dcterms:W3CDTF">2026-10-29T10:05:24Z</dcterms:created>
  <dcterms:modified xsi:type="dcterms:W3CDTF">2026-10-29T10:05:24Z</dcterms:modified>
</cp:coreProperties>
</file>