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Time Response of Second-Order Systems" id="{5bc555aa-6a61-168b-adf4-536a8f3b775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"Time Response of Second-Order Systems", part of Unit 2 (Time Domain Analysis of Control Systems) of Control Systems.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Write the standard second-order transfer function. Classify the response: undamped, underdamped, critically damped, overdamped. Write and sketch the step response in each case. Find ωn and ζ from a given transfer function.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behaviour of every second order system depends on just these two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ωd = ωn√(1 − ζ²) is the damped natural frequency.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ζ around zero point four to zero point eight is the usual design range.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pole location gives a direct picture of the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exponential envelope decays with time constant one over zeta omega 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denominator with s squared plus two zeta omega n s plus omega n squared.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Increasing K increases ωn and lowers 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Standard form ωn²/(s² + 2ζωn s + ωn²). ζ = 0, 0&lt;ζ&lt;1, ζ = 1, ζ &gt; 1: undamped, under, critical, overdamped. ωd = ωn√(1 − ζ²);  cos θ = ζ. For G = K/[s(s+a)]: ωn = √K, ζ = a/(2√K).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Write the step response for 0 &lt; ζ &lt; 1 and sketch it. Find ωn and ζ for 16/(s² + 4s + 16). G = K/[s(s + 2)]: find K for critical damping. Locate the poles for ζ = 0.5, ωn =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E2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Control Systems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8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Response of Second-Order Systems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3E6E9"/>
                </a:solidFill>
              </a:rPr>
              <a:t>Time Domain Analysis of Control Systems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Control Systems  (22EEG53)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3E6E9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the standard second-order transfer function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Classify the response: undamped, underdamped, critically damped, overdamped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Write and sketch the step response in each case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Find ωn and ζ from a given transfer function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chemeClr val="tx1"/>
                </a:solidFill>
              </a:rPr>
              <a:t>Time domain analysis of control systems: standard test signals, time response of zero, first and second order systems, time domain specifications, type of systems, static error constants and steady-state error, generalized error series.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Standard second-order system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C/R = ωn² / (s² + 2ζωn s + ωn²)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standard form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= −ζωn ± ωn √(ζ² − 1)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closed-loop poles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ωn = undamped natural frequency (rad/s); ζ = damping ratio.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Servo example: G = K/[s(s + a)] with unity feedback: ωn = √K and ζ = a/(2√K).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Unit step input: R(s) = 1/s.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Four damping cases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  <a:gridCol w="210312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ζ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Poles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Type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Step response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±jωn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Undamped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Sustained oscillation, 1 − cos ωn 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0 &lt; ζ &lt;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−ζωn ± jωd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Underdamped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Decaying oscillation with 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−ωn (double)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Critically damped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Fastest without 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&gt; 1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Two real negative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Overdamped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Slow, no overshoot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Step responses for different ζ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step2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0084" y="1188720"/>
            <a:ext cx="5014872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ζ = 0: undamped, never settles.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Small ζ: large overshoot, many oscillations.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ζ ≈ 0.7: fast, small overshoot (≈ 4 %).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ζ = 1: critically damped.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ζ &gt; 1: sluggish.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Pole location and ζ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spoles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0230" y="1188720"/>
            <a:ext cx="2554579" cy="32004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760720" y="1188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Poles at distance ωn from the origin.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cos θ = ζ where θ is measured from the negative real axis.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Real part −ζωn gives decay rate; imaginary part ωd gives oscillation.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Constant ζ ⇒ radial line; constant ωn ⇒ circle.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Underdamped step response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c(t) = 1 − [e^(−ζωn t)/√(1−ζ²)] sin(ωd t + φ)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0 &lt; ζ &lt; 1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326136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26136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 = cos⁻¹ ζ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326136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phase angle</a:t>
            </a:r>
            <a:endParaRPr lang="en-US" sz="1300" dirty="0"/>
          </a:p>
        </p:txBody>
      </p:sp>
      <p:sp>
        <p:nvSpPr>
          <p:cNvPr id="12" name="Formula"/>
          <p:cNvSpPr/>
          <p:nvPr/>
        </p:nvSpPr>
        <p:spPr>
          <a:xfrm>
            <a:off x="6065520" y="1897380"/>
            <a:ext cx="262128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065520" y="1897380"/>
            <a:ext cx="2621280" cy="12801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Critical: c(t) = 1 − (1 + ωn t) e^(−ωn t)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6065520" y="3195828"/>
            <a:ext cx="262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ζ =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classify the response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Find ωn, ζ and the type for (a) 25/(s²+6s+25), (b) 4/(s²+4s+4), (c) 9/(s²+9s+9).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(a) ωn = 5, 2ζωn = 6 ⇒ ζ = 0.6: underdamped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(b) ωn = 2, 2ζωn = 4 ⇒ ζ = 1: critically damped (double pole at −2)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(c) ωn = 3, 2ζωn = 9 ⇒ ζ = 1.5: overdamped (poles −1.15, −7.85)</a:t>
            </a:r>
            <a:endParaRPr lang="en-US" sz="20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(a) ζ = 0.6  (b) ζ = 1  (c) ζ = 1.5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servo gain and damping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unity-feedback system has G(s) = K/[s(s+4)]. Find K for ζ = 0.6 and the resulting ωn.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Characteristic equation: s² + 4s + K = 0 ⇒ ωn² = K, 2ζωn = 4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ωn = 4/(2 × 0.6) = 3.33 rad/s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K = ωn² = 11.1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K = 11.1,  ωn = 3.33 rad/s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Standard form ωn²/(s² + 2ζωn s + ωn²)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ζ = 0, 0&lt;ζ&lt;1, ζ = 1, ζ &gt; 1: undamped, under, critical, overdamped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ωd = ωn√(1 − ζ²);  cos θ = ζ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For G = K/[s(s+a)]: ωn = √K, ζ = a/(2√K)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Write the step response for 0 &lt; ζ &lt; 1 and sketch it.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Find ωn and ζ for 16/(s² + 4s + 16).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G = K/[s(s + 2)]: find K for critical damping.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Locate the poles for ζ = 0.5, ωn = 10.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trolSystems">
  <a:themeElements>
    <a:clrScheme name="ControlSystems">
      <a:dk1>
        <a:srgbClr val="0E2B33"/>
      </a:dk1>
      <a:lt1>
        <a:srgbClr val="FFFFFF"/>
      </a:lt1>
      <a:dk2>
        <a:srgbClr val="1B4D57"/>
      </a:dk2>
      <a:lt2>
        <a:srgbClr val="EAF3F3"/>
      </a:lt2>
      <a:accent1>
        <a:srgbClr val="F2A93B"/>
      </a:accent1>
      <a:accent2>
        <a:srgbClr val="1F7A8C"/>
      </a:accent2>
      <a:accent3>
        <a:srgbClr val="C93C20"/>
      </a:accent3>
      <a:accent4>
        <a:srgbClr val="58707A"/>
      </a:accent4>
      <a:accent5>
        <a:srgbClr val="3E7CB1"/>
      </a:accent5>
      <a:accent6>
        <a:srgbClr val="7A4FD6"/>
      </a:accent6>
      <a:hlink>
        <a:srgbClr val="3E7CB1"/>
      </a:hlink>
      <a:folHlink>
        <a:srgbClr val="58707A"/>
      </a:folHlink>
    </a:clrScheme>
    <a:fontScheme name="ControlSystem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Response of Second-Order Systems</dc:title>
  <dc:subject>PptxGenJS Presentation</dc:subject>
  <dc:creator>Dr. Mitesh Astik</dc:creator>
  <cp:lastModifiedBy>Dr. Mitesh Astik</cp:lastModifiedBy>
  <cp:revision>1</cp:revision>
  <dcterms:created xsi:type="dcterms:W3CDTF">2026-10-29T10:05:23Z</dcterms:created>
  <dcterms:modified xsi:type="dcterms:W3CDTF">2026-10-29T10:05:23Z</dcterms:modified>
</cp:coreProperties>
</file>