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2 · Standard Test Signals" id="{dce0b180-b094-8698-9734-0659aba96240}">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"Standard Test Signals", part of Unit 2 (Time Domain Analysis of Control Systems)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Define step, ramp, parabolic, impulse and sinusoidal test signals. Write their Laplace transforms. Explain why standard signals are used. Relate the signals to each other and to the transient and steady-state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Specifications of performance are given in terms of the response to standard test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is the integral of the next simpler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pattern: step is the integral of impulse, ramp of step, parabola of 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test signal closest to the real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system has a fast, well damped transient and a small steady state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Standard signals: impulse, step, ramp, parabola (and sinusoid). Laplace transforms: 1, 1/s, 1/s², 1/s³. Each signal is the integral of the previous one. Response = transient + steady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Write the Laplace transforms of unit step, ramp and parabola. Why are standard test signals used? Define transient and steady-state response. Which test signal is used to find the velocity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2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2  ·  8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Standard Test Signals</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Time Domain Analysis of Control Systems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Define step, ramp, parabolic, impulse and sinusoidal test signals</a:t>
            </a:r>
            <a:endParaRPr lang="en-US" sz="2200" dirty="0"/>
          </a:p>
          <a:p>
            <a:pPr marL="342900" indent="-342900">
              <a:spcAft>
                <a:spcPts val="600"/>
              </a:spcAft>
              <a:buSzPct val="100000"/>
              <a:buChar char="•"/>
            </a:pPr>
            <a:r>
              <a:rPr lang="en-US" sz="2200" dirty="0">
                <a:solidFill>
                  <a:schemeClr val="tx1"/>
                </a:solidFill>
              </a:rPr>
              <a:t>Write their Laplace transforms</a:t>
            </a:r>
            <a:endParaRPr lang="en-US" sz="2200" dirty="0"/>
          </a:p>
          <a:p>
            <a:pPr marL="342900" indent="-342900">
              <a:spcAft>
                <a:spcPts val="600"/>
              </a:spcAft>
              <a:buSzPct val="100000"/>
              <a:buChar char="•"/>
            </a:pPr>
            <a:r>
              <a:rPr lang="en-US" sz="2200" dirty="0">
                <a:solidFill>
                  <a:schemeClr val="tx1"/>
                </a:solidFill>
              </a:rPr>
              <a:t>Explain why standard signals are used</a:t>
            </a:r>
            <a:endParaRPr lang="en-US" sz="2200" dirty="0"/>
          </a:p>
          <a:p>
            <a:pPr marL="342900" indent="-342900">
              <a:spcAft>
                <a:spcPts val="600"/>
              </a:spcAft>
              <a:buSzPct val="100000"/>
              <a:buChar char="•"/>
            </a:pPr>
            <a:r>
              <a:rPr lang="en-US" sz="2200" dirty="0">
                <a:solidFill>
                  <a:schemeClr val="tx1"/>
                </a:solidFill>
              </a:rPr>
              <a:t>Relate the signals to each other and to the transient and steady-state response</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Time domain analysis of control systems: standard test signals, time response of zero, first and second order systems, time domain specifications, type of systems, static error constants and steady-state error, generalized error series.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Why standard test signals?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Actual inputs are often unknown or random.</a:t>
            </a:r>
            <a:endParaRPr lang="en-US" sz="2200" dirty="0"/>
          </a:p>
          <a:p>
            <a:pPr marL="342900" indent="-342900">
              <a:spcAft>
                <a:spcPts val="600"/>
              </a:spcAft>
              <a:buSzPct val="100000"/>
              <a:buChar char="•"/>
            </a:pPr>
            <a:r>
              <a:rPr lang="en-US" sz="2200" dirty="0">
                <a:solidFill>
                  <a:schemeClr val="tx1"/>
                </a:solidFill>
              </a:rPr>
              <a:t>A few simple signals let us compare systems on an equal basis.</a:t>
            </a:r>
            <a:endParaRPr lang="en-US" sz="2200" dirty="0"/>
          </a:p>
          <a:p>
            <a:pPr marL="342900" indent="-342900">
              <a:spcAft>
                <a:spcPts val="600"/>
              </a:spcAft>
              <a:buSzPct val="100000"/>
              <a:buChar char="•"/>
            </a:pPr>
            <a:r>
              <a:rPr lang="en-US" sz="2200" dirty="0">
                <a:solidFill>
                  <a:schemeClr val="tx1"/>
                </a:solidFill>
              </a:rPr>
              <a:t>They represent common real inputs: sudden change (step), constant velocity (ramp), constant acceleration (parabola), shock (impulse).</a:t>
            </a:r>
            <a:endParaRPr lang="en-US" sz="2200" dirty="0"/>
          </a:p>
          <a:p>
            <a:pPr marL="342900" indent="-342900">
              <a:spcAft>
                <a:spcPts val="600"/>
              </a:spcAft>
              <a:buSzPct val="100000"/>
              <a:buChar char="•"/>
            </a:pPr>
            <a:r>
              <a:rPr lang="en-US" sz="2200" dirty="0">
                <a:solidFill>
                  <a:schemeClr val="tx1"/>
                </a:solidFill>
              </a:rPr>
              <a:t>System response to these signals indicates behaviour for other inputs (for LTI systems).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The four common signals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6" name="Image 0" descr="test_signals figure">    </p:cNvPr>
          <p:cNvPicPr>
            <a:picLocks noChangeAspect="1"/>
          </p:cNvPicPr>
          <p:nvPr/>
        </p:nvPicPr>
        <p:blipFill>
          <a:blip r:embed="rId1"/>
          <a:stretch>
            <a:fillRect/>
          </a:stretch>
        </p:blipFill>
        <p:spPr>
          <a:xfrm>
            <a:off x="457200" y="1849047"/>
            <a:ext cx="8229600" cy="1788306"/>
          </a:xfrm>
          <a:prstGeom prst="rect">
            <a:avLst/>
          </a:prstGeom>
        </p:spPr>
      </p:pic>
      <p:sp>
        <p:nvSpPr>
          <p:cNvPr id="7" name="Text 3"/>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200" i="1" dirty="0">
                <a:solidFill>
                  <a:schemeClr val="accent4"/>
                </a:solidFill>
              </a:rPr>
              <a:t>Step, ramp, parabolic and impulse inputs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Definitions and Laplace transforms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2926080"/>
                <a:gridCol w="2560320"/>
              </a:tblGrid>
              <a:tr h="502920">
                <a:tc>
                  <a:txBody>
                    <a:bodyPr/>
                    <a:lstStyle/>
                    <a:p>
                      <a:pPr indent="0" marL="0">
                        <a:buNone/>
                      </a:pPr>
                      <a:r>
                        <a:rPr lang="en-US" sz="1400" b="1" dirty="0">
                          <a:solidFill>
                            <a:schemeClr val="bg1"/>
                          </a:solidFill>
                        </a:rPr>
                        <a:t>Signal</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r(t) for t ≥ 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Unit impulse δ(t)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at t = 0, area 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Unit step u(t)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Unit ramp</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1/s²</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Unit parabola</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t²/2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1/s³</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Sinusoid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sin ωt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Aω/(s² + ω²)</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Physical meaning</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Step</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Sudden change: switching on a supply, a change in set-point, setting a thermostat. Tests transient behaviour and steady-state accuracy.</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Ramp</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Constant velocity input: tracking a moving target at constant speed. Tests velocity error.</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Parabola / impulse</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Constant acceleration input; and a sudden shock or disturbance. The impulse response is the transfer function in the time domain: g(t) = L⁻¹{G(s)}.</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Transient and steady-state response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Total response: </a:t>
            </a:r>
            <a:pPr indent="0" marL="0">
              <a:spcAft>
                <a:spcPts val="600"/>
              </a:spcAft>
              <a:buNone/>
            </a:pPr>
            <a:r>
              <a:rPr lang="en-US" sz="2200" dirty="0">
                <a:solidFill>
                  <a:schemeClr val="tx1"/>
                </a:solidFill>
              </a:rPr>
              <a:t>c(t) = c_tr(t) + c_ss(t).</a:t>
            </a:r>
            <a:endParaRPr lang="en-US" sz="2200" dirty="0"/>
          </a:p>
          <a:p>
            <a:pPr marL="342900" indent="-342900">
              <a:spcAft>
                <a:spcPts val="600"/>
              </a:spcAft>
              <a:buSzPct val="100000"/>
              <a:buChar char="•"/>
            </a:pPr>
            <a:r>
              <a:rPr lang="en-US" sz="2200" b="1" dirty="0">
                <a:solidFill>
                  <a:schemeClr val="tx2"/>
                </a:solidFill>
              </a:rPr>
              <a:t>Transient: </a:t>
            </a:r>
            <a:pPr indent="0" marL="0">
              <a:spcAft>
                <a:spcPts val="600"/>
              </a:spcAft>
              <a:buNone/>
            </a:pPr>
            <a:r>
              <a:rPr lang="en-US" sz="2200" dirty="0">
                <a:solidFill>
                  <a:schemeClr val="tx1"/>
                </a:solidFill>
              </a:rPr>
              <a:t>part that dies out as t → ∞; shows speed and oscillation of response.</a:t>
            </a:r>
            <a:endParaRPr lang="en-US" sz="2200" dirty="0"/>
          </a:p>
          <a:p>
            <a:pPr marL="342900" indent="-342900">
              <a:spcAft>
                <a:spcPts val="600"/>
              </a:spcAft>
              <a:buSzPct val="100000"/>
              <a:buChar char="•"/>
            </a:pPr>
            <a:r>
              <a:rPr lang="en-US" sz="2200" b="1" dirty="0">
                <a:solidFill>
                  <a:schemeClr val="tx2"/>
                </a:solidFill>
              </a:rPr>
              <a:t>Steady state: </a:t>
            </a:r>
            <a:pPr indent="0" marL="0">
              <a:spcAft>
                <a:spcPts val="600"/>
              </a:spcAft>
              <a:buNone/>
            </a:pPr>
            <a:r>
              <a:rPr lang="en-US" sz="2200" dirty="0">
                <a:solidFill>
                  <a:schemeClr val="tx1"/>
                </a:solidFill>
              </a:rPr>
              <a:t>part remaining as t → ∞; shows accuracy.</a:t>
            </a:r>
            <a:endParaRPr lang="en-US" sz="2200" dirty="0"/>
          </a:p>
          <a:p>
            <a:pPr marL="342900" indent="-342900">
              <a:spcAft>
                <a:spcPts val="600"/>
              </a:spcAft>
              <a:buSzPct val="100000"/>
              <a:buChar char="•"/>
            </a:pPr>
            <a:r>
              <a:rPr lang="en-US" sz="2200" b="1" dirty="0">
                <a:solidFill>
                  <a:schemeClr val="tx2"/>
                </a:solidFill>
              </a:rPr>
              <a:t>Absolute stability: </a:t>
            </a:r>
            <a:pPr indent="0" marL="0">
              <a:spcAft>
                <a:spcPts val="600"/>
              </a:spcAft>
              <a:buNone/>
            </a:pPr>
            <a:r>
              <a:rPr lang="en-US" sz="2200" dirty="0">
                <a:solidFill>
                  <a:schemeClr val="tx1"/>
                </a:solidFill>
              </a:rPr>
              <a:t>required: the transient must decay.</a:t>
            </a:r>
            <a:endParaRPr lang="en-US" sz="2200" dirty="0"/>
          </a:p>
          <a:p>
            <a:pPr marL="342900" indent="-342900">
              <a:spcAft>
                <a:spcPts val="600"/>
              </a:spcAft>
              <a:buSzPct val="100000"/>
              <a:buChar char="•"/>
            </a:pPr>
            <a:r>
              <a:rPr lang="en-US" sz="2200" b="1" dirty="0">
                <a:solidFill>
                  <a:schemeClr val="tx2"/>
                </a:solidFill>
              </a:rPr>
              <a:t>Specifications </a:t>
            </a:r>
            <a:pPr indent="0" marL="0">
              <a:spcAft>
                <a:spcPts val="600"/>
              </a:spcAft>
              <a:buNone/>
            </a:pPr>
            <a:r>
              <a:rPr lang="en-US" sz="2200" dirty="0">
                <a:solidFill>
                  <a:schemeClr val="tx1"/>
                </a:solidFill>
              </a:rPr>
              <a:t>are set for both: e.g. overshoot and settling time (transient), error (steady state).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Standard signals: impulse, step, ramp, parabola (and sinusoid)</a:t>
            </a:r>
            <a:endParaRPr lang="en-US" sz="2200" dirty="0"/>
          </a:p>
          <a:p>
            <a:pPr marL="342900" indent="-342900">
              <a:spcAft>
                <a:spcPts val="600"/>
              </a:spcAft>
              <a:buSzPct val="100000"/>
              <a:buChar char="•"/>
            </a:pPr>
            <a:r>
              <a:rPr lang="en-US" sz="2200" dirty="0">
                <a:solidFill>
                  <a:schemeClr val="tx1"/>
                </a:solidFill>
              </a:rPr>
              <a:t>Laplace transforms: 1, 1/s, 1/s², 1/s³</a:t>
            </a:r>
            <a:endParaRPr lang="en-US" sz="2200" dirty="0"/>
          </a:p>
          <a:p>
            <a:pPr marL="342900" indent="-342900">
              <a:spcAft>
                <a:spcPts val="600"/>
              </a:spcAft>
              <a:buSzPct val="100000"/>
              <a:buChar char="•"/>
            </a:pPr>
            <a:r>
              <a:rPr lang="en-US" sz="2200" dirty="0">
                <a:solidFill>
                  <a:schemeClr val="tx1"/>
                </a:solidFill>
              </a:rPr>
              <a:t>Each signal is the integral of the previous one</a:t>
            </a:r>
            <a:endParaRPr lang="en-US" sz="2200" dirty="0"/>
          </a:p>
          <a:p>
            <a:pPr marL="342900" indent="-342900">
              <a:spcAft>
                <a:spcPts val="600"/>
              </a:spcAft>
              <a:buSzPct val="100000"/>
              <a:buChar char="•"/>
            </a:pPr>
            <a:r>
              <a:rPr lang="en-US" sz="2200" dirty="0">
                <a:solidFill>
                  <a:schemeClr val="tx1"/>
                </a:solidFill>
              </a:rPr>
              <a:t>Response = transient + steady state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Write the Laplace transforms of unit step, ramp and parabola.</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Why are standard test signals used?</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Define transient and steady-state response.</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Which test signal is used to find the velocity error?</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 Test Signals</dc:title>
  <dc:subject>PptxGenJS Presentation</dc:subject>
  <dc:creator>Dr. Mitesh Astik</dc:creator>
  <cp:lastModifiedBy>Dr. Mitesh Astik</cp:lastModifiedBy>
  <cp:revision>1</cp:revision>
  <dcterms:created xsi:type="dcterms:W3CDTF">2026-10-29T10:05:23Z</dcterms:created>
  <dcterms:modified xsi:type="dcterms:W3CDTF">2026-10-29T10:05:23Z</dcterms:modified>
</cp:coreProperties>
</file>