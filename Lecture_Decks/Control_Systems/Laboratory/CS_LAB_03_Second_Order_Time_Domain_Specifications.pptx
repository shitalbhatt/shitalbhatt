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aboratory · Experiment 3: Time Domain Specifications of a Second-Order System" id="{1f78707a-269d-b17a-c9e5-8e939b7aea70}">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"Experiment 3: Time Domain Specifications of a Second-Order System", part of Laboratory (Control Systems Laboratory (22EEG53)) of Control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Determine tr, tp, Mp and ts from the simulated step response. Compare them with the theoretical values. Use stepinfo to extract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 simulated and theoretical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Theoretical values for ωn = 5 and ζ = 0.6: tr = 0.554 s, tp = 0.785 s, Mp = 9.48 %, ts = 1.33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MATLAB defines rise time as 10 to 90 percent by default; the textbook formula is 0 to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plot characteristics menu in the figure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Differences arise because ts and tr are approximate in the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stepinfo returns rise, peak, overshoot and settling values. tp and Mp match theory closely; ts is approximate. Mp depends only on ζ. Specifications are read from the step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Find the specifications for ωn = 10, ζ = 0.4. Why does MATLAB's rise time differ from the textbook value? Write the stepinfo command with a 5 % band. How do ts and Mp change if ωn doubles for fixed 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Control Systems · Laboratory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LABORATORY  ·  Lab · 26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Experiment 3: Time Domain Specifications of a Second-Order System</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3E6E9"/>
                </a:solidFill>
              </a:rPr>
              <a:t>Control Systems Laboratory (22EEG53)</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Control Systems  (22EEG53)</a:t>
            </a:r>
            <a:endParaRPr lang="en-US" sz="1400" dirty="0"/>
          </a:p>
          <a:p>
            <a:pPr indent="0" marL="0">
              <a:buNone/>
            </a:pPr>
            <a:r>
              <a:rPr lang="en-US" sz="1400" dirty="0">
                <a:solidFill>
                  <a:srgbClr val="D3E6E9"/>
                </a:solidFill>
              </a:rPr>
              <a:t>Dr. Mitesh Astik · Dept. of Electrical and Electronics Engineering</a:t>
            </a:r>
            <a:endParaRPr lang="en-US" sz="1400" dirty="0"/>
          </a:p>
          <a:p>
            <a:pPr indent="0" marL="0">
              <a:buNone/>
            </a:pPr>
            <a:r>
              <a:rPr lang="en-US" sz="1400" dirty="0">
                <a:solidFill>
                  <a:srgbClr val="D3E6E9"/>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LAB</a:t>
            </a:r>
            <a:endParaRPr lang="en-US" sz="13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Determine tr, tp, Mp and ts from the simulated step response</a:t>
            </a:r>
            <a:endParaRPr lang="en-US" sz="2200" dirty="0"/>
          </a:p>
          <a:p>
            <a:pPr marL="342900" indent="-342900">
              <a:spcAft>
                <a:spcPts val="600"/>
              </a:spcAft>
              <a:buSzPct val="100000"/>
              <a:buChar char="•"/>
            </a:pPr>
            <a:r>
              <a:rPr lang="en-US" sz="2200" dirty="0">
                <a:solidFill>
                  <a:schemeClr val="tx1"/>
                </a:solidFill>
              </a:rPr>
              <a:t>Compare them with the theoretical values</a:t>
            </a:r>
            <a:endParaRPr lang="en-US" sz="2200" dirty="0"/>
          </a:p>
          <a:p>
            <a:pPr marL="342900" indent="-342900">
              <a:spcAft>
                <a:spcPts val="600"/>
              </a:spcAft>
              <a:buSzPct val="100000"/>
              <a:buChar char="•"/>
            </a:pPr>
            <a:r>
              <a:rPr lang="en-US" sz="2200" dirty="0">
                <a:solidFill>
                  <a:schemeClr val="tx1"/>
                </a:solidFill>
              </a:rPr>
              <a:t>Use stepinfo to extract specifications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Laboratory component of 22EEG53 Control Systems (0:0:2 hours per week). CIE: record and observation 25, viva-voce 5, lab test 20 marks.</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Aim and requirements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LAB</a:t>
            </a:r>
            <a:endParaRPr lang="en-US" sz="13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b="1" dirty="0">
                <a:solidFill>
                  <a:schemeClr val="tx2"/>
                </a:solidFill>
              </a:rPr>
              <a:t>Aim: </a:t>
            </a:r>
            <a:pPr indent="0" marL="0">
              <a:spcAft>
                <a:spcPts val="600"/>
              </a:spcAft>
              <a:buNone/>
            </a:pPr>
            <a:r>
              <a:rPr lang="en-US" sz="2200" dirty="0">
                <a:solidFill>
                  <a:schemeClr val="tx1"/>
                </a:solidFill>
              </a:rPr>
              <a:t>to analyse the time-domain specifications of a second-order system using MATLAB.</a:t>
            </a:r>
            <a:endParaRPr lang="en-US" sz="2200" dirty="0"/>
          </a:p>
          <a:p>
            <a:pPr marL="342900" indent="-342900">
              <a:spcAft>
                <a:spcPts val="600"/>
              </a:spcAft>
              <a:buSzPct val="100000"/>
              <a:buChar char="•"/>
            </a:pPr>
            <a:r>
              <a:rPr lang="en-US" sz="2200" b="1" dirty="0">
                <a:solidFill>
                  <a:schemeClr val="tx2"/>
                </a:solidFill>
              </a:rPr>
              <a:t>Software: </a:t>
            </a:r>
            <a:pPr indent="0" marL="0">
              <a:spcAft>
                <a:spcPts val="600"/>
              </a:spcAft>
              <a:buNone/>
            </a:pPr>
            <a:r>
              <a:rPr lang="en-US" sz="2200" dirty="0">
                <a:solidFill>
                  <a:schemeClr val="tx1"/>
                </a:solidFill>
              </a:rPr>
              <a:t>MATLAB with the Control System Toolbox (Simulink where required).</a:t>
            </a:r>
            <a:endParaRPr lang="en-US" sz="2200" dirty="0"/>
          </a:p>
          <a:p>
            <a:pPr marL="342900" indent="-342900">
              <a:spcAft>
                <a:spcPts val="600"/>
              </a:spcAft>
              <a:buSzPct val="100000"/>
              <a:buChar char="•"/>
            </a:pPr>
            <a:r>
              <a:rPr lang="en-US" sz="2200" b="1" dirty="0">
                <a:solidFill>
                  <a:schemeClr val="tx2"/>
                </a:solidFill>
              </a:rPr>
              <a:t>Hardware: </a:t>
            </a:r>
            <a:pPr indent="0" marL="0">
              <a:spcAft>
                <a:spcPts val="600"/>
              </a:spcAft>
              <a:buNone/>
            </a:pPr>
            <a:r>
              <a:rPr lang="en-US" sz="2200" dirty="0">
                <a:solidFill>
                  <a:schemeClr val="tx1"/>
                </a:solidFill>
              </a:rPr>
              <a:t>Personal computer.</a:t>
            </a:r>
            <a:endParaRPr lang="en-US" sz="2200" dirty="0"/>
          </a:p>
          <a:p>
            <a:pPr marL="342900" indent="-342900">
              <a:spcAft>
                <a:spcPts val="600"/>
              </a:spcAft>
              <a:buSzPct val="100000"/>
              <a:buChar char="•"/>
            </a:pPr>
            <a:r>
              <a:rPr lang="en-US" sz="2200" b="1" dirty="0">
                <a:solidFill>
                  <a:schemeClr val="tx2"/>
                </a:solidFill>
              </a:rPr>
              <a:t>System: </a:t>
            </a:r>
            <a:pPr indent="0" marL="0">
              <a:spcAft>
                <a:spcPts val="600"/>
              </a:spcAft>
              <a:buNone/>
            </a:pPr>
            <a:r>
              <a:rPr lang="en-US" sz="2200" dirty="0">
                <a:solidFill>
                  <a:schemeClr val="tx1"/>
                </a:solidFill>
              </a:rPr>
              <a:t>C/R = 25/(s² + 6s + 25): ωn = 5, ζ = 0.6.</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Theoretical formulas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LAB</a:t>
            </a:r>
            <a:endParaRPr lang="en-US" sz="1300" dirty="0"/>
          </a:p>
        </p:txBody>
      </p:sp>
      <p:sp>
        <p:nvSpPr>
          <p:cNvPr id="6" name="Formula"/>
          <p:cNvSpPr/>
          <p:nvPr/>
        </p:nvSpPr>
        <p:spPr>
          <a:xfrm>
            <a:off x="457200" y="1371600"/>
            <a:ext cx="4023360" cy="914400"/>
          </a:xfrm>
          <a:prstGeom prst="roundRect">
            <a:avLst>
              <a:gd name="adj" fmla="val 8000"/>
            </a:avLst>
          </a:prstGeom>
          <a:solidFill>
            <a:schemeClr val="tx2"/>
          </a:solidFill>
          <a:ln/>
        </p:spPr>
      </p:sp>
      <p:sp>
        <p:nvSpPr>
          <p:cNvPr id="7" name="Text 4"/>
          <p:cNvSpPr txBox="1"/>
          <p:nvPr/>
        </p:nvSpPr>
        <p:spPr>
          <a:xfrm>
            <a:off x="457200" y="1371600"/>
            <a:ext cx="4023360" cy="91440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tr = (π − φ)/ωd</a:t>
            </a:r>
            <a:endParaRPr lang="en-US" sz="2400" dirty="0"/>
          </a:p>
        </p:txBody>
      </p:sp>
      <p:sp>
        <p:nvSpPr>
          <p:cNvPr id="8" name="Text 5"/>
          <p:cNvSpPr txBox="1"/>
          <p:nvPr/>
        </p:nvSpPr>
        <p:spPr>
          <a:xfrm>
            <a:off x="457200" y="230428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φ = cos⁻¹ζ</a:t>
            </a:r>
            <a:endParaRPr lang="en-US" sz="1300" dirty="0"/>
          </a:p>
        </p:txBody>
      </p:sp>
      <p:sp>
        <p:nvSpPr>
          <p:cNvPr id="9" name="Formula"/>
          <p:cNvSpPr/>
          <p:nvPr/>
        </p:nvSpPr>
        <p:spPr>
          <a:xfrm>
            <a:off x="4663440" y="1371600"/>
            <a:ext cx="4023360" cy="914400"/>
          </a:xfrm>
          <a:prstGeom prst="roundRect">
            <a:avLst>
              <a:gd name="adj" fmla="val 8000"/>
            </a:avLst>
          </a:prstGeom>
          <a:solidFill>
            <a:schemeClr val="tx2"/>
          </a:solidFill>
          <a:ln/>
        </p:spPr>
      </p:sp>
      <p:sp>
        <p:nvSpPr>
          <p:cNvPr id="10" name="Text 7"/>
          <p:cNvSpPr txBox="1"/>
          <p:nvPr/>
        </p:nvSpPr>
        <p:spPr>
          <a:xfrm>
            <a:off x="4663440" y="1371600"/>
            <a:ext cx="4023360" cy="91440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tp = π/ωd</a:t>
            </a:r>
            <a:endParaRPr lang="en-US" sz="2400" dirty="0"/>
          </a:p>
        </p:txBody>
      </p:sp>
      <p:sp>
        <p:nvSpPr>
          <p:cNvPr id="11" name="Text 8"/>
          <p:cNvSpPr txBox="1"/>
          <p:nvPr/>
        </p:nvSpPr>
        <p:spPr>
          <a:xfrm>
            <a:off x="4663440" y="230428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ωd = ωn√(1 − ζ²)</a:t>
            </a:r>
            <a:endParaRPr lang="en-US" sz="1300" dirty="0"/>
          </a:p>
        </p:txBody>
      </p:sp>
      <p:sp>
        <p:nvSpPr>
          <p:cNvPr id="12" name="Formula"/>
          <p:cNvSpPr/>
          <p:nvPr/>
        </p:nvSpPr>
        <p:spPr>
          <a:xfrm>
            <a:off x="457200" y="2788920"/>
            <a:ext cx="4023360" cy="914400"/>
          </a:xfrm>
          <a:prstGeom prst="roundRect">
            <a:avLst>
              <a:gd name="adj" fmla="val 8000"/>
            </a:avLst>
          </a:prstGeom>
          <a:solidFill>
            <a:schemeClr val="tx2"/>
          </a:solidFill>
          <a:ln/>
        </p:spPr>
      </p:sp>
      <p:sp>
        <p:nvSpPr>
          <p:cNvPr id="13" name="Text 10"/>
          <p:cNvSpPr txBox="1"/>
          <p:nvPr/>
        </p:nvSpPr>
        <p:spPr>
          <a:xfrm>
            <a:off x="457200" y="2788920"/>
            <a:ext cx="4023360" cy="91440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Mp = e^(−πζ/√(1−ζ²)) × 100</a:t>
            </a:r>
            <a:endParaRPr lang="en-US" sz="2400" dirty="0"/>
          </a:p>
        </p:txBody>
      </p:sp>
      <p:sp>
        <p:nvSpPr>
          <p:cNvPr id="14" name="Text 11"/>
          <p:cNvSpPr txBox="1"/>
          <p:nvPr/>
        </p:nvSpPr>
        <p:spPr>
          <a:xfrm>
            <a:off x="457200" y="372160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overshoot</a:t>
            </a:r>
            <a:endParaRPr lang="en-US" sz="1300" dirty="0"/>
          </a:p>
        </p:txBody>
      </p:sp>
      <p:sp>
        <p:nvSpPr>
          <p:cNvPr id="15" name="Formula"/>
          <p:cNvSpPr/>
          <p:nvPr/>
        </p:nvSpPr>
        <p:spPr>
          <a:xfrm>
            <a:off x="4663440" y="2788920"/>
            <a:ext cx="4023360" cy="914400"/>
          </a:xfrm>
          <a:prstGeom prst="roundRect">
            <a:avLst>
              <a:gd name="adj" fmla="val 8000"/>
            </a:avLst>
          </a:prstGeom>
          <a:solidFill>
            <a:schemeClr val="tx2"/>
          </a:solidFill>
          <a:ln/>
        </p:spPr>
      </p:sp>
      <p:sp>
        <p:nvSpPr>
          <p:cNvPr id="16" name="Text 13"/>
          <p:cNvSpPr txBox="1"/>
          <p:nvPr/>
        </p:nvSpPr>
        <p:spPr>
          <a:xfrm>
            <a:off x="4663440" y="2788920"/>
            <a:ext cx="4023360" cy="91440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ts = 4/(ζωn)</a:t>
            </a:r>
            <a:endParaRPr lang="en-US" sz="2400" dirty="0"/>
          </a:p>
        </p:txBody>
      </p:sp>
      <p:sp>
        <p:nvSpPr>
          <p:cNvPr id="17" name="Text 14"/>
          <p:cNvSpPr txBox="1"/>
          <p:nvPr/>
        </p:nvSpPr>
        <p:spPr>
          <a:xfrm>
            <a:off x="4663440" y="372160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2 % band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Procedure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LAB</a:t>
            </a:r>
            <a:endParaRPr lang="en-US" sz="1300" dirty="0"/>
          </a:p>
        </p:txBody>
      </p:sp>
      <p:sp>
        <p:nvSpPr>
          <p:cNvPr id="6" name="Flow step"/>
          <p:cNvSpPr/>
          <p:nvPr/>
        </p:nvSpPr>
        <p:spPr>
          <a:xfrm>
            <a:off x="457200" y="1234440"/>
            <a:ext cx="1954530" cy="2286000"/>
          </a:xfrm>
          <a:prstGeom prst="roundRect">
            <a:avLst>
              <a:gd name="adj" fmla="val 3743"/>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Create system</a:t>
            </a:r>
            <a:endParaRPr lang="en-US" sz="1500" dirty="0"/>
          </a:p>
        </p:txBody>
      </p:sp>
      <p:sp>
        <p:nvSpPr>
          <p:cNvPr id="10" name="Text 7"/>
          <p:cNvSpPr txBox="1"/>
          <p:nvPr/>
        </p:nvSpPr>
        <p:spPr>
          <a:xfrm>
            <a:off x="56692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sys = tf(25,[1 6 25]).</a:t>
            </a:r>
            <a:endParaRPr lang="en-US" sz="1500" dirty="0"/>
          </a:p>
        </p:txBody>
      </p:sp>
      <p:sp>
        <p:nvSpPr>
          <p:cNvPr id="11" name="Flow step"/>
          <p:cNvSpPr/>
          <p:nvPr/>
        </p:nvSpPr>
        <p:spPr>
          <a:xfrm>
            <a:off x="2548890" y="1234440"/>
            <a:ext cx="1954530" cy="2286000"/>
          </a:xfrm>
          <a:prstGeom prst="roundRect">
            <a:avLst>
              <a:gd name="adj" fmla="val 3743"/>
            </a:avLst>
          </a:prstGeom>
          <a:solidFill>
            <a:schemeClr val="bg2"/>
          </a:solidFill>
          <a:ln/>
        </p:spPr>
      </p:sp>
      <p:sp>
        <p:nvSpPr>
          <p:cNvPr id="12" name="Step number"/>
          <p:cNvSpPr/>
          <p:nvPr/>
        </p:nvSpPr>
        <p:spPr>
          <a:xfrm>
            <a:off x="2658618" y="1344168"/>
            <a:ext cx="365760" cy="365760"/>
          </a:xfrm>
          <a:prstGeom prst="ellipse">
            <a:avLst/>
          </a:prstGeom>
          <a:solidFill>
            <a:schemeClr val="tx2"/>
          </a:solidFill>
          <a:ln/>
        </p:spPr>
      </p:sp>
      <p:sp>
        <p:nvSpPr>
          <p:cNvPr id="13" name="Text 10"/>
          <p:cNvSpPr txBox="1"/>
          <p:nvPr/>
        </p:nvSpPr>
        <p:spPr>
          <a:xfrm>
            <a:off x="265861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65861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Simulate</a:t>
            </a:r>
            <a:endParaRPr lang="en-US" sz="1500" dirty="0"/>
          </a:p>
        </p:txBody>
      </p:sp>
      <p:sp>
        <p:nvSpPr>
          <p:cNvPr id="15" name="Text 12"/>
          <p:cNvSpPr txBox="1"/>
          <p:nvPr/>
        </p:nvSpPr>
        <p:spPr>
          <a:xfrm>
            <a:off x="265861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Plot step(sys).</a:t>
            </a:r>
            <a:endParaRPr lang="en-US" sz="1500" dirty="0"/>
          </a:p>
        </p:txBody>
      </p:sp>
      <p:sp>
        <p:nvSpPr>
          <p:cNvPr id="16" name="Flow step"/>
          <p:cNvSpPr/>
          <p:nvPr/>
        </p:nvSpPr>
        <p:spPr>
          <a:xfrm>
            <a:off x="4640580" y="1234440"/>
            <a:ext cx="1954530" cy="2286000"/>
          </a:xfrm>
          <a:prstGeom prst="roundRect">
            <a:avLst>
              <a:gd name="adj" fmla="val 3743"/>
            </a:avLst>
          </a:prstGeom>
          <a:solidFill>
            <a:schemeClr val="bg2"/>
          </a:solidFill>
          <a:ln/>
        </p:spPr>
      </p:sp>
      <p:sp>
        <p:nvSpPr>
          <p:cNvPr id="17" name="Step number"/>
          <p:cNvSpPr/>
          <p:nvPr/>
        </p:nvSpPr>
        <p:spPr>
          <a:xfrm>
            <a:off x="4750308" y="1344168"/>
            <a:ext cx="365760" cy="365760"/>
          </a:xfrm>
          <a:prstGeom prst="ellipse">
            <a:avLst/>
          </a:prstGeom>
          <a:solidFill>
            <a:schemeClr val="tx2"/>
          </a:solidFill>
          <a:ln/>
        </p:spPr>
      </p:sp>
      <p:sp>
        <p:nvSpPr>
          <p:cNvPr id="18" name="Text 15"/>
          <p:cNvSpPr txBox="1"/>
          <p:nvPr/>
        </p:nvSpPr>
        <p:spPr>
          <a:xfrm>
            <a:off x="475030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475030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Extract</a:t>
            </a:r>
            <a:endParaRPr lang="en-US" sz="1500" dirty="0"/>
          </a:p>
        </p:txBody>
      </p:sp>
      <p:sp>
        <p:nvSpPr>
          <p:cNvPr id="20" name="Text 17"/>
          <p:cNvSpPr txBox="1"/>
          <p:nvPr/>
        </p:nvSpPr>
        <p:spPr>
          <a:xfrm>
            <a:off x="475030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S = stepinfo(sys): RiseTime, PeakTime, Overshoot, SettlingTime.</a:t>
            </a:r>
            <a:endParaRPr lang="en-US" sz="1500" dirty="0"/>
          </a:p>
        </p:txBody>
      </p:sp>
      <p:sp>
        <p:nvSpPr>
          <p:cNvPr id="21" name="Flow step"/>
          <p:cNvSpPr/>
          <p:nvPr/>
        </p:nvSpPr>
        <p:spPr>
          <a:xfrm>
            <a:off x="6732270" y="1234440"/>
            <a:ext cx="1954530" cy="2286000"/>
          </a:xfrm>
          <a:prstGeom prst="roundRect">
            <a:avLst>
              <a:gd name="adj" fmla="val 3743"/>
            </a:avLst>
          </a:prstGeom>
          <a:solidFill>
            <a:schemeClr val="bg2"/>
          </a:solidFill>
          <a:ln/>
        </p:spPr>
      </p:sp>
      <p:sp>
        <p:nvSpPr>
          <p:cNvPr id="22" name="Step number"/>
          <p:cNvSpPr/>
          <p:nvPr/>
        </p:nvSpPr>
        <p:spPr>
          <a:xfrm>
            <a:off x="6841998" y="1344168"/>
            <a:ext cx="365760" cy="365760"/>
          </a:xfrm>
          <a:prstGeom prst="ellipse">
            <a:avLst/>
          </a:prstGeom>
          <a:solidFill>
            <a:schemeClr val="tx2"/>
          </a:solidFill>
          <a:ln/>
        </p:spPr>
      </p:sp>
      <p:sp>
        <p:nvSpPr>
          <p:cNvPr id="23" name="Text 20"/>
          <p:cNvSpPr txBox="1"/>
          <p:nvPr/>
        </p:nvSpPr>
        <p:spPr>
          <a:xfrm>
            <a:off x="684199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684199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Compare</a:t>
            </a:r>
            <a:endParaRPr lang="en-US" sz="1500" dirty="0"/>
          </a:p>
        </p:txBody>
      </p:sp>
      <p:sp>
        <p:nvSpPr>
          <p:cNvPr id="25" name="Text 22"/>
          <p:cNvSpPr txBox="1"/>
          <p:nvPr/>
        </p:nvSpPr>
        <p:spPr>
          <a:xfrm>
            <a:off x="684199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Tabulate against theory and compute % error.</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MATLAB program</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LAB</a:t>
            </a:r>
            <a:endParaRPr lang="en-US" sz="1300" dirty="0"/>
          </a:p>
        </p:txBody>
      </p:sp>
      <p:sp>
        <p:nvSpPr>
          <p:cNvPr id="5" name="Code panel"/>
          <p:cNvSpPr/>
          <p:nvPr/>
        </p:nvSpPr>
        <p:spPr>
          <a:xfrm>
            <a:off x="457200" y="1188720"/>
            <a:ext cx="8229600" cy="3429000"/>
          </a:xfrm>
          <a:prstGeom prst="roundRect">
            <a:avLst>
              <a:gd name="adj" fmla="val 2133"/>
            </a:avLst>
          </a:prstGeom>
          <a:solidFill>
            <a:schemeClr val="tx1"/>
          </a:solidFill>
          <a:ln/>
        </p:spPr>
      </p:sp>
      <p:sp>
        <p:nvSpPr>
          <p:cNvPr id="6" name="Text 4"/>
          <p:cNvSpPr txBox="1"/>
          <p:nvPr/>
        </p:nvSpPr>
        <p:spPr>
          <a:xfrm>
            <a:off x="640080" y="1280160"/>
            <a:ext cx="7863840" cy="3246120"/>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wn = 5; zeta = 0.6;</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sys = tf(wn^2, [1 2*zeta*wn wn^2]);</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 = stepinfo(sys, 'SettlingTimeThreshold', 0.02)</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wd = wn*sqrt(1-zeta^2);  phi = acos(zeta);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tr = (pi-phi)/wd;  tp = pi/wd;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Mp = 100*exp(-pi*zeta/sqrt(1-zeta^2));  ts = 4/(zeta*wn);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fprintf('tp = %.3f s, Mp = %.2f %%, ts = %.3f s\n', tp, Mp, ts)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step(sys); grid on</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Annotated step response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LAB</a:t>
            </a:r>
            <a:endParaRPr lang="en-US" sz="1300" dirty="0"/>
          </a:p>
        </p:txBody>
      </p:sp>
      <p:pic>
        <p:nvPicPr>
          <p:cNvPr id="6" name="Image 0" descr="spec2 figure">    </p:cNvPr>
          <p:cNvPicPr>
            <a:picLocks noChangeAspect="1"/>
          </p:cNvPicPr>
          <p:nvPr/>
        </p:nvPicPr>
        <p:blipFill>
          <a:blip r:embed="rId1"/>
          <a:stretch>
            <a:fillRect/>
          </a:stretch>
        </p:blipFill>
        <p:spPr>
          <a:xfrm>
            <a:off x="2306489" y="1143000"/>
            <a:ext cx="4531022" cy="2148840"/>
          </a:xfrm>
          <a:prstGeom prst="rect">
            <a:avLst/>
          </a:prstGeom>
        </p:spPr>
      </p:pic>
      <p:sp>
        <p:nvSpPr>
          <p:cNvPr id="7" name="Text 3"/>
          <p:cNvSpPr txBox="1"/>
          <p:nvPr/>
        </p:nvSpPr>
        <p:spPr>
          <a:xfrm>
            <a:off x="45720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Mark tr, tp, Mp and ts on the plot (right-click → Characteristics).</a:t>
            </a:r>
            <a:endParaRPr lang="en-US" sz="1800" dirty="0"/>
          </a:p>
        </p:txBody>
      </p:sp>
      <p:sp>
        <p:nvSpPr>
          <p:cNvPr id="8" name="Text 4"/>
          <p:cNvSpPr txBox="1"/>
          <p:nvPr/>
        </p:nvSpPr>
        <p:spPr>
          <a:xfrm>
            <a:off x="466344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The ±2 % band defines ts.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Observation table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LAB</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1737360"/>
                <a:gridCol w="1737360"/>
                <a:gridCol w="1828800"/>
              </a:tblGrid>
              <a:tr h="502920">
                <a:tc>
                  <a:txBody>
                    <a:bodyPr/>
                    <a:lstStyle/>
                    <a:p>
                      <a:pPr indent="0" marL="0">
                        <a:buNone/>
                      </a:pPr>
                      <a:r>
                        <a:rPr lang="en-US" sz="1400" b="1" dirty="0">
                          <a:solidFill>
                            <a:schemeClr val="bg1"/>
                          </a:solidFill>
                        </a:rPr>
                        <a:t>Parameter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Theory</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MATLAB</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 error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Peak time tp (s)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0.785</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Peak overshoot Mp (%)</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9.48</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Settling time ts (s)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1.33</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Rise time tr (s)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0.554</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LAB</a:t>
            </a:r>
            <a:endParaRPr lang="en-US" sz="13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stepinfo returns rise, peak, overshoot and settling values</a:t>
            </a:r>
            <a:endParaRPr lang="en-US" sz="2200" dirty="0"/>
          </a:p>
          <a:p>
            <a:pPr marL="342900" indent="-342900">
              <a:spcAft>
                <a:spcPts val="600"/>
              </a:spcAft>
              <a:buSzPct val="100000"/>
              <a:buChar char="•"/>
            </a:pPr>
            <a:r>
              <a:rPr lang="en-US" sz="2200" dirty="0">
                <a:solidFill>
                  <a:schemeClr val="tx1"/>
                </a:solidFill>
              </a:rPr>
              <a:t>tp and Mp match theory closely; ts is approximate</a:t>
            </a:r>
            <a:endParaRPr lang="en-US" sz="2200" dirty="0"/>
          </a:p>
          <a:p>
            <a:pPr marL="342900" indent="-342900">
              <a:spcAft>
                <a:spcPts val="600"/>
              </a:spcAft>
              <a:buSzPct val="100000"/>
              <a:buChar char="•"/>
            </a:pPr>
            <a:r>
              <a:rPr lang="en-US" sz="2200" dirty="0">
                <a:solidFill>
                  <a:schemeClr val="tx1"/>
                </a:solidFill>
              </a:rPr>
              <a:t>Mp depends only on ζ</a:t>
            </a:r>
            <a:endParaRPr lang="en-US" sz="2200" dirty="0"/>
          </a:p>
          <a:p>
            <a:pPr marL="342900" indent="-342900">
              <a:spcAft>
                <a:spcPts val="600"/>
              </a:spcAft>
              <a:buSzPct val="100000"/>
              <a:buChar char="•"/>
            </a:pPr>
            <a:r>
              <a:rPr lang="en-US" sz="2200" dirty="0">
                <a:solidFill>
                  <a:schemeClr val="tx1"/>
                </a:solidFill>
              </a:rPr>
              <a:t>Specifications are read from the step response</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alibri" pitchFamily="34" charset="0"/>
                <a:ea typeface="Calibri" pitchFamily="34" charset="-122"/>
                <a:cs typeface="Calibri" pitchFamily="34" charset="-120"/>
              </a:rPr>
              <a:t>LAB</a:t>
            </a:r>
            <a:endParaRPr lang="en-US" sz="13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Find the specifications for ωn = 10, ζ = 0.4.</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Why does MATLAB's rise time differ from the textbook value?</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Write the stepinfo command with a 5 % band.</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How do ts and Mp change if ωn doubles for fixed ζ?</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ontrolSystems">
  <a:themeElements>
    <a:clrScheme name="ControlSystems">
      <a:dk1>
        <a:srgbClr val="0E2B33"/>
      </a:dk1>
      <a:lt1>
        <a:srgbClr val="FFFFFF"/>
      </a:lt1>
      <a:dk2>
        <a:srgbClr val="1B4D57"/>
      </a:dk2>
      <a:lt2>
        <a:srgbClr val="EAF3F3"/>
      </a:lt2>
      <a:accent1>
        <a:srgbClr val="F2A93B"/>
      </a:accent1>
      <a:accent2>
        <a:srgbClr val="1F7A8C"/>
      </a:accent2>
      <a:accent3>
        <a:srgbClr val="C93C20"/>
      </a:accent3>
      <a:accent4>
        <a:srgbClr val="58707A"/>
      </a:accent4>
      <a:accent5>
        <a:srgbClr val="3E7CB1"/>
      </a:accent5>
      <a:accent6>
        <a:srgbClr val="7A4FD6"/>
      </a:accent6>
      <a:hlink>
        <a:srgbClr val="3E7CB1"/>
      </a:hlink>
      <a:folHlink>
        <a:srgbClr val="58707A"/>
      </a:folHlink>
    </a:clrScheme>
    <a:fontScheme name="Control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3: Time Domain Specifications of a Second-Order System</dc:title>
  <dc:subject>PptxGenJS Presentation</dc:subject>
  <dc:creator>Dr. Mitesh Astik</dc:creator>
  <cp:lastModifiedBy>Dr. Mitesh Astik</cp:lastModifiedBy>
  <cp:revision>1</cp:revision>
  <dcterms:created xsi:type="dcterms:W3CDTF">2026-10-29T10:05:22Z</dcterms:created>
  <dcterms:modified xsi:type="dcterms:W3CDTF">2026-10-29T10:05:22Z</dcterms:modified>
</cp:coreProperties>
</file>