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5 · Lag–Lead Compensator" id="{b7ece03b-90c6-68da-184a-6d2f4ef6acb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"Lag–Lead Compensator", part of Unit 5 (Compensators, Controllers and State-Space Analysis)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Write the lag-lead compensator transfer function. Explain why it combines the benefits of lag and lead. Interpret its Bode plot. Outline the design procedure.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Lag lead compensation gives both fast response and high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compensator is the product of the lead and the lag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the gain dip and the phase that changes 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the lead section first for the transient, then the lag section for the steady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simplest compensator that meets the specifications.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Lag–lead = lag (low ω) × lead (high ω). Improves both steady-state and transient response. Lead sets PM at the new crossover; lag sets Kv. More components and design effort.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Write the transfer function of a lag–lead compensator. Why are the lag corners placed a decade below the crossover? When would you choose lag–lead over lead? Sketch the Bode plot of a lag–lead compensator.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Unit 5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5  ·  8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Lag–Lead Compensator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Compensators, Controllers and State-Space Analysis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Write the lag-lead compensator transfer function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why it combines the benefits of lag and lead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Interpret its Bode plot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Outline the design procedure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Compensators and controllers: introduction to compensators, lag, lead and lag-lead compensators, P, PI and PID controllers.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Why lag–lead?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Lead alone: good transient but little help with steady-state error.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Lag alone: good steady-state accuracy but a slower response.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When both transient and steady-state specifications must be improved, use lag–lead.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single network provides phase lag at low frequency and phase lead at high frequency.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Transfer function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Gc(s) = [(1 + aT1 s)/(1 + T1 s)] · [(1 + T2 s)/(1 + βT2 s)]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29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lead × lag, a &gt; 1, β &gt; 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56032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Lead part: zero at −1/(aT1), pole at −1/T1 (higher frequencies).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Lag part: zero at −1/T2, pole at −1/(βT2) (low frequencies).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Often a = β for a single passive network.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Bode plot of a lag–lead network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pic>
        <p:nvPicPr>
          <p:cNvPr id="6" name="Image 0" descr="bode_laglead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889" y="1188720"/>
            <a:ext cx="4349262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Low ω: negative phase (lag).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High ω: positive phase (lead).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Gain dips between the lag and lead corners.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Example: lag β = 10, T2 = 10 s; lead a = 10, T1 = 0.05 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Design outline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Choose K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Meet the steady-state error requirement.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54889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65861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5861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5861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Lead section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65861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Design the lead part to obtain the required PM at the new crossover ωc.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464058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475030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75030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5030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Lag section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030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Place its corners at least a decade below ωc, so it does not disturb the phase margin.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673227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684199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4199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4199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Check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4199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Verify PM, GM, bandwidth and steady-state error; iterate.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Comparison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Compare card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7" name="Compare header"/>
          <p:cNvSpPr/>
          <p:nvPr/>
        </p:nvSpPr>
        <p:spPr>
          <a:xfrm>
            <a:off x="457200" y="1188720"/>
            <a:ext cx="402336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" y="1188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Lead / Lag / Lag-lead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8288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Lead: ↑ PM, ↑ bandwidth, noise up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Lag: ↑ Kv, ↓ bandwidth, slower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Lag-lead: both, more complex</a:t>
            </a:r>
            <a:endParaRPr lang="en-US" sz="2000" dirty="0"/>
          </a:p>
        </p:txBody>
      </p:sp>
      <p:sp>
        <p:nvSpPr>
          <p:cNvPr id="10" name="Compare card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11" name="Compare header"/>
          <p:cNvSpPr/>
          <p:nvPr/>
        </p:nvSpPr>
        <p:spPr>
          <a:xfrm>
            <a:off x="4663440" y="1188720"/>
            <a:ext cx="402336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00600" y="1188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Typical use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800600" y="18288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Lead: fast servo, low-order plant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Lag: process control, precise tracking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Lag-lead: demanding systems with strict accuracy and speed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Lag–lead = lag (low ω) × lead (high ω)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Improves both steady-state and transient response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Lead sets PM at the new crossover; lag sets Kv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More components and design effort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Write the transfer function of a lag–lead compensator.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are the lag corners placed a decade below the crossover?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When would you choose lag–lead over lead?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Sketch the Bode plot of a lag–lead compensator.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Lag–Lead Compensator</dc:title>
  <dc:subject>PptxGenJS Presentation</dc:subject>
  <dc:creator>Dr. Mitesh Astik</dc:creator>
  <cp:lastModifiedBy>Dr. Mitesh Astik</cp:lastModifiedBy>
  <cp:revision>1</cp:revision>
  <dcterms:created xsi:type="dcterms:W3CDTF">2026-10-29T10:05:24Z</dcterms:created>
  <dcterms:modified xsi:type="dcterms:W3CDTF">2026-10-29T10:05:24Z</dcterms:modified>
</cp:coreProperties>
</file>