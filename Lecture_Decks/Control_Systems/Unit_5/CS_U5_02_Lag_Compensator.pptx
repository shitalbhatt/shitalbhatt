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it 5 · Lag Compensator" id="{bd840c83-028e-1c02-80b5-4fa4b9b303ff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In this session we study "Lag Compensator", part of Unit 5 (Compensators, Controllers and State-Space Analysis) of Control Systems.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By the end of this topic you should be able to do the following. Write the transfer function and Bode plot of a lag compensator. Explain its effect on steady-state error, bandwidth and margins. Design a lag compensator using the Bode plot. Verify the design.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lag compensator is effectively a low pass filter.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put the maximum phase lag near the gain crossover.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lag compensator is used when the transient is acceptable but the steady state error is too large.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extra 5 to 12 degrees allows for the small phase lag the compensator adds at the new crossover.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design restores positive phase margin while keeping the steady state error.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summarise this topic. Lag: Gc = (1 + Ts)/(1 + βTs), β &gt; 1. Improves steady-state accuracy; reduces bandwidth. Place the corner a decade below the new gain crossover. β = attenuation required at the new crossover.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Attempt these on your own, then check your working against your notes and textbook. Draw the pole-zero plot and Bode plot of a lag compensator. State the effects of a lag compensator on time response. Find φm and ωm for T = 1, β = 10. Outline the Bode design procedure for a lag compensator.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0E2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Control Systems · Unit 5 · Dr. Mitesh Astik, NMAMIT Nitte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6858000" y="822960"/>
            <a:ext cx="1737360" cy="1737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0" y="1325880"/>
            <a:ext cx="731520" cy="7315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82296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chemeClr val="accent1"/>
                </a:solidFill>
              </a:rPr>
              <a:t>UNIT 5  ·  8 hours</a:t>
            </a:r>
            <a:endParaRPr lang="en-US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1280160"/>
            <a:ext cx="6035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Lag Compensator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92608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3E6E9"/>
                </a:solidFill>
              </a:rPr>
              <a:t>Compensators, Controllers and State-Space Analysis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6576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Control Systems  (22EEG53)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3E6E9"/>
                </a:solidFill>
              </a:rPr>
              <a:t>Dr. Mitesh Astik · Dept. of Electrical and Electronics Engineering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3E6E9"/>
                </a:solidFill>
              </a:rPr>
              <a:t>NMAM Institute of Technology, Nitte · 2025-26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Learning objectives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U5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188720"/>
            <a:ext cx="48463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Write the transfer function and Bode plot of a lag compensator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Explain its effect on steady-state error, bandwidth and margins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Design a lag compensator using the Bode plot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Verify the design</a:t>
            </a:r>
            <a:endParaRPr lang="en-US" sz="2200" dirty="0"/>
          </a:p>
        </p:txBody>
      </p:sp>
      <p:sp>
        <p:nvSpPr>
          <p:cNvPr id="7" name="Card"/>
          <p:cNvSpPr/>
          <p:nvPr/>
        </p:nvSpPr>
        <p:spPr>
          <a:xfrm>
            <a:off x="5577840" y="1188720"/>
            <a:ext cx="3108960" cy="3383280"/>
          </a:xfrm>
          <a:prstGeom prst="roundRect">
            <a:avLst>
              <a:gd name="adj" fmla="val 2353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715000" y="126187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Syllabus context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5715000" y="1645920"/>
            <a:ext cx="2834640" cy="2852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Compensators and controllers: introduction to compensators, lag, lead and lag-lead compensators, P, PI and PID controllers.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Lag compensator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U5</a:t>
            </a:r>
            <a:endParaRPr lang="en-US" sz="1600" dirty="0"/>
          </a:p>
        </p:txBody>
      </p:sp>
      <p:sp>
        <p:nvSpPr>
          <p:cNvPr id="6" name="Formula"/>
          <p:cNvSpPr/>
          <p:nvPr/>
        </p:nvSpPr>
        <p:spPr>
          <a:xfrm>
            <a:off x="457200" y="1188720"/>
            <a:ext cx="2621280" cy="822960"/>
          </a:xfrm>
          <a:prstGeom prst="roundRect">
            <a:avLst>
              <a:gd name="adj" fmla="val 8889"/>
            </a:avLst>
          </a:prstGeom>
          <a:solidFill>
            <a:schemeClr val="tx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457200" y="1188720"/>
            <a:ext cx="2621280" cy="822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Gc(s) = (1 + Ts)/(1 + βTs), β &gt; 1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2029968"/>
            <a:ext cx="262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chemeClr val="accent4"/>
                </a:solidFill>
              </a:rPr>
              <a:t>zero at −1/T, pole at −1/(βT)</a:t>
            </a:r>
            <a:endParaRPr lang="en-US" sz="1300" dirty="0"/>
          </a:p>
        </p:txBody>
      </p:sp>
      <p:sp>
        <p:nvSpPr>
          <p:cNvPr id="9" name="Formula"/>
          <p:cNvSpPr/>
          <p:nvPr/>
        </p:nvSpPr>
        <p:spPr>
          <a:xfrm>
            <a:off x="3261360" y="1188720"/>
            <a:ext cx="2621280" cy="822960"/>
          </a:xfrm>
          <a:prstGeom prst="roundRect">
            <a:avLst>
              <a:gd name="adj" fmla="val 8889"/>
            </a:avLst>
          </a:prstGeom>
          <a:solidFill>
            <a:schemeClr val="tx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3261360" y="1188720"/>
            <a:ext cx="2621280" cy="822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φm = −sin⁻¹[(β − 1)/(β + 1)]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3261360" y="2029968"/>
            <a:ext cx="262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chemeClr val="accent4"/>
                </a:solidFill>
              </a:rPr>
              <a:t>max phase lag</a:t>
            </a:r>
            <a:endParaRPr lang="en-US" sz="1300" dirty="0"/>
          </a:p>
        </p:txBody>
      </p:sp>
      <p:sp>
        <p:nvSpPr>
          <p:cNvPr id="12" name="Formula"/>
          <p:cNvSpPr/>
          <p:nvPr/>
        </p:nvSpPr>
        <p:spPr>
          <a:xfrm>
            <a:off x="6065520" y="1188720"/>
            <a:ext cx="2621280" cy="822960"/>
          </a:xfrm>
          <a:prstGeom prst="roundRect">
            <a:avLst>
              <a:gd name="adj" fmla="val 8889"/>
            </a:avLst>
          </a:prstGeom>
          <a:solidFill>
            <a:schemeClr val="tx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065520" y="1188720"/>
            <a:ext cx="2621280" cy="822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ωm = 1/(T√β)</a:t>
            </a:r>
            <a:endParaRPr lang="en-US" sz="2200" dirty="0"/>
          </a:p>
        </p:txBody>
      </p:sp>
      <p:sp>
        <p:nvSpPr>
          <p:cNvPr id="14" name="Text 11"/>
          <p:cNvSpPr txBox="1"/>
          <p:nvPr/>
        </p:nvSpPr>
        <p:spPr>
          <a:xfrm>
            <a:off x="6065520" y="2029968"/>
            <a:ext cx="262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chemeClr val="accent4"/>
                </a:solidFill>
              </a:rPr>
              <a:t>frequency of max lag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457200" y="2560320"/>
            <a:ext cx="82296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Pole is closer to the origin than the zero.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DC gain = 1; high-frequency gain = 1/β: attenuation 20 log β dB.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Bode plot of a lag network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U5</a:t>
            </a:r>
            <a:endParaRPr lang="en-US" sz="1600" dirty="0"/>
          </a:p>
        </p:txBody>
      </p:sp>
      <p:pic>
        <p:nvPicPr>
          <p:cNvPr id="6" name="Image 0" descr="bode_lag figu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2889" y="1188720"/>
            <a:ext cx="4349262" cy="32004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760720" y="1188720"/>
            <a:ext cx="292608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Gain falls by 20 log β dB between 1/(βT) and 1/T.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Phase negative with a minimum of −55° for β = 10.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Place the corners well below the gain crossover so the phase lag there is small.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Effect of lag compensation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U5</a:t>
            </a:r>
            <a:endParaRPr lang="en-US" sz="1600" dirty="0"/>
          </a:p>
        </p:txBody>
      </p:sp>
      <p:sp>
        <p:nvSpPr>
          <p:cNvPr id="6" name="Card"/>
          <p:cNvSpPr/>
          <p:nvPr/>
        </p:nvSpPr>
        <p:spPr>
          <a:xfrm>
            <a:off x="457200" y="1188720"/>
            <a:ext cx="2621280" cy="3429000"/>
          </a:xfrm>
          <a:prstGeom prst="roundRect">
            <a:avLst>
              <a:gd name="adj" fmla="val 2791"/>
            </a:avLst>
          </a:prstGeom>
          <a:solidFill>
            <a:schemeClr val="bg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594360" y="1261872"/>
            <a:ext cx="234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Steady-state accuracy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1645920"/>
            <a:ext cx="2346960" cy="2898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Allows higher low-frequency gain (Kv up by up to β) without changing high-frequency behaviour.</a:t>
            </a:r>
            <a:endParaRPr lang="en-US" sz="2000" dirty="0"/>
          </a:p>
        </p:txBody>
      </p:sp>
      <p:sp>
        <p:nvSpPr>
          <p:cNvPr id="9" name="Card"/>
          <p:cNvSpPr/>
          <p:nvPr/>
        </p:nvSpPr>
        <p:spPr>
          <a:xfrm>
            <a:off x="3261360" y="1188720"/>
            <a:ext cx="2621280" cy="3429000"/>
          </a:xfrm>
          <a:prstGeom prst="roundRect">
            <a:avLst>
              <a:gd name="adj" fmla="val 2791"/>
            </a:avLst>
          </a:prstGeom>
          <a:solidFill>
            <a:schemeClr val="bg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3398520" y="1261872"/>
            <a:ext cx="234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Stability / transient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3398520" y="1645920"/>
            <a:ext cx="2346960" cy="2898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Reduces gain at crossover to restore PM; lowers bandwidth so response becomes slower.</a:t>
            </a:r>
            <a:endParaRPr lang="en-US" sz="2000" dirty="0"/>
          </a:p>
        </p:txBody>
      </p:sp>
      <p:sp>
        <p:nvSpPr>
          <p:cNvPr id="12" name="Card"/>
          <p:cNvSpPr/>
          <p:nvPr/>
        </p:nvSpPr>
        <p:spPr>
          <a:xfrm>
            <a:off x="6065520" y="1188720"/>
            <a:ext cx="2621280" cy="3429000"/>
          </a:xfrm>
          <a:prstGeom prst="roundRect">
            <a:avLst>
              <a:gd name="adj" fmla="val 2791"/>
            </a:avLst>
          </a:prstGeom>
          <a:solidFill>
            <a:schemeClr val="bg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202680" y="1261872"/>
            <a:ext cx="234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Cautions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6202680" y="1645920"/>
            <a:ext cx="2346960" cy="2898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Noise attenuation improves; the extra pole near the origin gives a slow tail in the step response.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Bode design procedure (lag)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U5</a:t>
            </a:r>
            <a:endParaRPr lang="en-US" sz="1600" dirty="0"/>
          </a:p>
        </p:txBody>
      </p:sp>
      <p:sp>
        <p:nvSpPr>
          <p:cNvPr id="6" name="Flow step"/>
          <p:cNvSpPr/>
          <p:nvPr/>
        </p:nvSpPr>
        <p:spPr>
          <a:xfrm>
            <a:off x="457200" y="1234440"/>
            <a:ext cx="1536192" cy="228600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/>
        </p:spPr>
      </p:sp>
      <p:sp>
        <p:nvSpPr>
          <p:cNvPr id="7" name="Step number"/>
          <p:cNvSpPr/>
          <p:nvPr/>
        </p:nvSpPr>
        <p:spPr>
          <a:xfrm>
            <a:off x="566928" y="1344168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66928" y="1344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566928" y="1783080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Set K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566928" y="2084832"/>
            <a:ext cx="1316736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Choose K to meet the steady-state error (Kv).</a:t>
            </a:r>
            <a:endParaRPr lang="en-US" sz="1500" dirty="0"/>
          </a:p>
        </p:txBody>
      </p:sp>
      <p:sp>
        <p:nvSpPr>
          <p:cNvPr id="11" name="Flow step"/>
          <p:cNvSpPr/>
          <p:nvPr/>
        </p:nvSpPr>
        <p:spPr>
          <a:xfrm>
            <a:off x="2130552" y="1234440"/>
            <a:ext cx="1536192" cy="228600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/>
        </p:spPr>
      </p:sp>
      <p:sp>
        <p:nvSpPr>
          <p:cNvPr id="12" name="Step number"/>
          <p:cNvSpPr/>
          <p:nvPr/>
        </p:nvSpPr>
        <p:spPr>
          <a:xfrm>
            <a:off x="2240280" y="1344168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2240280" y="1344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2240280" y="1783080"/>
            <a:ext cx="131673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Find new crossover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2240280" y="2313432"/>
            <a:ext cx="1316736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Find ω where phase = −180° + PM + 5°–12°.</a:t>
            </a:r>
            <a:endParaRPr lang="en-US" sz="1500" dirty="0"/>
          </a:p>
        </p:txBody>
      </p:sp>
      <p:sp>
        <p:nvSpPr>
          <p:cNvPr id="16" name="Flow step"/>
          <p:cNvSpPr/>
          <p:nvPr/>
        </p:nvSpPr>
        <p:spPr>
          <a:xfrm>
            <a:off x="3803904" y="1234440"/>
            <a:ext cx="1536192" cy="228600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/>
        </p:spPr>
      </p:sp>
      <p:sp>
        <p:nvSpPr>
          <p:cNvPr id="17" name="Step number"/>
          <p:cNvSpPr/>
          <p:nvPr/>
        </p:nvSpPr>
        <p:spPr>
          <a:xfrm>
            <a:off x="3913632" y="1344168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3913632" y="1344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3913632" y="1783080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Choose β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3913632" y="2084832"/>
            <a:ext cx="1316736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β = |G(jω)| at that frequency (attenuation needed).</a:t>
            </a:r>
            <a:endParaRPr lang="en-US" sz="1500" dirty="0"/>
          </a:p>
        </p:txBody>
      </p:sp>
      <p:sp>
        <p:nvSpPr>
          <p:cNvPr id="21" name="Flow step"/>
          <p:cNvSpPr/>
          <p:nvPr/>
        </p:nvSpPr>
        <p:spPr>
          <a:xfrm>
            <a:off x="5477256" y="1234440"/>
            <a:ext cx="1536192" cy="228600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/>
        </p:spPr>
      </p:sp>
      <p:sp>
        <p:nvSpPr>
          <p:cNvPr id="22" name="Step number"/>
          <p:cNvSpPr/>
          <p:nvPr/>
        </p:nvSpPr>
        <p:spPr>
          <a:xfrm>
            <a:off x="5586984" y="1344168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5586984" y="1344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5586984" y="1783080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Choose T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5586984" y="2084832"/>
            <a:ext cx="1316736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Zero at 1/T = ωnew/10 (a decade below).</a:t>
            </a:r>
            <a:endParaRPr lang="en-US" sz="1500" dirty="0"/>
          </a:p>
        </p:txBody>
      </p:sp>
      <p:sp>
        <p:nvSpPr>
          <p:cNvPr id="26" name="Flow step"/>
          <p:cNvSpPr/>
          <p:nvPr/>
        </p:nvSpPr>
        <p:spPr>
          <a:xfrm>
            <a:off x="7150608" y="1234440"/>
            <a:ext cx="1536192" cy="228600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/>
        </p:spPr>
      </p:sp>
      <p:sp>
        <p:nvSpPr>
          <p:cNvPr id="27" name="Step number"/>
          <p:cNvSpPr/>
          <p:nvPr/>
        </p:nvSpPr>
        <p:spPr>
          <a:xfrm>
            <a:off x="7260336" y="1344168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7260336" y="1344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7260336" y="1783080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Check</a:t>
            </a:r>
            <a:endParaRPr lang="en-US" sz="1500" dirty="0"/>
          </a:p>
        </p:txBody>
      </p:sp>
      <p:sp>
        <p:nvSpPr>
          <p:cNvPr id="30" name="Text 27"/>
          <p:cNvSpPr txBox="1"/>
          <p:nvPr/>
        </p:nvSpPr>
        <p:spPr>
          <a:xfrm>
            <a:off x="7260336" y="2084832"/>
            <a:ext cx="1316736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Verify PM, GM and steady-state error.</a:t>
            </a:r>
            <a:endParaRPr lang="en-US" sz="1500" dirty="0"/>
          </a:p>
        </p:txBody>
      </p:sp>
      <p:sp>
        <p:nvSpPr>
          <p:cNvPr id="31" name="Highlight strip"/>
          <p:cNvSpPr/>
          <p:nvPr/>
        </p:nvSpPr>
        <p:spPr>
          <a:xfrm>
            <a:off x="457200" y="3749040"/>
            <a:ext cx="8229600" cy="822960"/>
          </a:xfrm>
          <a:prstGeom prst="roundRect">
            <a:avLst>
              <a:gd name="adj" fmla="val 8889"/>
            </a:avLst>
          </a:prstGeom>
          <a:solidFill>
            <a:schemeClr val="tx2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640080" y="37490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Compensator: Gc(s) = (1 + Ts)/(1 + βTs)  with  β = |G(jωnew)|  and  1/T = ωnew/10.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Numerical: lag design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U5</a:t>
            </a:r>
            <a:endParaRPr lang="en-US" sz="1600" dirty="0"/>
          </a:p>
        </p:txBody>
      </p:sp>
      <p:sp>
        <p:nvSpPr>
          <p:cNvPr id="6" name="Problem"/>
          <p:cNvSpPr/>
          <p:nvPr/>
        </p:nvSpPr>
        <p:spPr>
          <a:xfrm>
            <a:off x="457200" y="1143000"/>
            <a:ext cx="8229600" cy="868680"/>
          </a:xfrm>
          <a:prstGeom prst="roundRect">
            <a:avLst>
              <a:gd name="adj" fmla="val 8421"/>
            </a:avLst>
          </a:prstGeom>
          <a:solidFill>
            <a:schemeClr val="tx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40080" y="114300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Problem  </a:t>
            </a:r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G(s) = K/[s(1 + s)(1 + 0.5s)], Kv = 5 required, PM ≥ 40°. Design a lag compensator.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214884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K = Kv = 5.  Uncompensated: ωgc ≈ 1.8 rad/s, PM ≈ −13° (unstable)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Need phase ≈ −180° + 40° + 5° = −135° at the new crossover ⇒ ω ≈ 0.56 rad/s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|G(j0.56)| = 7.5 ⇒ β = 7.5;  1/T = 0.056 ⇒ T = 17.9 s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Gc = (1 + 17.9s)/(1 + 134s);  phase of Gc at 0.56 ≈ −4.9°</a:t>
            </a:r>
            <a:endParaRPr lang="en-US" sz="2000" dirty="0"/>
          </a:p>
        </p:txBody>
      </p:sp>
      <p:sp>
        <p:nvSpPr>
          <p:cNvPr id="9" name="Answer"/>
          <p:cNvSpPr/>
          <p:nvPr/>
        </p:nvSpPr>
        <p:spPr>
          <a:xfrm>
            <a:off x="457200" y="4069080"/>
            <a:ext cx="8229600" cy="54864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40080" y="40690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Answer:  Compensated PM ≈ 40°, Kv = 5 retained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Key takeaways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U5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188720"/>
            <a:ext cx="82296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Lag: Gc = (1 + Ts)/(1 + βTs), β &gt; 1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Improves steady-state accuracy; reduces bandwidth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Place the corner a decade below the new gain crossover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β = attenuation required at the new crossover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Practice questions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U5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188720"/>
            <a:ext cx="82296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2"/>
                </a:solidFill>
              </a:rPr>
              <a:t>Q1.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Draw the pole-zero plot and Bode plot of a lag compensator.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2"/>
                </a:solidFill>
              </a:rPr>
              <a:t>Q2.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State the effects of a lag compensator on time response.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2"/>
                </a:solidFill>
              </a:rPr>
              <a:t>Q3.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Find φm and ωm for T = 1, β = 10.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2"/>
                </a:solidFill>
              </a:rPr>
              <a:t>Q4.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Outline the Bode design procedure for a lag compensator.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ntrolSystems">
  <a:themeElements>
    <a:clrScheme name="ControlSystems">
      <a:dk1>
        <a:srgbClr val="0E2B33"/>
      </a:dk1>
      <a:lt1>
        <a:srgbClr val="FFFFFF"/>
      </a:lt1>
      <a:dk2>
        <a:srgbClr val="1B4D57"/>
      </a:dk2>
      <a:lt2>
        <a:srgbClr val="EAF3F3"/>
      </a:lt2>
      <a:accent1>
        <a:srgbClr val="F2A93B"/>
      </a:accent1>
      <a:accent2>
        <a:srgbClr val="1F7A8C"/>
      </a:accent2>
      <a:accent3>
        <a:srgbClr val="C93C20"/>
      </a:accent3>
      <a:accent4>
        <a:srgbClr val="58707A"/>
      </a:accent4>
      <a:accent5>
        <a:srgbClr val="3E7CB1"/>
      </a:accent5>
      <a:accent6>
        <a:srgbClr val="7A4FD6"/>
      </a:accent6>
      <a:hlink>
        <a:srgbClr val="3E7CB1"/>
      </a:hlink>
      <a:folHlink>
        <a:srgbClr val="58707A"/>
      </a:folHlink>
    </a:clrScheme>
    <a:fontScheme name="ControlSystem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Dept. of EEE, NMAMIT, Nitte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Lag Compensator</dc:title>
  <dc:subject>PptxGenJS Presentation</dc:subject>
  <dc:creator>Dr. Mitesh Astik</dc:creator>
  <cp:lastModifiedBy>Dr. Mitesh Astik</cp:lastModifiedBy>
  <cp:revision>1</cp:revision>
  <dcterms:created xsi:type="dcterms:W3CDTF">2026-10-29T10:05:24Z</dcterms:created>
  <dcterms:modified xsi:type="dcterms:W3CDTF">2026-10-29T10:05:24Z</dcterms:modified>
</cp:coreProperties>
</file>