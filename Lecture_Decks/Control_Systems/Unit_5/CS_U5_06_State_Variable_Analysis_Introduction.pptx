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5 · Introduction to State-Variable Analysis" id="{819c44ae-98d7-1b53-f358-3fdf1a05748b}">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"Introduction to State-Variable Analysis", part of Unit 5 (Compensators, Controllers and State-Space Analysis) of Control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Define state, state variables and state space. Write the state and output equations. Draw the state-space block diagram. List advantages of the state-space approach over the transfer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summarises all the past history needed to predict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equation is first order vector differential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diagram shows the vector flow of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space is the basis of modern control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advantages explain why state space is widely used in advanced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State: minimum set of variables describing the system's condition. ẋ = Ax + Bu,  y = Cx + Du. G(s) = C(sI − A)⁻¹B + D; poles = eigenvalues of A. Advantages: MIMO, initial conditions, nonlinear/time-varying, computer friendly.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Define state, state variable and state vector. Write the standard state and output equations. List four advantages of state space over transfer function. How are poles related to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2B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Control Systems · Unit 5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5  ·  8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000" b="1" dirty="0">
                <a:solidFill>
                  <a:schemeClr val="bg1"/>
                </a:solidFill>
                <a:latin typeface="Cambria" pitchFamily="34" charset="0"/>
                <a:ea typeface="Cambria" pitchFamily="34" charset="-122"/>
                <a:cs typeface="Cambria" pitchFamily="34" charset="-120"/>
              </a:rPr>
              <a:t>Introduction to State-Variable Analysis</a:t>
            </a:r>
            <a:endParaRPr lang="en-US" sz="30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3E6E9"/>
                </a:solidFill>
              </a:rPr>
              <a:t>Compensators, Controllers and State-Space Analysis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Control Systems  (22EEG53)</a:t>
            </a:r>
            <a:endParaRPr lang="en-US" sz="1400" dirty="0"/>
          </a:p>
          <a:p>
            <a:pPr indent="0" marL="0">
              <a:buNone/>
            </a:pPr>
            <a:r>
              <a:rPr lang="en-US" sz="1400" dirty="0">
                <a:solidFill>
                  <a:srgbClr val="D3E6E9"/>
                </a:solidFill>
              </a:rPr>
              <a:t>Dr. Mitesh Astik · Dept. of Electrical and Electronics Engineering</a:t>
            </a:r>
            <a:endParaRPr lang="en-US" sz="1400" dirty="0"/>
          </a:p>
          <a:p>
            <a:pPr indent="0" marL="0">
              <a:buNone/>
            </a:pPr>
            <a:r>
              <a:rPr lang="en-US" sz="1400" dirty="0">
                <a:solidFill>
                  <a:srgbClr val="D3E6E9"/>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Define state, state variables and state space</a:t>
            </a:r>
            <a:endParaRPr lang="en-US" sz="2200" dirty="0"/>
          </a:p>
          <a:p>
            <a:pPr marL="342900" indent="-342900">
              <a:spcAft>
                <a:spcPts val="600"/>
              </a:spcAft>
              <a:buSzPct val="100000"/>
              <a:buChar char="•"/>
            </a:pPr>
            <a:r>
              <a:rPr lang="en-US" sz="2200" dirty="0">
                <a:solidFill>
                  <a:schemeClr val="tx1"/>
                </a:solidFill>
              </a:rPr>
              <a:t>Write the state and output equations</a:t>
            </a:r>
            <a:endParaRPr lang="en-US" sz="2200" dirty="0"/>
          </a:p>
          <a:p>
            <a:pPr marL="342900" indent="-342900">
              <a:spcAft>
                <a:spcPts val="600"/>
              </a:spcAft>
              <a:buSzPct val="100000"/>
              <a:buChar char="•"/>
            </a:pPr>
            <a:r>
              <a:rPr lang="en-US" sz="2200" dirty="0">
                <a:solidFill>
                  <a:schemeClr val="tx1"/>
                </a:solidFill>
              </a:rPr>
              <a:t>Draw the state-space block diagram</a:t>
            </a:r>
            <a:endParaRPr lang="en-US" sz="2200" dirty="0"/>
          </a:p>
          <a:p>
            <a:pPr marL="342900" indent="-342900">
              <a:spcAft>
                <a:spcPts val="600"/>
              </a:spcAft>
              <a:buSzPct val="100000"/>
              <a:buChar char="•"/>
            </a:pPr>
            <a:r>
              <a:rPr lang="en-US" sz="2200" dirty="0">
                <a:solidFill>
                  <a:schemeClr val="tx1"/>
                </a:solidFill>
              </a:rPr>
              <a:t>List advantages of the state-space approach over the transfer function</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Introduction to state variable analysis: modelling of physical systems using the state-space approach, advantages of state space over the transfer function approach, state-space model using the physical variable approach for SISO systems.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Basic definitions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Card"/>
          <p:cNvSpPr/>
          <p:nvPr/>
        </p:nvSpPr>
        <p:spPr>
          <a:xfrm>
            <a:off x="457200" y="1188720"/>
            <a:ext cx="2621280" cy="3429000"/>
          </a:xfrm>
          <a:prstGeom prst="roundRect">
            <a:avLst>
              <a:gd name="adj" fmla="val 2791"/>
            </a:avLst>
          </a:prstGeom>
          <a:solidFill>
            <a:schemeClr val="bg2"/>
          </a:solidFill>
          <a:ln/>
        </p:spPr>
      </p:sp>
      <p:sp>
        <p:nvSpPr>
          <p:cNvPr id="7" name="Text 4"/>
          <p:cNvSpPr txBox="1"/>
          <p:nvPr/>
        </p:nvSpPr>
        <p:spPr>
          <a:xfrm>
            <a:off x="59436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State</a:t>
            </a:r>
            <a:endParaRPr lang="en-US" sz="1600" dirty="0"/>
          </a:p>
        </p:txBody>
      </p:sp>
      <p:sp>
        <p:nvSpPr>
          <p:cNvPr id="8" name="Text 5"/>
          <p:cNvSpPr txBox="1"/>
          <p:nvPr/>
        </p:nvSpPr>
        <p:spPr>
          <a:xfrm>
            <a:off x="59436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The minimum set of variables whose values at t0 plus the input for t ≥ t0 determine the future behaviour.</a:t>
            </a:r>
            <a:endParaRPr lang="en-US" sz="2000" dirty="0"/>
          </a:p>
        </p:txBody>
      </p:sp>
      <p:sp>
        <p:nvSpPr>
          <p:cNvPr id="9" name="Card"/>
          <p:cNvSpPr/>
          <p:nvPr/>
        </p:nvSpPr>
        <p:spPr>
          <a:xfrm>
            <a:off x="3261360" y="1188720"/>
            <a:ext cx="2621280" cy="3429000"/>
          </a:xfrm>
          <a:prstGeom prst="roundRect">
            <a:avLst>
              <a:gd name="adj" fmla="val 2791"/>
            </a:avLst>
          </a:prstGeom>
          <a:solidFill>
            <a:schemeClr val="bg2"/>
          </a:solidFill>
          <a:ln/>
        </p:spPr>
      </p:sp>
      <p:sp>
        <p:nvSpPr>
          <p:cNvPr id="10" name="Text 7"/>
          <p:cNvSpPr txBox="1"/>
          <p:nvPr/>
        </p:nvSpPr>
        <p:spPr>
          <a:xfrm>
            <a:off x="339852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State variables x1…xn</a:t>
            </a:r>
            <a:endParaRPr lang="en-US" sz="1600" dirty="0"/>
          </a:p>
        </p:txBody>
      </p:sp>
      <p:sp>
        <p:nvSpPr>
          <p:cNvPr id="11" name="Text 8"/>
          <p:cNvSpPr txBox="1"/>
          <p:nvPr/>
        </p:nvSpPr>
        <p:spPr>
          <a:xfrm>
            <a:off x="339852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The variables of that set; n = order of the system = number of independent energy storage elements.</a:t>
            </a:r>
            <a:endParaRPr lang="en-US" sz="2000" dirty="0"/>
          </a:p>
        </p:txBody>
      </p:sp>
      <p:sp>
        <p:nvSpPr>
          <p:cNvPr id="12" name="Card"/>
          <p:cNvSpPr/>
          <p:nvPr/>
        </p:nvSpPr>
        <p:spPr>
          <a:xfrm>
            <a:off x="6065520" y="1188720"/>
            <a:ext cx="2621280" cy="3429000"/>
          </a:xfrm>
          <a:prstGeom prst="roundRect">
            <a:avLst>
              <a:gd name="adj" fmla="val 2791"/>
            </a:avLst>
          </a:prstGeom>
          <a:solidFill>
            <a:schemeClr val="bg2"/>
          </a:solidFill>
          <a:ln/>
        </p:spPr>
      </p:sp>
      <p:sp>
        <p:nvSpPr>
          <p:cNvPr id="13" name="Text 10"/>
          <p:cNvSpPr txBox="1"/>
          <p:nvPr/>
        </p:nvSpPr>
        <p:spPr>
          <a:xfrm>
            <a:off x="6202680" y="1261872"/>
            <a:ext cx="2346960" cy="365760"/>
          </a:xfrm>
          <a:prstGeom prst="rect">
            <a:avLst/>
          </a:prstGeom>
          <a:noFill/>
          <a:ln/>
        </p:spPr>
        <p:txBody>
          <a:bodyPr wrap="square" lIns="0" tIns="0" rIns="0" bIns="0" rtlCol="0" anchor="ctr"/>
          <a:lstStyle/>
          <a:p>
            <a:pPr indent="0" marL="0">
              <a:buNone/>
            </a:pPr>
            <a:r>
              <a:rPr lang="en-US" sz="1600" b="1" dirty="0">
                <a:solidFill>
                  <a:schemeClr val="tx2"/>
                </a:solidFill>
              </a:rPr>
              <a:t>State vector and space</a:t>
            </a:r>
            <a:endParaRPr lang="en-US" sz="1600" dirty="0"/>
          </a:p>
        </p:txBody>
      </p:sp>
      <p:sp>
        <p:nvSpPr>
          <p:cNvPr id="14" name="Text 11"/>
          <p:cNvSpPr txBox="1"/>
          <p:nvPr/>
        </p:nvSpPr>
        <p:spPr>
          <a:xfrm>
            <a:off x="6202680" y="1645920"/>
            <a:ext cx="2346960" cy="2898648"/>
          </a:xfrm>
          <a:prstGeom prst="rect">
            <a:avLst/>
          </a:prstGeom>
          <a:noFill/>
          <a:ln/>
        </p:spPr>
        <p:txBody>
          <a:bodyPr wrap="square" lIns="0" tIns="0" rIns="0" bIns="0" rtlCol="0" anchor="t"/>
          <a:lstStyle/>
          <a:p>
            <a:pPr indent="0" marL="0">
              <a:spcAft>
                <a:spcPts val="300"/>
              </a:spcAft>
              <a:buNone/>
            </a:pPr>
            <a:r>
              <a:rPr lang="en-US" sz="2000" dirty="0">
                <a:solidFill>
                  <a:schemeClr val="tx1"/>
                </a:solidFill>
              </a:rPr>
              <a:t>x = [x1 … xn]ᵀ; the n-dimensional space of x is the state space.</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State-space model (LTI, SISO)</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Formula"/>
          <p:cNvSpPr/>
          <p:nvPr/>
        </p:nvSpPr>
        <p:spPr>
          <a:xfrm>
            <a:off x="457200" y="1188720"/>
            <a:ext cx="4023360" cy="822960"/>
          </a:xfrm>
          <a:prstGeom prst="roundRect">
            <a:avLst>
              <a:gd name="adj" fmla="val 8889"/>
            </a:avLst>
          </a:prstGeom>
          <a:solidFill>
            <a:schemeClr val="tx2"/>
          </a:solidFill>
          <a:ln/>
        </p:spPr>
      </p:sp>
      <p:sp>
        <p:nvSpPr>
          <p:cNvPr id="7" name="Text 4"/>
          <p:cNvSpPr txBox="1"/>
          <p:nvPr/>
        </p:nvSpPr>
        <p:spPr>
          <a:xfrm>
            <a:off x="457200" y="1188720"/>
            <a:ext cx="402336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ẋ = A x + B u</a:t>
            </a:r>
            <a:endParaRPr lang="en-US" sz="2400" dirty="0"/>
          </a:p>
        </p:txBody>
      </p:sp>
      <p:sp>
        <p:nvSpPr>
          <p:cNvPr id="8" name="Text 5"/>
          <p:cNvSpPr txBox="1"/>
          <p:nvPr/>
        </p:nvSpPr>
        <p:spPr>
          <a:xfrm>
            <a:off x="45720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state equation</a:t>
            </a:r>
            <a:endParaRPr lang="en-US" sz="1300" dirty="0"/>
          </a:p>
        </p:txBody>
      </p:sp>
      <p:sp>
        <p:nvSpPr>
          <p:cNvPr id="9" name="Formula"/>
          <p:cNvSpPr/>
          <p:nvPr/>
        </p:nvSpPr>
        <p:spPr>
          <a:xfrm>
            <a:off x="4663440" y="1188720"/>
            <a:ext cx="4023360" cy="822960"/>
          </a:xfrm>
          <a:prstGeom prst="roundRect">
            <a:avLst>
              <a:gd name="adj" fmla="val 8889"/>
            </a:avLst>
          </a:prstGeom>
          <a:solidFill>
            <a:schemeClr val="tx2"/>
          </a:solidFill>
          <a:ln/>
        </p:spPr>
      </p:sp>
      <p:sp>
        <p:nvSpPr>
          <p:cNvPr id="10" name="Text 7"/>
          <p:cNvSpPr txBox="1"/>
          <p:nvPr/>
        </p:nvSpPr>
        <p:spPr>
          <a:xfrm>
            <a:off x="4663440" y="1188720"/>
            <a:ext cx="4023360" cy="822960"/>
          </a:xfrm>
          <a:prstGeom prst="rect">
            <a:avLst/>
          </a:prstGeom>
          <a:noFill/>
          <a:ln/>
        </p:spPr>
        <p:txBody>
          <a:bodyPr wrap="square" lIns="762" tIns="762" rIns="762" bIns="762" rtlCol="0" anchor="ctr"/>
          <a:lstStyle/>
          <a:p>
            <a:pPr algn="ctr" indent="0" marL="0">
              <a:buNone/>
            </a:pPr>
            <a:r>
              <a:rPr lang="en-US" sz="2400" b="1" dirty="0">
                <a:solidFill>
                  <a:schemeClr val="bg1"/>
                </a:solidFill>
                <a:latin typeface="Cambria" pitchFamily="34" charset="0"/>
                <a:ea typeface="Cambria" pitchFamily="34" charset="-122"/>
                <a:cs typeface="Cambria" pitchFamily="34" charset="-120"/>
              </a:rPr>
              <a:t>y = C x + D u</a:t>
            </a:r>
            <a:endParaRPr lang="en-US" sz="2400" dirty="0"/>
          </a:p>
        </p:txBody>
      </p:sp>
      <p:sp>
        <p:nvSpPr>
          <p:cNvPr id="11" name="Text 8"/>
          <p:cNvSpPr txBox="1"/>
          <p:nvPr/>
        </p:nvSpPr>
        <p:spPr>
          <a:xfrm>
            <a:off x="466344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output equation</a:t>
            </a:r>
            <a:endParaRPr lang="en-US" sz="1300" dirty="0"/>
          </a:p>
        </p:txBody>
      </p:sp>
      <p:sp>
        <p:nvSpPr>
          <p:cNvPr id="12" name="Text 9"/>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x: n×1 state; u: input; y: output.</a:t>
            </a:r>
            <a:endParaRPr lang="en-US" sz="2200" dirty="0"/>
          </a:p>
          <a:p>
            <a:pPr marL="342900" indent="-342900">
              <a:spcAft>
                <a:spcPts val="600"/>
              </a:spcAft>
              <a:buSzPct val="100000"/>
              <a:buChar char="•"/>
            </a:pPr>
            <a:r>
              <a:rPr lang="en-US" sz="2200" dirty="0">
                <a:solidFill>
                  <a:schemeClr val="tx1"/>
                </a:solidFill>
              </a:rPr>
              <a:t>A: n×n system matrix; B: n×1 input matrix; C: 1×n output matrix; D: direct transmission (often 0).</a:t>
            </a:r>
            <a:endParaRPr lang="en-US" sz="2200" dirty="0"/>
          </a:p>
          <a:p>
            <a:pPr marL="342900" indent="-342900">
              <a:spcAft>
                <a:spcPts val="600"/>
              </a:spcAft>
              <a:buSzPct val="100000"/>
              <a:buChar char="•"/>
            </a:pPr>
            <a:r>
              <a:rPr lang="en-US" sz="2200" dirty="0">
                <a:solidFill>
                  <a:schemeClr val="tx1"/>
                </a:solidFill>
              </a:rPr>
              <a:t>Transfer function: G(s) = C (sI − A)⁻¹ B + D; poles = eigenvalues of A (det(sI − A) = 0).</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State-space block diagram</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pic>
        <p:nvPicPr>
          <p:cNvPr id="6" name="Image 0" descr="ss_block figure">    </p:cNvPr>
          <p:cNvPicPr>
            <a:picLocks noChangeAspect="1"/>
          </p:cNvPicPr>
          <p:nvPr/>
        </p:nvPicPr>
        <p:blipFill>
          <a:blip r:embed="rId1"/>
          <a:stretch>
            <a:fillRect/>
          </a:stretch>
        </p:blipFill>
        <p:spPr>
          <a:xfrm>
            <a:off x="1687059" y="1143000"/>
            <a:ext cx="5769881" cy="2148840"/>
          </a:xfrm>
          <a:prstGeom prst="rect">
            <a:avLst/>
          </a:prstGeom>
        </p:spPr>
      </p:pic>
      <p:sp>
        <p:nvSpPr>
          <p:cNvPr id="7" name="Text 3"/>
          <p:cNvSpPr txBox="1"/>
          <p:nvPr/>
        </p:nvSpPr>
        <p:spPr>
          <a:xfrm>
            <a:off x="45720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Integrators hold the states.</a:t>
            </a:r>
            <a:endParaRPr lang="en-US" sz="1800" dirty="0"/>
          </a:p>
          <a:p>
            <a:pPr marL="342900" indent="-342900">
              <a:spcAft>
                <a:spcPts val="600"/>
              </a:spcAft>
              <a:buSzPct val="100000"/>
              <a:buChar char="•"/>
            </a:pPr>
            <a:r>
              <a:rPr lang="en-US" sz="1800" dirty="0">
                <a:solidFill>
                  <a:schemeClr val="tx1"/>
                </a:solidFill>
              </a:rPr>
              <a:t>A: state feedback; B: input matrix; C: output matrix.</a:t>
            </a:r>
            <a:endParaRPr lang="en-US" sz="1800" dirty="0"/>
          </a:p>
        </p:txBody>
      </p:sp>
      <p:sp>
        <p:nvSpPr>
          <p:cNvPr id="8" name="Text 4"/>
          <p:cNvSpPr txBox="1"/>
          <p:nvPr/>
        </p:nvSpPr>
        <p:spPr>
          <a:xfrm>
            <a:off x="4663440" y="3429000"/>
            <a:ext cx="4023360" cy="123444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Each state variable is the output of an integrator.</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State space versus transfer function</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Compare card"/>
          <p:cNvSpPr/>
          <p:nvPr/>
        </p:nvSpPr>
        <p:spPr>
          <a:xfrm>
            <a:off x="457200" y="1188720"/>
            <a:ext cx="4023360" cy="3429000"/>
          </a:xfrm>
          <a:prstGeom prst="roundRect">
            <a:avLst>
              <a:gd name="adj" fmla="val 2133"/>
            </a:avLst>
          </a:prstGeom>
          <a:solidFill>
            <a:schemeClr val="bg2"/>
          </a:solidFill>
          <a:ln/>
        </p:spPr>
      </p:sp>
      <p:sp>
        <p:nvSpPr>
          <p:cNvPr id="7" name="Compare header"/>
          <p:cNvSpPr/>
          <p:nvPr/>
        </p:nvSpPr>
        <p:spPr>
          <a:xfrm>
            <a:off x="457200" y="1188720"/>
            <a:ext cx="4023360" cy="502920"/>
          </a:xfrm>
          <a:prstGeom prst="roundRect">
            <a:avLst>
              <a:gd name="adj" fmla="val 14545"/>
            </a:avLst>
          </a:prstGeom>
          <a:solidFill>
            <a:schemeClr val="tx2"/>
          </a:solidFill>
          <a:ln/>
        </p:spPr>
      </p:sp>
      <p:sp>
        <p:nvSpPr>
          <p:cNvPr id="8" name="Text 5"/>
          <p:cNvSpPr txBox="1"/>
          <p:nvPr/>
        </p:nvSpPr>
        <p:spPr>
          <a:xfrm>
            <a:off x="59436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Transfer function</a:t>
            </a:r>
            <a:endParaRPr lang="en-US" sz="1700" dirty="0"/>
          </a:p>
        </p:txBody>
      </p:sp>
      <p:sp>
        <p:nvSpPr>
          <p:cNvPr id="9" name="Text 6"/>
          <p:cNvSpPr txBox="1"/>
          <p:nvPr/>
        </p:nvSpPr>
        <p:spPr>
          <a:xfrm>
            <a:off x="59436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chemeClr val="tx1"/>
                </a:solidFill>
              </a:rPr>
              <a:t>Input–output only</a:t>
            </a:r>
            <a:endParaRPr lang="en-US" sz="2000" dirty="0"/>
          </a:p>
          <a:p>
            <a:pPr marL="342900" indent="-342900">
              <a:spcAft>
                <a:spcPts val="600"/>
              </a:spcAft>
              <a:buSzPct val="100000"/>
              <a:buChar char="•"/>
            </a:pPr>
            <a:r>
              <a:rPr lang="en-US" sz="2000" dirty="0">
                <a:solidFill>
                  <a:schemeClr val="tx1"/>
                </a:solidFill>
              </a:rPr>
              <a:t>Zero initial conditions</a:t>
            </a:r>
            <a:endParaRPr lang="en-US" sz="2000" dirty="0"/>
          </a:p>
          <a:p>
            <a:pPr marL="342900" indent="-342900">
              <a:spcAft>
                <a:spcPts val="600"/>
              </a:spcAft>
              <a:buSzPct val="100000"/>
              <a:buChar char="•"/>
            </a:pPr>
            <a:r>
              <a:rPr lang="en-US" sz="2000" dirty="0">
                <a:solidFill>
                  <a:schemeClr val="tx1"/>
                </a:solidFill>
              </a:rPr>
              <a:t>Single-input single-output (mainly)</a:t>
            </a:r>
            <a:endParaRPr lang="en-US" sz="2000" dirty="0"/>
          </a:p>
          <a:p>
            <a:pPr marL="342900" indent="-342900">
              <a:spcAft>
                <a:spcPts val="600"/>
              </a:spcAft>
              <a:buSzPct val="100000"/>
              <a:buChar char="•"/>
            </a:pPr>
            <a:r>
              <a:rPr lang="en-US" sz="2000" dirty="0">
                <a:solidFill>
                  <a:schemeClr val="tx1"/>
                </a:solidFill>
              </a:rPr>
              <a:t>Linear time-invariant systems only</a:t>
            </a:r>
            <a:endParaRPr lang="en-US" sz="2000" dirty="0"/>
          </a:p>
        </p:txBody>
      </p:sp>
      <p:sp>
        <p:nvSpPr>
          <p:cNvPr id="10" name="Compare card"/>
          <p:cNvSpPr/>
          <p:nvPr/>
        </p:nvSpPr>
        <p:spPr>
          <a:xfrm>
            <a:off x="4663440" y="1188720"/>
            <a:ext cx="4023360" cy="3429000"/>
          </a:xfrm>
          <a:prstGeom prst="roundRect">
            <a:avLst>
              <a:gd name="adj" fmla="val 2133"/>
            </a:avLst>
          </a:prstGeom>
          <a:solidFill>
            <a:schemeClr val="bg2"/>
          </a:solidFill>
          <a:ln/>
        </p:spPr>
      </p:sp>
      <p:sp>
        <p:nvSpPr>
          <p:cNvPr id="11" name="Compare header"/>
          <p:cNvSpPr/>
          <p:nvPr/>
        </p:nvSpPr>
        <p:spPr>
          <a:xfrm>
            <a:off x="4663440" y="1188720"/>
            <a:ext cx="4023360" cy="502920"/>
          </a:xfrm>
          <a:prstGeom prst="roundRect">
            <a:avLst>
              <a:gd name="adj" fmla="val 14545"/>
            </a:avLst>
          </a:prstGeom>
          <a:solidFill>
            <a:schemeClr val="accent2"/>
          </a:solidFill>
          <a:ln/>
        </p:spPr>
      </p:sp>
      <p:sp>
        <p:nvSpPr>
          <p:cNvPr id="12" name="Text 9"/>
          <p:cNvSpPr txBox="1"/>
          <p:nvPr/>
        </p:nvSpPr>
        <p:spPr>
          <a:xfrm>
            <a:off x="4800600" y="1188720"/>
            <a:ext cx="3749040" cy="502920"/>
          </a:xfrm>
          <a:prstGeom prst="rect">
            <a:avLst/>
          </a:prstGeom>
          <a:noFill/>
          <a:ln/>
        </p:spPr>
        <p:txBody>
          <a:bodyPr wrap="square" lIns="0" tIns="0" rIns="0" bIns="0" rtlCol="0" anchor="ctr"/>
          <a:lstStyle/>
          <a:p>
            <a:pPr indent="0" marL="0">
              <a:buNone/>
            </a:pPr>
            <a:r>
              <a:rPr lang="en-US" sz="1700" b="1" dirty="0">
                <a:solidFill>
                  <a:schemeClr val="bg1"/>
                </a:solidFill>
              </a:rPr>
              <a:t>State space</a:t>
            </a:r>
            <a:endParaRPr lang="en-US" sz="1700" dirty="0"/>
          </a:p>
        </p:txBody>
      </p:sp>
      <p:sp>
        <p:nvSpPr>
          <p:cNvPr id="13" name="Text 10"/>
          <p:cNvSpPr txBox="1"/>
          <p:nvPr/>
        </p:nvSpPr>
        <p:spPr>
          <a:xfrm>
            <a:off x="4800600" y="1828800"/>
            <a:ext cx="3749040" cy="27432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Describes internal states</a:t>
            </a:r>
            <a:endParaRPr lang="en-US" sz="1800" dirty="0"/>
          </a:p>
          <a:p>
            <a:pPr marL="342900" indent="-342900">
              <a:spcAft>
                <a:spcPts val="600"/>
              </a:spcAft>
              <a:buSzPct val="100000"/>
              <a:buChar char="•"/>
            </a:pPr>
            <a:r>
              <a:rPr lang="en-US" sz="1800" dirty="0">
                <a:solidFill>
                  <a:schemeClr val="tx1"/>
                </a:solidFill>
              </a:rPr>
              <a:t>Includes initial conditions</a:t>
            </a:r>
            <a:endParaRPr lang="en-US" sz="1800" dirty="0"/>
          </a:p>
          <a:p>
            <a:pPr marL="342900" indent="-342900">
              <a:spcAft>
                <a:spcPts val="600"/>
              </a:spcAft>
              <a:buSzPct val="100000"/>
              <a:buChar char="•"/>
            </a:pPr>
            <a:r>
              <a:rPr lang="en-US" sz="1800" dirty="0">
                <a:solidFill>
                  <a:schemeClr val="tx1"/>
                </a:solidFill>
              </a:rPr>
              <a:t>Multi-input multi-output easily</a:t>
            </a:r>
            <a:endParaRPr lang="en-US" sz="1800" dirty="0"/>
          </a:p>
          <a:p>
            <a:pPr marL="342900" indent="-342900">
              <a:spcAft>
                <a:spcPts val="600"/>
              </a:spcAft>
              <a:buSzPct val="100000"/>
              <a:buChar char="•"/>
            </a:pPr>
            <a:r>
              <a:rPr lang="en-US" sz="1800" dirty="0">
                <a:solidFill>
                  <a:schemeClr val="tx1"/>
                </a:solidFill>
              </a:rPr>
              <a:t>Time-varying and non-linear systems</a:t>
            </a:r>
            <a:endParaRPr lang="en-US" sz="1800" dirty="0"/>
          </a:p>
          <a:p>
            <a:pPr marL="342900" indent="-342900">
              <a:spcAft>
                <a:spcPts val="600"/>
              </a:spcAft>
              <a:buSzPct val="100000"/>
              <a:buChar char="•"/>
            </a:pPr>
            <a:r>
              <a:rPr lang="en-US" sz="1800" dirty="0">
                <a:solidFill>
                  <a:schemeClr val="tx1"/>
                </a:solidFill>
              </a:rPr>
              <a:t>Suited to computers and modern/optimal control</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Advantages of state-space analysis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Handles multiple inputs and outputs naturally (MIMO).</a:t>
            </a:r>
            <a:endParaRPr lang="en-US" sz="2200" dirty="0"/>
          </a:p>
          <a:p>
            <a:pPr marL="342900" indent="-342900">
              <a:spcAft>
                <a:spcPts val="600"/>
              </a:spcAft>
              <a:buSzPct val="100000"/>
              <a:buChar char="•"/>
            </a:pPr>
            <a:r>
              <a:rPr lang="en-US" sz="2200" dirty="0">
                <a:solidFill>
                  <a:schemeClr val="tx1"/>
                </a:solidFill>
              </a:rPr>
              <a:t>Includes initial conditions and internal behaviour.</a:t>
            </a:r>
            <a:endParaRPr lang="en-US" sz="2200" dirty="0"/>
          </a:p>
          <a:p>
            <a:pPr marL="342900" indent="-342900">
              <a:spcAft>
                <a:spcPts val="600"/>
              </a:spcAft>
              <a:buSzPct val="100000"/>
              <a:buChar char="•"/>
            </a:pPr>
            <a:r>
              <a:rPr lang="en-US" sz="2200" dirty="0">
                <a:solidFill>
                  <a:schemeClr val="tx1"/>
                </a:solidFill>
              </a:rPr>
              <a:t>Applicable to non-linear and time-varying systems (after linearisation).</a:t>
            </a:r>
            <a:endParaRPr lang="en-US" sz="2200" dirty="0"/>
          </a:p>
          <a:p>
            <a:pPr marL="342900" indent="-342900">
              <a:spcAft>
                <a:spcPts val="600"/>
              </a:spcAft>
              <a:buSzPct val="100000"/>
              <a:buChar char="•"/>
            </a:pPr>
            <a:r>
              <a:rPr lang="en-US" sz="2200" dirty="0">
                <a:solidFill>
                  <a:schemeClr val="tx1"/>
                </a:solidFill>
              </a:rPr>
              <a:t>Convenient for computer simulation (MATLAB ss, lsim).</a:t>
            </a:r>
            <a:endParaRPr lang="en-US" sz="2200" dirty="0"/>
          </a:p>
          <a:p>
            <a:pPr marL="342900" indent="-342900">
              <a:spcAft>
                <a:spcPts val="600"/>
              </a:spcAft>
              <a:buSzPct val="100000"/>
              <a:buChar char="•"/>
            </a:pPr>
            <a:r>
              <a:rPr lang="en-US" sz="2200" dirty="0">
                <a:solidFill>
                  <a:schemeClr val="tx1"/>
                </a:solidFill>
              </a:rPr>
              <a:t>Foundation for state feedback, observers and optimal control.</a:t>
            </a:r>
            <a:endParaRPr lang="en-US" sz="2200" dirty="0"/>
          </a:p>
          <a:p>
            <a:pPr marL="342900" indent="-342900">
              <a:spcAft>
                <a:spcPts val="600"/>
              </a:spcAft>
              <a:buSzPct val="100000"/>
              <a:buChar char="•"/>
            </a:pPr>
            <a:r>
              <a:rPr lang="en-US" sz="2200" dirty="0">
                <a:solidFill>
                  <a:schemeClr val="tx1"/>
                </a:solidFill>
              </a:rPr>
              <a:t>Controllability and observability tests possible.</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State: minimum set of variables describing the system's condition</a:t>
            </a:r>
            <a:endParaRPr lang="en-US" sz="2200" dirty="0"/>
          </a:p>
          <a:p>
            <a:pPr marL="342900" indent="-342900">
              <a:spcAft>
                <a:spcPts val="600"/>
              </a:spcAft>
              <a:buSzPct val="100000"/>
              <a:buChar char="•"/>
            </a:pPr>
            <a:r>
              <a:rPr lang="en-US" sz="2200" dirty="0">
                <a:solidFill>
                  <a:schemeClr val="tx1"/>
                </a:solidFill>
              </a:rPr>
              <a:t>ẋ = Ax + Bu,  y = Cx + Du</a:t>
            </a:r>
            <a:endParaRPr lang="en-US" sz="2200" dirty="0"/>
          </a:p>
          <a:p>
            <a:pPr marL="342900" indent="-342900">
              <a:spcAft>
                <a:spcPts val="600"/>
              </a:spcAft>
              <a:buSzPct val="100000"/>
              <a:buChar char="•"/>
            </a:pPr>
            <a:r>
              <a:rPr lang="en-US" sz="2200" dirty="0">
                <a:solidFill>
                  <a:schemeClr val="tx1"/>
                </a:solidFill>
              </a:rPr>
              <a:t>G(s) = C(sI − A)⁻¹B + D; poles = eigenvalues of A</a:t>
            </a:r>
            <a:endParaRPr lang="en-US" sz="2200" dirty="0"/>
          </a:p>
          <a:p>
            <a:pPr marL="342900" indent="-342900">
              <a:spcAft>
                <a:spcPts val="600"/>
              </a:spcAft>
              <a:buSzPct val="100000"/>
              <a:buChar char="•"/>
            </a:pPr>
            <a:r>
              <a:rPr lang="en-US" sz="2200" dirty="0">
                <a:solidFill>
                  <a:schemeClr val="tx1"/>
                </a:solidFill>
              </a:rPr>
              <a:t>Advantages: MIMO, initial conditions, nonlinear/time-varying, computer friendly</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U5</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Define state, state variable and state vector.</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Write the standard state and output equations.</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List four advantages of state space over transfer function.</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How are poles related to A?</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ControlSystems">
  <a:themeElements>
    <a:clrScheme name="ControlSystems">
      <a:dk1>
        <a:srgbClr val="0E2B33"/>
      </a:dk1>
      <a:lt1>
        <a:srgbClr val="FFFFFF"/>
      </a:lt1>
      <a:dk2>
        <a:srgbClr val="1B4D57"/>
      </a:dk2>
      <a:lt2>
        <a:srgbClr val="EAF3F3"/>
      </a:lt2>
      <a:accent1>
        <a:srgbClr val="F2A93B"/>
      </a:accent1>
      <a:accent2>
        <a:srgbClr val="1F7A8C"/>
      </a:accent2>
      <a:accent3>
        <a:srgbClr val="C93C20"/>
      </a:accent3>
      <a:accent4>
        <a:srgbClr val="58707A"/>
      </a:accent4>
      <a:accent5>
        <a:srgbClr val="3E7CB1"/>
      </a:accent5>
      <a:accent6>
        <a:srgbClr val="7A4FD6"/>
      </a:accent6>
      <a:hlink>
        <a:srgbClr val="3E7CB1"/>
      </a:hlink>
      <a:folHlink>
        <a:srgbClr val="58707A"/>
      </a:folHlink>
    </a:clrScheme>
    <a:fontScheme name="Control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State-Variable Analysis</dc:title>
  <dc:subject>PptxGenJS Presentation</dc:subject>
  <dc:creator>Dr. Mitesh Astik</dc:creator>
  <cp:lastModifiedBy>Dr. Mitesh Astik</cp:lastModifiedBy>
  <cp:revision>1</cp:revision>
  <dcterms:created xsi:type="dcterms:W3CDTF">2026-10-29T10:05:24Z</dcterms:created>
  <dcterms:modified xsi:type="dcterms:W3CDTF">2026-10-29T10:05:24Z</dcterms:modified>
</cp:coreProperties>
</file>