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5 · P, PI and PID Controllers" id="{74cdd7bb-7281-db59-a137-7a8d0e2c477c}">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"P, PI and PID Controllers", part of Unit 5 (Compensators, Controllers and State-Space Analysis)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Write the transfer functions of P, PI, PD and PID controllers. Explain the effect of each action on the response. Tune a PID controller by the Ziegler–Nichols method. Compare PID with lead/lag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is the most widely used industrial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Proportional action responds to present error, integral to the accumulated error, derivative to the rate of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trends are the standard guidelines for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1/(s+1)²: the PID response settles quickly with no steady-state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give a quarter amplitude decay response and a starting point for fine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links the Routh-Hurwitz result to controller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PID: Kp + Ki/s + Kd s. P: speed; I: removes steady-state error; D: damping. ZN: PID Kp = 0.6Kcr, Ti = 0.5Pcr, Td = 0.125Pcr. PI ≈ lag action; PD ≈ lead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Write the transfer function of a PID controller. Explain the effect of increasing Ki and Kd. Kcr = 10, Pcr = 2 s: find ZN PID values. Why does integral action eliminate steady-state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5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5  ·  8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P, PI and PID Controllers</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Compensators, Controllers and State-Space Analysis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Write the transfer functions of P, PI, PD and PID controllers</a:t>
            </a:r>
            <a:endParaRPr lang="en-US" sz="2200" dirty="0"/>
          </a:p>
          <a:p>
            <a:pPr marL="342900" indent="-342900">
              <a:spcAft>
                <a:spcPts val="600"/>
              </a:spcAft>
              <a:buSzPct val="100000"/>
              <a:buChar char="•"/>
            </a:pPr>
            <a:r>
              <a:rPr lang="en-US" sz="2200" dirty="0">
                <a:solidFill>
                  <a:schemeClr val="tx1"/>
                </a:solidFill>
              </a:rPr>
              <a:t>Explain the effect of each action on the response</a:t>
            </a:r>
            <a:endParaRPr lang="en-US" sz="2200" dirty="0"/>
          </a:p>
          <a:p>
            <a:pPr marL="342900" indent="-342900">
              <a:spcAft>
                <a:spcPts val="600"/>
              </a:spcAft>
              <a:buSzPct val="100000"/>
              <a:buChar char="•"/>
            </a:pPr>
            <a:r>
              <a:rPr lang="en-US" sz="2200" dirty="0">
                <a:solidFill>
                  <a:schemeClr val="tx1"/>
                </a:solidFill>
              </a:rPr>
              <a:t>Tune a PID controller by the Ziegler–Nichols method</a:t>
            </a:r>
            <a:endParaRPr lang="en-US" sz="2200" dirty="0"/>
          </a:p>
          <a:p>
            <a:pPr marL="342900" indent="-342900">
              <a:spcAft>
                <a:spcPts val="600"/>
              </a:spcAft>
              <a:buSzPct val="100000"/>
              <a:buChar char="•"/>
            </a:pPr>
            <a:r>
              <a:rPr lang="en-US" sz="2200" dirty="0">
                <a:solidFill>
                  <a:schemeClr val="tx1"/>
                </a:solidFill>
              </a:rPr>
              <a:t>Compare PID with lead/lag compensation</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Compensators and controllers: introduction to compensators, lag, lead and lag-lead compensators, P, PI and PID controllers.</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PID controller structure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6" name="Image 0" descr="pid_block figure">    </p:cNvPr>
          <p:cNvPicPr>
            <a:picLocks noChangeAspect="1"/>
          </p:cNvPicPr>
          <p:nvPr/>
        </p:nvPicPr>
        <p:blipFill>
          <a:blip r:embed="rId1"/>
          <a:stretch>
            <a:fillRect/>
          </a:stretch>
        </p:blipFill>
        <p:spPr>
          <a:xfrm>
            <a:off x="1670656" y="1143000"/>
            <a:ext cx="5802688"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u(t) = Kp e + Ki ∫e dt + Kd de/dt.</a:t>
            </a:r>
            <a:endParaRPr lang="en-US" sz="1800" dirty="0"/>
          </a:p>
          <a:p>
            <a:pPr marL="342900" indent="-342900">
              <a:spcAft>
                <a:spcPts val="600"/>
              </a:spcAft>
              <a:buSzPct val="100000"/>
              <a:buChar char="•"/>
            </a:pPr>
            <a:r>
              <a:rPr lang="en-US" sz="1800" dirty="0">
                <a:solidFill>
                  <a:schemeClr val="tx1"/>
                </a:solidFill>
              </a:rPr>
              <a:t>Gc(s) = Kp + Ki/s + Kd s = Kp[1 + 1/(Ti s) + Td s].</a:t>
            </a:r>
            <a:endParaRPr lang="en-US" sz="18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Ki = Kp/Ti, Kd = Kp Td.</a:t>
            </a:r>
            <a:endParaRPr lang="en-US" sz="1800" dirty="0"/>
          </a:p>
          <a:p>
            <a:pPr marL="342900" indent="-342900">
              <a:spcAft>
                <a:spcPts val="600"/>
              </a:spcAft>
              <a:buSzPct val="100000"/>
              <a:buChar char="•"/>
            </a:pPr>
            <a:r>
              <a:rPr lang="en-US" sz="1800" dirty="0">
                <a:solidFill>
                  <a:schemeClr val="tx1"/>
                </a:solidFill>
              </a:rPr>
              <a:t>Parallel branches summed to drive the plant.</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Controller actions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2651760"/>
                <a:gridCol w="4389120"/>
              </a:tblGrid>
              <a:tr h="502920">
                <a:tc>
                  <a:txBody>
                    <a:bodyPr/>
                    <a:lstStyle/>
                    <a:p>
                      <a:pPr indent="0" marL="0">
                        <a:buNone/>
                      </a:pPr>
                      <a:r>
                        <a:rPr lang="en-US" sz="1400" b="1" dirty="0">
                          <a:solidFill>
                            <a:schemeClr val="bg1"/>
                          </a:solidFill>
                        </a:rPr>
                        <a:t>Action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Gc(s)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P</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Kp</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Reduces error and rise time; leaves a steady-state error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I (PI)</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Kp(1 + 1/Tis)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Eliminates steady-state error; adds a pole at the origin (slower, less stable)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D (PD)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Kp(1 + Tds)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Anticipates; adds damping; speeds response; amplifies noise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PID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Kp(1 + 1/Tis + Tds)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Combines all three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Effect of increasing each gain (typical)</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1463040"/>
                <a:gridCol w="1463040"/>
                <a:gridCol w="1645920"/>
                <a:gridCol w="2011680"/>
              </a:tblGrid>
              <a:tr h="502920">
                <a:tc>
                  <a:txBody>
                    <a:bodyPr/>
                    <a:lstStyle/>
                    <a:p>
                      <a:pPr indent="0" marL="0">
                        <a:buNone/>
                      </a:pPr>
                      <a:r>
                        <a:rPr lang="en-US" sz="1400" b="1" dirty="0">
                          <a:solidFill>
                            <a:schemeClr val="bg1"/>
                          </a:solidFill>
                        </a:rPr>
                        <a:t>Gain increased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Rise time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Overshoot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Settling time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Steady-state error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Kp</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Small change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Ki</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Eliminate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Kd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Small change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Decrease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change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bl>
          </a:graphicData>
        </a:graphic>
      </p:graphicFrame>
      <p:sp>
        <p:nvSpPr>
          <p:cNvPr id="7" name="Highlight strip"/>
          <p:cNvSpPr/>
          <p:nvPr/>
        </p:nvSpPr>
        <p:spPr>
          <a:xfrm>
            <a:off x="457200" y="4023360"/>
            <a:ext cx="8229600" cy="594360"/>
          </a:xfrm>
          <a:prstGeom prst="roundRect">
            <a:avLst>
              <a:gd name="adj" fmla="val 12308"/>
            </a:avLst>
          </a:prstGeom>
          <a:solidFill>
            <a:schemeClr val="tx2"/>
          </a:solidFill>
          <a:ln/>
        </p:spPr>
      </p:sp>
      <p:sp>
        <p:nvSpPr>
          <p:cNvPr id="8" name="Text 4"/>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Use as a guide for manual tuning; interactions exist.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Step responses with P, PI, PD and PID</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6" name="Image 0" descr="pid_resp figure">    </p:cNvPr>
          <p:cNvPicPr>
            <a:picLocks noChangeAspect="1"/>
          </p:cNvPicPr>
          <p:nvPr/>
        </p:nvPicPr>
        <p:blipFill>
          <a:blip r:embed="rId1"/>
          <a:stretch>
            <a:fillRect/>
          </a:stretch>
        </p:blipFill>
        <p:spPr>
          <a:xfrm>
            <a:off x="594360" y="1188720"/>
            <a:ext cx="4846320"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P: fast but steady-state error remains.</a:t>
            </a:r>
            <a:endParaRPr lang="en-US" sz="2000" dirty="0"/>
          </a:p>
          <a:p>
            <a:pPr marL="342900" indent="-342900">
              <a:spcAft>
                <a:spcPts val="600"/>
              </a:spcAft>
              <a:buSzPct val="100000"/>
              <a:buChar char="•"/>
            </a:pPr>
            <a:r>
              <a:rPr lang="en-US" sz="2000" dirty="0">
                <a:solidFill>
                  <a:schemeClr val="tx1"/>
                </a:solidFill>
              </a:rPr>
              <a:t>PI: error eliminated, some overshoot.</a:t>
            </a:r>
            <a:endParaRPr lang="en-US" sz="2000" dirty="0"/>
          </a:p>
          <a:p>
            <a:pPr marL="342900" indent="-342900">
              <a:spcAft>
                <a:spcPts val="600"/>
              </a:spcAft>
              <a:buSzPct val="100000"/>
              <a:buChar char="•"/>
            </a:pPr>
            <a:r>
              <a:rPr lang="en-US" sz="2000" dirty="0">
                <a:solidFill>
                  <a:schemeClr val="tx1"/>
                </a:solidFill>
              </a:rPr>
              <a:t>PD: lower overshoot, faster, error remains.</a:t>
            </a:r>
            <a:endParaRPr lang="en-US" sz="2000" dirty="0"/>
          </a:p>
          <a:p>
            <a:pPr marL="342900" indent="-342900">
              <a:spcAft>
                <a:spcPts val="600"/>
              </a:spcAft>
              <a:buSzPct val="100000"/>
              <a:buChar char="•"/>
            </a:pPr>
            <a:r>
              <a:rPr lang="en-US" sz="2000" dirty="0">
                <a:solidFill>
                  <a:schemeClr val="tx1"/>
                </a:solidFill>
              </a:rPr>
              <a:t>PID: best compromise.</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Ziegler–Nichols tuning (ultimate gain method)</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6" name="Image 0" descr="zn_osc figure">    </p:cNvPr>
          <p:cNvPicPr>
            <a:picLocks noChangeAspect="1"/>
          </p:cNvPicPr>
          <p:nvPr/>
        </p:nvPicPr>
        <p:blipFill>
          <a:blip r:embed="rId1"/>
          <a:stretch>
            <a:fillRect/>
          </a:stretch>
        </p:blipFill>
        <p:spPr>
          <a:xfrm>
            <a:off x="457200" y="1202127"/>
            <a:ext cx="5120640" cy="3173587"/>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Set Ti = ∞, Td = 0; raise Kp until sustained oscillation: Kcr, period Pcr.</a:t>
            </a:r>
            <a:endParaRPr lang="en-US" sz="2000" dirty="0"/>
          </a:p>
          <a:p>
            <a:pPr marL="342900" indent="-342900">
              <a:spcAft>
                <a:spcPts val="600"/>
              </a:spcAft>
              <a:buSzPct val="100000"/>
              <a:buChar char="•"/>
            </a:pPr>
            <a:r>
              <a:rPr lang="en-US" sz="2000" dirty="0">
                <a:solidFill>
                  <a:schemeClr val="tx1"/>
                </a:solidFill>
              </a:rPr>
              <a:t>P: Kp = 0.5Kcr.</a:t>
            </a:r>
            <a:endParaRPr lang="en-US" sz="2000" dirty="0"/>
          </a:p>
          <a:p>
            <a:pPr marL="342900" indent="-342900">
              <a:spcAft>
                <a:spcPts val="600"/>
              </a:spcAft>
              <a:buSzPct val="100000"/>
              <a:buChar char="•"/>
            </a:pPr>
            <a:r>
              <a:rPr lang="en-US" sz="2000" dirty="0">
                <a:solidFill>
                  <a:schemeClr val="tx1"/>
                </a:solidFill>
              </a:rPr>
              <a:t>PI: Kp = 0.45Kcr, Ti = Pcr/1.2.</a:t>
            </a:r>
            <a:endParaRPr lang="en-US" sz="2000" dirty="0"/>
          </a:p>
          <a:p>
            <a:pPr marL="342900" indent="-342900">
              <a:spcAft>
                <a:spcPts val="600"/>
              </a:spcAft>
              <a:buSzPct val="100000"/>
              <a:buChar char="•"/>
            </a:pPr>
            <a:r>
              <a:rPr lang="en-US" sz="2000" dirty="0">
                <a:solidFill>
                  <a:schemeClr val="tx1"/>
                </a:solidFill>
              </a:rPr>
              <a:t>PID: Kp = 0.6Kcr, Ti = 0.5Pcr, Td = 0.125Pcr.</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ZN tuning</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For the plant K/[s(s+1)(s+2)] the loop oscillates at K = 6 with ω = √2 rad/s (Routh). Find PID settings.</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Kcr = 6;  Pcr = 2π/ω = 2π/1.414 = 4.44 s</a:t>
            </a:r>
            <a:endParaRPr lang="en-US" sz="2200" dirty="0"/>
          </a:p>
          <a:p>
            <a:pPr marL="342900" indent="-342900">
              <a:spcAft>
                <a:spcPts val="600"/>
              </a:spcAft>
              <a:buSzPct val="100000"/>
              <a:buChar char="•"/>
            </a:pPr>
            <a:r>
              <a:rPr lang="en-US" sz="2200" dirty="0">
                <a:solidFill>
                  <a:schemeClr val="tx1"/>
                </a:solidFill>
              </a:rPr>
              <a:t>Kp = 0.6 × 6 = 3.6</a:t>
            </a:r>
            <a:endParaRPr lang="en-US" sz="2200" dirty="0"/>
          </a:p>
          <a:p>
            <a:pPr marL="342900" indent="-342900">
              <a:spcAft>
                <a:spcPts val="600"/>
              </a:spcAft>
              <a:buSzPct val="100000"/>
              <a:buChar char="•"/>
            </a:pPr>
            <a:r>
              <a:rPr lang="en-US" sz="2200" dirty="0">
                <a:solidFill>
                  <a:schemeClr val="tx1"/>
                </a:solidFill>
              </a:rPr>
              <a:t>Ti = 0.5 × 4.44 = 2.22 s;  Td = 0.125 × 4.44 = 0.555 s</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Kp = 3.6, Ti = 2.22 s, Td = 0.555 s  (Ki = 1.62, Kd = 2.0)</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PID: Kp + Ki/s + Kd s</a:t>
            </a:r>
            <a:endParaRPr lang="en-US" sz="2200" dirty="0"/>
          </a:p>
          <a:p>
            <a:pPr marL="342900" indent="-342900">
              <a:spcAft>
                <a:spcPts val="600"/>
              </a:spcAft>
              <a:buSzPct val="100000"/>
              <a:buChar char="•"/>
            </a:pPr>
            <a:r>
              <a:rPr lang="en-US" sz="2200" dirty="0">
                <a:solidFill>
                  <a:schemeClr val="tx1"/>
                </a:solidFill>
              </a:rPr>
              <a:t>P: speed; I: removes steady-state error; D: damping</a:t>
            </a:r>
            <a:endParaRPr lang="en-US" sz="2200" dirty="0"/>
          </a:p>
          <a:p>
            <a:pPr marL="342900" indent="-342900">
              <a:spcAft>
                <a:spcPts val="600"/>
              </a:spcAft>
              <a:buSzPct val="100000"/>
              <a:buChar char="•"/>
            </a:pPr>
            <a:r>
              <a:rPr lang="en-US" sz="2200" dirty="0">
                <a:solidFill>
                  <a:schemeClr val="tx1"/>
                </a:solidFill>
              </a:rPr>
              <a:t>ZN: PID Kp = 0.6Kcr, Ti = 0.5Pcr, Td = 0.125Pcr</a:t>
            </a:r>
            <a:endParaRPr lang="en-US" sz="2200" dirty="0"/>
          </a:p>
          <a:p>
            <a:pPr marL="342900" indent="-342900">
              <a:spcAft>
                <a:spcPts val="600"/>
              </a:spcAft>
              <a:buSzPct val="100000"/>
              <a:buChar char="•"/>
            </a:pPr>
            <a:r>
              <a:rPr lang="en-US" sz="2200" dirty="0">
                <a:solidFill>
                  <a:schemeClr val="tx1"/>
                </a:solidFill>
              </a:rPr>
              <a:t>PI ≈ lag action; PD ≈ lead action</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Write the transfer function of a PID controller.</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Explain the effect of increasing Ki and Kd.</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Kcr = 10, Pcr = 2 s: find ZN PID values.</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does integral action eliminate steady-state error?</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 PI and PID Controllers</dc:title>
  <dc:subject>PptxGenJS Presentation</dc:subject>
  <dc:creator>Dr. Mitesh Astik</dc:creator>
  <cp:lastModifiedBy>Dr. Mitesh Astik</cp:lastModifiedBy>
  <cp:revision>1</cp:revision>
  <dcterms:created xsi:type="dcterms:W3CDTF">2026-10-29T10:05:24Z</dcterms:created>
  <dcterms:modified xsi:type="dcterms:W3CDTF">2026-10-29T10:05:24Z</dcterms:modified>
</cp:coreProperties>
</file>