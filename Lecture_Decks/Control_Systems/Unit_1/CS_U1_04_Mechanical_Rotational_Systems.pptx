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Mechanical Rotational Systems and Gear Trains" id="{69f3c39d-f196-a389-d153-3779c5c80080}">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"Mechanical Rotational Systems and Gear Trains", part of Unit 1 (Introduction and Mathematical Modelling of Physical Systems)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List rotational elements and their torque relations. Derive transfer functions for rotational systems. Reflect inertia, friction and torque through gear trains. Obtain ωn and ζ of a rotational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Torque in newton metres, angle in radians.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torque balance on the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second order standard form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Gears reduce speed and increase torque. A heavy load seen through a large step-down ratio looks light to the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damping: large oscillations after a disturbance.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 inertia seen by the motor is reduced by the square of the gear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Rotational: T = Jθ̈, Bθ̇, Kθ. Θ/T = 1/(Js² + Bs + K); ωn = √(K/J), ζ = B/(2√(KJ)). Gear trains: θ2/θ1 = N1/N2, T2/T1 = N2/N1. Reflect parameters with (N1/N2)².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Derive Θ(s)/T(s) for a disc with spring and damper. Find J_eq for J1 = 0.02, J2 = 2, N1/N2 = 1/5. Why do we reflect inertia through gears? J = 1, B = 4, K = 4: find ζ and ωn.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8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Mechanical Rotational Systems and Gear Trains</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Introduction and Mathematical Modelling of Physical Systems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List rotational elements and their torque relations</a:t>
            </a:r>
            <a:endParaRPr lang="en-US" sz="2200" dirty="0"/>
          </a:p>
          <a:p>
            <a:pPr marL="342900" indent="-342900">
              <a:spcAft>
                <a:spcPts val="600"/>
              </a:spcAft>
              <a:buSzPct val="100000"/>
              <a:buChar char="•"/>
            </a:pPr>
            <a:r>
              <a:rPr lang="en-US" sz="2200" dirty="0">
                <a:solidFill>
                  <a:schemeClr val="tx1"/>
                </a:solidFill>
              </a:rPr>
              <a:t>Derive transfer functions for rotational systems</a:t>
            </a:r>
            <a:endParaRPr lang="en-US" sz="2200" dirty="0"/>
          </a:p>
          <a:p>
            <a:pPr marL="342900" indent="-342900">
              <a:spcAft>
                <a:spcPts val="600"/>
              </a:spcAft>
              <a:buSzPct val="100000"/>
              <a:buChar char="•"/>
            </a:pPr>
            <a:r>
              <a:rPr lang="en-US" sz="2200" dirty="0">
                <a:solidFill>
                  <a:schemeClr val="tx1"/>
                </a:solidFill>
              </a:rPr>
              <a:t>Reflect inertia, friction and torque through gear trains</a:t>
            </a:r>
            <a:endParaRPr lang="en-US" sz="2200" dirty="0"/>
          </a:p>
          <a:p>
            <a:pPr marL="342900" indent="-342900">
              <a:spcAft>
                <a:spcPts val="600"/>
              </a:spcAft>
              <a:buSzPct val="100000"/>
              <a:buChar char="•"/>
            </a:pPr>
            <a:r>
              <a:rPr lang="en-US" sz="2200" dirty="0">
                <a:solidFill>
                  <a:schemeClr val="tx1"/>
                </a:solidFill>
              </a:rPr>
              <a:t>Obtain ωn and ζ of a rotational system</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Introduction and mathematical modelling of physical systems: open loop and closed loop systems, examples, control system components. Transfer function of physical systems: mechanical systems (translational and rotational), electrical systems, analogous systems, block diagram reduction techniques, signal flow graphs.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Rotational elements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60320"/>
                <a:gridCol w="2926080"/>
                <a:gridCol w="2743200"/>
              </a:tblGrid>
              <a:tr h="502920">
                <a:tc>
                  <a:txBody>
                    <a:bodyPr/>
                    <a:lstStyle/>
                    <a:p>
                      <a:pPr indent="0" marL="0">
                        <a:buNone/>
                      </a:pPr>
                      <a:r>
                        <a:rPr lang="en-US" sz="1400" b="1" dirty="0">
                          <a:solidFill>
                            <a:schemeClr val="bg1"/>
                          </a:solidFill>
                        </a:rPr>
                        <a:t>Element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Torque relation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Laplace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Moment of inertia J</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 = J d²θ/dt²</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 s² Θ(s)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Viscous friction B</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 = B dθ/dt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 s Θ(s)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Torsional spring K</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 = K θ</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 Θ(s)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bl>
          </a:graphicData>
        </a:graphic>
      </p:graphicFrame>
      <p:sp>
        <p:nvSpPr>
          <p:cNvPr id="7" name="Highlight strip"/>
          <p:cNvSpPr/>
          <p:nvPr/>
        </p:nvSpPr>
        <p:spPr>
          <a:xfrm>
            <a:off x="457200" y="4023360"/>
            <a:ext cx="8229600" cy="594360"/>
          </a:xfrm>
          <a:prstGeom prst="roundRect">
            <a:avLst>
              <a:gd name="adj" fmla="val 12308"/>
            </a:avLst>
          </a:prstGeom>
          <a:solidFill>
            <a:schemeClr val="tx2"/>
          </a:solidFill>
          <a:ln/>
        </p:spPr>
      </p:sp>
      <p:sp>
        <p:nvSpPr>
          <p:cNvPr id="8" name="Text 4"/>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Same structure as translational elements with T ↔ f and θ ↔ x.</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Rotational system</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rot_sys figure">    </p:cNvPr>
          <p:cNvPicPr>
            <a:picLocks noChangeAspect="1"/>
          </p:cNvPicPr>
          <p:nvPr/>
        </p:nvPicPr>
        <p:blipFill>
          <a:blip r:embed="rId1"/>
          <a:stretch>
            <a:fillRect/>
          </a:stretch>
        </p:blipFill>
        <p:spPr>
          <a:xfrm>
            <a:off x="457200" y="1558766"/>
            <a:ext cx="5120640" cy="2460307"/>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Disc of inertia J on a shaft with torsional spring K and viscous friction B.</a:t>
            </a:r>
            <a:endParaRPr lang="en-US" sz="2000" dirty="0"/>
          </a:p>
          <a:p>
            <a:pPr marL="342900" indent="-342900">
              <a:spcAft>
                <a:spcPts val="600"/>
              </a:spcAft>
              <a:buSzPct val="100000"/>
              <a:buChar char="•"/>
            </a:pPr>
            <a:r>
              <a:rPr lang="en-US" sz="2000" dirty="0">
                <a:solidFill>
                  <a:schemeClr val="tx1"/>
                </a:solidFill>
              </a:rPr>
              <a:t>Applied torque T(t).</a:t>
            </a:r>
            <a:endParaRPr lang="en-US" sz="2000" dirty="0"/>
          </a:p>
          <a:p>
            <a:pPr marL="342900" indent="-342900">
              <a:spcAft>
                <a:spcPts val="600"/>
              </a:spcAft>
              <a:buSzPct val="100000"/>
              <a:buChar char="•"/>
            </a:pPr>
            <a:r>
              <a:rPr lang="en-US" sz="2000" dirty="0">
                <a:solidFill>
                  <a:schemeClr val="tx1"/>
                </a:solidFill>
              </a:rPr>
              <a:t>J θ̈ + B θ̇ + K θ = T(t).</a:t>
            </a:r>
            <a:endParaRPr lang="en-US" sz="2000" dirty="0"/>
          </a:p>
          <a:p>
            <a:pPr marL="342900" indent="-342900">
              <a:spcAft>
                <a:spcPts val="600"/>
              </a:spcAft>
              <a:buSzPct val="100000"/>
              <a:buChar char="•"/>
            </a:pPr>
            <a:r>
              <a:rPr lang="en-US" sz="2000" dirty="0">
                <a:solidFill>
                  <a:schemeClr val="tx1"/>
                </a:solidFill>
              </a:rPr>
              <a:t>Θ(s)/T(s) = 1/(J s² + B s + K).</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Parameters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ormula"/>
          <p:cNvSpPr/>
          <p:nvPr/>
        </p:nvSpPr>
        <p:spPr>
          <a:xfrm>
            <a:off x="457200" y="1897380"/>
            <a:ext cx="2621280" cy="1280160"/>
          </a:xfrm>
          <a:prstGeom prst="roundRect">
            <a:avLst>
              <a:gd name="adj" fmla="val 5714"/>
            </a:avLst>
          </a:prstGeom>
          <a:solidFill>
            <a:schemeClr val="tx2"/>
          </a:solidFill>
          <a:ln/>
        </p:spPr>
      </p:sp>
      <p:sp>
        <p:nvSpPr>
          <p:cNvPr id="7" name="Text 4"/>
          <p:cNvSpPr txBox="1"/>
          <p:nvPr/>
        </p:nvSpPr>
        <p:spPr>
          <a:xfrm>
            <a:off x="457200" y="1897380"/>
            <a:ext cx="2621280" cy="12801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Θ(s)/T(s) = 1/(J s² + B s + K)</a:t>
            </a:r>
            <a:endParaRPr lang="en-US" sz="2400" dirty="0"/>
          </a:p>
        </p:txBody>
      </p:sp>
      <p:sp>
        <p:nvSpPr>
          <p:cNvPr id="8" name="Text 5"/>
          <p:cNvSpPr txBox="1"/>
          <p:nvPr/>
        </p:nvSpPr>
        <p:spPr>
          <a:xfrm>
            <a:off x="457200" y="319582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transfer function</a:t>
            </a:r>
            <a:endParaRPr lang="en-US" sz="1300" dirty="0"/>
          </a:p>
        </p:txBody>
      </p:sp>
      <p:sp>
        <p:nvSpPr>
          <p:cNvPr id="9" name="Formula"/>
          <p:cNvSpPr/>
          <p:nvPr/>
        </p:nvSpPr>
        <p:spPr>
          <a:xfrm>
            <a:off x="3261360" y="1897380"/>
            <a:ext cx="2621280" cy="1280160"/>
          </a:xfrm>
          <a:prstGeom prst="roundRect">
            <a:avLst>
              <a:gd name="adj" fmla="val 5714"/>
            </a:avLst>
          </a:prstGeom>
          <a:solidFill>
            <a:schemeClr val="tx2"/>
          </a:solidFill>
          <a:ln/>
        </p:spPr>
      </p:sp>
      <p:sp>
        <p:nvSpPr>
          <p:cNvPr id="10" name="Text 7"/>
          <p:cNvSpPr txBox="1"/>
          <p:nvPr/>
        </p:nvSpPr>
        <p:spPr>
          <a:xfrm>
            <a:off x="3261360" y="1897380"/>
            <a:ext cx="2621280" cy="12801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ωn = √(K/J)</a:t>
            </a:r>
            <a:endParaRPr lang="en-US" sz="2400" dirty="0"/>
          </a:p>
        </p:txBody>
      </p:sp>
      <p:sp>
        <p:nvSpPr>
          <p:cNvPr id="11" name="Text 8"/>
          <p:cNvSpPr txBox="1"/>
          <p:nvPr/>
        </p:nvSpPr>
        <p:spPr>
          <a:xfrm>
            <a:off x="3261360" y="319582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natural frequency</a:t>
            </a:r>
            <a:endParaRPr lang="en-US" sz="1300" dirty="0"/>
          </a:p>
        </p:txBody>
      </p:sp>
      <p:sp>
        <p:nvSpPr>
          <p:cNvPr id="12" name="Formula"/>
          <p:cNvSpPr/>
          <p:nvPr/>
        </p:nvSpPr>
        <p:spPr>
          <a:xfrm>
            <a:off x="6065520" y="1897380"/>
            <a:ext cx="2621280" cy="1280160"/>
          </a:xfrm>
          <a:prstGeom prst="roundRect">
            <a:avLst>
              <a:gd name="adj" fmla="val 5714"/>
            </a:avLst>
          </a:prstGeom>
          <a:solidFill>
            <a:schemeClr val="tx2"/>
          </a:solidFill>
          <a:ln/>
        </p:spPr>
      </p:sp>
      <p:sp>
        <p:nvSpPr>
          <p:cNvPr id="13" name="Text 10"/>
          <p:cNvSpPr txBox="1"/>
          <p:nvPr/>
        </p:nvSpPr>
        <p:spPr>
          <a:xfrm>
            <a:off x="6065520" y="1897380"/>
            <a:ext cx="2621280" cy="12801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ζ = B / (2√(KJ))</a:t>
            </a:r>
            <a:endParaRPr lang="en-US" sz="2400" dirty="0"/>
          </a:p>
        </p:txBody>
      </p:sp>
      <p:sp>
        <p:nvSpPr>
          <p:cNvPr id="14" name="Text 11"/>
          <p:cNvSpPr txBox="1"/>
          <p:nvPr/>
        </p:nvSpPr>
        <p:spPr>
          <a:xfrm>
            <a:off x="6065520" y="319582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damping ratio</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Gear trains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Card"/>
          <p:cNvSpPr/>
          <p:nvPr/>
        </p:nvSpPr>
        <p:spPr>
          <a:xfrm>
            <a:off x="457200" y="1188720"/>
            <a:ext cx="2621280" cy="269748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Gear ratio</a:t>
            </a:r>
            <a:endParaRPr lang="en-US" sz="1600" dirty="0"/>
          </a:p>
        </p:txBody>
      </p:sp>
      <p:sp>
        <p:nvSpPr>
          <p:cNvPr id="8" name="Text 5"/>
          <p:cNvSpPr txBox="1"/>
          <p:nvPr/>
        </p:nvSpPr>
        <p:spPr>
          <a:xfrm>
            <a:off x="59436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N1 θ1 = N2 θ2, so θ2/θ1 = N1/N2 and T2/T1 = N2/N1.</a:t>
            </a:r>
            <a:endParaRPr lang="en-US" sz="2000" dirty="0"/>
          </a:p>
        </p:txBody>
      </p:sp>
      <p:sp>
        <p:nvSpPr>
          <p:cNvPr id="9" name="Card"/>
          <p:cNvSpPr/>
          <p:nvPr/>
        </p:nvSpPr>
        <p:spPr>
          <a:xfrm>
            <a:off x="3261360" y="1188720"/>
            <a:ext cx="2621280" cy="269748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Reflected inertia</a:t>
            </a:r>
            <a:endParaRPr lang="en-US" sz="1600" dirty="0"/>
          </a:p>
        </p:txBody>
      </p:sp>
      <p:sp>
        <p:nvSpPr>
          <p:cNvPr id="11" name="Text 8"/>
          <p:cNvSpPr txBox="1"/>
          <p:nvPr/>
        </p:nvSpPr>
        <p:spPr>
          <a:xfrm>
            <a:off x="339852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Referred to shaft 1: J_eq = J1 + (N1/N2)² J2.</a:t>
            </a:r>
            <a:endParaRPr lang="en-US" sz="2000" dirty="0"/>
          </a:p>
        </p:txBody>
      </p:sp>
      <p:sp>
        <p:nvSpPr>
          <p:cNvPr id="12" name="Card"/>
          <p:cNvSpPr/>
          <p:nvPr/>
        </p:nvSpPr>
        <p:spPr>
          <a:xfrm>
            <a:off x="6065520" y="1188720"/>
            <a:ext cx="2621280" cy="269748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Reflected friction</a:t>
            </a:r>
            <a:endParaRPr lang="en-US" sz="1600" dirty="0"/>
          </a:p>
        </p:txBody>
      </p:sp>
      <p:sp>
        <p:nvSpPr>
          <p:cNvPr id="14" name="Text 11"/>
          <p:cNvSpPr txBox="1"/>
          <p:nvPr/>
        </p:nvSpPr>
        <p:spPr>
          <a:xfrm>
            <a:off x="6202680" y="1645920"/>
            <a:ext cx="2346960" cy="21671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B_eq = B1 + (N1/N2)² B2 (same factor).</a:t>
            </a:r>
            <a:endParaRPr lang="en-US" sz="2000" dirty="0"/>
          </a:p>
        </p:txBody>
      </p:sp>
      <p:sp>
        <p:nvSpPr>
          <p:cNvPr id="15" name="Highlight strip"/>
          <p:cNvSpPr/>
          <p:nvPr/>
        </p:nvSpPr>
        <p:spPr>
          <a:xfrm>
            <a:off x="457200" y="4023360"/>
            <a:ext cx="8229600" cy="594360"/>
          </a:xfrm>
          <a:prstGeom prst="roundRect">
            <a:avLst>
              <a:gd name="adj" fmla="val 12308"/>
            </a:avLst>
          </a:prstGeom>
          <a:solidFill>
            <a:schemeClr val="tx2"/>
          </a:solidFill>
          <a:ln/>
        </p:spPr>
      </p:sp>
      <p:sp>
        <p:nvSpPr>
          <p:cNvPr id="16" name="Text 1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Parameters are referred to the shaft where the equation is written, multiplied by (N1/N2)² when moved from the load to the motor side.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rotational system</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J = 0.5 kg·m², B = 0.2 N·m·s/rad, K = 2 N·m/rad. Find Θ/T, ωn, ζ and classify.</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Θ/T = 1/(0.5 s² + 0.2 s + 2) = 2/(s² + 0.4 s + 4)</a:t>
            </a:r>
            <a:endParaRPr lang="en-US" sz="2200" dirty="0"/>
          </a:p>
          <a:p>
            <a:pPr marL="342900" indent="-342900">
              <a:spcAft>
                <a:spcPts val="600"/>
              </a:spcAft>
              <a:buSzPct val="100000"/>
              <a:buChar char="•"/>
            </a:pPr>
            <a:r>
              <a:rPr lang="en-US" sz="2200" dirty="0">
                <a:solidFill>
                  <a:schemeClr val="tx1"/>
                </a:solidFill>
              </a:rPr>
              <a:t>ωn = √(K/J) = √4 = 2 rad/s</a:t>
            </a:r>
            <a:endParaRPr lang="en-US" sz="2200" dirty="0"/>
          </a:p>
          <a:p>
            <a:pPr marL="342900" indent="-342900">
              <a:spcAft>
                <a:spcPts val="600"/>
              </a:spcAft>
              <a:buSzPct val="100000"/>
              <a:buChar char="•"/>
            </a:pPr>
            <a:r>
              <a:rPr lang="en-US" sz="2200" dirty="0">
                <a:solidFill>
                  <a:schemeClr val="tx1"/>
                </a:solidFill>
              </a:rPr>
              <a:t>ζ = B/(2√(KJ)) = 0.2/(2 × 1) = 0.1</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ωn = 2 rad/s, ζ = 0.1: lightly damped (underdamped)</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gear train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Motor shaft J1 = 0.01, gear ratio N1/N2 = 1/10 (load turns slower), load J2 = 4 kg·m². Find the equivalent inertia at the motor shaft.</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(N1/N2)² = 0.01</a:t>
            </a:r>
            <a:endParaRPr lang="en-US" sz="2200" dirty="0"/>
          </a:p>
          <a:p>
            <a:pPr marL="342900" indent="-342900">
              <a:spcAft>
                <a:spcPts val="600"/>
              </a:spcAft>
              <a:buSzPct val="100000"/>
              <a:buChar char="•"/>
            </a:pPr>
            <a:r>
              <a:rPr lang="en-US" sz="2200" dirty="0">
                <a:solidFill>
                  <a:schemeClr val="tx1"/>
                </a:solidFill>
              </a:rPr>
              <a:t>J_eq = J1 + 0.01 × J2 = 0.01 + 0.04</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J_eq = 0.05 kg·m² at the motor shaft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Rotational: T = Jθ̈, Bθ̇, Kθ</a:t>
            </a:r>
            <a:endParaRPr lang="en-US" sz="2200" dirty="0"/>
          </a:p>
          <a:p>
            <a:pPr marL="342900" indent="-342900">
              <a:spcAft>
                <a:spcPts val="600"/>
              </a:spcAft>
              <a:buSzPct val="100000"/>
              <a:buChar char="•"/>
            </a:pPr>
            <a:r>
              <a:rPr lang="en-US" sz="2200" dirty="0">
                <a:solidFill>
                  <a:schemeClr val="tx1"/>
                </a:solidFill>
              </a:rPr>
              <a:t>Θ/T = 1/(Js² + Bs + K); ωn = √(K/J), ζ = B/(2√(KJ))</a:t>
            </a:r>
            <a:endParaRPr lang="en-US" sz="2200" dirty="0"/>
          </a:p>
          <a:p>
            <a:pPr marL="342900" indent="-342900">
              <a:spcAft>
                <a:spcPts val="600"/>
              </a:spcAft>
              <a:buSzPct val="100000"/>
              <a:buChar char="•"/>
            </a:pPr>
            <a:r>
              <a:rPr lang="en-US" sz="2200" dirty="0">
                <a:solidFill>
                  <a:schemeClr val="tx1"/>
                </a:solidFill>
              </a:rPr>
              <a:t>Gear trains: θ2/θ1 = N1/N2, T2/T1 = N2/N1</a:t>
            </a:r>
            <a:endParaRPr lang="en-US" sz="2200" dirty="0"/>
          </a:p>
          <a:p>
            <a:pPr marL="342900" indent="-342900">
              <a:spcAft>
                <a:spcPts val="600"/>
              </a:spcAft>
              <a:buSzPct val="100000"/>
              <a:buChar char="•"/>
            </a:pPr>
            <a:r>
              <a:rPr lang="en-US" sz="2200" dirty="0">
                <a:solidFill>
                  <a:schemeClr val="tx1"/>
                </a:solidFill>
              </a:rPr>
              <a:t>Reflect parameters with (N1/N2)²</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Derive Θ(s)/T(s) for a disc with spring and damper.</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Find J_eq for J1 = 0.02, J2 = 2, N1/N2 = 1/5.</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Why do we reflect inertia through gears?</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J = 1, B = 4, K = 4: find ζ and ωn.</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Rotational Systems and Gear Trains</dc:title>
  <dc:subject>PptxGenJS Presentation</dc:subject>
  <dc:creator>Dr. Mitesh Astik</dc:creator>
  <cp:lastModifiedBy>Dr. Mitesh Astik</cp:lastModifiedBy>
  <cp:revision>1</cp:revision>
  <dcterms:created xsi:type="dcterms:W3CDTF">2026-10-29T10:05:23Z</dcterms:created>
  <dcterms:modified xsi:type="dcterms:W3CDTF">2026-10-29T10:05:23Z</dcterms:modified>
</cp:coreProperties>
</file>