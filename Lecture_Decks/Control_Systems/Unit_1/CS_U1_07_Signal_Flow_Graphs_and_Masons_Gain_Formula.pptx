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1 · Signal Flow Graphs and Mason's Gain Formula" id="{2e1e0f88-050b-e299-f1b6-3249771d2cd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"Signal Flow Graphs and Mason's Gain Formula", part of Unit 1 (Introduction and Mathematical Modelling of Physical Systems) of Control Systems.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Define the terms of a signal flow graph. Draw an SFG from equations or a block diagram. Identify forward paths, loops and non-touching loops. Apply Mason's gain formula.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SFG is a graphical representation of a set of linear algebraic equations.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loops pass through x2 and x3, so they touch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Mason's formula gives the overall gain in a single step without graph reduction.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pair of loops is non touching, so there is no second order term.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 touching loops contribute positive product terms to the determinant.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SFG and block diagram reduction give the same answer, but Mason's formula is quicker for complex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SFG: nodes (variables) and directed branches (gains). Mason: T = ΣPkΔk/Δ. Δ = 1 − ΣL + ΣLiLj (non-touching) − …. Δk excludes loops touching the k-th forward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Define forward path, loop and non-touching loops. Write Mason's gain formula and explain each term. Find T for P1 = 2, loops −1 and −0.5 (touching). Convert a unity-feedback block diagram into an SFG.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E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Control Systems · Unit 1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1  ·  8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Flow Graphs and Mason's Gain Formula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3E6E9"/>
                </a:solidFill>
              </a:rPr>
              <a:t>Introduction and Mathematical Modelling of Physical Systems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 Systems  (22EEG53)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Define the terms of a signal flow graph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Draw an SFG from equations or a block diagram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Identify forward paths, loops and non-touching loops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Apply Mason's gain formula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Introduction and mathematical modelling of physical systems: open loop and closed loop systems, examples, control system components. Transfer function of physical systems: mechanical systems (translational and rotational), electrical systems, analogous systems, block diagram reduction techniques, signal flow graphs.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Signal flow graph (SFG) terminology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5720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Node and branch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Node = variable; branch = directed line with a gain (transmittance). Input node (source), output node (sink), mixed node.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326136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9852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Path and forward path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39852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 path follows branch directions without repeating a node. Forward path: from input to output.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606552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0268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Loop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20268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 closed path that returns to the same node; loop gain = product of branch gains. Non-touching loops share no node.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Example SFG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pic>
        <p:nvPicPr>
          <p:cNvPr id="6" name="Image 0" descr="sfg_ex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1562" y="1143000"/>
            <a:ext cx="6260875" cy="2148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4290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Nodes: R, x1, x2, x3, x4, C.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Forward path: R→x1→x2→x3→x4→C.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34290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Loop L1: x2→x3→x2 with gain −G2H1.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Loop L2: x2→x3→x4→x2 with gain −G2G3H2.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Mason's gain formula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Formula"/>
          <p:cNvSpPr/>
          <p:nvPr/>
        </p:nvSpPr>
        <p:spPr>
          <a:xfrm>
            <a:off x="45720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C/R = Σ Pk Δk / Δ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overall gain</a:t>
            </a:r>
            <a:endParaRPr lang="en-US" sz="1300" dirty="0"/>
          </a:p>
        </p:txBody>
      </p:sp>
      <p:sp>
        <p:nvSpPr>
          <p:cNvPr id="9" name="Formula"/>
          <p:cNvSpPr/>
          <p:nvPr/>
        </p:nvSpPr>
        <p:spPr>
          <a:xfrm>
            <a:off x="326136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26136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= 1 − ΣLi + ΣLiLj − ΣLiLjLk + …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26136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graph determinant</a:t>
            </a:r>
            <a:endParaRPr lang="en-US" sz="1300" dirty="0"/>
          </a:p>
        </p:txBody>
      </p:sp>
      <p:sp>
        <p:nvSpPr>
          <p:cNvPr id="12" name="Formula"/>
          <p:cNvSpPr/>
          <p:nvPr/>
        </p:nvSpPr>
        <p:spPr>
          <a:xfrm>
            <a:off x="606552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06552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Δk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606552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Δ with all loops touching path k removed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2560320"/>
            <a:ext cx="8229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Pk = gain of the k-th forward path.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Li = loop gains; LiLj = products of gains of non-touching pairs, etc.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Applying Mason's formula to the example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Find C/R for the SFG with forward gain 1·G1·G2·G3·1 and loops −G2H1 and −G2G3H2.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P1 = G1 G2 G3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L1 = −G2H1,  L2 = −G2G3H2 (touching)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Δ = 1 − (L1 + L2) = 1 + G2H1 + G2G3H2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Δ1 = 1 (no loop is disjoint from P1)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C/R = G1G2G3 / (1 + G2H1 + G2G3H2)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with non-touching loops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Loop gains L1 = −0.2, L2 = −0.5, L3 = −0.1; only L1 and L3 are non-touching. One forward path P1 = 5 touches all loops. Find T.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Σ Li = −0.8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Σ LiLj (non-touching) = L1L3 = (−0.2)(−0.1) = 0.02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Δ = 1 − (−0.8) + 0.02 = 1.82;  Δ1 = 1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 = P1 Δ1/Δ = 5/1.82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T = 2.75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Block diagram to SFG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Flow step"/>
          <p:cNvSpPr/>
          <p:nvPr/>
        </p:nvSpPr>
        <p:spPr>
          <a:xfrm>
            <a:off x="45720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7" name="Step number"/>
          <p:cNvSpPr/>
          <p:nvPr/>
        </p:nvSpPr>
        <p:spPr>
          <a:xfrm>
            <a:off x="56692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Nodes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Draw a node for every signal (input, output, each summing/take-off point output).</a:t>
            </a:r>
            <a:endParaRPr lang="en-US" sz="1500" dirty="0"/>
          </a:p>
        </p:txBody>
      </p:sp>
      <p:sp>
        <p:nvSpPr>
          <p:cNvPr id="11" name="Flow step"/>
          <p:cNvSpPr/>
          <p:nvPr/>
        </p:nvSpPr>
        <p:spPr>
          <a:xfrm>
            <a:off x="254889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2" name="Step number"/>
          <p:cNvSpPr/>
          <p:nvPr/>
        </p:nvSpPr>
        <p:spPr>
          <a:xfrm>
            <a:off x="265861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65861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65861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Branches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65861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Each block becomes a branch with the block's gain.</a:t>
            </a:r>
            <a:endParaRPr lang="en-US" sz="1500" dirty="0"/>
          </a:p>
        </p:txBody>
      </p:sp>
      <p:sp>
        <p:nvSpPr>
          <p:cNvPr id="16" name="Flow step"/>
          <p:cNvSpPr/>
          <p:nvPr/>
        </p:nvSpPr>
        <p:spPr>
          <a:xfrm>
            <a:off x="464058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7" name="Step number"/>
          <p:cNvSpPr/>
          <p:nvPr/>
        </p:nvSpPr>
        <p:spPr>
          <a:xfrm>
            <a:off x="475030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75030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75030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Summing points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75030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Branch gains ±1 into the summing node.</a:t>
            </a:r>
            <a:endParaRPr lang="en-US" sz="1500" dirty="0"/>
          </a:p>
        </p:txBody>
      </p:sp>
      <p:sp>
        <p:nvSpPr>
          <p:cNvPr id="21" name="Flow step"/>
          <p:cNvSpPr/>
          <p:nvPr/>
        </p:nvSpPr>
        <p:spPr>
          <a:xfrm>
            <a:off x="673227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22" name="Step number"/>
          <p:cNvSpPr/>
          <p:nvPr/>
        </p:nvSpPr>
        <p:spPr>
          <a:xfrm>
            <a:off x="684199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4199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84199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Apply Mason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84199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Find paths, loops, non-touching loops and evaluate.</a:t>
            </a:r>
            <a:endParaRPr lang="en-US" sz="1500" dirty="0"/>
          </a:p>
        </p:txBody>
      </p:sp>
      <p:sp>
        <p:nvSpPr>
          <p:cNvPr id="26" name="Highlight strip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Remember: negative feedback appears as a loop with negative gain.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SFG: nodes (variables) and directed branches (gains)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Mason: T = ΣPkΔk/Δ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Δ = 1 − ΣL + ΣLiLj (non-touching) − …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Δk excludes loops touching the k-th forward path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Define forward path, loop and non-touching loops.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Write Mason's gain formula and explain each term.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Find T for P1 = 2, loops −1 and −0.5 (touching).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Convert a unity-feedback block diagram into an SFG.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rolSystems">
  <a:themeElements>
    <a:clrScheme name="ControlSystems">
      <a:dk1>
        <a:srgbClr val="0E2B33"/>
      </a:dk1>
      <a:lt1>
        <a:srgbClr val="FFFFFF"/>
      </a:lt1>
      <a:dk2>
        <a:srgbClr val="1B4D57"/>
      </a:dk2>
      <a:lt2>
        <a:srgbClr val="EAF3F3"/>
      </a:lt2>
      <a:accent1>
        <a:srgbClr val="F2A93B"/>
      </a:accent1>
      <a:accent2>
        <a:srgbClr val="1F7A8C"/>
      </a:accent2>
      <a:accent3>
        <a:srgbClr val="C93C20"/>
      </a:accent3>
      <a:accent4>
        <a:srgbClr val="58707A"/>
      </a:accent4>
      <a:accent5>
        <a:srgbClr val="3E7CB1"/>
      </a:accent5>
      <a:accent6>
        <a:srgbClr val="7A4FD6"/>
      </a:accent6>
      <a:hlink>
        <a:srgbClr val="3E7CB1"/>
      </a:hlink>
      <a:folHlink>
        <a:srgbClr val="58707A"/>
      </a:folHlink>
    </a:clrScheme>
    <a:fontScheme name="ControlSystem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 Flow Graphs and Mason's Gain Formula</dc:title>
  <dc:subject>PptxGenJS Presentation</dc:subject>
  <dc:creator>Dr. Mitesh Astik</dc:creator>
  <cp:lastModifiedBy>Dr. Mitesh Astik</cp:lastModifiedBy>
  <cp:revision>1</cp:revision>
  <dcterms:created xsi:type="dcterms:W3CDTF">2026-10-29T10:05:23Z</dcterms:created>
  <dcterms:modified xsi:type="dcterms:W3CDTF">2026-10-29T10:05:23Z</dcterms:modified>
</cp:coreProperties>
</file>