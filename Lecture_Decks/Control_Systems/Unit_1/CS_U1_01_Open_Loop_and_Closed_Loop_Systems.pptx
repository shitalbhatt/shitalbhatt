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it 1 · Open-Loop and Closed-Loop Control Systems" id="{b6b52cd7-1c07-ee9b-125c-18ea5faaa8f8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In this session we study "Open-Loop and Closed-Loop Control Systems", part of Unit 1 (Introduction and Mathematical Modelling of Physical Systems) of Control Systems.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the end of this topic you should be able to do the following. Define a control system and its basic terms. Distinguish open-loop from closed-loop systems with examples. Derive the closed-loop transfer function. Explain the effects of feedback on gain and sensitivity.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control system maintains an output at a desired value in spite of disturbances.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Examples: automatic washing machine timer, traffic light, electric toaster, hand dryer. Each is controlled by time, not by the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closed loop system the actuating signal depends on the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Closed loop control is preferred when accuracy matters and disturbances are present.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Substituting the feedback signal into the error equation and rearranging gives the closed loop transfer function.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price paid is a reduction of overall gain by the factor one plus G 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designer trades off accuracy against stability.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summarise this topic. Closed loop = feedback; open loop = no feedback. T(s) = G/(1 + GH) for negative feedback. Feedback reduces sensitivity to parameter changes and disturbances. Feedback can cause instability: stability analysis is essential.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Attempt these on your own, then check your working against your notes and textbook. Differentiate open-loop and closed-loop systems with two examples each. Derive C/R = G/(1 + GH). G = 50, H = 0.2: find the closed-loop gain. Why does feedback improve accuracy but risk instability?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E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Control Systems · Unit 1 · Dr. Mitesh Astik, NMAMIT Nitte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6858000" y="82296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3258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8229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chemeClr val="accent1"/>
                </a:solidFill>
              </a:rPr>
              <a:t>UNIT 1  ·  8 hours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Open-Loop and Closed-Loop Control Systems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9260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3E6E9"/>
                </a:solidFill>
              </a:rPr>
              <a:t>Introduction and Mathematical Modelling of Physical Systems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Control Systems  (22EEG53)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3E6E9"/>
                </a:solidFill>
              </a:rPr>
              <a:t>Dr. Mitesh Astik · Dept. of Electrical and Electronics Engineering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3E6E9"/>
                </a:solidFill>
              </a:rPr>
              <a:t>NMAM Institute of Technology, Nitte · 2025-26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Learning objectives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Define a control system and its basic terms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Distinguish open-loop from closed-loop systems with examples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Derive the closed-loop transfer function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Explain the effects of feedback on gain and sensitivity</a:t>
            </a:r>
            <a:endParaRPr lang="en-US" sz="2200" dirty="0"/>
          </a:p>
        </p:txBody>
      </p:sp>
      <p:sp>
        <p:nvSpPr>
          <p:cNvPr id="7" name="Card"/>
          <p:cNvSpPr/>
          <p:nvPr/>
        </p:nvSpPr>
        <p:spPr>
          <a:xfrm>
            <a:off x="5577840" y="1188720"/>
            <a:ext cx="3108960" cy="338328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715000" y="12618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Syllabus context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715000" y="1645920"/>
            <a:ext cx="283464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Introduction and mathematical modelling of physical systems: open loop and closed loop systems, examples, control system components. Transfer function of physical systems: mechanical systems (translational and rotational), electrical systems, analogous systems, block diagram reduction techniques, signal flow graphs.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What is a control system?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Definition: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an interconnection of components that makes a plant (process) behave in a desired way.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Input (reference) r: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desired value of the output.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Output (controlled variable) c: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the quantity being controlled.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Plant: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the system to be controlled; controller: the component that generates the actuating signal.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Disturbances: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unwanted inputs that tend to move the output away from the desired value.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Open-loop system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pic>
        <p:nvPicPr>
          <p:cNvPr id="6" name="Image 0" descr="cs_ol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8229600" cy="181154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2972835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No feedback path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3366027"/>
            <a:ext cx="4023360" cy="1297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Output has no effect on the control action.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Accuracy depends on calibration of the controller.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4663440" y="3366027"/>
            <a:ext cx="4023360" cy="1297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Cannot compensate for disturbances or parameter drift.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Closed-loop (feedback) system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pic>
        <p:nvPicPr>
          <p:cNvPr id="6" name="Image 0" descr="cs_cl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4210" y="1143000"/>
            <a:ext cx="6175579" cy="21488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33101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Negative feedback loop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370332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Output is measured and fed back.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Error E = R − B = R − H·C drives the controller.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4663440" y="370332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Disturbances are corrected automatically.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Examples: thermostat, cruise control, servo.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Open loop versus closed loop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108960"/>
              </a:tblGrid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Feature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Open loop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Closed loop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Feedback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None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Present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Accuracy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Depends on calibration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High; self-correcting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Response to disturbance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 correction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Reduces effect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Stability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 problem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Can become unstable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Complexity and cost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Simple, cheap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More components, costly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Examples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Toaster, traffic signal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Thermostat, servo, cruise control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Deriving the closed-loop transfer function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sp>
        <p:nvSpPr>
          <p:cNvPr id="6" name="Flow step"/>
          <p:cNvSpPr/>
          <p:nvPr/>
        </p:nvSpPr>
        <p:spPr>
          <a:xfrm>
            <a:off x="45720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7" name="Step number"/>
          <p:cNvSpPr/>
          <p:nvPr/>
        </p:nvSpPr>
        <p:spPr>
          <a:xfrm>
            <a:off x="56692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6692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Forward path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C(s) = G(s) E(s)</a:t>
            </a:r>
            <a:endParaRPr lang="en-US" sz="1500" dirty="0"/>
          </a:p>
        </p:txBody>
      </p:sp>
      <p:sp>
        <p:nvSpPr>
          <p:cNvPr id="11" name="Flow step"/>
          <p:cNvSpPr/>
          <p:nvPr/>
        </p:nvSpPr>
        <p:spPr>
          <a:xfrm>
            <a:off x="254889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12" name="Step number"/>
          <p:cNvSpPr/>
          <p:nvPr/>
        </p:nvSpPr>
        <p:spPr>
          <a:xfrm>
            <a:off x="265861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65861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65861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Error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265861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E(s) = R(s) − B(s)</a:t>
            </a:r>
            <a:endParaRPr lang="en-US" sz="1500" dirty="0"/>
          </a:p>
        </p:txBody>
      </p:sp>
      <p:sp>
        <p:nvSpPr>
          <p:cNvPr id="16" name="Flow step"/>
          <p:cNvSpPr/>
          <p:nvPr/>
        </p:nvSpPr>
        <p:spPr>
          <a:xfrm>
            <a:off x="464058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17" name="Step number"/>
          <p:cNvSpPr/>
          <p:nvPr/>
        </p:nvSpPr>
        <p:spPr>
          <a:xfrm>
            <a:off x="475030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75030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75030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Feedback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475030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B(s) = H(s) C(s)</a:t>
            </a:r>
            <a:endParaRPr lang="en-US" sz="1500" dirty="0"/>
          </a:p>
        </p:txBody>
      </p:sp>
      <p:sp>
        <p:nvSpPr>
          <p:cNvPr id="21" name="Flow step"/>
          <p:cNvSpPr/>
          <p:nvPr/>
        </p:nvSpPr>
        <p:spPr>
          <a:xfrm>
            <a:off x="673227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accent1"/>
          </a:solidFill>
          <a:ln/>
        </p:spPr>
      </p:sp>
      <p:sp>
        <p:nvSpPr>
          <p:cNvPr id="22" name="Step number"/>
          <p:cNvSpPr/>
          <p:nvPr/>
        </p:nvSpPr>
        <p:spPr>
          <a:xfrm>
            <a:off x="684199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84199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84199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Eliminate E and B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684199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 = G(R − HC) ⇒ C(1 + GH) = G R</a:t>
            </a:r>
            <a:endParaRPr lang="en-US" sz="1500" dirty="0"/>
          </a:p>
        </p:txBody>
      </p:sp>
      <p:sp>
        <p:nvSpPr>
          <p:cNvPr id="26" name="Highlight strip"/>
          <p:cNvSpPr/>
          <p:nvPr/>
        </p:nvSpPr>
        <p:spPr>
          <a:xfrm>
            <a:off x="457200" y="3749040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40080" y="3749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C(s)/R(s) = G(s) / [1 + G(s)H(s)]  (negative feedback);   G/(1 − GH) for positive feedback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Effect of feedback on sensitivity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sp>
        <p:nvSpPr>
          <p:cNvPr id="6" name="Problem"/>
          <p:cNvSpPr/>
          <p:nvPr/>
        </p:nvSpPr>
        <p:spPr>
          <a:xfrm>
            <a:off x="457200" y="114300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1430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Problem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G = 100 and H = 0.1. Find the closed-loop gain; then find it if G falls by 10 % to 90.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 = G/(1 + GH) = 100/(1 + 10) = 9.09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With G = 90:  T = 90/(1 + 9) = 9.00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Change in T = (9.09 − 9.00)/9.09 ≈ 1 % for a 10 % change in G</a:t>
            </a:r>
            <a:endParaRPr lang="en-US" sz="2200" dirty="0"/>
          </a:p>
        </p:txBody>
      </p:sp>
      <p:sp>
        <p:nvSpPr>
          <p:cNvPr id="9" name="Answer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Answer:  Feedback reduces sensitivity: 10 % change in G → ≈ 1 % in 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Effects of feedback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457200" y="1188720"/>
            <a:ext cx="2621280" cy="342900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9436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Gain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645920"/>
            <a:ext cx="234696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Overall gain reduced by 1/(1 + GH) for negative feedback.</a:t>
            </a:r>
            <a:endParaRPr lang="en-US" sz="2000" dirty="0"/>
          </a:p>
        </p:txBody>
      </p:sp>
      <p:sp>
        <p:nvSpPr>
          <p:cNvPr id="9" name="Card"/>
          <p:cNvSpPr/>
          <p:nvPr/>
        </p:nvSpPr>
        <p:spPr>
          <a:xfrm>
            <a:off x="3261360" y="1188720"/>
            <a:ext cx="2621280" cy="342900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39852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Sensitivity and accuracy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398520" y="1645920"/>
            <a:ext cx="234696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Less sensitive to parameter variations and disturbances; steady-state error reduced.</a:t>
            </a:r>
            <a:endParaRPr lang="en-US" sz="2000" dirty="0"/>
          </a:p>
        </p:txBody>
      </p:sp>
      <p:sp>
        <p:nvSpPr>
          <p:cNvPr id="12" name="Card"/>
          <p:cNvSpPr/>
          <p:nvPr/>
        </p:nvSpPr>
        <p:spPr>
          <a:xfrm>
            <a:off x="6065520" y="1188720"/>
            <a:ext cx="2621280" cy="342900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20268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Stability and bandwidth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202680" y="1645920"/>
            <a:ext cx="234696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Bandwidth increases, but too much feedback can cause oscillation or instability.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Closed loop = feedback; open loop = no feedback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T(s) = G/(1 + GH) for negative feedback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Feedback reduces sensitivity to parameter changes and disturbances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Feedback can cause instability: stability analysis is essential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Practice questions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Q1.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Differentiate open-loop and closed-loop systems with two examples each.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Q2.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Derive C/R = G/(1 + GH).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Q3.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G = 50, H = 0.2: find the closed-loop gain.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Q4.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Why does feedback improve accuracy but risk instability?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trolSystems">
  <a:themeElements>
    <a:clrScheme name="ControlSystems">
      <a:dk1>
        <a:srgbClr val="0E2B33"/>
      </a:dk1>
      <a:lt1>
        <a:srgbClr val="FFFFFF"/>
      </a:lt1>
      <a:dk2>
        <a:srgbClr val="1B4D57"/>
      </a:dk2>
      <a:lt2>
        <a:srgbClr val="EAF3F3"/>
      </a:lt2>
      <a:accent1>
        <a:srgbClr val="F2A93B"/>
      </a:accent1>
      <a:accent2>
        <a:srgbClr val="1F7A8C"/>
      </a:accent2>
      <a:accent3>
        <a:srgbClr val="C93C20"/>
      </a:accent3>
      <a:accent4>
        <a:srgbClr val="58707A"/>
      </a:accent4>
      <a:accent5>
        <a:srgbClr val="3E7CB1"/>
      </a:accent5>
      <a:accent6>
        <a:srgbClr val="7A4FD6"/>
      </a:accent6>
      <a:hlink>
        <a:srgbClr val="3E7CB1"/>
      </a:hlink>
      <a:folHlink>
        <a:srgbClr val="58707A"/>
      </a:folHlink>
    </a:clrScheme>
    <a:fontScheme name="ControlSystem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Dept. of EEE, NMAMIT, Nitte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Open-Loop and Closed-Loop Control Systems</dc:title>
  <dc:subject>PptxGenJS Presentation</dc:subject>
  <dc:creator>Dr. Mitesh Astik</dc:creator>
  <cp:lastModifiedBy>Dr. Mitesh Astik</cp:lastModifiedBy>
  <cp:revision>1</cp:revision>
  <dcterms:created xsi:type="dcterms:W3CDTF">2026-10-29T10:05:23Z</dcterms:created>
  <dcterms:modified xsi:type="dcterms:W3CDTF">2026-10-29T10:05:23Z</dcterms:modified>
</cp:coreProperties>
</file>