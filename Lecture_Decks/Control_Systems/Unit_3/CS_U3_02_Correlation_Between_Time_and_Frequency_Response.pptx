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3 · Correlation Between Time and Frequency Responses" id="{089cba97-bf84-594e-a3db-ed14cd3da4eb}">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"Correlation Between Time and Frequency Responses", part of Unit 3 (Frequency Domain Analysis)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Relate Mp and Mr through ζ. Relate bandwidth to rise and settling time. Relate phase margin to damping ratio. Estimate time-domain performance from frequency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frequency response and the time response are two views of the same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Mr corresponds to large overshoot: both depend only on zeta.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gives relative stability, bandwidth gives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margin directly indicates the damping of the closed loop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translate a time domain specification into a frequency domain design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Mr and Mp both depend only on ζ. tr ∝ 1/ωb; larger bandwidth = faster response. PM ≈ 100 ζ for ζ &lt; 0.6. Use frequency plots to predict the transient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Find Mr for Mp = 25 %. Why does a large bandwidth reduce rise time? PM = 45°: estimate ζ and Mp. Tabulate ζ, Mr, Mp for ζ = 0.2,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3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3  ·  7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Correlation Between Time and Frequency Responses</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Frequency Domain Analysis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Relate Mp and Mr through ζ</a:t>
            </a:r>
            <a:endParaRPr lang="en-US" sz="2200" dirty="0"/>
          </a:p>
          <a:p>
            <a:pPr marL="342900" indent="-342900">
              <a:spcAft>
                <a:spcPts val="600"/>
              </a:spcAft>
              <a:buSzPct val="100000"/>
              <a:buChar char="•"/>
            </a:pPr>
            <a:r>
              <a:rPr lang="en-US" sz="2200" dirty="0">
                <a:solidFill>
                  <a:schemeClr val="tx1"/>
                </a:solidFill>
              </a:rPr>
              <a:t>Relate bandwidth to rise and settling time</a:t>
            </a:r>
            <a:endParaRPr lang="en-US" sz="2200" dirty="0"/>
          </a:p>
          <a:p>
            <a:pPr marL="342900" indent="-342900">
              <a:spcAft>
                <a:spcPts val="600"/>
              </a:spcAft>
              <a:buSzPct val="100000"/>
              <a:buChar char="•"/>
            </a:pPr>
            <a:r>
              <a:rPr lang="en-US" sz="2200" dirty="0">
                <a:solidFill>
                  <a:schemeClr val="tx1"/>
                </a:solidFill>
              </a:rPr>
              <a:t>Relate phase margin to damping ratio</a:t>
            </a:r>
            <a:endParaRPr lang="en-US" sz="2200" dirty="0"/>
          </a:p>
          <a:p>
            <a:pPr marL="342900" indent="-342900">
              <a:spcAft>
                <a:spcPts val="600"/>
              </a:spcAft>
              <a:buSzPct val="100000"/>
              <a:buChar char="•"/>
            </a:pPr>
            <a:r>
              <a:rPr lang="en-US" sz="2200" dirty="0">
                <a:solidFill>
                  <a:schemeClr val="tx1"/>
                </a:solidFill>
              </a:rPr>
              <a:t>Estimate time-domain performance from frequency plots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Frequency domain analysis: frequency domain specifications peak resonance, resonant frequency, bandwidth and cut-off rate; correlation between time and frequency responses for second-order systems; Bode plot, gain margin and phase margin.</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correlate?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Both responses are determined by the same parameters ωn and ζ.</a:t>
            </a:r>
            <a:endParaRPr lang="en-US" sz="2200" dirty="0"/>
          </a:p>
          <a:p>
            <a:pPr marL="342900" indent="-342900">
              <a:spcAft>
                <a:spcPts val="600"/>
              </a:spcAft>
              <a:buSzPct val="100000"/>
              <a:buChar char="•"/>
            </a:pPr>
            <a:r>
              <a:rPr lang="en-US" sz="2200" dirty="0">
                <a:solidFill>
                  <a:schemeClr val="tx1"/>
                </a:solidFill>
              </a:rPr>
              <a:t>Frequency tests are easy; time-domain specs are what the user cares about.</a:t>
            </a:r>
            <a:endParaRPr lang="en-US" sz="2200" dirty="0"/>
          </a:p>
          <a:p>
            <a:pPr marL="342900" indent="-342900">
              <a:spcAft>
                <a:spcPts val="600"/>
              </a:spcAft>
              <a:buSzPct val="100000"/>
              <a:buChar char="•"/>
            </a:pPr>
            <a:r>
              <a:rPr lang="en-US" sz="2200" dirty="0">
                <a:solidFill>
                  <a:schemeClr val="tx1"/>
                </a:solidFill>
              </a:rPr>
              <a:t>For a second-order (or dominant second-order) system exact formulas relate them.</a:t>
            </a:r>
            <a:endParaRPr lang="en-US" sz="2200" dirty="0"/>
          </a:p>
          <a:p>
            <a:pPr marL="342900" indent="-342900">
              <a:spcAft>
                <a:spcPts val="600"/>
              </a:spcAft>
              <a:buSzPct val="100000"/>
              <a:buChar char="•"/>
            </a:pPr>
            <a:r>
              <a:rPr lang="en-US" sz="2200" dirty="0">
                <a:solidFill>
                  <a:schemeClr val="tx1"/>
                </a:solidFill>
              </a:rPr>
              <a:t>Design may be done in either domain.</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Peak overshoot Mp versus resonant peak Mr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743200"/>
                <a:gridCol w="3291840"/>
              </a:tblGrid>
              <a:tr h="483326">
                <a:tc>
                  <a:txBody>
                    <a:bodyPr/>
                    <a:lstStyle/>
                    <a:p>
                      <a:pPr indent="0" marL="0">
                        <a:buNone/>
                      </a:pPr>
                      <a:r>
                        <a:rPr lang="en-US" sz="1400" b="1" dirty="0">
                          <a:solidFill>
                            <a:schemeClr val="bg1"/>
                          </a:solidFill>
                        </a:rPr>
                        <a:t>ζ</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Mp (%)</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483326">
                <a:tc>
                  <a:txBody>
                    <a:bodyPr/>
                    <a:lstStyle/>
                    <a:p>
                      <a:pPr indent="0" marL="0">
                        <a:buNone/>
                      </a:pPr>
                      <a:r>
                        <a:rPr lang="en-US" sz="1400" b="1" dirty="0">
                          <a:solidFill>
                            <a:schemeClr val="tx1"/>
                          </a:solidFill>
                        </a:rPr>
                        <a:t>0.2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52.7</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0.3</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37.2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83326">
                <a:tc>
                  <a:txBody>
                    <a:bodyPr/>
                    <a:lstStyle/>
                    <a:p>
                      <a:pPr indent="0" marL="0">
                        <a:buNone/>
                      </a:pPr>
                      <a:r>
                        <a:rPr lang="en-US" sz="1400" b="1" dirty="0">
                          <a:solidFill>
                            <a:schemeClr val="tx1"/>
                          </a:solidFill>
                        </a:rPr>
                        <a:t>0.4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1.36</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0.5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1.15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16.3</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83326">
                <a:tc>
                  <a:txBody>
                    <a:bodyPr/>
                    <a:lstStyle/>
                    <a:p>
                      <a:pPr indent="0" marL="0">
                        <a:buNone/>
                      </a:pPr>
                      <a:r>
                        <a:rPr lang="en-US" sz="1400" b="1" dirty="0">
                          <a:solidFill>
                            <a:schemeClr val="tx1"/>
                          </a:solidFill>
                        </a:rPr>
                        <a:t>0.6</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0.707</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4.3</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Other correlations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Bandwidth and speed</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ωb ∝ ωn, so tr ∝ 1/ωb: larger bandwidth gives smaller rise time.</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ωr and tp</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tp = π/ωd, and ωr ≈ ωn√(1 − 2ζ²): larger ωr gives smaller peak time.</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Settling</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ts = 4/(ζωn): a large ωn (large bandwidth) or damping gives a small ts.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Phase margin and damping ratio</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3291840"/>
                <a:gridCol w="3474720"/>
              </a:tblGrid>
              <a:tr h="502920">
                <a:tc>
                  <a:txBody>
                    <a:bodyPr/>
                    <a:lstStyle/>
                    <a:p>
                      <a:pPr indent="0" marL="0">
                        <a:buNone/>
                      </a:pPr>
                      <a:r>
                        <a:rPr lang="en-US" sz="1400" b="1" dirty="0">
                          <a:solidFill>
                            <a:schemeClr val="bg1"/>
                          </a:solidFill>
                        </a:rPr>
                        <a:t>ζ</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Phase margin PM (°)</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Rule of thumb PM ≈ 100 ζ</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0.2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22.6</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0.4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43.1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0.6</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59.2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60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0.707</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65.5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7" name="Highlight strip"/>
          <p:cNvSpPr/>
          <p:nvPr/>
        </p:nvSpPr>
        <p:spPr>
          <a:xfrm>
            <a:off x="457200" y="4023360"/>
            <a:ext cx="8229600" cy="594360"/>
          </a:xfrm>
          <a:prstGeom prst="roundRect">
            <a:avLst>
              <a:gd name="adj" fmla="val 12308"/>
            </a:avLst>
          </a:prstGeom>
          <a:solidFill>
            <a:schemeClr val="tx2"/>
          </a:solidFill>
          <a:ln/>
        </p:spPr>
      </p:sp>
      <p:sp>
        <p:nvSpPr>
          <p:cNvPr id="8" name="Text 4"/>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Exact: PM = tan⁻¹ { 2ζ / √[ √(1 + 4ζ⁴) − 2ζ² ] }</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use of correlation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unity-feedback system must have Mp ≤ 16 %. Estimate the required ζ, Mr limit and phase margin.</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Mp = 16 %: ζ ≈ 0.5</a:t>
            </a:r>
            <a:endParaRPr lang="en-US" sz="2200" dirty="0"/>
          </a:p>
          <a:p>
            <a:pPr marL="342900" indent="-342900">
              <a:spcAft>
                <a:spcPts val="600"/>
              </a:spcAft>
              <a:buSzPct val="100000"/>
              <a:buChar char="•"/>
            </a:pPr>
            <a:r>
              <a:rPr lang="en-US" sz="2200" dirty="0">
                <a:solidFill>
                  <a:schemeClr val="tx1"/>
                </a:solidFill>
              </a:rPr>
              <a:t>Mr = 1/(2ζ√(1 − ζ²)) = 1/(2 × 0.5 × 0.866) = 1.155 (1.25 dB)</a:t>
            </a:r>
            <a:endParaRPr lang="en-US" sz="2200" dirty="0"/>
          </a:p>
          <a:p>
            <a:pPr marL="342900" indent="-342900">
              <a:spcAft>
                <a:spcPts val="600"/>
              </a:spcAft>
              <a:buSzPct val="100000"/>
              <a:buChar char="•"/>
            </a:pPr>
            <a:r>
              <a:rPr lang="en-US" sz="2200" dirty="0">
                <a:solidFill>
                  <a:schemeClr val="tx1"/>
                </a:solidFill>
              </a:rPr>
              <a:t>PM = tan⁻¹ [1/√(√1.25 − 0.5)] = tan⁻¹(1.272)</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ζ ≈ 0.5,  Mr ≈ 1.15,  PM ≈ 52°</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Mr and Mp both depend only on ζ</a:t>
            </a:r>
            <a:endParaRPr lang="en-US" sz="2200" dirty="0"/>
          </a:p>
          <a:p>
            <a:pPr marL="342900" indent="-342900">
              <a:spcAft>
                <a:spcPts val="600"/>
              </a:spcAft>
              <a:buSzPct val="100000"/>
              <a:buChar char="•"/>
            </a:pPr>
            <a:r>
              <a:rPr lang="en-US" sz="2200" dirty="0">
                <a:solidFill>
                  <a:schemeClr val="tx1"/>
                </a:solidFill>
              </a:rPr>
              <a:t>tr ∝ 1/ωb; larger bandwidth = faster response</a:t>
            </a:r>
            <a:endParaRPr lang="en-US" sz="2200" dirty="0"/>
          </a:p>
          <a:p>
            <a:pPr marL="342900" indent="-342900">
              <a:spcAft>
                <a:spcPts val="600"/>
              </a:spcAft>
              <a:buSzPct val="100000"/>
              <a:buChar char="•"/>
            </a:pPr>
            <a:r>
              <a:rPr lang="en-US" sz="2200" dirty="0">
                <a:solidFill>
                  <a:schemeClr val="tx1"/>
                </a:solidFill>
              </a:rPr>
              <a:t>PM ≈ 100 ζ for ζ &lt; 0.6</a:t>
            </a:r>
            <a:endParaRPr lang="en-US" sz="2200" dirty="0"/>
          </a:p>
          <a:p>
            <a:pPr marL="342900" indent="-342900">
              <a:spcAft>
                <a:spcPts val="600"/>
              </a:spcAft>
              <a:buSzPct val="100000"/>
              <a:buChar char="•"/>
            </a:pPr>
            <a:r>
              <a:rPr lang="en-US" sz="2200" dirty="0">
                <a:solidFill>
                  <a:schemeClr val="tx1"/>
                </a:solidFill>
              </a:rPr>
              <a:t>Use frequency plots to predict the transient behaviour</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Find Mr for Mp = 25 %.</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Why does a large bandwidth reduce rise time?</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PM = 45°: estimate ζ and Mp.</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Tabulate ζ, Mr, Mp for ζ = 0.2, 0.5.</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Between Time and Frequency Responses</dc:title>
  <dc:subject>PptxGenJS Presentation</dc:subject>
  <dc:creator>Dr. Mitesh Astik</dc:creator>
  <cp:lastModifiedBy>Dr. Mitesh Astik</cp:lastModifiedBy>
  <cp:revision>1</cp:revision>
  <dcterms:created xsi:type="dcterms:W3CDTF">2026-10-29T10:05:23Z</dcterms:created>
  <dcterms:modified xsi:type="dcterms:W3CDTF">2026-10-29T10:05:23Z</dcterms:modified>
</cp:coreProperties>
</file>