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it 3 · Frequency Response and Frequency Domain Specifications" id="{a586c771-66d1-1d74-2d41-2c290bb213cb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In this session we study "Frequency Response and Frequency Domain Specifications", part of Unit 3 (Frequency Domain Analysis) of Control Systems.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the end of this topic you should be able to do the following. Define the frequency response of a system. Define Mr, ωr, bandwidth and cut-off rate. Derive Mr and ωr for a second-order system. Compute the specifications from ωn and ζ.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sinusoidal input to an LTI system produces a sinusoidal output of the same frequency, with changed amplitude and phase.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large peak means poor relative stability; a large bandwidth means fast response.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Differentiate M with respect to omega and set to zero to find the peak. For zeta greater than zero point seven oh seven there is no peak.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Small damping gives a tall narrow resonance peak.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bandwidth is greater than the resonant frequency.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larger bandwidth gives a faster time response.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summarise this topic. Frequency response: G(jω), magnitude and phase vs ω. ωr = ωn√(1 − 2ζ²), Mr = 1/(2ζ√(1 − ζ²)). Bandwidth: where M drops to 0.707 (−3 dB). Larger bandwidth ⇒ faster response.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Attempt these on your own, then check your working against your notes and textbook. Define Mr, ωr, bandwidth and cut-off rate. Derive Mr and ωr for a second-order system. ωn = 5, ζ = 0.3: find Mr and ωr. How is bandwidth related to rise time?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E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Control Systems · Unit 3 · Dr. Mitesh Astik, NMAMIT Nitte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6858000" y="82296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3258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822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chemeClr val="accent1"/>
                </a:solidFill>
              </a:rPr>
              <a:t>UNIT 3  ·  7 hours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Frequency Response and Frequency Domain Specifications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9260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3E6E9"/>
                </a:solidFill>
              </a:rPr>
              <a:t>Frequency Domain Analysis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Control Systems  (22EEG53)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3E6E9"/>
                </a:solidFill>
              </a:rPr>
              <a:t>Dr. Mitesh Astik · Dept. of Electrical and Electronics Engineering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3E6E9"/>
                </a:solidFill>
              </a:rPr>
              <a:t>NMAM Institute of Technology, Nitte · 2025-26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Learning objectives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Define the frequency response of a system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Define Mr, ωr, bandwidth and cut-off rate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Derive Mr and ωr for a second-order system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Compute the specifications from ωn and ζ</a:t>
            </a:r>
            <a:endParaRPr lang="en-US" sz="2200" dirty="0"/>
          </a:p>
        </p:txBody>
      </p:sp>
      <p:sp>
        <p:nvSpPr>
          <p:cNvPr id="7" name="Card"/>
          <p:cNvSpPr/>
          <p:nvPr/>
        </p:nvSpPr>
        <p:spPr>
          <a:xfrm>
            <a:off x="5577840" y="1188720"/>
            <a:ext cx="3108960" cy="338328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715000" y="12618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Syllabus context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1645920"/>
            <a:ext cx="283464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Frequency domain analysis: frequency domain specifications peak resonance, resonant frequency, bandwidth and cut-off rate; correlation between time and frequency responses for second-order systems; Bode plot, gain margin and phase margin.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Frequency response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Definition: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steady-state output of an LTI system for a sinusoidal input of varying frequency.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Obtain by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putting s = jω in the transfer function: M(ω)∠φ(ω) = G(jω).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Magnitude M(ω)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= |C/R(jω)| and phase φ(ω) are plotted against ω.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b="1" dirty="0">
                <a:solidFill>
                  <a:schemeClr val="tx2"/>
                </a:solidFill>
              </a:rPr>
              <a:t>Advantages: </a:t>
            </a:r>
            <a:pPr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1"/>
                </a:solidFill>
              </a:rPr>
              <a:t>easy to measure experimentally; stability and accuracy readable from plots; extends to systems whose transfer function is unknown.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Frequency domain specifications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</a:t>
            </a:r>
            <a:endParaRPr lang="en-US" sz="1600" dirty="0"/>
          </a:p>
        </p:txBody>
      </p:sp>
      <p:pic>
        <p:nvPicPr>
          <p:cNvPr id="6" name="Image 0" descr="freq_spec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663" y="1188720"/>
            <a:ext cx="4989715" cy="32004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760720" y="1188720"/>
            <a:ext cx="29260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Resonant peak Mr: maximum of |M(jω)|.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Resonant frequency ωr: frequency at which Mr occurs.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Bandwidth ωb: frequency where M falls to 0.707 (−3 dB) of its low-frequency value.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Cut-off rate: slope of the magnitude curve beyond ωb (dB/decade).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Second-order system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</a:t>
            </a:r>
            <a:endParaRPr lang="en-US" sz="1600" dirty="0"/>
          </a:p>
        </p:txBody>
      </p:sp>
      <p:sp>
        <p:nvSpPr>
          <p:cNvPr id="6" name="Formula"/>
          <p:cNvSpPr/>
          <p:nvPr/>
        </p:nvSpPr>
        <p:spPr>
          <a:xfrm>
            <a:off x="457200" y="1371600"/>
            <a:ext cx="402336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57200" y="1371600"/>
            <a:ext cx="402336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M(jω) = 1/√[(1 − u²)² + (2ζu)²]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30428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u = ω/ωn</a:t>
            </a:r>
            <a:endParaRPr lang="en-US" sz="1300" dirty="0"/>
          </a:p>
        </p:txBody>
      </p:sp>
      <p:sp>
        <p:nvSpPr>
          <p:cNvPr id="9" name="Formula"/>
          <p:cNvSpPr/>
          <p:nvPr/>
        </p:nvSpPr>
        <p:spPr>
          <a:xfrm>
            <a:off x="4663440" y="1371600"/>
            <a:ext cx="402336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663440" y="1371600"/>
            <a:ext cx="402336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ωr = ωn √(1 − 2ζ²)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663440" y="230428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ζ ≤ 0.707</a:t>
            </a:r>
            <a:endParaRPr lang="en-US" sz="1300" dirty="0"/>
          </a:p>
        </p:txBody>
      </p:sp>
      <p:sp>
        <p:nvSpPr>
          <p:cNvPr id="12" name="Formula"/>
          <p:cNvSpPr/>
          <p:nvPr/>
        </p:nvSpPr>
        <p:spPr>
          <a:xfrm>
            <a:off x="457200" y="2788920"/>
            <a:ext cx="402336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57200" y="2788920"/>
            <a:ext cx="402336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 = 1/(2ζ√(1 − ζ²))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372160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ζ ≤ 0.707</a:t>
            </a:r>
            <a:endParaRPr lang="en-US" sz="1300" dirty="0"/>
          </a:p>
        </p:txBody>
      </p:sp>
      <p:sp>
        <p:nvSpPr>
          <p:cNvPr id="15" name="Formula"/>
          <p:cNvSpPr/>
          <p:nvPr/>
        </p:nvSpPr>
        <p:spPr>
          <a:xfrm>
            <a:off x="4663440" y="2788920"/>
            <a:ext cx="402336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663440" y="2788920"/>
            <a:ext cx="4023360" cy="914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ωb = ωn[(1 − 2ζ²) + √(4ζ⁴ − 4ζ² + 2)]^½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4663440" y="372160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bandwidth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Mr and ωr versus ζ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</a:t>
            </a:r>
            <a:endParaRPr lang="en-US" sz="1600" dirty="0"/>
          </a:p>
        </p:txBody>
      </p:sp>
      <p:pic>
        <p:nvPicPr>
          <p:cNvPr id="6" name="Image 0" descr="mr_wr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5341" y="1143000"/>
            <a:ext cx="5693318" cy="21488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342900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Mr rises sharply as ζ → 0.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Mr = 1 for ζ ≥ 0.707 (no peak).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4663440" y="342900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ωr falls from ωn to 0 as ζ → 0.707.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Numerical: second-order specifications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</a:t>
            </a:r>
            <a:endParaRPr lang="en-US" sz="1600" dirty="0"/>
          </a:p>
        </p:txBody>
      </p:sp>
      <p:sp>
        <p:nvSpPr>
          <p:cNvPr id="6" name="Problem"/>
          <p:cNvSpPr/>
          <p:nvPr/>
        </p:nvSpPr>
        <p:spPr>
          <a:xfrm>
            <a:off x="457200" y="114300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1430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Problem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ωn = 10 rad/s, ζ = 0.4. Find ωr, Mr and bandwidth.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ωr = 10√(1 − 2 × 0.16) = 10√0.68 = 8.25 rad/s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Mr = 1/(2 × 0.4 × √(1 − 0.16)) = 1/(0.8 × 0.9165) = 1.364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ωb = 10 [0.68 + √(0.1024 − 0.64 + 2)]^½ = 10 [0.68 + 1.2093]^½</a:t>
            </a:r>
            <a:endParaRPr lang="en-US" sz="2200" dirty="0"/>
          </a:p>
        </p:txBody>
      </p:sp>
      <p:sp>
        <p:nvSpPr>
          <p:cNvPr id="9" name="Answer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Answer:  ωr = 8.25 rad/s, Mr = 1.364 (2.7 dB), ωb = 13.75 rad/s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Cut-off rate and bandwidth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Cut-off rate: slope of the high-frequency asymptote: −20 dB/dec for 1st order, −40 dB/dec for 2nd order.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Large bandwidth: fast rise time and good tracking, but also passes noise.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Bandwidth ∝ ωn: ωb·tr ≈ constant (≈ 2.2 for first order).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Specifications Mr and ωb are the frequency-domain equivalents of Mp and tr.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Frequency response: G(jω), magnitude and phase vs ω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ωr = ωn√(1 − 2ζ²), Mr = 1/(2ζ√(1 − ζ²))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Bandwidth: where M drops to 0.707 (−3 dB)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Larger bandwidth ⇒ faster response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Practice questions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U3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Q1.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Define Mr, ωr, bandwidth and cut-off rate.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Q2.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Derive Mr and ωr for a second-order system.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Q3.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ωn = 5, ζ = 0.3: find Mr and ωr.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Q4.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How is bandwidth related to rise time?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trolSystems">
  <a:themeElements>
    <a:clrScheme name="ControlSystems">
      <a:dk1>
        <a:srgbClr val="0E2B33"/>
      </a:dk1>
      <a:lt1>
        <a:srgbClr val="FFFFFF"/>
      </a:lt1>
      <a:dk2>
        <a:srgbClr val="1B4D57"/>
      </a:dk2>
      <a:lt2>
        <a:srgbClr val="EAF3F3"/>
      </a:lt2>
      <a:accent1>
        <a:srgbClr val="F2A93B"/>
      </a:accent1>
      <a:accent2>
        <a:srgbClr val="1F7A8C"/>
      </a:accent2>
      <a:accent3>
        <a:srgbClr val="C93C20"/>
      </a:accent3>
      <a:accent4>
        <a:srgbClr val="58707A"/>
      </a:accent4>
      <a:accent5>
        <a:srgbClr val="3E7CB1"/>
      </a:accent5>
      <a:accent6>
        <a:srgbClr val="7A4FD6"/>
      </a:accent6>
      <a:hlink>
        <a:srgbClr val="3E7CB1"/>
      </a:hlink>
      <a:folHlink>
        <a:srgbClr val="58707A"/>
      </a:folHlink>
    </a:clrScheme>
    <a:fontScheme name="ControlSystem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Dept. of EEE, NMAMIT, Nitte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Frequency Response and Frequency Domain Specifications</dc:title>
  <dc:subject>PptxGenJS Presentation</dc:subject>
  <dc:creator>Dr. Mitesh Astik</dc:creator>
  <cp:lastModifiedBy>Dr. Mitesh Astik</cp:lastModifiedBy>
  <cp:revision>1</cp:revision>
  <dcterms:created xsi:type="dcterms:W3CDTF">2026-10-29T10:05:23Z</dcterms:created>
  <dcterms:modified xsi:type="dcterms:W3CDTF">2026-10-29T10:05:23Z</dcterms:modified>
</cp:coreProperties>
</file>