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3 · Bode Plot: Construction" id="{c7fd653f-0a47-bfa0-73c7-5ed0120f8f9d}">
          <p14:sldIdLst>
            <p14:sldId id="256"/>
            <p14:sldId id="257"/>
            <p14:sldId id="258"/>
            <p14:sldId id="259"/>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"Bode Plot: Construction", part of Unit 3 (Frequency Domain Analysis) of Control Systems.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Explain the Bode plot and decibel scale. Plot the asymptotic magnitude and phase of standard factors. Construct the Bode plot of a given G(s). Determine the slope and corner frequencies.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Bode plot is the most widely used frequency response 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error of the straight line approximation is at most three dB at the corner of a first order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corner frequency the actual curve is three dB below the asymptotes.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straight line approximation must be corrected by the resonance peak for low zeta.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ω on a semilog sheet and draw asymptotes first, then refine.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five steps: factors, corners, initial slope, slope changes,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slope and the number of decades to reach zero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Bode: 20 log|G| (dB) and phase vs log ω. Factor slopes: ±20 dB/dec per pole/zero, integrator −20. Corner frequency = 1/T; at corner −3 dB, −45°. Initial slope = −20 ×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Draw the asymptotic Bode magnitude plot of G = 20/[(1 + 0.5s)(1 + 0.05s)]. State the slope contributions of poles and zeros. Find the phase at ω = 1/T for 1/(1 + sT). Construct the Bode plot for G = 10/[s(s + 10)].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2B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Control Systems · Unit 3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3  ·  7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Bode Plot: Construction</a:t>
            </a:r>
            <a:endParaRPr lang="en-US" sz="36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3E6E9"/>
                </a:solidFill>
              </a:rPr>
              <a:t>Frequency Domain Analysis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Control Systems  (22EEG53)</a:t>
            </a:r>
            <a:endParaRPr lang="en-US" sz="1400" dirty="0"/>
          </a:p>
          <a:p>
            <a:pPr indent="0" marL="0">
              <a:buNone/>
            </a:pPr>
            <a:r>
              <a:rPr lang="en-US" sz="1400" dirty="0">
                <a:solidFill>
                  <a:srgbClr val="D3E6E9"/>
                </a:solidFill>
              </a:rPr>
              <a:t>Dr. Mitesh Astik · Dept. of Electrical and Electronics Engineering</a:t>
            </a:r>
            <a:endParaRPr lang="en-US" sz="1400" dirty="0"/>
          </a:p>
          <a:p>
            <a:pPr indent="0" marL="0">
              <a:buNone/>
            </a:pPr>
            <a:r>
              <a:rPr lang="en-US" sz="1400" dirty="0">
                <a:solidFill>
                  <a:srgbClr val="D3E6E9"/>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Explain the Bode plot and decibel scale</a:t>
            </a:r>
            <a:endParaRPr lang="en-US" sz="2200" dirty="0"/>
          </a:p>
          <a:p>
            <a:pPr marL="342900" indent="-342900">
              <a:spcAft>
                <a:spcPts val="600"/>
              </a:spcAft>
              <a:buSzPct val="100000"/>
              <a:buChar char="•"/>
            </a:pPr>
            <a:r>
              <a:rPr lang="en-US" sz="2200" dirty="0">
                <a:solidFill>
                  <a:schemeClr val="tx1"/>
                </a:solidFill>
              </a:rPr>
              <a:t>Plot the asymptotic magnitude and phase of standard factors</a:t>
            </a:r>
            <a:endParaRPr lang="en-US" sz="2200" dirty="0"/>
          </a:p>
          <a:p>
            <a:pPr marL="342900" indent="-342900">
              <a:spcAft>
                <a:spcPts val="600"/>
              </a:spcAft>
              <a:buSzPct val="100000"/>
              <a:buChar char="•"/>
            </a:pPr>
            <a:r>
              <a:rPr lang="en-US" sz="2200" dirty="0">
                <a:solidFill>
                  <a:schemeClr val="tx1"/>
                </a:solidFill>
              </a:rPr>
              <a:t>Construct the Bode plot of a given G(s)</a:t>
            </a:r>
            <a:endParaRPr lang="en-US" sz="2200" dirty="0"/>
          </a:p>
          <a:p>
            <a:pPr marL="342900" indent="-342900">
              <a:spcAft>
                <a:spcPts val="600"/>
              </a:spcAft>
              <a:buSzPct val="100000"/>
              <a:buChar char="•"/>
            </a:pPr>
            <a:r>
              <a:rPr lang="en-US" sz="2200" dirty="0">
                <a:solidFill>
                  <a:schemeClr val="tx1"/>
                </a:solidFill>
              </a:rPr>
              <a:t>Determine the slope and corner frequencies</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1800" dirty="0">
                <a:solidFill>
                  <a:schemeClr val="tx1"/>
                </a:solidFill>
              </a:rPr>
              <a:t>Frequency domain analysis: frequency domain specifications peak resonance, resonant frequency, bandwidth and cut-off rate; correlation between time and frequency responses for second-order systems; Bode plot, gain margin and phase margin.</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What is a Bode plot?</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b="1" dirty="0">
                <a:solidFill>
                  <a:schemeClr val="tx2"/>
                </a:solidFill>
              </a:rPr>
              <a:t>Two plots: </a:t>
            </a:r>
            <a:pPr indent="0" marL="0">
              <a:spcAft>
                <a:spcPts val="600"/>
              </a:spcAft>
              <a:buNone/>
            </a:pPr>
            <a:r>
              <a:rPr lang="en-US" sz="2200" dirty="0">
                <a:solidFill>
                  <a:schemeClr val="tx1"/>
                </a:solidFill>
              </a:rPr>
              <a:t>magnitude 20 log|G(jω)| in dB and phase ∠G(jω) in degrees, both against log ω.</a:t>
            </a:r>
            <a:endParaRPr lang="en-US" sz="2200" dirty="0"/>
          </a:p>
          <a:p>
            <a:pPr marL="342900" indent="-342900">
              <a:spcAft>
                <a:spcPts val="600"/>
              </a:spcAft>
              <a:buSzPct val="100000"/>
              <a:buChar char="•"/>
            </a:pPr>
            <a:r>
              <a:rPr lang="en-US" sz="2200" b="1" dirty="0">
                <a:solidFill>
                  <a:schemeClr val="tx2"/>
                </a:solidFill>
              </a:rPr>
              <a:t>Log scale </a:t>
            </a:r>
            <a:pPr indent="0" marL="0">
              <a:spcAft>
                <a:spcPts val="600"/>
              </a:spcAft>
              <a:buNone/>
            </a:pPr>
            <a:r>
              <a:rPr lang="en-US" sz="2200" dirty="0">
                <a:solidFill>
                  <a:schemeClr val="tx1"/>
                </a:solidFill>
              </a:rPr>
              <a:t>turns products into sums: each factor of G(s) adds straight-line segments.</a:t>
            </a:r>
            <a:endParaRPr lang="en-US" sz="2200" dirty="0"/>
          </a:p>
          <a:p>
            <a:pPr marL="342900" indent="-342900">
              <a:spcAft>
                <a:spcPts val="600"/>
              </a:spcAft>
              <a:buSzPct val="100000"/>
              <a:buChar char="•"/>
            </a:pPr>
            <a:r>
              <a:rPr lang="en-US" sz="2200" b="1" dirty="0">
                <a:solidFill>
                  <a:schemeClr val="tx2"/>
                </a:solidFill>
              </a:rPr>
              <a:t>Octave and decade: </a:t>
            </a:r>
            <a:pPr indent="0" marL="0">
              <a:spcAft>
                <a:spcPts val="600"/>
              </a:spcAft>
              <a:buNone/>
            </a:pPr>
            <a:r>
              <a:rPr lang="en-US" sz="2200" dirty="0">
                <a:solidFill>
                  <a:schemeClr val="tx1"/>
                </a:solidFill>
              </a:rPr>
              <a:t>frequency ratio 2 and 10; −20 dB/dec = −6 dB/octave.</a:t>
            </a:r>
            <a:endParaRPr lang="en-US" sz="2200" dirty="0"/>
          </a:p>
          <a:p>
            <a:pPr marL="342900" indent="-342900">
              <a:spcAft>
                <a:spcPts val="600"/>
              </a:spcAft>
              <a:buSzPct val="100000"/>
              <a:buChar char="•"/>
            </a:pPr>
            <a:r>
              <a:rPr lang="en-US" sz="2200" b="1" dirty="0">
                <a:solidFill>
                  <a:schemeClr val="tx2"/>
                </a:solidFill>
              </a:rPr>
              <a:t>Uses: </a:t>
            </a:r>
            <a:pPr indent="0" marL="0">
              <a:spcAft>
                <a:spcPts val="600"/>
              </a:spcAft>
              <a:buNone/>
            </a:pPr>
            <a:r>
              <a:rPr lang="en-US" sz="2200" dirty="0">
                <a:solidFill>
                  <a:schemeClr val="tx1"/>
                </a:solidFill>
              </a:rPr>
              <a:t>stability margins, bandwidth, compensator design.</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Standard factors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468880"/>
                <a:gridCol w="3383280"/>
                <a:gridCol w="2377440"/>
              </a:tblGrid>
              <a:tr h="483326">
                <a:tc>
                  <a:txBody>
                    <a:bodyPr/>
                    <a:lstStyle/>
                    <a:p>
                      <a:pPr indent="0" marL="0">
                        <a:buNone/>
                      </a:pPr>
                      <a:r>
                        <a:rPr lang="en-US" sz="1400" b="1" dirty="0">
                          <a:solidFill>
                            <a:schemeClr val="bg1"/>
                          </a:solidFill>
                        </a:rPr>
                        <a:t>Factor</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Magnitude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Phase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r>
              <a:tr h="483326">
                <a:tc>
                  <a:txBody>
                    <a:bodyPr/>
                    <a:lstStyle/>
                    <a:p>
                      <a:pPr indent="0" marL="0">
                        <a:buNone/>
                      </a:pPr>
                      <a:r>
                        <a:rPr lang="en-US" sz="1400" b="1" dirty="0">
                          <a:solidFill>
                            <a:schemeClr val="tx1"/>
                          </a:solidFill>
                        </a:rPr>
                        <a:t>Constant K</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20 log K (flat)</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 (K &gt; 0)</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483326">
                <a:tc>
                  <a:txBody>
                    <a:bodyPr/>
                    <a:lstStyle/>
                    <a:p>
                      <a:pPr indent="0" marL="0">
                        <a:buNone/>
                      </a:pPr>
                      <a:r>
                        <a:rPr lang="en-US" sz="1400" b="1" dirty="0">
                          <a:solidFill>
                            <a:schemeClr val="tx1"/>
                          </a:solidFill>
                        </a:rPr>
                        <a:t>Integrator 1/(jω)ⁿ</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−20n dB/dec through 0 dB at ω = 1</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−90n°</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483326">
                <a:tc>
                  <a:txBody>
                    <a:bodyPr/>
                    <a:lstStyle/>
                    <a:p>
                      <a:pPr indent="0" marL="0">
                        <a:buNone/>
                      </a:pPr>
                      <a:r>
                        <a:rPr lang="en-US" sz="1400" b="1" dirty="0">
                          <a:solidFill>
                            <a:schemeClr val="tx1"/>
                          </a:solidFill>
                        </a:rPr>
                        <a:t>Differentiator (jω)</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+20 dB/dec</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+90°</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483326">
                <a:tc>
                  <a:txBody>
                    <a:bodyPr/>
                    <a:lstStyle/>
                    <a:p>
                      <a:pPr indent="0" marL="0">
                        <a:buNone/>
                      </a:pPr>
                      <a:r>
                        <a:rPr lang="en-US" sz="1400" b="1" dirty="0">
                          <a:solidFill>
                            <a:schemeClr val="tx1"/>
                          </a:solidFill>
                        </a:rPr>
                        <a:t>Simple lag 1/(1 + jωT)</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 dB then −20 dB/dec after corner 1/T</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 → −90° (−45° at 1/T)</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483326">
                <a:tc>
                  <a:txBody>
                    <a:bodyPr/>
                    <a:lstStyle/>
                    <a:p>
                      <a:pPr indent="0" marL="0">
                        <a:buNone/>
                      </a:pPr>
                      <a:r>
                        <a:rPr lang="en-US" sz="1400" b="1" dirty="0">
                          <a:solidFill>
                            <a:schemeClr val="tx1"/>
                          </a:solidFill>
                        </a:rPr>
                        <a:t>Simple lead (1 + jωT)</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 dB then +20 dB/dec after 1/T</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 → +90°</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483326">
                <a:tc>
                  <a:txBody>
                    <a:bodyPr/>
                    <a:lstStyle/>
                    <a:p>
                      <a:pPr indent="0" marL="0">
                        <a:buNone/>
                      </a:pPr>
                      <a:r>
                        <a:rPr lang="en-US" sz="1400" b="1" dirty="0">
                          <a:solidFill>
                            <a:schemeClr val="tx1"/>
                          </a:solidFill>
                        </a:rPr>
                        <a:t>Quadratic lag</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−40 dB/dec after ωn; peak near ωn</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 → −180°</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First-order lag: 1/(1 + jωT)</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pic>
        <p:nvPicPr>
          <p:cNvPr id="6" name="Image 0" descr="bode1 figure">    </p:cNvPr>
          <p:cNvPicPr>
            <a:picLocks noChangeAspect="1"/>
          </p:cNvPicPr>
          <p:nvPr/>
        </p:nvPicPr>
        <p:blipFill>
          <a:blip r:embed="rId1"/>
          <a:stretch>
            <a:fillRect/>
          </a:stretch>
        </p:blipFill>
        <p:spPr>
          <a:xfrm>
            <a:off x="665941" y="1188720"/>
            <a:ext cx="4703159" cy="3200400"/>
          </a:xfrm>
          <a:prstGeom prst="rect">
            <a:avLst/>
          </a:prstGeom>
        </p:spPr>
      </p:pic>
      <p:sp>
        <p:nvSpPr>
          <p:cNvPr id="7" name="Text 3"/>
          <p:cNvSpPr txBox="1"/>
          <p:nvPr/>
        </p:nvSpPr>
        <p:spPr>
          <a:xfrm>
            <a:off x="5760720" y="1188720"/>
            <a:ext cx="292608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Corner frequency ωc = 1/T.</a:t>
            </a:r>
            <a:endParaRPr lang="en-US" sz="2200" dirty="0"/>
          </a:p>
          <a:p>
            <a:pPr marL="342900" indent="-342900">
              <a:spcAft>
                <a:spcPts val="600"/>
              </a:spcAft>
              <a:buSzPct val="100000"/>
              <a:buChar char="•"/>
            </a:pPr>
            <a:r>
              <a:rPr lang="en-US" sz="2200" dirty="0">
                <a:solidFill>
                  <a:schemeClr val="tx1"/>
                </a:solidFill>
              </a:rPr>
              <a:t>Below ωc: 0 dB; above: −20 dB/dec.</a:t>
            </a:r>
            <a:endParaRPr lang="en-US" sz="2200" dirty="0"/>
          </a:p>
          <a:p>
            <a:pPr marL="342900" indent="-342900">
              <a:spcAft>
                <a:spcPts val="600"/>
              </a:spcAft>
              <a:buSzPct val="100000"/>
              <a:buChar char="•"/>
            </a:pPr>
            <a:r>
              <a:rPr lang="en-US" sz="2200" dirty="0">
                <a:solidFill>
                  <a:schemeClr val="tx1"/>
                </a:solidFill>
              </a:rPr>
              <a:t>At ωc exact magnitude = −3 dB, phase = −45°.</a:t>
            </a:r>
            <a:endParaRPr lang="en-US" sz="2200" dirty="0"/>
          </a:p>
          <a:p>
            <a:pPr marL="342900" indent="-342900">
              <a:spcAft>
                <a:spcPts val="600"/>
              </a:spcAft>
              <a:buSzPct val="100000"/>
              <a:buChar char="•"/>
            </a:pPr>
            <a:r>
              <a:rPr lang="en-US" sz="2200" dirty="0">
                <a:solidFill>
                  <a:schemeClr val="tx1"/>
                </a:solidFill>
              </a:rPr>
              <a:t>Phase goes 0° → −90°.</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Second-order lag with damping</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pic>
        <p:nvPicPr>
          <p:cNvPr id="6" name="Image 0" descr="bode2 figure">    </p:cNvPr>
          <p:cNvPicPr>
            <a:picLocks noChangeAspect="1"/>
          </p:cNvPicPr>
          <p:nvPr/>
        </p:nvPicPr>
        <p:blipFill>
          <a:blip r:embed="rId1"/>
          <a:stretch>
            <a:fillRect/>
          </a:stretch>
        </p:blipFill>
        <p:spPr>
          <a:xfrm>
            <a:off x="665124" y="1188720"/>
            <a:ext cx="4704792" cy="3200400"/>
          </a:xfrm>
          <a:prstGeom prst="rect">
            <a:avLst/>
          </a:prstGeom>
        </p:spPr>
      </p:pic>
      <p:sp>
        <p:nvSpPr>
          <p:cNvPr id="7" name="Text 3"/>
          <p:cNvSpPr txBox="1"/>
          <p:nvPr/>
        </p:nvSpPr>
        <p:spPr>
          <a:xfrm>
            <a:off x="5760720" y="1188720"/>
            <a:ext cx="2926080" cy="34290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tx1"/>
                </a:solidFill>
              </a:rPr>
              <a:t>Corner at ωn: slope changes by −40 dB/dec.</a:t>
            </a:r>
            <a:endParaRPr lang="en-US" sz="2000" dirty="0"/>
          </a:p>
          <a:p>
            <a:pPr marL="342900" indent="-342900">
              <a:spcAft>
                <a:spcPts val="600"/>
              </a:spcAft>
              <a:buSzPct val="100000"/>
              <a:buChar char="•"/>
            </a:pPr>
            <a:r>
              <a:rPr lang="en-US" sz="2000" dirty="0">
                <a:solidFill>
                  <a:schemeClr val="tx1"/>
                </a:solidFill>
              </a:rPr>
              <a:t>Peak near ωn for ζ &lt; 0.707: Mr dB.</a:t>
            </a:r>
            <a:endParaRPr lang="en-US" sz="2000" dirty="0"/>
          </a:p>
          <a:p>
            <a:pPr marL="342900" indent="-342900">
              <a:spcAft>
                <a:spcPts val="600"/>
              </a:spcAft>
              <a:buSzPct val="100000"/>
              <a:buChar char="•"/>
            </a:pPr>
            <a:r>
              <a:rPr lang="en-US" sz="2000" dirty="0">
                <a:solidFill>
                  <a:schemeClr val="tx1"/>
                </a:solidFill>
              </a:rPr>
              <a:t>Phase from 0° to −180°, passing −90° at ωn.</a:t>
            </a:r>
            <a:endParaRPr lang="en-US" sz="2000" dirty="0"/>
          </a:p>
          <a:p>
            <a:pPr marL="342900" indent="-342900">
              <a:spcAft>
                <a:spcPts val="600"/>
              </a:spcAft>
              <a:buSzPct val="100000"/>
              <a:buChar char="•"/>
            </a:pPr>
            <a:r>
              <a:rPr lang="en-US" sz="2000" dirty="0">
                <a:solidFill>
                  <a:schemeClr val="tx1"/>
                </a:solidFill>
              </a:rPr>
              <a:t>Smaller ζ → sharper resonance and phase change.</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Construction procedure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Flow step"/>
          <p:cNvSpPr/>
          <p:nvPr/>
        </p:nvSpPr>
        <p:spPr>
          <a:xfrm>
            <a:off x="457200" y="1234440"/>
            <a:ext cx="1536192" cy="2286000"/>
          </a:xfrm>
          <a:prstGeom prst="roundRect">
            <a:avLst>
              <a:gd name="adj" fmla="val 4762"/>
            </a:avLst>
          </a:prstGeom>
          <a:solidFill>
            <a:schemeClr val="bg2"/>
          </a:solidFill>
          <a:ln/>
        </p:spPr>
      </p:sp>
      <p:sp>
        <p:nvSpPr>
          <p:cNvPr id="7" name="Step number"/>
          <p:cNvSpPr/>
          <p:nvPr/>
        </p:nvSpPr>
        <p:spPr>
          <a:xfrm>
            <a:off x="566928" y="1344168"/>
            <a:ext cx="365760" cy="365760"/>
          </a:xfrm>
          <a:prstGeom prst="ellipse">
            <a:avLst/>
          </a:prstGeom>
          <a:solidFill>
            <a:schemeClr val="tx2"/>
          </a:solidFill>
          <a:ln/>
        </p:spPr>
      </p:sp>
      <p:sp>
        <p:nvSpPr>
          <p:cNvPr id="8" name="Text 5"/>
          <p:cNvSpPr txBox="1"/>
          <p:nvPr/>
        </p:nvSpPr>
        <p:spPr>
          <a:xfrm>
            <a:off x="56692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566928" y="1783080"/>
            <a:ext cx="1316736" cy="256032"/>
          </a:xfrm>
          <a:prstGeom prst="rect">
            <a:avLst/>
          </a:prstGeom>
          <a:noFill/>
          <a:ln/>
        </p:spPr>
        <p:txBody>
          <a:bodyPr wrap="square" lIns="0" tIns="0" rIns="0" bIns="0" rtlCol="0" anchor="t"/>
          <a:lstStyle/>
          <a:p>
            <a:pPr indent="0" marL="0">
              <a:buNone/>
            </a:pPr>
            <a:r>
              <a:rPr lang="en-US" sz="1500" b="1" dirty="0">
                <a:solidFill>
                  <a:schemeClr val="tx1"/>
                </a:solidFill>
              </a:rPr>
              <a:t>Standard form</a:t>
            </a:r>
            <a:endParaRPr lang="en-US" sz="1500" dirty="0"/>
          </a:p>
        </p:txBody>
      </p:sp>
      <p:sp>
        <p:nvSpPr>
          <p:cNvPr id="10" name="Text 7"/>
          <p:cNvSpPr txBox="1"/>
          <p:nvPr/>
        </p:nvSpPr>
        <p:spPr>
          <a:xfrm>
            <a:off x="566928" y="2084832"/>
            <a:ext cx="1316736" cy="1389888"/>
          </a:xfrm>
          <a:prstGeom prst="rect">
            <a:avLst/>
          </a:prstGeom>
          <a:noFill/>
          <a:ln/>
        </p:spPr>
        <p:txBody>
          <a:bodyPr wrap="square" lIns="0" tIns="0" rIns="0" bIns="0" rtlCol="0" anchor="t"/>
          <a:lstStyle/>
          <a:p>
            <a:pPr indent="0" marL="0">
              <a:buNone/>
            </a:pPr>
            <a:r>
              <a:rPr lang="en-US" sz="1500" dirty="0">
                <a:solidFill>
                  <a:schemeClr val="tx1"/>
                </a:solidFill>
              </a:rPr>
              <a:t>Write G(jω) in time-constant form with K as gain.</a:t>
            </a:r>
            <a:endParaRPr lang="en-US" sz="1500" dirty="0"/>
          </a:p>
        </p:txBody>
      </p:sp>
      <p:sp>
        <p:nvSpPr>
          <p:cNvPr id="11" name="Flow step"/>
          <p:cNvSpPr/>
          <p:nvPr/>
        </p:nvSpPr>
        <p:spPr>
          <a:xfrm>
            <a:off x="2130552" y="1234440"/>
            <a:ext cx="1536192" cy="2286000"/>
          </a:xfrm>
          <a:prstGeom prst="roundRect">
            <a:avLst>
              <a:gd name="adj" fmla="val 4762"/>
            </a:avLst>
          </a:prstGeom>
          <a:solidFill>
            <a:schemeClr val="bg2"/>
          </a:solidFill>
          <a:ln/>
        </p:spPr>
      </p:sp>
      <p:sp>
        <p:nvSpPr>
          <p:cNvPr id="12" name="Step number"/>
          <p:cNvSpPr/>
          <p:nvPr/>
        </p:nvSpPr>
        <p:spPr>
          <a:xfrm>
            <a:off x="2240280" y="1344168"/>
            <a:ext cx="365760" cy="365760"/>
          </a:xfrm>
          <a:prstGeom prst="ellipse">
            <a:avLst/>
          </a:prstGeom>
          <a:solidFill>
            <a:schemeClr val="tx2"/>
          </a:solidFill>
          <a:ln/>
        </p:spPr>
      </p:sp>
      <p:sp>
        <p:nvSpPr>
          <p:cNvPr id="13" name="Text 10"/>
          <p:cNvSpPr txBox="1"/>
          <p:nvPr/>
        </p:nvSpPr>
        <p:spPr>
          <a:xfrm>
            <a:off x="2240280"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2240280" y="1783080"/>
            <a:ext cx="1316736" cy="484632"/>
          </a:xfrm>
          <a:prstGeom prst="rect">
            <a:avLst/>
          </a:prstGeom>
          <a:noFill/>
          <a:ln/>
        </p:spPr>
        <p:txBody>
          <a:bodyPr wrap="square" lIns="0" tIns="0" rIns="0" bIns="0" rtlCol="0" anchor="t"/>
          <a:lstStyle/>
          <a:p>
            <a:pPr indent="0" marL="0">
              <a:buNone/>
            </a:pPr>
            <a:r>
              <a:rPr lang="en-US" sz="1500" b="1" dirty="0">
                <a:solidFill>
                  <a:schemeClr val="tx1"/>
                </a:solidFill>
              </a:rPr>
              <a:t>Corner frequencies</a:t>
            </a:r>
            <a:endParaRPr lang="en-US" sz="1500" dirty="0"/>
          </a:p>
        </p:txBody>
      </p:sp>
      <p:sp>
        <p:nvSpPr>
          <p:cNvPr id="15" name="Text 12"/>
          <p:cNvSpPr txBox="1"/>
          <p:nvPr/>
        </p:nvSpPr>
        <p:spPr>
          <a:xfrm>
            <a:off x="2240280" y="2313432"/>
            <a:ext cx="1316736" cy="1161288"/>
          </a:xfrm>
          <a:prstGeom prst="rect">
            <a:avLst/>
          </a:prstGeom>
          <a:noFill/>
          <a:ln/>
        </p:spPr>
        <p:txBody>
          <a:bodyPr wrap="square" lIns="0" tIns="0" rIns="0" bIns="0" rtlCol="0" anchor="t"/>
          <a:lstStyle/>
          <a:p>
            <a:pPr indent="0" marL="0">
              <a:buNone/>
            </a:pPr>
            <a:r>
              <a:rPr lang="en-US" sz="1500" dirty="0">
                <a:solidFill>
                  <a:schemeClr val="tx1"/>
                </a:solidFill>
              </a:rPr>
              <a:t>List all 1/T values; arrange in increasing order.</a:t>
            </a:r>
            <a:endParaRPr lang="en-US" sz="1500" dirty="0"/>
          </a:p>
        </p:txBody>
      </p:sp>
      <p:sp>
        <p:nvSpPr>
          <p:cNvPr id="16" name="Flow step"/>
          <p:cNvSpPr/>
          <p:nvPr/>
        </p:nvSpPr>
        <p:spPr>
          <a:xfrm>
            <a:off x="3803904" y="1234440"/>
            <a:ext cx="1536192" cy="2286000"/>
          </a:xfrm>
          <a:prstGeom prst="roundRect">
            <a:avLst>
              <a:gd name="adj" fmla="val 4762"/>
            </a:avLst>
          </a:prstGeom>
          <a:solidFill>
            <a:schemeClr val="bg2"/>
          </a:solidFill>
          <a:ln/>
        </p:spPr>
      </p:sp>
      <p:sp>
        <p:nvSpPr>
          <p:cNvPr id="17" name="Step number"/>
          <p:cNvSpPr/>
          <p:nvPr/>
        </p:nvSpPr>
        <p:spPr>
          <a:xfrm>
            <a:off x="3913632" y="1344168"/>
            <a:ext cx="365760" cy="365760"/>
          </a:xfrm>
          <a:prstGeom prst="ellipse">
            <a:avLst/>
          </a:prstGeom>
          <a:solidFill>
            <a:schemeClr val="tx2"/>
          </a:solidFill>
          <a:ln/>
        </p:spPr>
      </p:sp>
      <p:sp>
        <p:nvSpPr>
          <p:cNvPr id="18" name="Text 15"/>
          <p:cNvSpPr txBox="1"/>
          <p:nvPr/>
        </p:nvSpPr>
        <p:spPr>
          <a:xfrm>
            <a:off x="3913632"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3913632" y="1783080"/>
            <a:ext cx="1316736" cy="256032"/>
          </a:xfrm>
          <a:prstGeom prst="rect">
            <a:avLst/>
          </a:prstGeom>
          <a:noFill/>
          <a:ln/>
        </p:spPr>
        <p:txBody>
          <a:bodyPr wrap="square" lIns="0" tIns="0" rIns="0" bIns="0" rtlCol="0" anchor="t"/>
          <a:lstStyle/>
          <a:p>
            <a:pPr indent="0" marL="0">
              <a:buNone/>
            </a:pPr>
            <a:r>
              <a:rPr lang="en-US" sz="1500" b="1" dirty="0">
                <a:solidFill>
                  <a:schemeClr val="tx1"/>
                </a:solidFill>
              </a:rPr>
              <a:t>Initial slope</a:t>
            </a:r>
            <a:endParaRPr lang="en-US" sz="1500" dirty="0"/>
          </a:p>
        </p:txBody>
      </p:sp>
      <p:sp>
        <p:nvSpPr>
          <p:cNvPr id="20" name="Text 17"/>
          <p:cNvSpPr txBox="1"/>
          <p:nvPr/>
        </p:nvSpPr>
        <p:spPr>
          <a:xfrm>
            <a:off x="3913632" y="2084832"/>
            <a:ext cx="1316736" cy="1389888"/>
          </a:xfrm>
          <a:prstGeom prst="rect">
            <a:avLst/>
          </a:prstGeom>
          <a:noFill/>
          <a:ln/>
        </p:spPr>
        <p:txBody>
          <a:bodyPr wrap="square" lIns="0" tIns="0" rIns="0" bIns="0" rtlCol="0" anchor="t"/>
          <a:lstStyle/>
          <a:p>
            <a:pPr indent="0" marL="0">
              <a:buNone/>
            </a:pPr>
            <a:r>
              <a:rPr lang="en-US" sz="1500" dirty="0">
                <a:solidFill>
                  <a:schemeClr val="tx1"/>
                </a:solidFill>
              </a:rPr>
              <a:t>−20N dB/dec at low ω (N = type), through 20 log K at ω = 1.</a:t>
            </a:r>
            <a:endParaRPr lang="en-US" sz="1500" dirty="0"/>
          </a:p>
        </p:txBody>
      </p:sp>
      <p:sp>
        <p:nvSpPr>
          <p:cNvPr id="21" name="Flow step"/>
          <p:cNvSpPr/>
          <p:nvPr/>
        </p:nvSpPr>
        <p:spPr>
          <a:xfrm>
            <a:off x="5477256" y="1234440"/>
            <a:ext cx="1536192" cy="2286000"/>
          </a:xfrm>
          <a:prstGeom prst="roundRect">
            <a:avLst>
              <a:gd name="adj" fmla="val 4762"/>
            </a:avLst>
          </a:prstGeom>
          <a:solidFill>
            <a:schemeClr val="bg2"/>
          </a:solidFill>
          <a:ln/>
        </p:spPr>
      </p:sp>
      <p:sp>
        <p:nvSpPr>
          <p:cNvPr id="22" name="Step number"/>
          <p:cNvSpPr/>
          <p:nvPr/>
        </p:nvSpPr>
        <p:spPr>
          <a:xfrm>
            <a:off x="5586984" y="1344168"/>
            <a:ext cx="365760" cy="365760"/>
          </a:xfrm>
          <a:prstGeom prst="ellipse">
            <a:avLst/>
          </a:prstGeom>
          <a:solidFill>
            <a:schemeClr val="tx2"/>
          </a:solidFill>
          <a:ln/>
        </p:spPr>
      </p:sp>
      <p:sp>
        <p:nvSpPr>
          <p:cNvPr id="23" name="Text 20"/>
          <p:cNvSpPr txBox="1"/>
          <p:nvPr/>
        </p:nvSpPr>
        <p:spPr>
          <a:xfrm>
            <a:off x="5586984"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1"/>
          <p:cNvSpPr txBox="1"/>
          <p:nvPr/>
        </p:nvSpPr>
        <p:spPr>
          <a:xfrm>
            <a:off x="5586984" y="1783080"/>
            <a:ext cx="1316736" cy="256032"/>
          </a:xfrm>
          <a:prstGeom prst="rect">
            <a:avLst/>
          </a:prstGeom>
          <a:noFill/>
          <a:ln/>
        </p:spPr>
        <p:txBody>
          <a:bodyPr wrap="square" lIns="0" tIns="0" rIns="0" bIns="0" rtlCol="0" anchor="t"/>
          <a:lstStyle/>
          <a:p>
            <a:pPr indent="0" marL="0">
              <a:buNone/>
            </a:pPr>
            <a:r>
              <a:rPr lang="en-US" sz="1500" b="1" dirty="0">
                <a:solidFill>
                  <a:schemeClr val="tx1"/>
                </a:solidFill>
              </a:rPr>
              <a:t>Change slope</a:t>
            </a:r>
            <a:endParaRPr lang="en-US" sz="1500" dirty="0"/>
          </a:p>
        </p:txBody>
      </p:sp>
      <p:sp>
        <p:nvSpPr>
          <p:cNvPr id="25" name="Text 22"/>
          <p:cNvSpPr txBox="1"/>
          <p:nvPr/>
        </p:nvSpPr>
        <p:spPr>
          <a:xfrm>
            <a:off x="5586984" y="2084832"/>
            <a:ext cx="1316736" cy="1389888"/>
          </a:xfrm>
          <a:prstGeom prst="rect">
            <a:avLst/>
          </a:prstGeom>
          <a:noFill/>
          <a:ln/>
        </p:spPr>
        <p:txBody>
          <a:bodyPr wrap="square" lIns="0" tIns="0" rIns="0" bIns="0" rtlCol="0" anchor="t"/>
          <a:lstStyle/>
          <a:p>
            <a:pPr indent="0" marL="0">
              <a:buNone/>
            </a:pPr>
            <a:r>
              <a:rPr lang="en-US" sz="1500" dirty="0">
                <a:solidFill>
                  <a:schemeClr val="tx1"/>
                </a:solidFill>
              </a:rPr>
              <a:t>At each corner: poles −20 dB/dec, zeros +20 dB/dec (−40 for quadratic poles).</a:t>
            </a:r>
            <a:endParaRPr lang="en-US" sz="1500" dirty="0"/>
          </a:p>
        </p:txBody>
      </p:sp>
      <p:sp>
        <p:nvSpPr>
          <p:cNvPr id="26" name="Flow step"/>
          <p:cNvSpPr/>
          <p:nvPr/>
        </p:nvSpPr>
        <p:spPr>
          <a:xfrm>
            <a:off x="7150608" y="1234440"/>
            <a:ext cx="1536192" cy="2286000"/>
          </a:xfrm>
          <a:prstGeom prst="roundRect">
            <a:avLst>
              <a:gd name="adj" fmla="val 4762"/>
            </a:avLst>
          </a:prstGeom>
          <a:solidFill>
            <a:schemeClr val="bg2"/>
          </a:solidFill>
          <a:ln/>
        </p:spPr>
      </p:sp>
      <p:sp>
        <p:nvSpPr>
          <p:cNvPr id="27" name="Step number"/>
          <p:cNvSpPr/>
          <p:nvPr/>
        </p:nvSpPr>
        <p:spPr>
          <a:xfrm>
            <a:off x="7260336" y="1344168"/>
            <a:ext cx="365760" cy="365760"/>
          </a:xfrm>
          <a:prstGeom prst="ellipse">
            <a:avLst/>
          </a:prstGeom>
          <a:solidFill>
            <a:schemeClr val="tx2"/>
          </a:solidFill>
          <a:ln/>
        </p:spPr>
      </p:sp>
      <p:sp>
        <p:nvSpPr>
          <p:cNvPr id="28" name="Text 25"/>
          <p:cNvSpPr txBox="1"/>
          <p:nvPr/>
        </p:nvSpPr>
        <p:spPr>
          <a:xfrm>
            <a:off x="7260336"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9" name="Text 26"/>
          <p:cNvSpPr txBox="1"/>
          <p:nvPr/>
        </p:nvSpPr>
        <p:spPr>
          <a:xfrm>
            <a:off x="7260336" y="1783080"/>
            <a:ext cx="1316736" cy="256032"/>
          </a:xfrm>
          <a:prstGeom prst="rect">
            <a:avLst/>
          </a:prstGeom>
          <a:noFill/>
          <a:ln/>
        </p:spPr>
        <p:txBody>
          <a:bodyPr wrap="square" lIns="0" tIns="0" rIns="0" bIns="0" rtlCol="0" anchor="t"/>
          <a:lstStyle/>
          <a:p>
            <a:pPr indent="0" marL="0">
              <a:buNone/>
            </a:pPr>
            <a:r>
              <a:rPr lang="en-US" sz="1500" b="1" dirty="0">
                <a:solidFill>
                  <a:schemeClr val="tx1"/>
                </a:solidFill>
              </a:rPr>
              <a:t>Phase</a:t>
            </a:r>
            <a:endParaRPr lang="en-US" sz="1500" dirty="0"/>
          </a:p>
        </p:txBody>
      </p:sp>
      <p:sp>
        <p:nvSpPr>
          <p:cNvPr id="30" name="Text 27"/>
          <p:cNvSpPr txBox="1"/>
          <p:nvPr/>
        </p:nvSpPr>
        <p:spPr>
          <a:xfrm>
            <a:off x="7260336" y="2084832"/>
            <a:ext cx="1316736" cy="1389888"/>
          </a:xfrm>
          <a:prstGeom prst="rect">
            <a:avLst/>
          </a:prstGeom>
          <a:noFill/>
          <a:ln/>
        </p:spPr>
        <p:txBody>
          <a:bodyPr wrap="square" lIns="0" tIns="0" rIns="0" bIns="0" rtlCol="0" anchor="t"/>
          <a:lstStyle/>
          <a:p>
            <a:pPr indent="0" marL="0">
              <a:buNone/>
            </a:pPr>
            <a:r>
              <a:rPr lang="en-US" sz="1500" dirty="0">
                <a:solidFill>
                  <a:schemeClr val="tx1"/>
                </a:solidFill>
              </a:rPr>
              <a:t>Add the phase of each factor point by point.</a:t>
            </a:r>
            <a:endParaRPr lang="en-US" sz="1500" dirty="0"/>
          </a:p>
        </p:txBody>
      </p:sp>
      <p:sp>
        <p:nvSpPr>
          <p:cNvPr id="31" name="Highlight strip"/>
          <p:cNvSpPr/>
          <p:nvPr/>
        </p:nvSpPr>
        <p:spPr>
          <a:xfrm>
            <a:off x="457200" y="3749040"/>
            <a:ext cx="8229600" cy="822960"/>
          </a:xfrm>
          <a:prstGeom prst="roundRect">
            <a:avLst>
              <a:gd name="adj" fmla="val 8889"/>
            </a:avLst>
          </a:prstGeom>
          <a:solidFill>
            <a:schemeClr val="tx2"/>
          </a:solidFill>
          <a:ln/>
        </p:spPr>
      </p:sp>
      <p:sp>
        <p:nvSpPr>
          <p:cNvPr id="32" name="Text 29"/>
          <p:cNvSpPr txBox="1"/>
          <p:nvPr/>
        </p:nvSpPr>
        <p:spPr>
          <a:xfrm>
            <a:off x="640080" y="3749040"/>
            <a:ext cx="7863840" cy="822960"/>
          </a:xfrm>
          <a:prstGeom prst="rect">
            <a:avLst/>
          </a:prstGeom>
          <a:noFill/>
          <a:ln/>
        </p:spPr>
        <p:txBody>
          <a:bodyPr wrap="square" lIns="0" tIns="0" rIns="0" bIns="0" rtlCol="0" anchor="ctr"/>
          <a:lstStyle/>
          <a:p>
            <a:pPr indent="0" marL="0">
              <a:buNone/>
            </a:pPr>
            <a:r>
              <a:rPr lang="en-US" sz="1500" b="1" dirty="0">
                <a:solidFill>
                  <a:schemeClr val="bg1"/>
                </a:solidFill>
              </a:rPr>
              <a:t>Initial magnitude at ω = 1 rad/s is 20 log K for a type 1 system.</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Example: G = 10(1 + 0.1s) / [s(1 + 0.01s)]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pic>
        <p:nvPicPr>
          <p:cNvPr id="6" name="Image 0" descr="bode_ex figure">    </p:cNvPr>
          <p:cNvPicPr>
            <a:picLocks noChangeAspect="1"/>
          </p:cNvPicPr>
          <p:nvPr/>
        </p:nvPicPr>
        <p:blipFill>
          <a:blip r:embed="rId1"/>
          <a:stretch>
            <a:fillRect/>
          </a:stretch>
        </p:blipFill>
        <p:spPr>
          <a:xfrm>
            <a:off x="864847" y="1188720"/>
            <a:ext cx="4305347" cy="3200400"/>
          </a:xfrm>
          <a:prstGeom prst="rect">
            <a:avLst/>
          </a:prstGeom>
        </p:spPr>
      </p:pic>
      <p:sp>
        <p:nvSpPr>
          <p:cNvPr id="7" name="Text 3"/>
          <p:cNvSpPr txBox="1"/>
          <p:nvPr/>
        </p:nvSpPr>
        <p:spPr>
          <a:xfrm>
            <a:off x="5760720" y="1188720"/>
            <a:ext cx="2926080" cy="34290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tx1"/>
                </a:solidFill>
              </a:rPr>
              <a:t>Type 1, K = 10: starts at −20 dB/dec; 0 dB at ω = 10 (20 log 10 = 20 dB at ω = 1).</a:t>
            </a:r>
            <a:endParaRPr lang="en-US" sz="2000" dirty="0"/>
          </a:p>
          <a:p>
            <a:pPr marL="342900" indent="-342900">
              <a:spcAft>
                <a:spcPts val="600"/>
              </a:spcAft>
              <a:buSzPct val="100000"/>
              <a:buChar char="•"/>
            </a:pPr>
            <a:r>
              <a:rPr lang="en-US" sz="2000" dirty="0">
                <a:solidFill>
                  <a:schemeClr val="tx1"/>
                </a:solidFill>
              </a:rPr>
              <a:t>Zero at ω = 10: slope → 0 dB/dec.</a:t>
            </a:r>
            <a:endParaRPr lang="en-US" sz="2000" dirty="0"/>
          </a:p>
          <a:p>
            <a:pPr marL="342900" indent="-342900">
              <a:spcAft>
                <a:spcPts val="600"/>
              </a:spcAft>
              <a:buSzPct val="100000"/>
              <a:buChar char="•"/>
            </a:pPr>
            <a:r>
              <a:rPr lang="en-US" sz="2000" dirty="0">
                <a:solidFill>
                  <a:schemeClr val="tx1"/>
                </a:solidFill>
              </a:rPr>
              <a:t>Pole at ω = 100: slope → −20 dB/dec.</a:t>
            </a:r>
            <a:endParaRPr lang="en-US" sz="2000" dirty="0"/>
          </a:p>
          <a:p>
            <a:pPr marL="342900" indent="-342900">
              <a:spcAft>
                <a:spcPts val="600"/>
              </a:spcAft>
              <a:buSzPct val="100000"/>
              <a:buChar char="•"/>
            </a:pPr>
            <a:r>
              <a:rPr lang="en-US" sz="2000" dirty="0">
                <a:solidFill>
                  <a:schemeClr val="tx1"/>
                </a:solidFill>
              </a:rPr>
              <a:t>Phase: −90° → ≈ −35° → −90°.</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Numerical: asymptotic magnitude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G(s) = 100/[s(1 + 0.1s)]. Find the corner frequency, slopes and the gain crossover frequency.</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Type 1, K = 100: at ω = 1, 20 log 100 = 40 dB with slope −20 dB/dec</a:t>
            </a:r>
            <a:endParaRPr lang="en-US" sz="1800" dirty="0"/>
          </a:p>
          <a:p>
            <a:pPr marL="342900" indent="-342900">
              <a:spcAft>
                <a:spcPts val="600"/>
              </a:spcAft>
              <a:buSzPct val="100000"/>
              <a:buChar char="•"/>
            </a:pPr>
            <a:r>
              <a:rPr lang="en-US" sz="1800" dirty="0">
                <a:solidFill>
                  <a:schemeClr val="tx1"/>
                </a:solidFill>
              </a:rPr>
              <a:t>Corner at ω = 1/0.1 = 10 rad/s: magnitude there = 40 − 20 log 10 = 20 dB; slope → −40 dB/dec</a:t>
            </a:r>
            <a:endParaRPr lang="en-US" sz="1800" dirty="0"/>
          </a:p>
          <a:p>
            <a:pPr marL="342900" indent="-342900">
              <a:spcAft>
                <a:spcPts val="600"/>
              </a:spcAft>
              <a:buSzPct val="100000"/>
              <a:buChar char="•"/>
            </a:pPr>
            <a:r>
              <a:rPr lang="en-US" sz="1800" dirty="0">
                <a:solidFill>
                  <a:schemeClr val="tx1"/>
                </a:solidFill>
              </a:rPr>
              <a:t>0 dB reached: 20 dB at 10 needs 20/40 = 0.5 decade more → ω ≈ 10 × 10^0.5</a:t>
            </a:r>
            <a:endParaRPr lang="en-US" sz="18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Gain crossover ≈ 31.6 rad/s (exact ≈ 31.5)</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Bode: 20 log|G| (dB) and phase vs log ω</a:t>
            </a:r>
            <a:endParaRPr lang="en-US" sz="2200" dirty="0"/>
          </a:p>
          <a:p>
            <a:pPr marL="342900" indent="-342900">
              <a:spcAft>
                <a:spcPts val="600"/>
              </a:spcAft>
              <a:buSzPct val="100000"/>
              <a:buChar char="•"/>
            </a:pPr>
            <a:r>
              <a:rPr lang="en-US" sz="2200" dirty="0">
                <a:solidFill>
                  <a:schemeClr val="tx1"/>
                </a:solidFill>
              </a:rPr>
              <a:t>Factor slopes: ±20 dB/dec per pole/zero, integrator −20</a:t>
            </a:r>
            <a:endParaRPr lang="en-US" sz="2200" dirty="0"/>
          </a:p>
          <a:p>
            <a:pPr marL="342900" indent="-342900">
              <a:spcAft>
                <a:spcPts val="600"/>
              </a:spcAft>
              <a:buSzPct val="100000"/>
              <a:buChar char="•"/>
            </a:pPr>
            <a:r>
              <a:rPr lang="en-US" sz="2200" dirty="0">
                <a:solidFill>
                  <a:schemeClr val="tx1"/>
                </a:solidFill>
              </a:rPr>
              <a:t>Corner frequency = 1/T; at corner −3 dB, −45°</a:t>
            </a:r>
            <a:endParaRPr lang="en-US" sz="2200" dirty="0"/>
          </a:p>
          <a:p>
            <a:pPr marL="342900" indent="-342900">
              <a:spcAft>
                <a:spcPts val="600"/>
              </a:spcAft>
              <a:buSzPct val="100000"/>
              <a:buChar char="•"/>
            </a:pPr>
            <a:r>
              <a:rPr lang="en-US" sz="2200" dirty="0">
                <a:solidFill>
                  <a:schemeClr val="tx1"/>
                </a:solidFill>
              </a:rPr>
              <a:t>Initial slope = −20 × type</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Draw the asymptotic Bode magnitude plot of G = 20/[(1 + 0.5s)(1 + 0.05s)].</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State the slope contributions of poles and zeros.</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Find the phase at ω = 1/T for 1/(1 + sT).</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Construct the Bode plot for G = 10/[s(s + 10)].</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ControlSystems">
  <a:themeElements>
    <a:clrScheme name="ControlSystems">
      <a:dk1>
        <a:srgbClr val="0E2B33"/>
      </a:dk1>
      <a:lt1>
        <a:srgbClr val="FFFFFF"/>
      </a:lt1>
      <a:dk2>
        <a:srgbClr val="1B4D57"/>
      </a:dk2>
      <a:lt2>
        <a:srgbClr val="EAF3F3"/>
      </a:lt2>
      <a:accent1>
        <a:srgbClr val="F2A93B"/>
      </a:accent1>
      <a:accent2>
        <a:srgbClr val="1F7A8C"/>
      </a:accent2>
      <a:accent3>
        <a:srgbClr val="C93C20"/>
      </a:accent3>
      <a:accent4>
        <a:srgbClr val="58707A"/>
      </a:accent4>
      <a:accent5>
        <a:srgbClr val="3E7CB1"/>
      </a:accent5>
      <a:accent6>
        <a:srgbClr val="7A4FD6"/>
      </a:accent6>
      <a:hlink>
        <a:srgbClr val="3E7CB1"/>
      </a:hlink>
      <a:folHlink>
        <a:srgbClr val="58707A"/>
      </a:folHlink>
    </a:clrScheme>
    <a:fontScheme name="Control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Bode Plot: Construction</dc:title>
  <dc:subject>PptxGenJS Presentation</dc:subject>
  <dc:creator>Dr. Mitesh Astik</dc:creator>
  <cp:lastModifiedBy>Dr. Mitesh Astik</cp:lastModifiedBy>
  <cp:revision>1</cp:revision>
  <dcterms:created xsi:type="dcterms:W3CDTF">2026-10-29T10:05:23Z</dcterms:created>
  <dcterms:modified xsi:type="dcterms:W3CDTF">2026-10-29T10:05:23Z</dcterms:modified>
</cp:coreProperties>
</file>