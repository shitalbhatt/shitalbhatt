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Gain Margin and Phase Margin" id="{33f62068-91d7-12b8-400a-54276958f8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"Gain Margin and Phase Margin", part of Unit 3 (Frequency Domain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gain and phase crossover frequencies. Define gain margin and phase margin. Determine margins from a Bode plot and analytically. Assess stability from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Gain margin is the additional gain that would bring the system to the verge of instability. Phase margin is the additional phase lag at gain crossover that would do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PM at the point where the magnitude crosses 0 dB, and GM at the point where the phase crosses minus one eighty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system that is conditionally stable needs more careful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gain can be increased three times (to K = 6) before instability.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Margins are the safety allowance against model errors and parameter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ωgc: |GH| = 1;  ωpc: ∠GH = −180°. PM = 180° + ∠GH(ωgc);  GM = −20 log|GH(ωpc)|. Stable if GM &gt; 0 dB and PM &gt; 0°. Typical design: GM ≥ 6 dB, PM 30–60°.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GM and PM and state the stability conditions. For K/[s(s+1)(s+2)] find K for marginal stability. Find PM for G = 10/[s(s+2)]. Explain how changing K changes the margins.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7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 Margin and Phase Margin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Frequency Domain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gain and phase crossover frequencies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gain margin and phase margin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Determine margins from a Bode plot and analytically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Assess stability from margins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Frequency domain analysis: frequency domain specifications peak resonance, resonant frequency, bandwidth and cut-off rate; correlation between time and frequency responses for second-order systems; Bode plot, gain margin and phase margin.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Definitions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Gain crossover ωgc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Frequency at which |G(jω)H(jω)| = 1 (0 dB).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Phase crossover ωpc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Frequency at which ∠GH = −180°.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GM and PM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PM = 180° + ∠GH(jωgc).  GM = −20 log|GH(jωpc)| (dB), or 1/|GH(jωpc)|.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Stable closed loop (minimum phase): both GM and PM positive.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Margins on the Bode plot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bode_gmpm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689" y="1188720"/>
            <a:ext cx="4245661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G(s) = 2/[s(s+1)(s+2)].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ωgc = 0.75 rad/s: PM = 32.7°.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ωpc = 1.41 rad/s: GM = 9.5 dB.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Both positive ⇒ stable.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Interpretation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GM &gt; 0 dB and PM &gt; 0°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GM = 0 dB and PM = 0°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Marginally stable (sustained oscillation)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GM &lt; 0 dB or PM &lt; 0°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Unstable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Good design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GM ≥ 6 dB (≥ 2×); PM = 30°–60°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Large PM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Well damped; small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margins analytically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G(s)H(s) = K/[s(s+1)(s+2)] with K = 2. Find ωpc, GM, ωgc and PM.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Phase = −90° − tan⁻¹ω − tan⁻¹(ω/2) = −180° ⇒ ω² = 2 ⇒ ωpc = 1.414 rad/s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|G(j1.414)| = 2/(1.414 × √3 × √6) = 2/6 = 1/3 ⇒ GM = 20 log 3 = 9.54 dB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|G| = 1 at ωgc = 0.748 rad/s; phase = −90 − 36.8 − 20.5 = −147.3°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PM = 180 − 147.3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GM = 9.54 dB, PM = 32.7°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Using the margins in design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Gain K shifts the magnitude curve up/down without changing the phase: PM and GM change.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 get the required PM: find ω where phase = −180° + PM and set |G| = 1 there to fix K.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Phase margin ≈ 100 ζ links to the transient overshoot.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Compensators (Unit 5) reshape the Bode plot to meet GM and PM.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ωgc: |GH| = 1;  ωpc: ∠GH = −180°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PM = 180° + ∠GH(ωgc);  GM = −20 log|GH(ωpc)|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Stable if GM &gt; 0 dB and PM &gt; 0°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Typical design: GM ≥ 6 dB, PM 30–60°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GM and PM and state the stability conditions.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For K/[s(s+1)(s+2)] find K for marginal stability.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PM for G = 10/[s(s+2)].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how changing K changes the margins.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Gain Margin and Phase Margin</dc:title>
  <dc:subject>PptxGenJS Presentation</dc:subject>
  <dc:creator>Dr. Mitesh Astik</dc:creator>
  <cp:lastModifiedBy>Dr. Mitesh Astik</cp:lastModifiedBy>
  <cp:revision>1</cp:revision>
  <dcterms:created xsi:type="dcterms:W3CDTF">2026-10-29T10:05:24Z</dcterms:created>
  <dcterms:modified xsi:type="dcterms:W3CDTF">2026-10-29T10:05:24Z</dcterms:modified>
</cp:coreProperties>
</file>